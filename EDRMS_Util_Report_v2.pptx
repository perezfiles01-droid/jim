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this is a proposal for scope, not a sign-off on figures. The ask is consensus on two dashboards for this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consensus explicitly. If the room prefers Option B, the consequence to state is that four dashboards would carry mostly empty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7/30/90/180 day windows are a hard product limit on the Microsoft reports, not a design choice. It is why anything phrased as 'never' cannot be answered from activity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asked twice in the workshop: how does the data stay up to date, and who owns it once the project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argue either point in the room. Put both as questions and let them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this list in the room. Every one of these was raised either in RAC's own comments on the checker or in the technical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148840"/>
          </a:xfrm>
          <a:prstGeom prst="rect">
            <a:avLst/>
          </a:prstGeom>
          <a:solidFill>
            <a:srgbClr val="1E2761"/>
          </a:solidFill>
          <a:ln/>
        </p:spPr>
      </p:sp>
      <p:sp>
        <p:nvSpPr>
          <p:cNvPr id="3" name="Text 1"/>
          <p:cNvSpPr txBox="1"/>
          <p:nvPr/>
        </p:nvSpPr>
        <p:spPr>
          <a:xfrm>
            <a:off x="822960" y="868680"/>
            <a:ext cx="10515600" cy="310896"/>
          </a:xfrm>
          <a:prstGeom prst="rect">
            <a:avLst/>
          </a:prstGeom>
          <a:noFill/>
          <a:ln/>
        </p:spPr>
        <p:txBody>
          <a:bodyPr wrap="square" lIns="0" tIns="0" rIns="0" bIns="0" rtlCol="0" anchor="ctr"/>
          <a:lstStyle/>
          <a:p>
            <a:pPr indent="0" marL="0">
              <a:buNone/>
            </a:pPr>
            <a:r>
              <a:rPr lang="en-US" sz="1300" b="1" spc="240" kern="0" dirty="0">
                <a:solidFill>
                  <a:srgbClr val="CADCFC"/>
                </a:solidFill>
                <a:latin typeface="Calibri" pitchFamily="34" charset="0"/>
                <a:ea typeface="Calibri" pitchFamily="34" charset="-122"/>
                <a:cs typeface="Calibri" pitchFamily="34" charset="-120"/>
              </a:rPr>
              <a:t>EDRMS UTILIZATION REPORT</a:t>
            </a:r>
            <a:endParaRPr lang="en-US" sz="1300" dirty="0"/>
          </a:p>
        </p:txBody>
      </p:sp>
      <p:sp>
        <p:nvSpPr>
          <p:cNvPr id="4" name="Text 2"/>
          <p:cNvSpPr txBox="1"/>
          <p:nvPr/>
        </p:nvSpPr>
        <p:spPr>
          <a:xfrm>
            <a:off x="822960" y="1170432"/>
            <a:ext cx="1051560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Reporting Suite</a:t>
            </a:r>
            <a:endParaRPr lang="en-US" sz="4000" dirty="0"/>
          </a:p>
        </p:txBody>
      </p:sp>
      <p:sp>
        <p:nvSpPr>
          <p:cNvPr id="5" name="Text 3"/>
          <p:cNvSpPr txBox="1"/>
          <p:nvPr/>
        </p:nvSpPr>
        <p:spPr>
          <a:xfrm>
            <a:off x="822960" y="2606040"/>
            <a:ext cx="10515600" cy="566928"/>
          </a:xfrm>
          <a:prstGeom prst="rect">
            <a:avLst/>
          </a:prstGeom>
          <a:noFill/>
          <a:ln/>
        </p:spPr>
        <p:txBody>
          <a:bodyPr wrap="square" lIns="0" tIns="0" rIns="0" bIns="0" rtlCol="0" anchor="ctr"/>
          <a:lstStyle/>
          <a:p>
            <a:pPr indent="0" marL="0">
              <a:buNone/>
            </a:pPr>
            <a:r>
              <a:rPr lang="en-US" sz="3000" b="1" dirty="0">
                <a:solidFill>
                  <a:srgbClr val="44546A"/>
                </a:solidFill>
                <a:latin typeface="Cambria" pitchFamily="34" charset="0"/>
                <a:ea typeface="Cambria" pitchFamily="34" charset="-122"/>
                <a:cs typeface="Cambria" pitchFamily="34" charset="-120"/>
              </a:rPr>
              <a:t>MVP Proposal and Next Steps</a:t>
            </a:r>
            <a:endParaRPr lang="en-US" sz="3000" dirty="0"/>
          </a:p>
        </p:txBody>
      </p:sp>
      <p:sp>
        <p:nvSpPr>
          <p:cNvPr id="6" name="Text 4"/>
          <p:cNvSpPr txBox="1"/>
          <p:nvPr/>
        </p:nvSpPr>
        <p:spPr>
          <a:xfrm>
            <a:off x="822960" y="3246120"/>
            <a:ext cx="9692640" cy="365760"/>
          </a:xfrm>
          <a:prstGeom prst="rect">
            <a:avLst/>
          </a:prstGeom>
          <a:noFill/>
          <a:ln/>
        </p:spPr>
        <p:txBody>
          <a:bodyPr wrap="square" lIns="0" tIns="0" rIns="0" bIns="0" rtlCol="0" anchor="ctr"/>
          <a:lstStyle/>
          <a:p>
            <a:pPr indent="0" marL="0">
              <a:buNone/>
            </a:pPr>
            <a:r>
              <a:rPr lang="en-US" sz="1500" dirty="0">
                <a:solidFill>
                  <a:srgbClr val="333F50"/>
                </a:solidFill>
                <a:latin typeface="Calibri" pitchFamily="34" charset="0"/>
                <a:ea typeface="Calibri" pitchFamily="34" charset="-122"/>
                <a:cs typeface="Calibri" pitchFamily="34" charset="-120"/>
              </a:rPr>
              <a:t>Deliver two dashboards well in this release, rather than six partially.</a:t>
            </a:r>
            <a:endParaRPr lang="en-US" sz="1500" dirty="0"/>
          </a:p>
        </p:txBody>
      </p:sp>
      <p:sp>
        <p:nvSpPr>
          <p:cNvPr id="7" name="Shape 5"/>
          <p:cNvSpPr/>
          <p:nvPr/>
        </p:nvSpPr>
        <p:spPr>
          <a:xfrm>
            <a:off x="822960" y="3977640"/>
            <a:ext cx="6583680" cy="658368"/>
          </a:xfrm>
          <a:prstGeom prst="roundRect">
            <a:avLst>
              <a:gd name="adj" fmla="val 833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8" name="Text 6"/>
          <p:cNvSpPr txBox="1"/>
          <p:nvPr/>
        </p:nvSpPr>
        <p:spPr>
          <a:xfrm>
            <a:off x="1097280" y="3977640"/>
            <a:ext cx="6126480" cy="65836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Decision needed: team consensus on the MVP scope</a:t>
            </a:r>
            <a:endParaRPr lang="en-US" sz="1400" dirty="0"/>
          </a:p>
        </p:txBody>
      </p:sp>
      <p:sp>
        <p:nvSpPr>
          <p:cNvPr id="9" name="Text 7"/>
          <p:cNvSpPr txBox="1"/>
          <p:nvPr/>
        </p:nvSpPr>
        <p:spPr>
          <a:xfrm>
            <a:off x="822960" y="4956048"/>
            <a:ext cx="6400800" cy="274320"/>
          </a:xfrm>
          <a:prstGeom prst="rect">
            <a:avLst/>
          </a:prstGeom>
          <a:noFill/>
          <a:ln/>
        </p:spPr>
        <p:txBody>
          <a:bodyPr wrap="square" lIns="0" tIns="0" rIns="0" bIns="0" rtlCol="0" anchor="ctr"/>
          <a:lstStyle/>
          <a:p>
            <a:pPr indent="0" marL="0">
              <a:buNone/>
            </a:pPr>
            <a:r>
              <a:rPr lang="en-US" sz="1200" dirty="0">
                <a:solidFill>
                  <a:srgbClr val="6B7A90"/>
                </a:solidFill>
                <a:latin typeface="Calibri" pitchFamily="34" charset="0"/>
                <a:ea typeface="Calibri" pitchFamily="34" charset="-122"/>
                <a:cs typeface="Calibri" pitchFamily="34" charset="-120"/>
              </a:rPr>
              <a:t>RAC   |   ITD   |   AvePoint</a:t>
            </a:r>
            <a:endParaRPr lang="en-US" sz="1200" dirty="0"/>
          </a:p>
        </p:txBody>
      </p:sp>
      <p:sp>
        <p:nvSpPr>
          <p:cNvPr id="10" name="Text 8"/>
          <p:cNvSpPr txBox="1"/>
          <p:nvPr/>
        </p:nvSpPr>
        <p:spPr>
          <a:xfrm>
            <a:off x="822960" y="5989320"/>
            <a:ext cx="10515600" cy="274320"/>
          </a:xfrm>
          <a:prstGeom prst="rect">
            <a:avLst/>
          </a:prstGeom>
          <a:noFill/>
          <a:ln/>
        </p:spPr>
        <p:txBody>
          <a:bodyPr wrap="square" lIns="0" tIns="0" rIns="0" bIns="0" rtlCol="0" anchor="ctr"/>
          <a:lstStyle/>
          <a:p>
            <a:pPr indent="0" marL="0">
              <a:buNone/>
            </a:pPr>
            <a:r>
              <a:rPr lang="en-US" sz="1150" dirty="0">
                <a:solidFill>
                  <a:srgbClr val="6B7A90"/>
                </a:solidFill>
                <a:latin typeface="Calibri" pitchFamily="34" charset="0"/>
                <a:ea typeface="Calibri" pitchFamily="34" charset="-122"/>
                <a:cs typeface="Calibri" pitchFamily="34" charset="-120"/>
              </a:rPr>
              <a:t>Reconfirmation Workshop (R2026.4)   ·   August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45720"/>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Agenda</a:t>
            </a:r>
            <a:endParaRPr lang="en-US" sz="3200" dirty="0"/>
          </a:p>
        </p:txBody>
      </p:sp>
      <p:sp>
        <p:nvSpPr>
          <p:cNvPr id="3" name="Shape 1"/>
          <p:cNvSpPr/>
          <p:nvPr/>
        </p:nvSpPr>
        <p:spPr>
          <a:xfrm>
            <a:off x="548640" y="1051560"/>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4" name="Shape 2"/>
          <p:cNvSpPr/>
          <p:nvPr/>
        </p:nvSpPr>
        <p:spPr>
          <a:xfrm>
            <a:off x="777240" y="1188720"/>
            <a:ext cx="301752" cy="301752"/>
          </a:xfrm>
          <a:prstGeom prst="ellipse">
            <a:avLst/>
          </a:prstGeom>
          <a:solidFill>
            <a:srgbClr val="1E2761"/>
          </a:solidFill>
          <a:ln/>
        </p:spPr>
      </p:sp>
      <p:sp>
        <p:nvSpPr>
          <p:cNvPr id="5" name="Text 3"/>
          <p:cNvSpPr txBox="1"/>
          <p:nvPr/>
        </p:nvSpPr>
        <p:spPr>
          <a:xfrm>
            <a:off x="777240" y="1188720"/>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234440" y="1051560"/>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proposal</a:t>
            </a:r>
            <a:endParaRPr lang="en-US" sz="1350" dirty="0"/>
          </a:p>
        </p:txBody>
      </p:sp>
      <p:sp>
        <p:nvSpPr>
          <p:cNvPr id="7" name="Text 5"/>
          <p:cNvSpPr txBox="1"/>
          <p:nvPr/>
        </p:nvSpPr>
        <p:spPr>
          <a:xfrm>
            <a:off x="4526280" y="1051560"/>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Two dashboards as the MVP for this release</a:t>
            </a:r>
            <a:endParaRPr lang="en-US" sz="1150" dirty="0"/>
          </a:p>
        </p:txBody>
      </p:sp>
      <p:sp>
        <p:nvSpPr>
          <p:cNvPr id="8" name="Shape 6"/>
          <p:cNvSpPr/>
          <p:nvPr/>
        </p:nvSpPr>
        <p:spPr>
          <a:xfrm>
            <a:off x="548640" y="1709928"/>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9" name="Shape 7"/>
          <p:cNvSpPr/>
          <p:nvPr/>
        </p:nvSpPr>
        <p:spPr>
          <a:xfrm>
            <a:off x="777240" y="1847088"/>
            <a:ext cx="301752" cy="301752"/>
          </a:xfrm>
          <a:prstGeom prst="ellipse">
            <a:avLst/>
          </a:prstGeom>
          <a:solidFill>
            <a:srgbClr val="1E2761"/>
          </a:solidFill>
          <a:ln/>
        </p:spPr>
      </p:sp>
      <p:sp>
        <p:nvSpPr>
          <p:cNvPr id="10" name="Text 8"/>
          <p:cNvSpPr txBox="1"/>
          <p:nvPr/>
        </p:nvSpPr>
        <p:spPr>
          <a:xfrm>
            <a:off x="777240" y="1847088"/>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txBox="1"/>
          <p:nvPr/>
        </p:nvSpPr>
        <p:spPr>
          <a:xfrm>
            <a:off x="1234440" y="1709928"/>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data we have today</a:t>
            </a:r>
            <a:endParaRPr lang="en-US" sz="1350" dirty="0"/>
          </a:p>
        </p:txBody>
      </p:sp>
      <p:sp>
        <p:nvSpPr>
          <p:cNvPr id="12" name="Text 10"/>
          <p:cNvSpPr txBox="1"/>
          <p:nvPr/>
        </p:nvSpPr>
        <p:spPr>
          <a:xfrm>
            <a:off x="4526280" y="1709928"/>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Four sources, what each gives us, how each is produced</a:t>
            </a:r>
            <a:endParaRPr lang="en-US" sz="1150" dirty="0"/>
          </a:p>
        </p:txBody>
      </p:sp>
      <p:sp>
        <p:nvSpPr>
          <p:cNvPr id="13" name="Shape 11"/>
          <p:cNvSpPr/>
          <p:nvPr/>
        </p:nvSpPr>
        <p:spPr>
          <a:xfrm>
            <a:off x="548640" y="2368296"/>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4" name="Shape 12"/>
          <p:cNvSpPr/>
          <p:nvPr/>
        </p:nvSpPr>
        <p:spPr>
          <a:xfrm>
            <a:off x="777240" y="2505456"/>
            <a:ext cx="301752" cy="301752"/>
          </a:xfrm>
          <a:prstGeom prst="ellipse">
            <a:avLst/>
          </a:prstGeom>
          <a:solidFill>
            <a:srgbClr val="1E2761"/>
          </a:solidFill>
          <a:ln/>
        </p:spPr>
      </p:sp>
      <p:sp>
        <p:nvSpPr>
          <p:cNvPr id="15" name="Text 13"/>
          <p:cNvSpPr txBox="1"/>
          <p:nvPr/>
        </p:nvSpPr>
        <p:spPr>
          <a:xfrm>
            <a:off x="777240" y="2505456"/>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1234440" y="2368296"/>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Feeding and maintaining the report</a:t>
            </a:r>
            <a:endParaRPr lang="en-US" sz="1350" dirty="0"/>
          </a:p>
        </p:txBody>
      </p:sp>
      <p:sp>
        <p:nvSpPr>
          <p:cNvPr id="17" name="Text 15"/>
          <p:cNvSpPr txBox="1"/>
          <p:nvPr/>
        </p:nvSpPr>
        <p:spPr>
          <a:xfrm>
            <a:off x="4526280" y="2368296"/>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How the sources reach the report and who keeps them current</a:t>
            </a:r>
            <a:endParaRPr lang="en-US" sz="1150" dirty="0"/>
          </a:p>
        </p:txBody>
      </p:sp>
      <p:sp>
        <p:nvSpPr>
          <p:cNvPr id="18" name="Shape 16"/>
          <p:cNvSpPr/>
          <p:nvPr/>
        </p:nvSpPr>
        <p:spPr>
          <a:xfrm>
            <a:off x="548640" y="3026664"/>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9" name="Shape 17"/>
          <p:cNvSpPr/>
          <p:nvPr/>
        </p:nvSpPr>
        <p:spPr>
          <a:xfrm>
            <a:off x="777240" y="3163824"/>
            <a:ext cx="301752" cy="301752"/>
          </a:xfrm>
          <a:prstGeom prst="ellipse">
            <a:avLst/>
          </a:prstGeom>
          <a:solidFill>
            <a:srgbClr val="1E2761"/>
          </a:solidFill>
          <a:ln/>
        </p:spPr>
      </p:sp>
      <p:sp>
        <p:nvSpPr>
          <p:cNvPr id="20" name="Text 18"/>
          <p:cNvSpPr txBox="1"/>
          <p:nvPr/>
        </p:nvSpPr>
        <p:spPr>
          <a:xfrm>
            <a:off x="777240" y="3163824"/>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txBox="1"/>
          <p:nvPr/>
        </p:nvSpPr>
        <p:spPr>
          <a:xfrm>
            <a:off x="1234440" y="3026664"/>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Bank-wide Oversight</a:t>
            </a:r>
            <a:endParaRPr lang="en-US" sz="1350" dirty="0"/>
          </a:p>
        </p:txBody>
      </p:sp>
      <p:sp>
        <p:nvSpPr>
          <p:cNvPr id="22" name="Text 20"/>
          <p:cNvSpPr txBox="1"/>
          <p:nvPr/>
        </p:nvSpPr>
        <p:spPr>
          <a:xfrm>
            <a:off x="4526280" y="3026664"/>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Section by section: the term, what it means, where it comes from</a:t>
            </a:r>
            <a:endParaRPr lang="en-US" sz="1150" dirty="0"/>
          </a:p>
        </p:txBody>
      </p:sp>
      <p:sp>
        <p:nvSpPr>
          <p:cNvPr id="23" name="Shape 21"/>
          <p:cNvSpPr/>
          <p:nvPr/>
        </p:nvSpPr>
        <p:spPr>
          <a:xfrm>
            <a:off x="548640" y="3685032"/>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4" name="Shape 22"/>
          <p:cNvSpPr/>
          <p:nvPr/>
        </p:nvSpPr>
        <p:spPr>
          <a:xfrm>
            <a:off x="777240" y="3822192"/>
            <a:ext cx="301752" cy="301752"/>
          </a:xfrm>
          <a:prstGeom prst="ellipse">
            <a:avLst/>
          </a:prstGeom>
          <a:solidFill>
            <a:srgbClr val="1E2761"/>
          </a:solidFill>
          <a:ln/>
        </p:spPr>
      </p:sp>
      <p:sp>
        <p:nvSpPr>
          <p:cNvPr id="25" name="Text 23"/>
          <p:cNvSpPr txBox="1"/>
          <p:nvPr/>
        </p:nvSpPr>
        <p:spPr>
          <a:xfrm>
            <a:off x="777240" y="3822192"/>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txBox="1"/>
          <p:nvPr/>
        </p:nvSpPr>
        <p:spPr>
          <a:xfrm>
            <a:off x="1234440" y="3685032"/>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Department Insights</a:t>
            </a:r>
            <a:endParaRPr lang="en-US" sz="1350" dirty="0"/>
          </a:p>
        </p:txBody>
      </p:sp>
      <p:sp>
        <p:nvSpPr>
          <p:cNvPr id="27" name="Text 25"/>
          <p:cNvSpPr txBox="1"/>
          <p:nvPr/>
        </p:nvSpPr>
        <p:spPr>
          <a:xfrm>
            <a:off x="4526280" y="3685032"/>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Section by section: the term, what it means, where it comes from</a:t>
            </a:r>
            <a:endParaRPr lang="en-US" sz="1150" dirty="0"/>
          </a:p>
        </p:txBody>
      </p:sp>
      <p:sp>
        <p:nvSpPr>
          <p:cNvPr id="28" name="Shape 26"/>
          <p:cNvSpPr/>
          <p:nvPr/>
        </p:nvSpPr>
        <p:spPr>
          <a:xfrm>
            <a:off x="548640" y="4343400"/>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9" name="Shape 27"/>
          <p:cNvSpPr/>
          <p:nvPr/>
        </p:nvSpPr>
        <p:spPr>
          <a:xfrm>
            <a:off x="777240" y="4480560"/>
            <a:ext cx="301752" cy="301752"/>
          </a:xfrm>
          <a:prstGeom prst="ellipse">
            <a:avLst/>
          </a:prstGeom>
          <a:solidFill>
            <a:srgbClr val="1E2761"/>
          </a:solidFill>
          <a:ln/>
        </p:spPr>
      </p:sp>
      <p:sp>
        <p:nvSpPr>
          <p:cNvPr id="30" name="Text 28"/>
          <p:cNvSpPr txBox="1"/>
          <p:nvPr/>
        </p:nvSpPr>
        <p:spPr>
          <a:xfrm>
            <a:off x="777240" y="4480560"/>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1" name="Text 29"/>
          <p:cNvSpPr txBox="1"/>
          <p:nvPr/>
        </p:nvSpPr>
        <p:spPr>
          <a:xfrm>
            <a:off x="1234440" y="4343400"/>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Two points to resolve</a:t>
            </a:r>
            <a:endParaRPr lang="en-US" sz="1350" dirty="0"/>
          </a:p>
        </p:txBody>
      </p:sp>
      <p:sp>
        <p:nvSpPr>
          <p:cNvPr id="32" name="Text 30"/>
          <p:cNvSpPr txBox="1"/>
          <p:nvPr/>
        </p:nvSpPr>
        <p:spPr>
          <a:xfrm>
            <a:off x="4526280" y="4343400"/>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Where your assessment and ours do not yet agree</a:t>
            </a:r>
            <a:endParaRPr lang="en-US" sz="1150" dirty="0"/>
          </a:p>
        </p:txBody>
      </p:sp>
      <p:sp>
        <p:nvSpPr>
          <p:cNvPr id="33" name="Shape 31"/>
          <p:cNvSpPr/>
          <p:nvPr/>
        </p:nvSpPr>
        <p:spPr>
          <a:xfrm>
            <a:off x="548640" y="5001768"/>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34" name="Shape 32"/>
          <p:cNvSpPr/>
          <p:nvPr/>
        </p:nvSpPr>
        <p:spPr>
          <a:xfrm>
            <a:off x="777240" y="5138928"/>
            <a:ext cx="301752" cy="301752"/>
          </a:xfrm>
          <a:prstGeom prst="ellipse">
            <a:avLst/>
          </a:prstGeom>
          <a:solidFill>
            <a:srgbClr val="1E2761"/>
          </a:solidFill>
          <a:ln/>
        </p:spPr>
      </p:sp>
      <p:sp>
        <p:nvSpPr>
          <p:cNvPr id="35" name="Text 33"/>
          <p:cNvSpPr txBox="1"/>
          <p:nvPr/>
        </p:nvSpPr>
        <p:spPr>
          <a:xfrm>
            <a:off x="777240" y="5138928"/>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6" name="Text 34"/>
          <p:cNvSpPr txBox="1"/>
          <p:nvPr/>
        </p:nvSpPr>
        <p:spPr>
          <a:xfrm>
            <a:off x="1234440" y="5001768"/>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Terminology to confirm</a:t>
            </a:r>
            <a:endParaRPr lang="en-US" sz="1350" dirty="0"/>
          </a:p>
        </p:txBody>
      </p:sp>
      <p:sp>
        <p:nvSpPr>
          <p:cNvPr id="37" name="Text 35"/>
          <p:cNvSpPr txBox="1"/>
          <p:nvPr/>
        </p:nvSpPr>
        <p:spPr>
          <a:xfrm>
            <a:off x="4526280" y="5001768"/>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Words that change the figure depending on how you read them</a:t>
            </a:r>
            <a:endParaRPr lang="en-US" sz="1150" dirty="0"/>
          </a:p>
        </p:txBody>
      </p:sp>
      <p:sp>
        <p:nvSpPr>
          <p:cNvPr id="38" name="Shape 36"/>
          <p:cNvSpPr/>
          <p:nvPr/>
        </p:nvSpPr>
        <p:spPr>
          <a:xfrm>
            <a:off x="548640" y="5660136"/>
            <a:ext cx="11091672" cy="576072"/>
          </a:xfrm>
          <a:prstGeom prst="roundRect">
            <a:avLst>
              <a:gd name="adj" fmla="val 9524"/>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39" name="Shape 37"/>
          <p:cNvSpPr/>
          <p:nvPr/>
        </p:nvSpPr>
        <p:spPr>
          <a:xfrm>
            <a:off x="777240" y="5797296"/>
            <a:ext cx="301752" cy="301752"/>
          </a:xfrm>
          <a:prstGeom prst="ellipse">
            <a:avLst/>
          </a:prstGeom>
          <a:solidFill>
            <a:srgbClr val="1E2761"/>
          </a:solidFill>
          <a:ln/>
        </p:spPr>
      </p:sp>
      <p:sp>
        <p:nvSpPr>
          <p:cNvPr id="40" name="Text 38"/>
          <p:cNvSpPr txBox="1"/>
          <p:nvPr/>
        </p:nvSpPr>
        <p:spPr>
          <a:xfrm>
            <a:off x="777240" y="5797296"/>
            <a:ext cx="301752" cy="30175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1" name="Text 39"/>
          <p:cNvSpPr txBox="1"/>
          <p:nvPr/>
        </p:nvSpPr>
        <p:spPr>
          <a:xfrm>
            <a:off x="1234440" y="5660136"/>
            <a:ext cx="3200400" cy="576072"/>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Next steps</a:t>
            </a:r>
            <a:endParaRPr lang="en-US" sz="1350" dirty="0"/>
          </a:p>
        </p:txBody>
      </p:sp>
      <p:sp>
        <p:nvSpPr>
          <p:cNvPr id="42" name="Text 40"/>
          <p:cNvSpPr txBox="1"/>
          <p:nvPr/>
        </p:nvSpPr>
        <p:spPr>
          <a:xfrm>
            <a:off x="4526280" y="5660136"/>
            <a:ext cx="6858000" cy="576072"/>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What we need from each party, and by when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THE PROPOSAL</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Two dashboards as the MVP for this release</a:t>
            </a:r>
            <a:endParaRPr lang="en-US" sz="3200" dirty="0"/>
          </a:p>
        </p:txBody>
      </p:sp>
      <p:sp>
        <p:nvSpPr>
          <p:cNvPr id="4" name="Text 2"/>
          <p:cNvSpPr txBox="1"/>
          <p:nvPr/>
        </p:nvSpPr>
        <p:spPr>
          <a:xfrm>
            <a:off x="548640" y="1298448"/>
            <a:ext cx="11091672" cy="310896"/>
          </a:xfrm>
          <a:prstGeom prst="rect">
            <a:avLst/>
          </a:prstGeom>
          <a:noFill/>
          <a:ln/>
        </p:spPr>
        <p:txBody>
          <a:bodyPr wrap="square" lIns="0" tIns="0" rIns="0" bIns="0" rtlCol="0" anchor="ctr"/>
          <a:lstStyle/>
          <a:p>
            <a:pPr indent="0" marL="0">
              <a:buNone/>
            </a:pPr>
            <a:r>
              <a:rPr lang="en-US" sz="1200" dirty="0">
                <a:solidFill>
                  <a:srgbClr val="333F50"/>
                </a:solidFill>
                <a:latin typeface="Calibri" pitchFamily="34" charset="0"/>
                <a:ea typeface="Calibri" pitchFamily="34" charset="-122"/>
                <a:cs typeface="Calibri" pitchFamily="34" charset="-120"/>
              </a:rPr>
              <a:t>Nothing is removed from scope. </a:t>
            </a:r>
            <a:pPr indent="0" marL="0">
              <a:buNone/>
            </a:pPr>
            <a:r>
              <a:rPr lang="en-US" sz="1200" dirty="0">
                <a:solidFill>
                  <a:srgbClr val="333F50"/>
                </a:solidFill>
                <a:latin typeface="Calibri" pitchFamily="34" charset="0"/>
                <a:ea typeface="Calibri" pitchFamily="34" charset="-122"/>
                <a:cs typeface="Calibri" pitchFamily="34" charset="-120"/>
              </a:rPr>
              <a:t>The four labels on the right are your own, from checker 4. Two of them wait on an AvePoint feature release rather than on missing data, which puts them on a roadmap rather than in doubt.</a:t>
            </a:r>
            <a:endParaRPr lang="en-US" sz="1200" dirty="0"/>
          </a:p>
        </p:txBody>
      </p:sp>
      <p:sp>
        <p:nvSpPr>
          <p:cNvPr id="5" name="Shape 3"/>
          <p:cNvSpPr/>
          <p:nvPr/>
        </p:nvSpPr>
        <p:spPr>
          <a:xfrm>
            <a:off x="548640" y="1719072"/>
            <a:ext cx="5577840" cy="2331720"/>
          </a:xfrm>
          <a:prstGeom prst="roundRect">
            <a:avLst>
              <a:gd name="adj" fmla="val 235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4"/>
          <p:cNvSpPr txBox="1"/>
          <p:nvPr/>
        </p:nvSpPr>
        <p:spPr>
          <a:xfrm>
            <a:off x="868680" y="1901952"/>
            <a:ext cx="4937760" cy="219456"/>
          </a:xfrm>
          <a:prstGeom prst="rect">
            <a:avLst/>
          </a:prstGeom>
          <a:noFill/>
          <a:ln/>
        </p:spPr>
        <p:txBody>
          <a:bodyPr wrap="square" lIns="0" tIns="0" rIns="0" bIns="0" rtlCol="0" anchor="ctr"/>
          <a:lstStyle/>
          <a:p>
            <a:pPr indent="0" marL="0">
              <a:buNone/>
            </a:pPr>
            <a:r>
              <a:rPr lang="en-US" sz="1000" b="1" spc="140" kern="0" dirty="0">
                <a:solidFill>
                  <a:srgbClr val="6B7A90"/>
                </a:solidFill>
                <a:latin typeface="Calibri" pitchFamily="34" charset="0"/>
                <a:ea typeface="Calibri" pitchFamily="34" charset="-122"/>
                <a:cs typeface="Calibri" pitchFamily="34" charset="-120"/>
              </a:rPr>
              <a:t>IN THIS RELEASE</a:t>
            </a:r>
            <a:endParaRPr lang="en-US" sz="1000" dirty="0"/>
          </a:p>
        </p:txBody>
      </p:sp>
      <p:sp>
        <p:nvSpPr>
          <p:cNvPr id="7" name="Shape 5"/>
          <p:cNvSpPr/>
          <p:nvPr/>
        </p:nvSpPr>
        <p:spPr>
          <a:xfrm>
            <a:off x="868680" y="2240280"/>
            <a:ext cx="329184" cy="329184"/>
          </a:xfrm>
          <a:prstGeom prst="ellipse">
            <a:avLst/>
          </a:prstGeom>
          <a:solidFill>
            <a:srgbClr val="1E2761"/>
          </a:solidFill>
          <a:ln/>
        </p:spPr>
      </p:sp>
      <p:sp>
        <p:nvSpPr>
          <p:cNvPr id="8" name="Text 6"/>
          <p:cNvSpPr txBox="1"/>
          <p:nvPr/>
        </p:nvSpPr>
        <p:spPr>
          <a:xfrm>
            <a:off x="868680" y="2240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353312" y="2240280"/>
            <a:ext cx="4480560" cy="32918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Bank-wide Oversight</a:t>
            </a:r>
            <a:endParaRPr lang="en-US" sz="1500" dirty="0"/>
          </a:p>
        </p:txBody>
      </p:sp>
      <p:sp>
        <p:nvSpPr>
          <p:cNvPr id="10" name="Shape 8"/>
          <p:cNvSpPr/>
          <p:nvPr/>
        </p:nvSpPr>
        <p:spPr>
          <a:xfrm>
            <a:off x="868680" y="2788920"/>
            <a:ext cx="329184" cy="329184"/>
          </a:xfrm>
          <a:prstGeom prst="ellipse">
            <a:avLst/>
          </a:prstGeom>
          <a:solidFill>
            <a:srgbClr val="1E2761"/>
          </a:solidFill>
          <a:ln/>
        </p:spPr>
      </p:sp>
      <p:sp>
        <p:nvSpPr>
          <p:cNvPr id="11" name="Text 9"/>
          <p:cNvSpPr txBox="1"/>
          <p:nvPr/>
        </p:nvSpPr>
        <p:spPr>
          <a:xfrm>
            <a:off x="868680" y="2788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1353312" y="2788920"/>
            <a:ext cx="4480560" cy="32918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Department Insights</a:t>
            </a:r>
            <a:endParaRPr lang="en-US" sz="1500" dirty="0"/>
          </a:p>
        </p:txBody>
      </p:sp>
      <p:sp>
        <p:nvSpPr>
          <p:cNvPr id="13" name="Text 11"/>
          <p:cNvSpPr txBox="1"/>
          <p:nvPr/>
        </p:nvSpPr>
        <p:spPr>
          <a:xfrm>
            <a:off x="868680" y="3364992"/>
            <a:ext cx="4937760" cy="621792"/>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Available from the sources we hold today</a:t>
            </a:r>
            <a:endParaRPr lang="en-US" sz="1150" dirty="0"/>
          </a:p>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The two the team most needs to use now</a:t>
            </a:r>
            <a:endParaRPr lang="en-US" sz="1150" dirty="0"/>
          </a:p>
          <a:p>
            <a:pPr marL="342900" indent="-342900">
              <a:spcAft>
                <a:spcPts val="400"/>
              </a:spcAft>
              <a:buSzPct val="100000"/>
              <a:buChar char="•"/>
            </a:pPr>
            <a:r>
              <a:rPr lang="en-US" sz="1150" dirty="0">
                <a:solidFill>
                  <a:srgbClr val="333F50"/>
                </a:solidFill>
                <a:latin typeface="Calibri" pitchFamily="34" charset="0"/>
                <a:ea typeface="Calibri" pitchFamily="34" charset="-122"/>
                <a:cs typeface="Calibri" pitchFamily="34" charset="-120"/>
              </a:rPr>
              <a:t>Every figure has a confirmed source and a named owner</a:t>
            </a:r>
            <a:endParaRPr lang="en-US" sz="1150" dirty="0"/>
          </a:p>
        </p:txBody>
      </p:sp>
      <p:sp>
        <p:nvSpPr>
          <p:cNvPr id="14" name="Shape 12"/>
          <p:cNvSpPr/>
          <p:nvPr/>
        </p:nvSpPr>
        <p:spPr>
          <a:xfrm>
            <a:off x="6336792" y="1719072"/>
            <a:ext cx="5303520" cy="2331720"/>
          </a:xfrm>
          <a:prstGeom prst="roundRect">
            <a:avLst>
              <a:gd name="adj" fmla="val 235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5" name="Text 13"/>
          <p:cNvSpPr txBox="1"/>
          <p:nvPr/>
        </p:nvSpPr>
        <p:spPr>
          <a:xfrm>
            <a:off x="6656832" y="1901952"/>
            <a:ext cx="4663440" cy="219456"/>
          </a:xfrm>
          <a:prstGeom prst="rect">
            <a:avLst/>
          </a:prstGeom>
          <a:noFill/>
          <a:ln/>
        </p:spPr>
        <p:txBody>
          <a:bodyPr wrap="square" lIns="0" tIns="0" rIns="0" bIns="0" rtlCol="0" anchor="ctr"/>
          <a:lstStyle/>
          <a:p>
            <a:pPr indent="0" marL="0">
              <a:buNone/>
            </a:pPr>
            <a:r>
              <a:rPr lang="en-US" sz="1000" b="1" spc="140" kern="0" dirty="0">
                <a:solidFill>
                  <a:srgbClr val="6B7A90"/>
                </a:solidFill>
                <a:latin typeface="Calibri" pitchFamily="34" charset="0"/>
                <a:ea typeface="Calibri" pitchFamily="34" charset="-122"/>
                <a:cs typeface="Calibri" pitchFamily="34" charset="-120"/>
              </a:rPr>
              <a:t>PARKED, STILL IN SCOPE</a:t>
            </a:r>
            <a:endParaRPr lang="en-US" sz="1000" dirty="0"/>
          </a:p>
        </p:txBody>
      </p:sp>
      <p:sp>
        <p:nvSpPr>
          <p:cNvPr id="16" name="Text 14"/>
          <p:cNvSpPr txBox="1"/>
          <p:nvPr/>
        </p:nvSpPr>
        <p:spPr>
          <a:xfrm>
            <a:off x="6656832" y="2240280"/>
            <a:ext cx="233172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Project Insights</a:t>
            </a:r>
            <a:endParaRPr lang="en-US" sz="1200" dirty="0"/>
          </a:p>
        </p:txBody>
      </p:sp>
      <p:sp>
        <p:nvSpPr>
          <p:cNvPr id="17" name="Text 15"/>
          <p:cNvSpPr txBox="1"/>
          <p:nvPr/>
        </p:nvSpPr>
        <p:spPr>
          <a:xfrm>
            <a:off x="9052560" y="2240280"/>
            <a:ext cx="2377440" cy="40233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Out of scope</a:t>
            </a:r>
            <a:endParaRPr lang="en-US" sz="1000" dirty="0"/>
          </a:p>
        </p:txBody>
      </p:sp>
      <p:sp>
        <p:nvSpPr>
          <p:cNvPr id="18" name="Text 16"/>
          <p:cNvSpPr txBox="1"/>
          <p:nvPr/>
        </p:nvSpPr>
        <p:spPr>
          <a:xfrm>
            <a:off x="6656832" y="2660904"/>
            <a:ext cx="233172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Institutional File Plan</a:t>
            </a:r>
            <a:endParaRPr lang="en-US" sz="1200" dirty="0"/>
          </a:p>
        </p:txBody>
      </p:sp>
      <p:sp>
        <p:nvSpPr>
          <p:cNvPr id="19" name="Text 17"/>
          <p:cNvSpPr txBox="1"/>
          <p:nvPr/>
        </p:nvSpPr>
        <p:spPr>
          <a:xfrm>
            <a:off x="9052560" y="2660904"/>
            <a:ext cx="2377440" cy="40233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Needs more information</a:t>
            </a:r>
            <a:endParaRPr lang="en-US" sz="1000" dirty="0"/>
          </a:p>
        </p:txBody>
      </p:sp>
      <p:sp>
        <p:nvSpPr>
          <p:cNvPr id="20" name="Text 18"/>
          <p:cNvSpPr txBox="1"/>
          <p:nvPr/>
        </p:nvSpPr>
        <p:spPr>
          <a:xfrm>
            <a:off x="6656832" y="3081528"/>
            <a:ext cx="233172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Retention and Disposal</a:t>
            </a:r>
            <a:endParaRPr lang="en-US" sz="1200" dirty="0"/>
          </a:p>
        </p:txBody>
      </p:sp>
      <p:sp>
        <p:nvSpPr>
          <p:cNvPr id="21" name="Text 19"/>
          <p:cNvSpPr txBox="1"/>
          <p:nvPr/>
        </p:nvSpPr>
        <p:spPr>
          <a:xfrm>
            <a:off x="9052560" y="3081528"/>
            <a:ext cx="2377440" cy="40233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Needs the disposition feature release</a:t>
            </a:r>
            <a:endParaRPr lang="en-US" sz="1000" dirty="0"/>
          </a:p>
        </p:txBody>
      </p:sp>
      <p:sp>
        <p:nvSpPr>
          <p:cNvPr id="22" name="Text 20"/>
          <p:cNvSpPr txBox="1"/>
          <p:nvPr/>
        </p:nvSpPr>
        <p:spPr>
          <a:xfrm>
            <a:off x="6656832" y="3502152"/>
            <a:ext cx="2331720" cy="402336"/>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Records and Archives Holdings</a:t>
            </a:r>
            <a:endParaRPr lang="en-US" sz="1200" dirty="0"/>
          </a:p>
        </p:txBody>
      </p:sp>
      <p:sp>
        <p:nvSpPr>
          <p:cNvPr id="23" name="Text 21"/>
          <p:cNvSpPr txBox="1"/>
          <p:nvPr/>
        </p:nvSpPr>
        <p:spPr>
          <a:xfrm>
            <a:off x="9052560" y="3502152"/>
            <a:ext cx="2377440" cy="40233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Needs the Physical Records Management feature release</a:t>
            </a:r>
            <a:endParaRPr lang="en-US" sz="1000" dirty="0"/>
          </a:p>
        </p:txBody>
      </p:sp>
      <p:sp>
        <p:nvSpPr>
          <p:cNvPr id="24" name="Shape 22"/>
          <p:cNvSpPr/>
          <p:nvPr/>
        </p:nvSpPr>
        <p:spPr>
          <a:xfrm>
            <a:off x="548640" y="4224528"/>
            <a:ext cx="11091672" cy="2011680"/>
          </a:xfrm>
          <a:prstGeom prst="roundRect">
            <a:avLst>
              <a:gd name="adj" fmla="val 2727"/>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5" name="Text 23"/>
          <p:cNvSpPr txBox="1"/>
          <p:nvPr/>
        </p:nvSpPr>
        <p:spPr>
          <a:xfrm>
            <a:off x="868680" y="4389120"/>
            <a:ext cx="10424160" cy="237744"/>
          </a:xfrm>
          <a:prstGeom prst="rect">
            <a:avLst/>
          </a:prstGeom>
          <a:noFill/>
          <a:ln/>
        </p:spPr>
        <p:txBody>
          <a:bodyPr wrap="square" lIns="0" tIns="0" rIns="0" bIns="0" rtlCol="0" anchor="ctr"/>
          <a:lstStyle/>
          <a:p>
            <a:pPr indent="0" marL="0">
              <a:buNone/>
            </a:pPr>
            <a:r>
              <a:rPr lang="en-US" sz="1050" b="1" spc="140" kern="0" dirty="0">
                <a:solidFill>
                  <a:srgbClr val="6B7A90"/>
                </a:solidFill>
                <a:latin typeface="Calibri" pitchFamily="34" charset="0"/>
                <a:ea typeface="Calibri" pitchFamily="34" charset="-122"/>
                <a:cs typeface="Calibri" pitchFamily="34" charset="-120"/>
              </a:rPr>
              <a:t>THE DECISION WE NEED TODAY</a:t>
            </a:r>
            <a:endParaRPr lang="en-US" sz="1050" dirty="0"/>
          </a:p>
        </p:txBody>
      </p:sp>
      <p:sp>
        <p:nvSpPr>
          <p:cNvPr id="26" name="Shape 24"/>
          <p:cNvSpPr/>
          <p:nvPr/>
        </p:nvSpPr>
        <p:spPr>
          <a:xfrm>
            <a:off x="868680" y="4681728"/>
            <a:ext cx="5074920" cy="1371600"/>
          </a:xfrm>
          <a:prstGeom prst="roundRect">
            <a:avLst>
              <a:gd name="adj" fmla="val 3333"/>
            </a:avLst>
          </a:prstGeom>
          <a:solidFill>
            <a:srgbClr val="E8F0E9"/>
          </a:solidFill>
          <a:ln w="12700">
            <a:solidFill>
              <a:srgbClr val="1F6B3B"/>
            </a:solidFill>
            <a:prstDash val="solid"/>
          </a:ln>
        </p:spPr>
      </p:sp>
      <p:sp>
        <p:nvSpPr>
          <p:cNvPr id="27" name="Text 25"/>
          <p:cNvSpPr txBox="1"/>
          <p:nvPr/>
        </p:nvSpPr>
        <p:spPr>
          <a:xfrm>
            <a:off x="1097280" y="4791456"/>
            <a:ext cx="4572000" cy="256032"/>
          </a:xfrm>
          <a:prstGeom prst="rect">
            <a:avLst/>
          </a:prstGeom>
          <a:noFill/>
          <a:ln/>
        </p:spPr>
        <p:txBody>
          <a:bodyPr wrap="square" lIns="0" tIns="0" rIns="0" bIns="0" rtlCol="0" anchor="ctr"/>
          <a:lstStyle/>
          <a:p>
            <a:pPr indent="0" marL="0">
              <a:buNone/>
            </a:pPr>
            <a:r>
              <a:rPr lang="en-US" sz="1200" b="1" dirty="0">
                <a:solidFill>
                  <a:srgbClr val="1F6B3B"/>
                </a:solidFill>
                <a:latin typeface="Calibri" pitchFamily="34" charset="0"/>
                <a:ea typeface="Calibri" pitchFamily="34" charset="-122"/>
                <a:cs typeface="Calibri" pitchFamily="34" charset="-120"/>
              </a:rPr>
              <a:t>Option A</a:t>
            </a:r>
            <a:endParaRPr lang="en-US" sz="1200" dirty="0"/>
          </a:p>
        </p:txBody>
      </p:sp>
      <p:sp>
        <p:nvSpPr>
          <p:cNvPr id="28" name="Text 26"/>
          <p:cNvSpPr txBox="1"/>
          <p:nvPr/>
        </p:nvSpPr>
        <p:spPr>
          <a:xfrm>
            <a:off x="1097280" y="5065776"/>
            <a:ext cx="4617720" cy="868680"/>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Bank-wide Oversight and Department Insights as the MVP for this release, with the other four parked in scope for a future release.</a:t>
            </a:r>
            <a:endParaRPr lang="en-US" sz="1150" dirty="0"/>
          </a:p>
        </p:txBody>
      </p:sp>
      <p:sp>
        <p:nvSpPr>
          <p:cNvPr id="29" name="Shape 27"/>
          <p:cNvSpPr/>
          <p:nvPr/>
        </p:nvSpPr>
        <p:spPr>
          <a:xfrm>
            <a:off x="6245352" y="4681728"/>
            <a:ext cx="5074920" cy="1371600"/>
          </a:xfrm>
          <a:prstGeom prst="roundRect">
            <a:avLst>
              <a:gd name="adj" fmla="val 3333"/>
            </a:avLst>
          </a:prstGeom>
          <a:solidFill>
            <a:srgbClr val="F3F5F9"/>
          </a:solidFill>
          <a:ln w="12700">
            <a:solidFill>
              <a:srgbClr val="AAB6C8"/>
            </a:solidFill>
            <a:prstDash val="solid"/>
          </a:ln>
        </p:spPr>
      </p:sp>
      <p:sp>
        <p:nvSpPr>
          <p:cNvPr id="30" name="Text 28"/>
          <p:cNvSpPr txBox="1"/>
          <p:nvPr/>
        </p:nvSpPr>
        <p:spPr>
          <a:xfrm>
            <a:off x="6473952" y="4791456"/>
            <a:ext cx="4572000" cy="256032"/>
          </a:xfrm>
          <a:prstGeom prst="rect">
            <a:avLst/>
          </a:prstGeom>
          <a:noFill/>
          <a:ln/>
        </p:spPr>
        <p:txBody>
          <a:bodyPr wrap="square" lIns="0" tIns="0" rIns="0" bIns="0" rtlCol="0" anchor="ctr"/>
          <a:lstStyle/>
          <a:p>
            <a:pPr indent="0" marL="0">
              <a:buNone/>
            </a:pPr>
            <a:r>
              <a:rPr lang="en-US" sz="1200" b="1" dirty="0">
                <a:solidFill>
                  <a:srgbClr val="333F50"/>
                </a:solidFill>
                <a:latin typeface="Calibri" pitchFamily="34" charset="0"/>
                <a:ea typeface="Calibri" pitchFamily="34" charset="-122"/>
                <a:cs typeface="Calibri" pitchFamily="34" charset="-120"/>
              </a:rPr>
              <a:t>Option B</a:t>
            </a:r>
            <a:endParaRPr lang="en-US" sz="1200" dirty="0"/>
          </a:p>
        </p:txBody>
      </p:sp>
      <p:sp>
        <p:nvSpPr>
          <p:cNvPr id="31" name="Text 29"/>
          <p:cNvSpPr txBox="1"/>
          <p:nvPr/>
        </p:nvSpPr>
        <p:spPr>
          <a:xfrm>
            <a:off x="6473952" y="5065776"/>
            <a:ext cx="4617720" cy="868680"/>
          </a:xfrm>
          <a:prstGeom prst="rect">
            <a:avLst/>
          </a:prstGeom>
          <a:noFill/>
          <a:ln/>
        </p:spPr>
        <p:txBody>
          <a:bodyPr wrap="square" lIns="0" tIns="0" rIns="0" bIns="0" rtlCol="0" anchor="ctr"/>
          <a:lstStyle/>
          <a:p>
            <a:pPr indent="0" marL="0">
              <a:buNone/>
            </a:pPr>
            <a:r>
              <a:rPr lang="en-US" sz="1150" dirty="0">
                <a:solidFill>
                  <a:srgbClr val="333F50"/>
                </a:solidFill>
                <a:latin typeface="Calibri" pitchFamily="34" charset="0"/>
                <a:ea typeface="Calibri" pitchFamily="34" charset="-122"/>
                <a:cs typeface="Calibri" pitchFamily="34" charset="-120"/>
              </a:rPr>
              <a:t>All six dashboards in one release. This means four of them ship with most measures unsourced until the systems behind them exist.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AVAILABLE DATA</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The four sources we have today</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250" dirty="0">
                <a:solidFill>
                  <a:srgbClr val="333F50"/>
                </a:solidFill>
                <a:latin typeface="Calibri" pitchFamily="34" charset="0"/>
                <a:ea typeface="Calibri" pitchFamily="34" charset="-122"/>
                <a:cs typeface="Calibri" pitchFamily="34" charset="-120"/>
              </a:rPr>
              <a:t>Everything on the two MVP dashboards is built from these. Nothing else is assumed.</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874520"/>
                <a:gridCol w="3291840"/>
                <a:gridCol w="3246120"/>
                <a:gridCol w="267919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gives us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is produced</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current</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p>
                      <a:pPr indent="0" marL="0">
                        <a:buNone/>
                      </a:pPr>
                      <a:r>
                        <a:rPr lang="en-US" sz="1000" b="1" dirty="0">
                          <a:solidFill>
                            <a:srgbClr val="333F50"/>
                          </a:solidFill>
                          <a:latin typeface="Calibri" pitchFamily="34" charset="0"/>
                          <a:ea typeface="Calibri" pitchFamily="34" charset="-122"/>
                          <a:cs typeface="Calibri" pitchFamily="34" charset="-120"/>
                        </a:rPr>
                        <a:t>(drm-npr)</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physical counterparts, retention labels, disposal due dates, who declared and when</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Written by EDRMS itself as records are declared. Read directly by query.</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Live. No manual step.</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AvePoint</a:t>
                      </a:r>
                      <a:endParaRPr lang="en-US" sz="1000" dirty="0">
                        <a:latin typeface="Calibri" charset="0"/>
                        <a:ea typeface="Calibri" charset="0"/>
                        <a:cs typeface="Calibri" charset="0"/>
                      </a:endParaRPr>
                    </a:p>
                    <a:p>
                      <a:pPr indent="0" marL="0">
                        <a:buNone/>
                      </a:pPr>
                      <a:r>
                        <a:rPr lang="en-US" sz="1000" b="1"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The EDRMS compliant site list, department, site owner, site status, storage used, last active time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 &gt; Directory &gt; Workspace report &gt; Export report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On demand today. Can be scheduled.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Microsoft 365</a:t>
                      </a:r>
                      <a:endParaRPr lang="en-US" sz="1000" dirty="0">
                        <a:latin typeface="Calibri" charset="0"/>
                        <a:ea typeface="Calibri" charset="0"/>
                        <a:cs typeface="Calibri" charset="0"/>
                      </a:endParaRPr>
                    </a:p>
                    <a:p>
                      <a:pPr indent="0" marL="0">
                        <a:buNone/>
                      </a:pPr>
                      <a:r>
                        <a:rPr lang="en-US" sz="1000" b="1" dirty="0">
                          <a:solidFill>
                            <a:srgbClr val="333F50"/>
                          </a:solidFill>
                          <a:latin typeface="Calibri" pitchFamily="34" charset="0"/>
                          <a:ea typeface="Calibri" pitchFamily="34" charset="-122"/>
                          <a:cs typeface="Calibri" pitchFamily="34" charset="-120"/>
                        </a:rPr>
                        <a:t>SharePoint reports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 usage: file count, page views, visited pages, storage.</a:t>
                      </a:r>
                      <a:endParaRPr lang="en-US" sz="1000" dirty="0">
                        <a:latin typeface="Calibri" charset="0"/>
                        <a:ea typeface="Calibri" charset="0"/>
                        <a:cs typeface="Calibri" charset="0"/>
                      </a:endParaRPr>
                    </a:p>
                    <a:p>
                      <a:pPr indent="0" marL="0">
                        <a:buNone/>
                      </a:pPr>
                      <a:r>
                        <a:rPr lang="en-US" sz="1000" dirty="0">
                          <a:solidFill>
                            <a:srgbClr val="333F50"/>
                          </a:solidFill>
                          <a:latin typeface="Calibri" pitchFamily="34" charset="0"/>
                          <a:ea typeface="Calibri" pitchFamily="34" charset="-122"/>
                          <a:cs typeface="Calibri" pitchFamily="34" charset="-120"/>
                        </a:rPr>
                        <a:t>Activity: per user last activity date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M365 admin centre &gt; Reports &gt; Usage &gt; SharePoint site usage, and SharePoint activity</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Windows of 7, 30, 90 or 180 days. Nothing longer is offered.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Site lookup file</a:t>
                      </a:r>
                      <a:endParaRPr lang="en-US" sz="1000" dirty="0">
                        <a:latin typeface="Calibri" charset="0"/>
                        <a:ea typeface="Calibri" charset="0"/>
                        <a:cs typeface="Calibri" charset="0"/>
                      </a:endParaRPr>
                    </a:p>
                    <a:p>
                      <a:pPr indent="0" marL="0">
                        <a:buNone/>
                      </a:pPr>
                      <a:r>
                        <a:rPr lang="en-US" sz="1000" b="1" dirty="0">
                          <a:solidFill>
                            <a:srgbClr val="333F50"/>
                          </a:solidFill>
                          <a:latin typeface="Calibri" pitchFamily="34" charset="0"/>
                          <a:ea typeface="Calibri" pitchFamily="34" charset="-122"/>
                          <a:cs typeface="Calibri" pitchFamily="34" charset="-120"/>
                        </a:rPr>
                        <a:t>(from ITD)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 to department, division and library mapping, plus a production flag separating live sites from demo and UAT. It does NOT yet carry RM, which your review now requires.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Maintained by the BA team. Currently an Excel file on the project site.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b="1" dirty="0">
                          <a:solidFill>
                            <a:srgbClr val="8A5A00"/>
                          </a:solidFill>
                          <a:latin typeface="Calibri" pitchFamily="34" charset="0"/>
                          <a:ea typeface="Calibri" pitchFamily="34" charset="-122"/>
                          <a:cs typeface="Calibri" pitchFamily="34" charset="-120"/>
                        </a:rPr>
                        <a:t>Manual. This is the one that can go stale.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bl>
          </a:graphicData>
        </a:graphic>
      </p:graphicFrame>
      <p:sp>
        <p:nvSpPr>
          <p:cNvPr id="6" name="Shape 3"/>
          <p:cNvSpPr/>
          <p:nvPr/>
        </p:nvSpPr>
        <p:spPr>
          <a:xfrm>
            <a:off x="548640" y="5440680"/>
            <a:ext cx="11091672" cy="841248"/>
          </a:xfrm>
          <a:prstGeom prst="roundRect">
            <a:avLst>
              <a:gd name="adj" fmla="val 652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7" name="Text 4"/>
          <p:cNvSpPr txBox="1"/>
          <p:nvPr/>
        </p:nvSpPr>
        <p:spPr>
          <a:xfrm>
            <a:off x="868680" y="5596128"/>
            <a:ext cx="1042416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Sample of each report:  </a:t>
            </a:r>
            <a:pPr indent="0" marL="0">
              <a:buNone/>
            </a:pPr>
            <a:r>
              <a:rPr lang="en-US" sz="1200" b="1" dirty="0">
                <a:solidFill>
                  <a:srgbClr val="8A5A00"/>
                </a:solidFill>
                <a:latin typeface="Calibri" pitchFamily="34" charset="0"/>
                <a:ea typeface="Calibri" pitchFamily="34" charset="-122"/>
                <a:cs typeface="Calibri" pitchFamily="34" charset="-120"/>
              </a:rPr>
              <a:t>[ LINK TO BE PASTED HERE ]</a:t>
            </a:r>
            <a:pPr indent="0" marL="0">
              <a:buNone/>
            </a:pPr>
            <a:r>
              <a:rPr lang="en-US" sz="1200" dirty="0">
                <a:solidFill>
                  <a:srgbClr val="333F50"/>
                </a:solidFill>
                <a:latin typeface="Calibri" pitchFamily="34" charset="0"/>
                <a:ea typeface="Calibri" pitchFamily="34" charset="-122"/>
                <a:cs typeface="Calibri" pitchFamily="34" charset="-120"/>
              </a:rPr>
              <a:t>   so you can see the columns each one returns and how it is generated.</a:t>
            </a:r>
            <a:endParaRPr lang="en-US" sz="1200" dirty="0"/>
          </a:p>
        </p:txBody>
      </p:sp>
      <p:sp>
        <p:nvSpPr>
          <p:cNvPr id="8" name="Text 5"/>
          <p:cNvSpPr txBox="1"/>
          <p:nvPr/>
        </p:nvSpPr>
        <p:spPr>
          <a:xfrm>
            <a:off x="868680" y="5888736"/>
            <a:ext cx="10424160" cy="292608"/>
          </a:xfrm>
          <a:prstGeom prst="rect">
            <a:avLst/>
          </a:prstGeom>
          <a:noFill/>
          <a:ln/>
        </p:spPr>
        <p:txBody>
          <a:bodyPr wrap="square" lIns="0" tIns="0" rIns="0" bIns="0" rtlCol="0" anchor="ctr"/>
          <a:lstStyle/>
          <a:p>
            <a:pPr indent="0" marL="0">
              <a:buNone/>
            </a:pPr>
            <a:r>
              <a:rPr lang="en-US" sz="1100" dirty="0">
                <a:solidFill>
                  <a:srgbClr val="6B7A90"/>
                </a:solidFill>
                <a:latin typeface="Calibri" pitchFamily="34" charset="0"/>
                <a:ea typeface="Calibri" pitchFamily="34" charset="-122"/>
                <a:cs typeface="Calibri" pitchFamily="34" charset="-120"/>
              </a:rPr>
              <a:t>Covers 92 sites today, 38 of them production, and carries department and division but not RM. Extending it to the full estate and adding RM is the single request that most increases what we can report 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THE PIPELINE</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How the report is fed, and who keeps it current</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250" dirty="0">
                <a:solidFill>
                  <a:srgbClr val="333F50"/>
                </a:solidFill>
                <a:latin typeface="Calibri" pitchFamily="34" charset="0"/>
                <a:ea typeface="Calibri" pitchFamily="34" charset="-122"/>
                <a:cs typeface="Calibri" pitchFamily="34" charset="-120"/>
              </a:rPr>
              <a:t>Every figure is a join between these sources. The join key is the site.</a:t>
            </a:r>
            <a:endParaRPr lang="en-US" sz="1250" dirty="0"/>
          </a:p>
        </p:txBody>
      </p:sp>
      <p:sp>
        <p:nvSpPr>
          <p:cNvPr id="5" name="Shape 3"/>
          <p:cNvSpPr/>
          <p:nvPr/>
        </p:nvSpPr>
        <p:spPr>
          <a:xfrm>
            <a:off x="548640" y="1719072"/>
            <a:ext cx="2615184" cy="1188720"/>
          </a:xfrm>
          <a:prstGeom prst="roundRect">
            <a:avLst>
              <a:gd name="adj" fmla="val 461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4"/>
          <p:cNvSpPr txBox="1"/>
          <p:nvPr/>
        </p:nvSpPr>
        <p:spPr>
          <a:xfrm>
            <a:off x="731520" y="1847088"/>
            <a:ext cx="2249424"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EDRMS Database</a:t>
            </a:r>
            <a:endParaRPr lang="en-US" sz="1200" dirty="0"/>
          </a:p>
        </p:txBody>
      </p:sp>
      <p:sp>
        <p:nvSpPr>
          <p:cNvPr id="7" name="Text 5"/>
          <p:cNvSpPr txBox="1"/>
          <p:nvPr/>
        </p:nvSpPr>
        <p:spPr>
          <a:xfrm>
            <a:off x="731520" y="2139696"/>
            <a:ext cx="2249424" cy="67665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Records, counterparts,</a:t>
            </a:r>
            <a:endParaRPr lang="en-US" sz="1000" dirty="0"/>
          </a:p>
          <a:p>
            <a:pPr indent="0" marL="0">
              <a:buNone/>
            </a:pPr>
            <a:r>
              <a:rPr lang="en-US" sz="1000" dirty="0">
                <a:solidFill>
                  <a:srgbClr val="6B7A90"/>
                </a:solidFill>
                <a:latin typeface="Calibri" pitchFamily="34" charset="0"/>
                <a:ea typeface="Calibri" pitchFamily="34" charset="-122"/>
                <a:cs typeface="Calibri" pitchFamily="34" charset="-120"/>
              </a:rPr>
              <a:t>retention, disposal dates</a:t>
            </a:r>
            <a:endParaRPr lang="en-US" sz="1000" dirty="0"/>
          </a:p>
        </p:txBody>
      </p:sp>
      <p:sp>
        <p:nvSpPr>
          <p:cNvPr id="8" name="Shape 6"/>
          <p:cNvSpPr/>
          <p:nvPr/>
        </p:nvSpPr>
        <p:spPr>
          <a:xfrm>
            <a:off x="3383280" y="1719072"/>
            <a:ext cx="2615184" cy="1188720"/>
          </a:xfrm>
          <a:prstGeom prst="roundRect">
            <a:avLst>
              <a:gd name="adj" fmla="val 461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9" name="Text 7"/>
          <p:cNvSpPr txBox="1"/>
          <p:nvPr/>
        </p:nvSpPr>
        <p:spPr>
          <a:xfrm>
            <a:off x="3566160" y="1847088"/>
            <a:ext cx="2249424"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Cloud Governance</a:t>
            </a:r>
            <a:endParaRPr lang="en-US" sz="1200" dirty="0"/>
          </a:p>
        </p:txBody>
      </p:sp>
      <p:sp>
        <p:nvSpPr>
          <p:cNvPr id="10" name="Text 8"/>
          <p:cNvSpPr txBox="1"/>
          <p:nvPr/>
        </p:nvSpPr>
        <p:spPr>
          <a:xfrm>
            <a:off x="3566160" y="2139696"/>
            <a:ext cx="2249424" cy="67665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Site list, department,</a:t>
            </a:r>
            <a:endParaRPr lang="en-US" sz="1000" dirty="0"/>
          </a:p>
          <a:p>
            <a:pPr indent="0" marL="0">
              <a:buNone/>
            </a:pPr>
            <a:r>
              <a:rPr lang="en-US" sz="1000" dirty="0">
                <a:solidFill>
                  <a:srgbClr val="6B7A90"/>
                </a:solidFill>
                <a:latin typeface="Calibri" pitchFamily="34" charset="0"/>
                <a:ea typeface="Calibri" pitchFamily="34" charset="-122"/>
                <a:cs typeface="Calibri" pitchFamily="34" charset="-120"/>
              </a:rPr>
              <a:t>owner, status, storage</a:t>
            </a:r>
            <a:endParaRPr lang="en-US" sz="1000" dirty="0"/>
          </a:p>
        </p:txBody>
      </p:sp>
      <p:sp>
        <p:nvSpPr>
          <p:cNvPr id="11" name="Shape 9"/>
          <p:cNvSpPr/>
          <p:nvPr/>
        </p:nvSpPr>
        <p:spPr>
          <a:xfrm>
            <a:off x="6217920" y="1719072"/>
            <a:ext cx="2615184" cy="1188720"/>
          </a:xfrm>
          <a:prstGeom prst="roundRect">
            <a:avLst>
              <a:gd name="adj" fmla="val 461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2" name="Text 10"/>
          <p:cNvSpPr txBox="1"/>
          <p:nvPr/>
        </p:nvSpPr>
        <p:spPr>
          <a:xfrm>
            <a:off x="6400800" y="1847088"/>
            <a:ext cx="2249424"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Microsoft 365</a:t>
            </a:r>
            <a:endParaRPr lang="en-US" sz="1200" dirty="0"/>
          </a:p>
        </p:txBody>
      </p:sp>
      <p:sp>
        <p:nvSpPr>
          <p:cNvPr id="13" name="Text 11"/>
          <p:cNvSpPr txBox="1"/>
          <p:nvPr/>
        </p:nvSpPr>
        <p:spPr>
          <a:xfrm>
            <a:off x="6400800" y="2139696"/>
            <a:ext cx="2249424" cy="67665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Usage and activity,</a:t>
            </a:r>
            <a:endParaRPr lang="en-US" sz="1000" dirty="0"/>
          </a:p>
          <a:p>
            <a:pPr indent="0" marL="0">
              <a:buNone/>
            </a:pPr>
            <a:r>
              <a:rPr lang="en-US" sz="1000" dirty="0">
                <a:solidFill>
                  <a:srgbClr val="6B7A90"/>
                </a:solidFill>
                <a:latin typeface="Calibri" pitchFamily="34" charset="0"/>
                <a:ea typeface="Calibri" pitchFamily="34" charset="-122"/>
                <a:cs typeface="Calibri" pitchFamily="34" charset="-120"/>
              </a:rPr>
              <a:t>7 to 180 day windows</a:t>
            </a:r>
            <a:endParaRPr lang="en-US" sz="1000" dirty="0"/>
          </a:p>
        </p:txBody>
      </p:sp>
      <p:sp>
        <p:nvSpPr>
          <p:cNvPr id="14" name="Shape 12"/>
          <p:cNvSpPr/>
          <p:nvPr/>
        </p:nvSpPr>
        <p:spPr>
          <a:xfrm>
            <a:off x="9052560" y="1719072"/>
            <a:ext cx="2615184" cy="1188720"/>
          </a:xfrm>
          <a:prstGeom prst="roundRect">
            <a:avLst>
              <a:gd name="adj" fmla="val 461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5" name="Text 13"/>
          <p:cNvSpPr txBox="1"/>
          <p:nvPr/>
        </p:nvSpPr>
        <p:spPr>
          <a:xfrm>
            <a:off x="9235440" y="1847088"/>
            <a:ext cx="2249424"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ITD lookup file</a:t>
            </a:r>
            <a:endParaRPr lang="en-US" sz="1200" dirty="0"/>
          </a:p>
        </p:txBody>
      </p:sp>
      <p:sp>
        <p:nvSpPr>
          <p:cNvPr id="16" name="Text 14"/>
          <p:cNvSpPr txBox="1"/>
          <p:nvPr/>
        </p:nvSpPr>
        <p:spPr>
          <a:xfrm>
            <a:off x="9235440" y="2139696"/>
            <a:ext cx="2249424" cy="676656"/>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Department, division,</a:t>
            </a:r>
            <a:endParaRPr lang="en-US" sz="1000" dirty="0"/>
          </a:p>
          <a:p>
            <a:pPr indent="0" marL="0">
              <a:buNone/>
            </a:pPr>
            <a:r>
              <a:rPr lang="en-US" sz="1000" dirty="0">
                <a:solidFill>
                  <a:srgbClr val="6B7A90"/>
                </a:solidFill>
                <a:latin typeface="Calibri" pitchFamily="34" charset="0"/>
                <a:ea typeface="Calibri" pitchFamily="34" charset="-122"/>
                <a:cs typeface="Calibri" pitchFamily="34" charset="-120"/>
              </a:rPr>
              <a:t>library, production flag</a:t>
            </a:r>
            <a:endParaRPr lang="en-US" sz="1000" dirty="0"/>
          </a:p>
        </p:txBody>
      </p:sp>
      <p:sp>
        <p:nvSpPr>
          <p:cNvPr id="17" name="Shape 15"/>
          <p:cNvSpPr/>
          <p:nvPr/>
        </p:nvSpPr>
        <p:spPr>
          <a:xfrm>
            <a:off x="548640" y="3108960"/>
            <a:ext cx="11091672" cy="566928"/>
          </a:xfrm>
          <a:prstGeom prst="roundRect">
            <a:avLst>
              <a:gd name="adj" fmla="val 9677"/>
            </a:avLst>
          </a:prstGeom>
          <a:solidFill>
            <a:srgbClr val="1E2761"/>
          </a:solidFill>
          <a:ln/>
        </p:spPr>
      </p:sp>
      <p:sp>
        <p:nvSpPr>
          <p:cNvPr id="18" name="Text 16"/>
          <p:cNvSpPr txBox="1"/>
          <p:nvPr/>
        </p:nvSpPr>
        <p:spPr>
          <a:xfrm>
            <a:off x="548640" y="3108960"/>
            <a:ext cx="11091672"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Joined on the site, then grouped by department or division</a:t>
            </a:r>
            <a:endParaRPr lang="en-US" sz="1300" dirty="0"/>
          </a:p>
        </p:txBody>
      </p:sp>
      <p:sp>
        <p:nvSpPr>
          <p:cNvPr id="19" name="Shape 17"/>
          <p:cNvSpPr/>
          <p:nvPr/>
        </p:nvSpPr>
        <p:spPr>
          <a:xfrm>
            <a:off x="548640" y="3840480"/>
            <a:ext cx="11091672" cy="502920"/>
          </a:xfrm>
          <a:prstGeom prst="roundRect">
            <a:avLst>
              <a:gd name="adj" fmla="val 10909"/>
            </a:avLst>
          </a:prstGeom>
          <a:solidFill>
            <a:srgbClr val="CADCFC"/>
          </a:solidFill>
          <a:ln/>
        </p:spPr>
      </p:sp>
      <p:sp>
        <p:nvSpPr>
          <p:cNvPr id="20" name="Text 18"/>
          <p:cNvSpPr txBox="1"/>
          <p:nvPr/>
        </p:nvSpPr>
        <p:spPr>
          <a:xfrm>
            <a:off x="548640" y="3840480"/>
            <a:ext cx="11091672"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Bank-wide Oversight   and   Department Insights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553712"/>
          <a:ext cx="11091672" cy="914400"/>
        </p:xfrm>
        <a:graphic>
          <a:graphicData uri="http://schemas.openxmlformats.org/drawingml/2006/table">
            <a:tbl>
              <a:tblPr/>
              <a:tblGrid>
                <a:gridCol w="2377440"/>
                <a:gridCol w="2834640"/>
                <a:gridCol w="587959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 keeps it current</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that person has to do</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Nobody. EDRMS writes 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Nothing. The figure appears because a record was declared.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Whoever provisions the site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8A5A00"/>
                          </a:solidFill>
                          <a:latin typeface="Calibri" pitchFamily="34" charset="0"/>
                          <a:ea typeface="Calibri" pitchFamily="34" charset="-122"/>
                          <a:cs typeface="Calibri" pitchFamily="34" charset="-120"/>
                        </a:rPr>
                        <a:t>Set department, division and RM when a site is created. Left blank, that site drops out of every departmental figure without any error showing.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Microsoft 365</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Nobody. Microsoft generates 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Nothing, but the window cannot be widened beyond 180 days.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r h="0">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ITD lookup file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BA team today</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c>
                  <a:txBody>
                    <a:bodyPr/>
                    <a:lstStyle/>
                    <a:p>
                      <a:pPr indent="0" marL="0">
                        <a:buNone/>
                      </a:pPr>
                      <a:r>
                        <a:rPr lang="en-US" sz="1000" dirty="0">
                          <a:solidFill>
                            <a:srgbClr val="8A5A00"/>
                          </a:solidFill>
                          <a:latin typeface="Calibri" pitchFamily="34" charset="0"/>
                          <a:ea typeface="Calibri" pitchFamily="34" charset="-122"/>
                          <a:cs typeface="Calibri" pitchFamily="34" charset="-120"/>
                        </a:rPr>
                        <a:t>Keep the mapping current as sites are created, renamed or retired, and add RM. Proposed to move into the EDRMS database with an admin page so RAC can maintain 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MVP DASHBOARD 1</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Bank-wide Oversight</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300" dirty="0">
                <a:solidFill>
                  <a:srgbClr val="333F50"/>
                </a:solidFill>
                <a:latin typeface="Calibri" pitchFamily="34" charset="0"/>
                <a:ea typeface="Calibri" pitchFamily="34" charset="-122"/>
                <a:cs typeface="Calibri" pitchFamily="34" charset="-120"/>
              </a:rPr>
              <a:t>How much is in EDRMS, and who is using it, for the whole bank on one page.</a:t>
            </a:r>
            <a:endParaRPr lang="en-US" sz="1300" dirty="0"/>
          </a:p>
        </p:txBody>
      </p:sp>
      <p:sp>
        <p:nvSpPr>
          <p:cNvPr id="5" name="Shape 3"/>
          <p:cNvSpPr/>
          <p:nvPr/>
        </p:nvSpPr>
        <p:spPr>
          <a:xfrm>
            <a:off x="548640" y="1691640"/>
            <a:ext cx="6720840" cy="4087368"/>
          </a:xfrm>
          <a:prstGeom prst="roundRect">
            <a:avLst>
              <a:gd name="adj" fmla="val 1119"/>
            </a:avLst>
          </a:prstGeom>
          <a:solidFill>
            <a:srgbClr val="E6ECF6"/>
          </a:solidFill>
          <a:ln w="15875">
            <a:solidFill>
              <a:srgbClr val="9FB2CE"/>
            </a:solidFill>
            <a:prstDash val="dash"/>
          </a:ln>
        </p:spPr>
      </p:sp>
      <p:sp>
        <p:nvSpPr>
          <p:cNvPr id="6" name="Text 4"/>
          <p:cNvSpPr txBox="1"/>
          <p:nvPr/>
        </p:nvSpPr>
        <p:spPr>
          <a:xfrm>
            <a:off x="548640" y="3351276"/>
            <a:ext cx="6720840" cy="237744"/>
          </a:xfrm>
          <a:prstGeom prst="rect">
            <a:avLst/>
          </a:prstGeom>
          <a:noFill/>
          <a:ln/>
        </p:spPr>
        <p:txBody>
          <a:bodyPr wrap="square" lIns="0" tIns="0" rIns="0" bIns="0" rtlCol="0" anchor="ctr"/>
          <a:lstStyle/>
          <a:p>
            <a:pPr algn="ctr" indent="0" marL="0">
              <a:buNone/>
            </a:pPr>
            <a:r>
              <a:rPr lang="en-US" sz="1050" b="1" dirty="0">
                <a:solidFill>
                  <a:srgbClr val="5C7396"/>
                </a:solidFill>
                <a:latin typeface="Calibri" pitchFamily="34" charset="0"/>
                <a:ea typeface="Calibri" pitchFamily="34" charset="-122"/>
                <a:cs typeface="Calibri" pitchFamily="34" charset="-120"/>
              </a:rPr>
              <a:t>IMAGE PLACEHOLDER</a:t>
            </a:r>
            <a:endParaRPr lang="en-US" sz="1050" dirty="0"/>
          </a:p>
        </p:txBody>
      </p:sp>
      <p:sp>
        <p:nvSpPr>
          <p:cNvPr id="7" name="Text 5"/>
          <p:cNvSpPr txBox="1"/>
          <p:nvPr/>
        </p:nvSpPr>
        <p:spPr>
          <a:xfrm>
            <a:off x="731520" y="3625596"/>
            <a:ext cx="6355080" cy="548640"/>
          </a:xfrm>
          <a:prstGeom prst="rect">
            <a:avLst/>
          </a:prstGeom>
          <a:noFill/>
          <a:ln/>
        </p:spPr>
        <p:txBody>
          <a:bodyPr wrap="square" lIns="0" tIns="0" rIns="0" bIns="0" rtlCol="0" anchor="ctr"/>
          <a:lstStyle/>
          <a:p>
            <a:pPr algn="ctr" indent="0" marL="0">
              <a:buNone/>
            </a:pPr>
            <a:r>
              <a:rPr lang="en-US" sz="1150" dirty="0">
                <a:solidFill>
                  <a:srgbClr val="333F50"/>
                </a:solidFill>
                <a:latin typeface="Calibri" pitchFamily="34" charset="0"/>
                <a:ea typeface="Calibri" pitchFamily="34" charset="-122"/>
                <a:cs typeface="Calibri" pitchFamily="34" charset="-120"/>
              </a:rPr>
              <a:t>Mockup: Bank-wide Oversight, full page</a:t>
            </a:r>
            <a:endParaRPr lang="en-US" sz="1150" dirty="0"/>
          </a:p>
          <a:p>
            <a:pPr algn="ctr" indent="0" marL="0">
              <a:buNone/>
            </a:pPr>
            <a:r>
              <a:rPr lang="en-US" sz="1150" dirty="0">
                <a:solidFill>
                  <a:srgbClr val="333F50"/>
                </a:solidFill>
                <a:latin typeface="Calibri" pitchFamily="34" charset="0"/>
                <a:ea typeface="Calibri" pitchFamily="34" charset="-122"/>
                <a:cs typeface="Calibri" pitchFamily="34" charset="-120"/>
              </a:rPr>
              <a:t>(cover page 2 of the mockup PDF)</a:t>
            </a:r>
            <a:endParaRPr lang="en-US" sz="1150" dirty="0"/>
          </a:p>
        </p:txBody>
      </p:sp>
      <p:sp>
        <p:nvSpPr>
          <p:cNvPr id="8" name="Shape 6"/>
          <p:cNvSpPr/>
          <p:nvPr/>
        </p:nvSpPr>
        <p:spPr>
          <a:xfrm>
            <a:off x="7498080" y="169164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9" name="Shape 7"/>
          <p:cNvSpPr/>
          <p:nvPr/>
        </p:nvSpPr>
        <p:spPr>
          <a:xfrm>
            <a:off x="7726680" y="1837944"/>
            <a:ext cx="274320" cy="274320"/>
          </a:xfrm>
          <a:prstGeom prst="ellipse">
            <a:avLst/>
          </a:prstGeom>
          <a:solidFill>
            <a:srgbClr val="1E2761"/>
          </a:solidFill>
          <a:ln/>
        </p:spPr>
      </p:sp>
      <p:sp>
        <p:nvSpPr>
          <p:cNvPr id="10" name="Text 8"/>
          <p:cNvSpPr txBox="1"/>
          <p:nvPr/>
        </p:nvSpPr>
        <p:spPr>
          <a:xfrm>
            <a:off x="7726680" y="18379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8138160" y="181051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Top panel</a:t>
            </a:r>
            <a:endParaRPr lang="en-US" sz="1200" dirty="0"/>
          </a:p>
        </p:txBody>
      </p:sp>
      <p:sp>
        <p:nvSpPr>
          <p:cNvPr id="12" name="Text 10"/>
          <p:cNvSpPr txBox="1"/>
          <p:nvPr/>
        </p:nvSpPr>
        <p:spPr>
          <a:xfrm>
            <a:off x="8138160" y="209397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Ten tiles. Eight open a table below. Two navigate to another dashboard.</a:t>
            </a:r>
            <a:endParaRPr lang="en-US" sz="950" dirty="0"/>
          </a:p>
        </p:txBody>
      </p:sp>
      <p:sp>
        <p:nvSpPr>
          <p:cNvPr id="13" name="Shape 11"/>
          <p:cNvSpPr/>
          <p:nvPr/>
        </p:nvSpPr>
        <p:spPr>
          <a:xfrm>
            <a:off x="7498080" y="274320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4" name="Shape 12"/>
          <p:cNvSpPr/>
          <p:nvPr/>
        </p:nvSpPr>
        <p:spPr>
          <a:xfrm>
            <a:off x="7726680" y="2889504"/>
            <a:ext cx="274320" cy="274320"/>
          </a:xfrm>
          <a:prstGeom prst="ellipse">
            <a:avLst/>
          </a:prstGeom>
          <a:solidFill>
            <a:srgbClr val="1E2761"/>
          </a:solidFill>
          <a:ln/>
        </p:spPr>
      </p:sp>
      <p:sp>
        <p:nvSpPr>
          <p:cNvPr id="15" name="Text 13"/>
          <p:cNvSpPr txBox="1"/>
          <p:nvPr/>
        </p:nvSpPr>
        <p:spPr>
          <a:xfrm>
            <a:off x="7726680" y="28895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txBox="1"/>
          <p:nvPr/>
        </p:nvSpPr>
        <p:spPr>
          <a:xfrm>
            <a:off x="8138160" y="286207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Overview of EDRMS sites</a:t>
            </a:r>
            <a:endParaRPr lang="en-US" sz="1200" dirty="0"/>
          </a:p>
        </p:txBody>
      </p:sp>
      <p:sp>
        <p:nvSpPr>
          <p:cNvPr id="17" name="Text 15"/>
          <p:cNvSpPr txBox="1"/>
          <p:nvPr/>
        </p:nvSpPr>
        <p:spPr>
          <a:xfrm>
            <a:off x="8138160" y="314553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Every department, office and RM with its sites, documents, records and counterparts.</a:t>
            </a:r>
            <a:endParaRPr lang="en-US" sz="950" dirty="0"/>
          </a:p>
        </p:txBody>
      </p:sp>
      <p:sp>
        <p:nvSpPr>
          <p:cNvPr id="18" name="Shape 16"/>
          <p:cNvSpPr/>
          <p:nvPr/>
        </p:nvSpPr>
        <p:spPr>
          <a:xfrm>
            <a:off x="7498080" y="379476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9" name="Shape 17"/>
          <p:cNvSpPr/>
          <p:nvPr/>
        </p:nvSpPr>
        <p:spPr>
          <a:xfrm>
            <a:off x="7726680" y="3941064"/>
            <a:ext cx="274320" cy="274320"/>
          </a:xfrm>
          <a:prstGeom prst="ellipse">
            <a:avLst/>
          </a:prstGeom>
          <a:solidFill>
            <a:srgbClr val="1E2761"/>
          </a:solidFill>
          <a:ln/>
        </p:spPr>
      </p:sp>
      <p:sp>
        <p:nvSpPr>
          <p:cNvPr id="20" name="Text 18"/>
          <p:cNvSpPr txBox="1"/>
          <p:nvPr/>
        </p:nvSpPr>
        <p:spPr>
          <a:xfrm>
            <a:off x="7726680" y="39410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txBox="1"/>
          <p:nvPr/>
        </p:nvSpPr>
        <p:spPr>
          <a:xfrm>
            <a:off x="8138160" y="391363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Comparison</a:t>
            </a:r>
            <a:endParaRPr lang="en-US" sz="1200" dirty="0"/>
          </a:p>
        </p:txBody>
      </p:sp>
      <p:sp>
        <p:nvSpPr>
          <p:cNvPr id="22" name="Text 20"/>
          <p:cNvSpPr txBox="1"/>
          <p:nvPr/>
        </p:nvSpPr>
        <p:spPr>
          <a:xfrm>
            <a:off x="8138160" y="419709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Documents set against records declared, so you can see who is storing but not declaring.</a:t>
            </a:r>
            <a:endParaRPr lang="en-US" sz="950" dirty="0"/>
          </a:p>
        </p:txBody>
      </p:sp>
      <p:sp>
        <p:nvSpPr>
          <p:cNvPr id="23" name="Shape 21"/>
          <p:cNvSpPr/>
          <p:nvPr/>
        </p:nvSpPr>
        <p:spPr>
          <a:xfrm>
            <a:off x="7498080" y="484632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4" name="Shape 22"/>
          <p:cNvSpPr/>
          <p:nvPr/>
        </p:nvSpPr>
        <p:spPr>
          <a:xfrm>
            <a:off x="7726680" y="4992624"/>
            <a:ext cx="274320" cy="274320"/>
          </a:xfrm>
          <a:prstGeom prst="ellipse">
            <a:avLst/>
          </a:prstGeom>
          <a:solidFill>
            <a:srgbClr val="1E2761"/>
          </a:solidFill>
          <a:ln/>
        </p:spPr>
      </p:sp>
      <p:sp>
        <p:nvSpPr>
          <p:cNvPr id="25" name="Text 23"/>
          <p:cNvSpPr txBox="1"/>
          <p:nvPr/>
        </p:nvSpPr>
        <p:spPr>
          <a:xfrm>
            <a:off x="7726680" y="49926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6" name="Text 24"/>
          <p:cNvSpPr txBox="1"/>
          <p:nvPr/>
        </p:nvSpPr>
        <p:spPr>
          <a:xfrm>
            <a:off x="8138160" y="496519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Records declaration trend</a:t>
            </a:r>
            <a:endParaRPr lang="en-US" sz="1200" dirty="0"/>
          </a:p>
        </p:txBody>
      </p:sp>
      <p:sp>
        <p:nvSpPr>
          <p:cNvPr id="27" name="Text 25"/>
          <p:cNvSpPr txBox="1"/>
          <p:nvPr/>
        </p:nvSpPr>
        <p:spPr>
          <a:xfrm>
            <a:off x="8138160" y="524865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A running total over time, with a date range you choose.</a:t>
            </a:r>
            <a:endParaRPr lang="en-US" sz="950" dirty="0"/>
          </a:p>
        </p:txBody>
      </p:sp>
      <p:sp>
        <p:nvSpPr>
          <p:cNvPr id="28" name="Text 26"/>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100" i="1" dirty="0">
                <a:solidFill>
                  <a:srgbClr val="6B7A90"/>
                </a:solidFill>
                <a:latin typeface="Calibri" pitchFamily="34" charset="0"/>
                <a:ea typeface="Calibri" pitchFamily="34" charset="-122"/>
                <a:cs typeface="Calibri" pitchFamily="34" charset="-120"/>
              </a:rPr>
              <a:t>The figures shown are illustrative. React to the shape, the labels and the logic.</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Bank-wide Oversight: the top panel</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331720"/>
                <a:gridCol w="3063240"/>
                <a:gridCol w="3913632"/>
                <a:gridCol w="17830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Active EDRMS SharePoint sites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sites, grouped by department, office or RM</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 with department and division backfilled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EDRMS users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People with recorded SharePoint activity in the window</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activity log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documents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File count per site, rolled up</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site usage, joined to the Cloud Governance site list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records declared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counted once each</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physical counterparts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flagged as having a paper counterpart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Records due for disposal</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Records reaching their disposal due date in a window</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Sovereign and nonsovereign project sites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Sites belonging to a project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 source. Out of scope for this release.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bl>
          </a:graphicData>
        </a:graphic>
      </p:graphicFrame>
      <p:sp>
        <p:nvSpPr>
          <p:cNvPr id="5" name="Shape 2"/>
          <p:cNvSpPr/>
          <p:nvPr/>
        </p:nvSpPr>
        <p:spPr>
          <a:xfrm>
            <a:off x="548640" y="4617720"/>
            <a:ext cx="11091672" cy="1188720"/>
          </a:xfrm>
          <a:prstGeom prst="roundRect">
            <a:avLst>
              <a:gd name="adj" fmla="val 4615"/>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3"/>
          <p:cNvSpPr txBox="1"/>
          <p:nvPr/>
        </p:nvSpPr>
        <p:spPr>
          <a:xfrm>
            <a:off x="868680" y="4773168"/>
            <a:ext cx="10424160" cy="237744"/>
          </a:xfrm>
          <a:prstGeom prst="rect">
            <a:avLst/>
          </a:prstGeom>
          <a:noFill/>
          <a:ln/>
        </p:spPr>
        <p:txBody>
          <a:bodyPr wrap="square" lIns="0" tIns="0" rIns="0" bIns="0" rtlCol="0" anchor="ctr"/>
          <a:lstStyle/>
          <a:p>
            <a:pPr indent="0" marL="0">
              <a:buNone/>
            </a:pPr>
            <a:r>
              <a:rPr lang="en-US" sz="1050" b="1" spc="140" kern="0" dirty="0">
                <a:solidFill>
                  <a:srgbClr val="6B7A90"/>
                </a:solidFill>
                <a:latin typeface="Calibri" pitchFamily="34" charset="0"/>
                <a:ea typeface="Calibri" pitchFamily="34" charset="-122"/>
                <a:cs typeface="Calibri" pitchFamily="34" charset="-120"/>
              </a:rPr>
              <a:t>Raised by your own review</a:t>
            </a:r>
            <a:endParaRPr lang="en-US" sz="1050" dirty="0"/>
          </a:p>
        </p:txBody>
      </p:sp>
      <p:sp>
        <p:nvSpPr>
          <p:cNvPr id="7" name="Text 4"/>
          <p:cNvSpPr txBox="1"/>
          <p:nvPr/>
        </p:nvSpPr>
        <p:spPr>
          <a:xfrm>
            <a:off x="868680" y="5029200"/>
            <a:ext cx="10424160" cy="713232"/>
          </a:xfrm>
          <a:prstGeom prst="rect">
            <a:avLst/>
          </a:prstGeom>
          <a:noFill/>
          <a:ln/>
        </p:spPr>
        <p:txBody>
          <a:bodyPr wrap="square" lIns="0" tIns="0" rIns="0" bIns="0" rtlCol="0" anchor="ctr"/>
          <a:lstStyle/>
          <a:p>
            <a:pPr indent="0" marL="0">
              <a:buNone/>
            </a:pPr>
            <a:r>
              <a:rPr lang="en-US" sz="1050" i="1" dirty="0">
                <a:solidFill>
                  <a:srgbClr val="333F50"/>
                </a:solidFill>
                <a:latin typeface="Calibri" pitchFamily="34" charset="0"/>
                <a:ea typeface="Calibri" pitchFamily="34" charset="-122"/>
                <a:cs typeface="Calibri" pitchFamily="34" charset="-120"/>
              </a:rPr>
              <a:t>“All records have a due date for disposal. What does due for disposal mean? Due in the next 30, 60 or 90 days?”</a:t>
            </a:r>
            <a:endParaRPr lang="en-US" sz="1050" dirty="0"/>
          </a:p>
          <a:p>
            <a:pPr indent="0" marL="0">
              <a:buNone/>
            </a:pPr>
            <a:r>
              <a:rPr lang="en-US" sz="1050" i="1" dirty="0">
                <a:solidFill>
                  <a:srgbClr val="333F50"/>
                </a:solidFill>
                <a:latin typeface="Calibri" pitchFamily="34" charset="0"/>
                <a:ea typeface="Calibri" pitchFamily="34" charset="-122"/>
                <a:cs typeface="Calibri" pitchFamily="34" charset="-120"/>
              </a:rPr>
              <a:t>“Is this user with access to EDRMS sites?”     “What is a declaration rate?”     “Is this zero records in an EDRMS site? Department? Division? RMs?”</a:t>
            </a:r>
            <a:endParaRPr lang="en-US" sz="1050" dirty="0"/>
          </a:p>
          <a:p>
            <a:pPr indent="0" marL="0">
              <a:buNone/>
            </a:pPr>
            <a:r>
              <a:rPr lang="en-US" sz="1050" b="1" dirty="0">
                <a:solidFill>
                  <a:srgbClr val="333F50"/>
                </a:solidFill>
                <a:latin typeface="Calibri" pitchFamily="34" charset="0"/>
                <a:ea typeface="Calibri" pitchFamily="34" charset="-122"/>
                <a:cs typeface="Calibri" pitchFamily="34" charset="-120"/>
              </a:rPr>
              <a:t>Each one changes the figure entirely. We need one answer each before these tiles can be built.</a:t>
            </a:r>
            <a:endParaRPr lang="en-US" sz="1050" dirty="0"/>
          </a:p>
        </p:txBody>
      </p:sp>
      <p:sp>
        <p:nvSpPr>
          <p:cNvPr id="8" name="Shape 5"/>
          <p:cNvSpPr/>
          <p:nvPr/>
        </p:nvSpPr>
        <p:spPr>
          <a:xfrm>
            <a:off x="548640" y="6089904"/>
            <a:ext cx="868680" cy="237744"/>
          </a:xfrm>
          <a:prstGeom prst="roundRect">
            <a:avLst>
              <a:gd name="adj" fmla="val 19231"/>
            </a:avLst>
          </a:prstGeom>
          <a:solidFill>
            <a:srgbClr val="DCEDE2"/>
          </a:solidFill>
          <a:ln w="9525">
            <a:solidFill>
              <a:srgbClr val="1F6B3B"/>
            </a:solidFill>
            <a:prstDash val="solid"/>
          </a:ln>
        </p:spPr>
      </p:sp>
      <p:sp>
        <p:nvSpPr>
          <p:cNvPr id="9" name="Text 6"/>
          <p:cNvSpPr txBox="1"/>
          <p:nvPr/>
        </p:nvSpPr>
        <p:spPr>
          <a:xfrm>
            <a:off x="548640" y="6089904"/>
            <a:ext cx="868680" cy="237744"/>
          </a:xfrm>
          <a:prstGeom prst="rect">
            <a:avLst/>
          </a:prstGeom>
          <a:noFill/>
          <a:ln/>
        </p:spPr>
        <p:txBody>
          <a:bodyPr wrap="square" lIns="0" tIns="0" rIns="0" bIns="0" rtlCol="0" anchor="ctr"/>
          <a:lstStyle/>
          <a:p>
            <a:pPr algn="ctr" indent="0" marL="0">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10" name="Text 7"/>
          <p:cNvSpPr txBox="1"/>
          <p:nvPr/>
        </p:nvSpPr>
        <p:spPr>
          <a:xfrm>
            <a:off x="150876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1" name="Shape 8"/>
          <p:cNvSpPr/>
          <p:nvPr/>
        </p:nvSpPr>
        <p:spPr>
          <a:xfrm>
            <a:off x="4343400" y="6089904"/>
            <a:ext cx="868680" cy="237744"/>
          </a:xfrm>
          <a:prstGeom prst="roundRect">
            <a:avLst>
              <a:gd name="adj" fmla="val 19231"/>
            </a:avLst>
          </a:prstGeom>
          <a:solidFill>
            <a:srgbClr val="FBEFD4"/>
          </a:solidFill>
          <a:ln w="9525">
            <a:solidFill>
              <a:srgbClr val="8A5A00"/>
            </a:solidFill>
            <a:prstDash val="solid"/>
          </a:ln>
        </p:spPr>
      </p:sp>
      <p:sp>
        <p:nvSpPr>
          <p:cNvPr id="12" name="Text 9"/>
          <p:cNvSpPr txBox="1"/>
          <p:nvPr/>
        </p:nvSpPr>
        <p:spPr>
          <a:xfrm>
            <a:off x="4343400" y="6089904"/>
            <a:ext cx="868680" cy="237744"/>
          </a:xfrm>
          <a:prstGeom prst="rect">
            <a:avLst/>
          </a:prstGeom>
          <a:noFill/>
          <a:ln/>
        </p:spPr>
        <p:txBody>
          <a:bodyPr wrap="square" lIns="0" tIns="0" rIns="0" bIns="0" rtlCol="0" anchor="ctr"/>
          <a:lstStyle/>
          <a:p>
            <a:pPr algn="ctr" indent="0" marL="0">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13" name="Text 10"/>
          <p:cNvSpPr txBox="1"/>
          <p:nvPr/>
        </p:nvSpPr>
        <p:spPr>
          <a:xfrm>
            <a:off x="530352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14" name="Shape 11"/>
          <p:cNvSpPr/>
          <p:nvPr/>
        </p:nvSpPr>
        <p:spPr>
          <a:xfrm>
            <a:off x="8138160" y="6089904"/>
            <a:ext cx="868680" cy="237744"/>
          </a:xfrm>
          <a:prstGeom prst="roundRect">
            <a:avLst>
              <a:gd name="adj" fmla="val 19231"/>
            </a:avLst>
          </a:prstGeom>
          <a:solidFill>
            <a:srgbClr val="F7E0E0"/>
          </a:solidFill>
          <a:ln w="9525">
            <a:solidFill>
              <a:srgbClr val="9C2B2B"/>
            </a:solidFill>
            <a:prstDash val="solid"/>
          </a:ln>
        </p:spPr>
      </p:sp>
      <p:sp>
        <p:nvSpPr>
          <p:cNvPr id="15" name="Text 12"/>
          <p:cNvSpPr txBox="1"/>
          <p:nvPr/>
        </p:nvSpPr>
        <p:spPr>
          <a:xfrm>
            <a:off x="8138160" y="6089904"/>
            <a:ext cx="868680" cy="237744"/>
          </a:xfrm>
          <a:prstGeom prst="rect">
            <a:avLst/>
          </a:prstGeom>
          <a:noFill/>
          <a:ln/>
        </p:spPr>
        <p:txBody>
          <a:bodyPr wrap="square" lIns="0" tIns="0" rIns="0" bIns="0" rtlCol="0" anchor="ctr"/>
          <a:lstStyle/>
          <a:p>
            <a:pPr algn="ctr" indent="0" marL="0">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16" name="Text 13"/>
          <p:cNvSpPr txBox="1"/>
          <p:nvPr/>
        </p:nvSpPr>
        <p:spPr>
          <a:xfrm>
            <a:off x="909828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Bank-wide Oversight: tables, indicators and trend</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331720"/>
                <a:gridCol w="3063240"/>
                <a:gridCol w="3913632"/>
                <a:gridCol w="17830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Department / office / RM</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The owning unit of each site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 Department is set at provisioning; division needs backfilling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Sites created, deleted, archived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 lifecycle counts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 site status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Inactive site for 90 days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Sites with no activity in the window</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site usage, last activity date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Never accessed EDRMS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People with access to a site who have never opened 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 permissions checked against the activity log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Staff, contractors, consultants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Users split by employment type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 source. Needs a user register with employment type.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Completion of training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Users who completed EDRMS training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Held by the learning team. Owner identified, file not yet supplied.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New documents month on month</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Documents added in each month</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Needs a document level scan that does not exist yet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Records declaration trend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as a running total over time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bl>
          </a:graphicData>
        </a:graphic>
      </p:graphicFrame>
      <p:sp>
        <p:nvSpPr>
          <p:cNvPr id="5" name="Shape 2"/>
          <p:cNvSpPr/>
          <p:nvPr/>
        </p:nvSpPr>
        <p:spPr>
          <a:xfrm>
            <a:off x="548640" y="4983480"/>
            <a:ext cx="11091672" cy="868680"/>
          </a:xfrm>
          <a:prstGeom prst="roundRect">
            <a:avLst>
              <a:gd name="adj" fmla="val 6316"/>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3"/>
          <p:cNvSpPr txBox="1"/>
          <p:nvPr/>
        </p:nvSpPr>
        <p:spPr>
          <a:xfrm>
            <a:off x="868680" y="5138928"/>
            <a:ext cx="10424160" cy="566928"/>
          </a:xfrm>
          <a:prstGeom prst="rect">
            <a:avLst/>
          </a:prstGeom>
          <a:noFill/>
          <a:ln/>
        </p:spPr>
        <p:txBody>
          <a:bodyPr wrap="square" lIns="0" tIns="0" rIns="0" bIns="0" rtlCol="0" anchor="ctr"/>
          <a:lstStyle/>
          <a:p>
            <a:pPr indent="0" marL="0">
              <a:buNone/>
            </a:pPr>
            <a:r>
              <a:rPr lang="en-US" sz="1150" b="1" dirty="0">
                <a:solidFill>
                  <a:srgbClr val="1F6B3B"/>
                </a:solidFill>
                <a:latin typeface="Calibri" pitchFamily="34" charset="0"/>
                <a:ea typeface="Calibri" pitchFamily="34" charset="-122"/>
                <a:cs typeface="Calibri" pitchFamily="34" charset="-120"/>
              </a:rPr>
              <a:t>Never accessed is now settled.  </a:t>
            </a:r>
            <a:pPr indent="0" marL="0">
              <a:buNone/>
            </a:pPr>
            <a:r>
              <a:rPr lang="en-US" sz="1150" dirty="0">
                <a:solidFill>
                  <a:srgbClr val="333F50"/>
                </a:solidFill>
                <a:latin typeface="Calibri" pitchFamily="34" charset="0"/>
                <a:ea typeface="Calibri" pitchFamily="34" charset="-122"/>
                <a:cs typeface="Calibri" pitchFamily="34" charset="-120"/>
              </a:rPr>
              <a:t>Your comment on Department Insights reads “users with site access but never accessed the site, feasible, SPO Activity”. That matches what was agreed in the technical session, so this moves from a question to a buildable measure.</a:t>
            </a:r>
            <a:endParaRPr lang="en-US" sz="1150" dirty="0"/>
          </a:p>
        </p:txBody>
      </p:sp>
      <p:sp>
        <p:nvSpPr>
          <p:cNvPr id="7" name="Shape 4"/>
          <p:cNvSpPr/>
          <p:nvPr/>
        </p:nvSpPr>
        <p:spPr>
          <a:xfrm>
            <a:off x="548640" y="6089904"/>
            <a:ext cx="868680" cy="237744"/>
          </a:xfrm>
          <a:prstGeom prst="roundRect">
            <a:avLst>
              <a:gd name="adj" fmla="val 19231"/>
            </a:avLst>
          </a:prstGeom>
          <a:solidFill>
            <a:srgbClr val="DCEDE2"/>
          </a:solidFill>
          <a:ln w="9525">
            <a:solidFill>
              <a:srgbClr val="1F6B3B"/>
            </a:solidFill>
            <a:prstDash val="solid"/>
          </a:ln>
        </p:spPr>
      </p:sp>
      <p:sp>
        <p:nvSpPr>
          <p:cNvPr id="8" name="Text 5"/>
          <p:cNvSpPr txBox="1"/>
          <p:nvPr/>
        </p:nvSpPr>
        <p:spPr>
          <a:xfrm>
            <a:off x="548640" y="6089904"/>
            <a:ext cx="868680" cy="237744"/>
          </a:xfrm>
          <a:prstGeom prst="rect">
            <a:avLst/>
          </a:prstGeom>
          <a:noFill/>
          <a:ln/>
        </p:spPr>
        <p:txBody>
          <a:bodyPr wrap="square" lIns="0" tIns="0" rIns="0" bIns="0" rtlCol="0" anchor="ctr"/>
          <a:lstStyle/>
          <a:p>
            <a:pPr algn="ctr" indent="0" marL="0">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9" name="Text 6"/>
          <p:cNvSpPr txBox="1"/>
          <p:nvPr/>
        </p:nvSpPr>
        <p:spPr>
          <a:xfrm>
            <a:off x="150876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0" name="Shape 7"/>
          <p:cNvSpPr/>
          <p:nvPr/>
        </p:nvSpPr>
        <p:spPr>
          <a:xfrm>
            <a:off x="4343400" y="6089904"/>
            <a:ext cx="868680" cy="237744"/>
          </a:xfrm>
          <a:prstGeom prst="roundRect">
            <a:avLst>
              <a:gd name="adj" fmla="val 19231"/>
            </a:avLst>
          </a:prstGeom>
          <a:solidFill>
            <a:srgbClr val="FBEFD4"/>
          </a:solidFill>
          <a:ln w="9525">
            <a:solidFill>
              <a:srgbClr val="8A5A00"/>
            </a:solidFill>
            <a:prstDash val="solid"/>
          </a:ln>
        </p:spPr>
      </p:sp>
      <p:sp>
        <p:nvSpPr>
          <p:cNvPr id="11" name="Text 8"/>
          <p:cNvSpPr txBox="1"/>
          <p:nvPr/>
        </p:nvSpPr>
        <p:spPr>
          <a:xfrm>
            <a:off x="4343400" y="6089904"/>
            <a:ext cx="868680" cy="237744"/>
          </a:xfrm>
          <a:prstGeom prst="rect">
            <a:avLst/>
          </a:prstGeom>
          <a:noFill/>
          <a:ln/>
        </p:spPr>
        <p:txBody>
          <a:bodyPr wrap="square" lIns="0" tIns="0" rIns="0" bIns="0" rtlCol="0" anchor="ctr"/>
          <a:lstStyle/>
          <a:p>
            <a:pPr algn="ctr" indent="0" marL="0">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12" name="Text 9"/>
          <p:cNvSpPr txBox="1"/>
          <p:nvPr/>
        </p:nvSpPr>
        <p:spPr>
          <a:xfrm>
            <a:off x="530352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13" name="Shape 10"/>
          <p:cNvSpPr/>
          <p:nvPr/>
        </p:nvSpPr>
        <p:spPr>
          <a:xfrm>
            <a:off x="8138160" y="6089904"/>
            <a:ext cx="868680" cy="237744"/>
          </a:xfrm>
          <a:prstGeom prst="roundRect">
            <a:avLst>
              <a:gd name="adj" fmla="val 19231"/>
            </a:avLst>
          </a:prstGeom>
          <a:solidFill>
            <a:srgbClr val="F7E0E0"/>
          </a:solidFill>
          <a:ln w="9525">
            <a:solidFill>
              <a:srgbClr val="9C2B2B"/>
            </a:solidFill>
            <a:prstDash val="solid"/>
          </a:ln>
        </p:spPr>
      </p:sp>
      <p:sp>
        <p:nvSpPr>
          <p:cNvPr id="14" name="Text 11"/>
          <p:cNvSpPr txBox="1"/>
          <p:nvPr/>
        </p:nvSpPr>
        <p:spPr>
          <a:xfrm>
            <a:off x="8138160" y="6089904"/>
            <a:ext cx="868680" cy="237744"/>
          </a:xfrm>
          <a:prstGeom prst="rect">
            <a:avLst/>
          </a:prstGeom>
          <a:noFill/>
          <a:ln/>
        </p:spPr>
        <p:txBody>
          <a:bodyPr wrap="square" lIns="0" tIns="0" rIns="0" bIns="0" rtlCol="0" anchor="ctr"/>
          <a:lstStyle/>
          <a:p>
            <a:pPr algn="ctr" indent="0" marL="0">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15" name="Text 12"/>
          <p:cNvSpPr txBox="1"/>
          <p:nvPr/>
        </p:nvSpPr>
        <p:spPr>
          <a:xfrm>
            <a:off x="909828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MVP DASHBOARD 2</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Department Insights</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300" dirty="0">
                <a:solidFill>
                  <a:srgbClr val="333F50"/>
                </a:solidFill>
                <a:latin typeface="Calibri" pitchFamily="34" charset="0"/>
                <a:ea typeface="Calibri" pitchFamily="34" charset="-122"/>
                <a:cs typeface="Calibri" pitchFamily="34" charset="-120"/>
              </a:rPr>
              <a:t>One unit's own view. Pick a department, office or RM and everything below refreshes for it.</a:t>
            </a:r>
            <a:endParaRPr lang="en-US" sz="1300" dirty="0"/>
          </a:p>
        </p:txBody>
      </p:sp>
      <p:sp>
        <p:nvSpPr>
          <p:cNvPr id="5" name="Shape 3"/>
          <p:cNvSpPr/>
          <p:nvPr/>
        </p:nvSpPr>
        <p:spPr>
          <a:xfrm>
            <a:off x="548640" y="1691640"/>
            <a:ext cx="6720840" cy="4087368"/>
          </a:xfrm>
          <a:prstGeom prst="roundRect">
            <a:avLst>
              <a:gd name="adj" fmla="val 1119"/>
            </a:avLst>
          </a:prstGeom>
          <a:solidFill>
            <a:srgbClr val="E6ECF6"/>
          </a:solidFill>
          <a:ln w="15875">
            <a:solidFill>
              <a:srgbClr val="9FB2CE"/>
            </a:solidFill>
            <a:prstDash val="dash"/>
          </a:ln>
        </p:spPr>
      </p:sp>
      <p:sp>
        <p:nvSpPr>
          <p:cNvPr id="6" name="Text 4"/>
          <p:cNvSpPr txBox="1"/>
          <p:nvPr/>
        </p:nvSpPr>
        <p:spPr>
          <a:xfrm>
            <a:off x="548640" y="3351276"/>
            <a:ext cx="6720840" cy="237744"/>
          </a:xfrm>
          <a:prstGeom prst="rect">
            <a:avLst/>
          </a:prstGeom>
          <a:noFill/>
          <a:ln/>
        </p:spPr>
        <p:txBody>
          <a:bodyPr wrap="square" lIns="0" tIns="0" rIns="0" bIns="0" rtlCol="0" anchor="ctr"/>
          <a:lstStyle/>
          <a:p>
            <a:pPr algn="ctr" indent="0" marL="0">
              <a:buNone/>
            </a:pPr>
            <a:r>
              <a:rPr lang="en-US" sz="1050" b="1" dirty="0">
                <a:solidFill>
                  <a:srgbClr val="5C7396"/>
                </a:solidFill>
                <a:latin typeface="Calibri" pitchFamily="34" charset="0"/>
                <a:ea typeface="Calibri" pitchFamily="34" charset="-122"/>
                <a:cs typeface="Calibri" pitchFamily="34" charset="-120"/>
              </a:rPr>
              <a:t>IMAGE PLACEHOLDER</a:t>
            </a:r>
            <a:endParaRPr lang="en-US" sz="1050" dirty="0"/>
          </a:p>
        </p:txBody>
      </p:sp>
      <p:sp>
        <p:nvSpPr>
          <p:cNvPr id="7" name="Text 5"/>
          <p:cNvSpPr txBox="1"/>
          <p:nvPr/>
        </p:nvSpPr>
        <p:spPr>
          <a:xfrm>
            <a:off x="731520" y="3625596"/>
            <a:ext cx="6355080" cy="548640"/>
          </a:xfrm>
          <a:prstGeom prst="rect">
            <a:avLst/>
          </a:prstGeom>
          <a:noFill/>
          <a:ln/>
        </p:spPr>
        <p:txBody>
          <a:bodyPr wrap="square" lIns="0" tIns="0" rIns="0" bIns="0" rtlCol="0" anchor="ctr"/>
          <a:lstStyle/>
          <a:p>
            <a:pPr algn="ctr" indent="0" marL="0">
              <a:buNone/>
            </a:pPr>
            <a:r>
              <a:rPr lang="en-US" sz="1150" dirty="0">
                <a:solidFill>
                  <a:srgbClr val="333F50"/>
                </a:solidFill>
                <a:latin typeface="Calibri" pitchFamily="34" charset="0"/>
                <a:ea typeface="Calibri" pitchFamily="34" charset="-122"/>
                <a:cs typeface="Calibri" pitchFamily="34" charset="-120"/>
              </a:rPr>
              <a:t>Mockup: Department Insights, full page</a:t>
            </a:r>
            <a:endParaRPr lang="en-US" sz="1150" dirty="0"/>
          </a:p>
          <a:p>
            <a:pPr algn="ctr" indent="0" marL="0">
              <a:buNone/>
            </a:pPr>
            <a:r>
              <a:rPr lang="en-US" sz="1150" dirty="0">
                <a:solidFill>
                  <a:srgbClr val="333F50"/>
                </a:solidFill>
                <a:latin typeface="Calibri" pitchFamily="34" charset="0"/>
                <a:ea typeface="Calibri" pitchFamily="34" charset="-122"/>
                <a:cs typeface="Calibri" pitchFamily="34" charset="-120"/>
              </a:rPr>
              <a:t>(cover page 3 of the mockup PDF)</a:t>
            </a:r>
            <a:endParaRPr lang="en-US" sz="1150" dirty="0"/>
          </a:p>
        </p:txBody>
      </p:sp>
      <p:sp>
        <p:nvSpPr>
          <p:cNvPr id="8" name="Shape 6"/>
          <p:cNvSpPr/>
          <p:nvPr/>
        </p:nvSpPr>
        <p:spPr>
          <a:xfrm>
            <a:off x="7498080" y="169164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9" name="Shape 7"/>
          <p:cNvSpPr/>
          <p:nvPr/>
        </p:nvSpPr>
        <p:spPr>
          <a:xfrm>
            <a:off x="7726680" y="1837944"/>
            <a:ext cx="274320" cy="274320"/>
          </a:xfrm>
          <a:prstGeom prst="ellipse">
            <a:avLst/>
          </a:prstGeom>
          <a:solidFill>
            <a:srgbClr val="1E2761"/>
          </a:solidFill>
          <a:ln/>
        </p:spPr>
      </p:sp>
      <p:sp>
        <p:nvSpPr>
          <p:cNvPr id="10" name="Text 8"/>
          <p:cNvSpPr txBox="1"/>
          <p:nvPr/>
        </p:nvSpPr>
        <p:spPr>
          <a:xfrm>
            <a:off x="7726680" y="183794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8138160" y="181051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Department profile</a:t>
            </a:r>
            <a:endParaRPr lang="en-US" sz="1200" dirty="0"/>
          </a:p>
        </p:txBody>
      </p:sp>
      <p:sp>
        <p:nvSpPr>
          <p:cNvPr id="12" name="Text 10"/>
          <p:cNvSpPr txBox="1"/>
          <p:nvPr/>
        </p:nvSpPr>
        <p:spPr>
          <a:xfrm>
            <a:off x="8138160" y="209397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Seven tiles for the selected unit, each opening its own table.</a:t>
            </a:r>
            <a:endParaRPr lang="en-US" sz="950" dirty="0"/>
          </a:p>
        </p:txBody>
      </p:sp>
      <p:sp>
        <p:nvSpPr>
          <p:cNvPr id="13" name="Shape 11"/>
          <p:cNvSpPr/>
          <p:nvPr/>
        </p:nvSpPr>
        <p:spPr>
          <a:xfrm>
            <a:off x="7498080" y="274320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4" name="Shape 12"/>
          <p:cNvSpPr/>
          <p:nvPr/>
        </p:nvSpPr>
        <p:spPr>
          <a:xfrm>
            <a:off x="7726680" y="2889504"/>
            <a:ext cx="274320" cy="274320"/>
          </a:xfrm>
          <a:prstGeom prst="ellipse">
            <a:avLst/>
          </a:prstGeom>
          <a:solidFill>
            <a:srgbClr val="1E2761"/>
          </a:solidFill>
          <a:ln/>
        </p:spPr>
      </p:sp>
      <p:sp>
        <p:nvSpPr>
          <p:cNvPr id="15" name="Text 13"/>
          <p:cNvSpPr txBox="1"/>
          <p:nvPr/>
        </p:nvSpPr>
        <p:spPr>
          <a:xfrm>
            <a:off x="7726680" y="28895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txBox="1"/>
          <p:nvPr/>
        </p:nvSpPr>
        <p:spPr>
          <a:xfrm>
            <a:off x="8138160" y="286207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Overview of EDRMS sites</a:t>
            </a:r>
            <a:endParaRPr lang="en-US" sz="1200" dirty="0"/>
          </a:p>
        </p:txBody>
      </p:sp>
      <p:sp>
        <p:nvSpPr>
          <p:cNvPr id="17" name="Text 15"/>
          <p:cNvSpPr txBox="1"/>
          <p:nvPr/>
        </p:nvSpPr>
        <p:spPr>
          <a:xfrm>
            <a:off x="8138160" y="314553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Every site the unit owns, with its owner, documents, records and counterparts.</a:t>
            </a:r>
            <a:endParaRPr lang="en-US" sz="950" dirty="0"/>
          </a:p>
        </p:txBody>
      </p:sp>
      <p:sp>
        <p:nvSpPr>
          <p:cNvPr id="18" name="Shape 16"/>
          <p:cNvSpPr/>
          <p:nvPr/>
        </p:nvSpPr>
        <p:spPr>
          <a:xfrm>
            <a:off x="7498080" y="379476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9" name="Shape 17"/>
          <p:cNvSpPr/>
          <p:nvPr/>
        </p:nvSpPr>
        <p:spPr>
          <a:xfrm>
            <a:off x="7726680" y="3941064"/>
            <a:ext cx="274320" cy="274320"/>
          </a:xfrm>
          <a:prstGeom prst="ellipse">
            <a:avLst/>
          </a:prstGeom>
          <a:solidFill>
            <a:srgbClr val="1E2761"/>
          </a:solidFill>
          <a:ln/>
        </p:spPr>
      </p:sp>
      <p:sp>
        <p:nvSpPr>
          <p:cNvPr id="20" name="Text 18"/>
          <p:cNvSpPr txBox="1"/>
          <p:nvPr/>
        </p:nvSpPr>
        <p:spPr>
          <a:xfrm>
            <a:off x="7726680" y="39410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txBox="1"/>
          <p:nvPr/>
        </p:nvSpPr>
        <p:spPr>
          <a:xfrm>
            <a:off x="8138160" y="391363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Site visits</a:t>
            </a:r>
            <a:endParaRPr lang="en-US" sz="1200" dirty="0"/>
          </a:p>
        </p:txBody>
      </p:sp>
      <p:sp>
        <p:nvSpPr>
          <p:cNvPr id="22" name="Text 20"/>
          <p:cNvSpPr txBox="1"/>
          <p:nvPr/>
        </p:nvSpPr>
        <p:spPr>
          <a:xfrm>
            <a:off x="8138160" y="419709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Page views and visited pages per site, over a window you choose.</a:t>
            </a:r>
            <a:endParaRPr lang="en-US" sz="950" dirty="0"/>
          </a:p>
        </p:txBody>
      </p:sp>
      <p:sp>
        <p:nvSpPr>
          <p:cNvPr id="23" name="Shape 21"/>
          <p:cNvSpPr/>
          <p:nvPr/>
        </p:nvSpPr>
        <p:spPr>
          <a:xfrm>
            <a:off x="7498080" y="4846320"/>
            <a:ext cx="4142232" cy="932688"/>
          </a:xfrm>
          <a:prstGeom prst="roundRect">
            <a:avLst>
              <a:gd name="adj" fmla="val 5882"/>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4" name="Shape 22"/>
          <p:cNvSpPr/>
          <p:nvPr/>
        </p:nvSpPr>
        <p:spPr>
          <a:xfrm>
            <a:off x="7726680" y="4992624"/>
            <a:ext cx="274320" cy="274320"/>
          </a:xfrm>
          <a:prstGeom prst="ellipse">
            <a:avLst/>
          </a:prstGeom>
          <a:solidFill>
            <a:srgbClr val="1E2761"/>
          </a:solidFill>
          <a:ln/>
        </p:spPr>
      </p:sp>
      <p:sp>
        <p:nvSpPr>
          <p:cNvPr id="25" name="Text 23"/>
          <p:cNvSpPr txBox="1"/>
          <p:nvPr/>
        </p:nvSpPr>
        <p:spPr>
          <a:xfrm>
            <a:off x="7726680" y="499262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6" name="Text 24"/>
          <p:cNvSpPr txBox="1"/>
          <p:nvPr/>
        </p:nvSpPr>
        <p:spPr>
          <a:xfrm>
            <a:off x="8138160" y="4965192"/>
            <a:ext cx="329184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Library usage</a:t>
            </a:r>
            <a:endParaRPr lang="en-US" sz="1200" dirty="0"/>
          </a:p>
        </p:txBody>
      </p:sp>
      <p:sp>
        <p:nvSpPr>
          <p:cNvPr id="27" name="Text 25"/>
          <p:cNvSpPr txBox="1"/>
          <p:nvPr/>
        </p:nvSpPr>
        <p:spPr>
          <a:xfrm>
            <a:off x="8138160" y="5248656"/>
            <a:ext cx="3291840" cy="475488"/>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Libraries inside the unit's sites, grouped by file plan category.</a:t>
            </a:r>
            <a:endParaRPr lang="en-US" sz="950" dirty="0"/>
          </a:p>
        </p:txBody>
      </p:sp>
      <p:sp>
        <p:nvSpPr>
          <p:cNvPr id="28" name="Text 26"/>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1150" b="1" dirty="0">
                <a:solidFill>
                  <a:srgbClr val="8A5A00"/>
                </a:solidFill>
                <a:latin typeface="Calibri" pitchFamily="34" charset="0"/>
                <a:ea typeface="Calibri" pitchFamily="34" charset="-122"/>
                <a:cs typeface="Calibri" pitchFamily="34" charset="-120"/>
              </a:rPr>
              <a:t>Your first comment on this dashboard applies to all of it:  </a:t>
            </a:r>
            <a:pPr indent="0" marL="0">
              <a:buNone/>
            </a:pPr>
            <a:r>
              <a:rPr lang="en-US" sz="1150" i="1" dirty="0">
                <a:solidFill>
                  <a:srgbClr val="333F50"/>
                </a:solidFill>
                <a:latin typeface="Calibri" pitchFamily="34" charset="0"/>
                <a:ea typeface="Calibri" pitchFamily="34" charset="-122"/>
                <a:cs typeface="Calibri" pitchFamily="34" charset="-120"/>
              </a:rPr>
              <a:t>“For all: as long as department, division and RM is backfilled.” Every figure on this screen depends on that one piece of work.</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Department Insights: the profile tiles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331720"/>
                <a:gridCol w="3063240"/>
                <a:gridCol w="3913632"/>
                <a:gridCol w="17830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EDRMS compliant sites created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Sites provisioned to this unit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Cloud Governance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EDRMS users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People with recorded activity for this unit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activity log</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site visitors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Page views and visited pages, not distinct people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site usage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documents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File count across the unit's sites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SharePoint site usage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number of records declared</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for the unit's sites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Total physical counterparts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Declared records flagged as having a paper counterpart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1000" b="1" dirty="0">
                          <a:solidFill>
                            <a:srgbClr val="1F6B3B"/>
                          </a:solidFill>
                          <a:latin typeface="Calibri" pitchFamily="34" charset="0"/>
                          <a:ea typeface="Calibri" pitchFamily="34" charset="-122"/>
                          <a:cs typeface="Calibri" pitchFamily="34" charset="-120"/>
                        </a:rPr>
                        <a:t>Available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Records due for disposal</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Records reaching their due date in a window</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EDRMS database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1000" b="1" dirty="0">
                          <a:solidFill>
                            <a:srgbClr val="8A5A00"/>
                          </a:solidFill>
                          <a:latin typeface="Calibri" pitchFamily="34" charset="0"/>
                          <a:ea typeface="Calibri" pitchFamily="34" charset="-122"/>
                          <a:cs typeface="Calibri" pitchFamily="34" charset="-120"/>
                        </a:rPr>
                        <a:t>Define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1000" b="1" dirty="0">
                          <a:solidFill>
                            <a:srgbClr val="333F50"/>
                          </a:solidFill>
                          <a:latin typeface="Calibri" pitchFamily="34" charset="0"/>
                          <a:ea typeface="Calibri" pitchFamily="34" charset="-122"/>
                          <a:cs typeface="Calibri" pitchFamily="34" charset="-120"/>
                        </a:rPr>
                        <a:t>Go-Live date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When the unit went live on EDRMS</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1000" dirty="0">
                          <a:solidFill>
                            <a:srgbClr val="333F50"/>
                          </a:solidFill>
                          <a:latin typeface="Calibri" pitchFamily="34" charset="0"/>
                          <a:ea typeface="Calibri" pitchFamily="34" charset="-122"/>
                          <a:cs typeface="Calibri" pitchFamily="34" charset="-120"/>
                        </a:rPr>
                        <a:t>No source. Nothing records it.</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1000" b="1" dirty="0">
                          <a:solidFill>
                            <a:srgbClr val="9C2B2B"/>
                          </a:solidFill>
                          <a:latin typeface="Calibri" pitchFamily="34" charset="0"/>
                          <a:ea typeface="Calibri" pitchFamily="34" charset="-122"/>
                          <a:cs typeface="Calibri" pitchFamily="34" charset="-120"/>
                        </a:rPr>
                        <a:t>No source</a:t>
                      </a:r>
                      <a:endParaRPr lang="en-US" sz="10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bl>
          </a:graphicData>
        </a:graphic>
      </p:graphicFrame>
      <p:sp>
        <p:nvSpPr>
          <p:cNvPr id="5" name="Shape 2"/>
          <p:cNvSpPr/>
          <p:nvPr/>
        </p:nvSpPr>
        <p:spPr>
          <a:xfrm>
            <a:off x="548640" y="4983480"/>
            <a:ext cx="11091672" cy="868680"/>
          </a:xfrm>
          <a:prstGeom prst="roundRect">
            <a:avLst>
              <a:gd name="adj" fmla="val 6316"/>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3"/>
          <p:cNvSpPr txBox="1"/>
          <p:nvPr/>
        </p:nvSpPr>
        <p:spPr>
          <a:xfrm>
            <a:off x="868680" y="5138928"/>
            <a:ext cx="10424160" cy="566928"/>
          </a:xfrm>
          <a:prstGeom prst="rect">
            <a:avLst/>
          </a:prstGeom>
          <a:noFill/>
          <a:ln/>
        </p:spPr>
        <p:txBody>
          <a:bodyPr wrap="square" lIns="0" tIns="0" rIns="0" bIns="0" rtlCol="0" anchor="ctr"/>
          <a:lstStyle/>
          <a:p>
            <a:pPr indent="0" marL="0">
              <a:buNone/>
            </a:pPr>
            <a:r>
              <a:rPr lang="en-US" sz="1150" b="1" dirty="0">
                <a:solidFill>
                  <a:srgbClr val="1F6B3B"/>
                </a:solidFill>
                <a:latin typeface="Calibri" pitchFamily="34" charset="0"/>
                <a:ea typeface="Calibri" pitchFamily="34" charset="-122"/>
                <a:cs typeface="Calibri" pitchFamily="34" charset="-120"/>
              </a:rPr>
              <a:t>Thank you for the review.  </a:t>
            </a:r>
            <a:pPr indent="0" marL="0">
              <a:buNone/>
            </a:pPr>
            <a:r>
              <a:rPr lang="en-US" sz="1150" dirty="0">
                <a:solidFill>
                  <a:srgbClr val="333F50"/>
                </a:solidFill>
                <a:latin typeface="Calibri" pitchFamily="34" charset="0"/>
                <a:ea typeface="Calibri" pitchFamily="34" charset="-122"/>
                <a:cs typeface="Calibri" pitchFamily="34" charset="-120"/>
              </a:rPr>
              <a:t>All 79 rows on this dashboard now carry your assessment, and the table above follows it. Most of it agrees with ours. A small number of source attributions differ, and two points need resolving together: they are on the next slide.</a:t>
            </a:r>
            <a:endParaRPr lang="en-US" sz="1150" dirty="0"/>
          </a:p>
        </p:txBody>
      </p:sp>
      <p:sp>
        <p:nvSpPr>
          <p:cNvPr id="7" name="Shape 4"/>
          <p:cNvSpPr/>
          <p:nvPr/>
        </p:nvSpPr>
        <p:spPr>
          <a:xfrm>
            <a:off x="548640" y="6089904"/>
            <a:ext cx="868680" cy="237744"/>
          </a:xfrm>
          <a:prstGeom prst="roundRect">
            <a:avLst>
              <a:gd name="adj" fmla="val 19231"/>
            </a:avLst>
          </a:prstGeom>
          <a:solidFill>
            <a:srgbClr val="DCEDE2"/>
          </a:solidFill>
          <a:ln w="9525">
            <a:solidFill>
              <a:srgbClr val="1F6B3B"/>
            </a:solidFill>
            <a:prstDash val="solid"/>
          </a:ln>
        </p:spPr>
      </p:sp>
      <p:sp>
        <p:nvSpPr>
          <p:cNvPr id="8" name="Text 5"/>
          <p:cNvSpPr txBox="1"/>
          <p:nvPr/>
        </p:nvSpPr>
        <p:spPr>
          <a:xfrm>
            <a:off x="548640" y="6089904"/>
            <a:ext cx="868680" cy="237744"/>
          </a:xfrm>
          <a:prstGeom prst="rect">
            <a:avLst/>
          </a:prstGeom>
          <a:noFill/>
          <a:ln/>
        </p:spPr>
        <p:txBody>
          <a:bodyPr wrap="square" lIns="0" tIns="0" rIns="0" bIns="0" rtlCol="0" anchor="ctr"/>
          <a:lstStyle/>
          <a:p>
            <a:pPr algn="ctr" indent="0" marL="0">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9" name="Text 6"/>
          <p:cNvSpPr txBox="1"/>
          <p:nvPr/>
        </p:nvSpPr>
        <p:spPr>
          <a:xfrm>
            <a:off x="150876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0" name="Shape 7"/>
          <p:cNvSpPr/>
          <p:nvPr/>
        </p:nvSpPr>
        <p:spPr>
          <a:xfrm>
            <a:off x="4343400" y="6089904"/>
            <a:ext cx="868680" cy="237744"/>
          </a:xfrm>
          <a:prstGeom prst="roundRect">
            <a:avLst>
              <a:gd name="adj" fmla="val 19231"/>
            </a:avLst>
          </a:prstGeom>
          <a:solidFill>
            <a:srgbClr val="FBEFD4"/>
          </a:solidFill>
          <a:ln w="9525">
            <a:solidFill>
              <a:srgbClr val="8A5A00"/>
            </a:solidFill>
            <a:prstDash val="solid"/>
          </a:ln>
        </p:spPr>
      </p:sp>
      <p:sp>
        <p:nvSpPr>
          <p:cNvPr id="11" name="Text 8"/>
          <p:cNvSpPr txBox="1"/>
          <p:nvPr/>
        </p:nvSpPr>
        <p:spPr>
          <a:xfrm>
            <a:off x="4343400" y="6089904"/>
            <a:ext cx="868680" cy="237744"/>
          </a:xfrm>
          <a:prstGeom prst="rect">
            <a:avLst/>
          </a:prstGeom>
          <a:noFill/>
          <a:ln/>
        </p:spPr>
        <p:txBody>
          <a:bodyPr wrap="square" lIns="0" tIns="0" rIns="0" bIns="0" rtlCol="0" anchor="ctr"/>
          <a:lstStyle/>
          <a:p>
            <a:pPr algn="ctr" indent="0" marL="0">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12" name="Text 9"/>
          <p:cNvSpPr txBox="1"/>
          <p:nvPr/>
        </p:nvSpPr>
        <p:spPr>
          <a:xfrm>
            <a:off x="530352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13" name="Shape 10"/>
          <p:cNvSpPr/>
          <p:nvPr/>
        </p:nvSpPr>
        <p:spPr>
          <a:xfrm>
            <a:off x="8138160" y="6089904"/>
            <a:ext cx="868680" cy="237744"/>
          </a:xfrm>
          <a:prstGeom prst="roundRect">
            <a:avLst>
              <a:gd name="adj" fmla="val 19231"/>
            </a:avLst>
          </a:prstGeom>
          <a:solidFill>
            <a:srgbClr val="F7E0E0"/>
          </a:solidFill>
          <a:ln w="9525">
            <a:solidFill>
              <a:srgbClr val="9C2B2B"/>
            </a:solidFill>
            <a:prstDash val="solid"/>
          </a:ln>
        </p:spPr>
      </p:sp>
      <p:sp>
        <p:nvSpPr>
          <p:cNvPr id="14" name="Text 11"/>
          <p:cNvSpPr txBox="1"/>
          <p:nvPr/>
        </p:nvSpPr>
        <p:spPr>
          <a:xfrm>
            <a:off x="8138160" y="6089904"/>
            <a:ext cx="868680" cy="237744"/>
          </a:xfrm>
          <a:prstGeom prst="rect">
            <a:avLst/>
          </a:prstGeom>
          <a:noFill/>
          <a:ln/>
        </p:spPr>
        <p:txBody>
          <a:bodyPr wrap="square" lIns="0" tIns="0" rIns="0" bIns="0" rtlCol="0" anchor="ctr"/>
          <a:lstStyle/>
          <a:p>
            <a:pPr algn="ctr" indent="0" marL="0">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15" name="Text 12"/>
          <p:cNvSpPr txBox="1"/>
          <p:nvPr/>
        </p:nvSpPr>
        <p:spPr>
          <a:xfrm>
            <a:off x="909828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WHAT EACH ITEM MEANS AND WHERE IT COMES FROM</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Department Insights: sites, visits and libraries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2331720"/>
                <a:gridCol w="3063240"/>
                <a:gridCol w="3913632"/>
                <a:gridCol w="178308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Your term</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counts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Name of sites, site owners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Each site the unit owns and who owns it</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Cloud Governance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Number of documents per site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File count for that site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SharePoint site usage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Number of records, counterparts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Declared records and paper counterparts per site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EDRMS database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Page views, visited pages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Visit activity per site in the window</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SharePoint site usage, 7 to 180 days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Visitors internal and external</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Visits split by where the person comes from</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No available report splits this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Access requests granted, denied</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Requests to join a site and their outcome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Not yet defined. Your comment reads “need more details on what is meant by this”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950" b="1" dirty="0">
                          <a:solidFill>
                            <a:srgbClr val="8A5A00"/>
                          </a:solidFill>
                          <a:latin typeface="Calibri" pitchFamily="34" charset="0"/>
                          <a:ea typeface="Calibri" pitchFamily="34" charset="-122"/>
                          <a:cs typeface="Calibri" pitchFamily="34" charset="-120"/>
                        </a:rPr>
                        <a:t>Define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Library names</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Libraries inside each site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ITD lookup file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c>
                  <a:txBody>
                    <a:bodyPr/>
                    <a:lstStyle/>
                    <a:p>
                      <a:pPr algn="ctr" indent="0" marL="0">
                        <a:buNone/>
                      </a:pPr>
                      <a:r>
                        <a:rPr lang="en-US" sz="950" b="1" dirty="0">
                          <a:solidFill>
                            <a:srgbClr val="1F6B3B"/>
                          </a:solidFill>
                          <a:latin typeface="Calibri" pitchFamily="34" charset="0"/>
                          <a:ea typeface="Calibri" pitchFamily="34" charset="-122"/>
                          <a:cs typeface="Calibri" pitchFamily="34" charset="-120"/>
                        </a:rPr>
                        <a:t>Available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DCEDE2"/>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Number of documents per library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Documents inside each library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You have marked this feasible. We read nothing as reporting below site level. See the next slide.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algn="ctr" indent="0" marL="0">
                        <a:buNone/>
                      </a:pPr>
                      <a:r>
                        <a:rPr lang="en-US" sz="950" b="1" dirty="0">
                          <a:solidFill>
                            <a:srgbClr val="8A5A00"/>
                          </a:solidFill>
                          <a:latin typeface="Calibri" pitchFamily="34" charset="0"/>
                          <a:ea typeface="Calibri" pitchFamily="34" charset="-122"/>
                          <a:cs typeface="Calibri" pitchFamily="34" charset="-120"/>
                        </a:rPr>
                        <a:t>Define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50" b="1" dirty="0">
                          <a:solidFill>
                            <a:srgbClr val="333F50"/>
                          </a:solidFill>
                          <a:latin typeface="Calibri" pitchFamily="34" charset="0"/>
                          <a:ea typeface="Calibri" pitchFamily="34" charset="-122"/>
                          <a:cs typeface="Calibri" pitchFamily="34" charset="-120"/>
                        </a:rPr>
                        <a:t>Number of users per library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People using each library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indent="0" marL="0">
                        <a:buNone/>
                      </a:pPr>
                      <a:r>
                        <a:rPr lang="en-US" sz="950" dirty="0">
                          <a:solidFill>
                            <a:srgbClr val="333F50"/>
                          </a:solidFill>
                          <a:latin typeface="Calibri" pitchFamily="34" charset="0"/>
                          <a:ea typeface="Calibri" pitchFamily="34" charset="-122"/>
                          <a:cs typeface="Calibri" pitchFamily="34" charset="-120"/>
                        </a:rPr>
                        <a:t>No source will ever produce this. Activity is never reported per library.</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c>
                  <a:txBody>
                    <a:bodyPr/>
                    <a:lstStyle/>
                    <a:p>
                      <a:pPr algn="ctr" indent="0" marL="0">
                        <a:buNone/>
                      </a:pPr>
                      <a:r>
                        <a:rPr lang="en-US" sz="950" b="1" dirty="0">
                          <a:solidFill>
                            <a:srgbClr val="9C2B2B"/>
                          </a:solidFill>
                          <a:latin typeface="Calibri" pitchFamily="34" charset="0"/>
                          <a:ea typeface="Calibri" pitchFamily="34" charset="-122"/>
                          <a:cs typeface="Calibri" pitchFamily="34" charset="-120"/>
                        </a:rPr>
                        <a:t>No source</a:t>
                      </a:r>
                      <a:endParaRPr lang="en-US" sz="9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7E0E0"/>
                    </a:solidFill>
                  </a:tcPr>
                </a:tc>
              </a:tr>
            </a:tbl>
          </a:graphicData>
        </a:graphic>
      </p:graphicFrame>
      <p:sp>
        <p:nvSpPr>
          <p:cNvPr id="5" name="Shape 2"/>
          <p:cNvSpPr/>
          <p:nvPr/>
        </p:nvSpPr>
        <p:spPr>
          <a:xfrm>
            <a:off x="548640" y="5230368"/>
            <a:ext cx="11091672" cy="658368"/>
          </a:xfrm>
          <a:prstGeom prst="roundRect">
            <a:avLst>
              <a:gd name="adj" fmla="val 833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Text 3"/>
          <p:cNvSpPr txBox="1"/>
          <p:nvPr/>
        </p:nvSpPr>
        <p:spPr>
          <a:xfrm>
            <a:off x="868680" y="5358384"/>
            <a:ext cx="10424160" cy="402336"/>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Worth a decision now:  </a:t>
            </a:r>
            <a:pPr indent="0" marL="0">
              <a:buNone/>
            </a:pPr>
            <a:r>
              <a:rPr lang="en-US" sz="1150" dirty="0">
                <a:solidFill>
                  <a:srgbClr val="333F50"/>
                </a:solidFill>
                <a:latin typeface="Calibri" pitchFamily="34" charset="0"/>
                <a:ea typeface="Calibri" pitchFamily="34" charset="-122"/>
                <a:cs typeface="Calibri" pitchFamily="34" charset="-120"/>
              </a:rPr>
              <a:t>users per library cannot be produced by any source, now or later, because activity is never reported below site level. We suggest dropping it rather than leaving it open.</a:t>
            </a:r>
            <a:endParaRPr lang="en-US" sz="1150" dirty="0"/>
          </a:p>
        </p:txBody>
      </p:sp>
      <p:sp>
        <p:nvSpPr>
          <p:cNvPr id="7" name="Shape 4"/>
          <p:cNvSpPr/>
          <p:nvPr/>
        </p:nvSpPr>
        <p:spPr>
          <a:xfrm>
            <a:off x="548640" y="6089904"/>
            <a:ext cx="868680" cy="237744"/>
          </a:xfrm>
          <a:prstGeom prst="roundRect">
            <a:avLst>
              <a:gd name="adj" fmla="val 19231"/>
            </a:avLst>
          </a:prstGeom>
          <a:solidFill>
            <a:srgbClr val="DCEDE2"/>
          </a:solidFill>
          <a:ln w="9525">
            <a:solidFill>
              <a:srgbClr val="1F6B3B"/>
            </a:solidFill>
            <a:prstDash val="solid"/>
          </a:ln>
        </p:spPr>
      </p:sp>
      <p:sp>
        <p:nvSpPr>
          <p:cNvPr id="8" name="Text 5"/>
          <p:cNvSpPr txBox="1"/>
          <p:nvPr/>
        </p:nvSpPr>
        <p:spPr>
          <a:xfrm>
            <a:off x="548640" y="6089904"/>
            <a:ext cx="868680" cy="237744"/>
          </a:xfrm>
          <a:prstGeom prst="rect">
            <a:avLst/>
          </a:prstGeom>
          <a:noFill/>
          <a:ln/>
        </p:spPr>
        <p:txBody>
          <a:bodyPr wrap="square" lIns="0" tIns="0" rIns="0" bIns="0" rtlCol="0" anchor="ctr"/>
          <a:lstStyle/>
          <a:p>
            <a:pPr algn="ctr" indent="0" marL="0">
              <a:buNone/>
            </a:pPr>
            <a:r>
              <a:rPr lang="en-US" sz="900" b="1" dirty="0">
                <a:solidFill>
                  <a:srgbClr val="1F6B3B"/>
                </a:solidFill>
                <a:latin typeface="Calibri" pitchFamily="34" charset="0"/>
                <a:ea typeface="Calibri" pitchFamily="34" charset="-122"/>
                <a:cs typeface="Calibri" pitchFamily="34" charset="-120"/>
              </a:rPr>
              <a:t>Available</a:t>
            </a:r>
            <a:endParaRPr lang="en-US" sz="900" dirty="0"/>
          </a:p>
        </p:txBody>
      </p:sp>
      <p:sp>
        <p:nvSpPr>
          <p:cNvPr id="9" name="Text 6"/>
          <p:cNvSpPr txBox="1"/>
          <p:nvPr/>
        </p:nvSpPr>
        <p:spPr>
          <a:xfrm>
            <a:off x="150876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Sourced and buildable today</a:t>
            </a:r>
            <a:endParaRPr lang="en-US" sz="900" dirty="0"/>
          </a:p>
        </p:txBody>
      </p:sp>
      <p:sp>
        <p:nvSpPr>
          <p:cNvPr id="10" name="Shape 7"/>
          <p:cNvSpPr/>
          <p:nvPr/>
        </p:nvSpPr>
        <p:spPr>
          <a:xfrm>
            <a:off x="4343400" y="6089904"/>
            <a:ext cx="868680" cy="237744"/>
          </a:xfrm>
          <a:prstGeom prst="roundRect">
            <a:avLst>
              <a:gd name="adj" fmla="val 19231"/>
            </a:avLst>
          </a:prstGeom>
          <a:solidFill>
            <a:srgbClr val="FBEFD4"/>
          </a:solidFill>
          <a:ln w="9525">
            <a:solidFill>
              <a:srgbClr val="8A5A00"/>
            </a:solidFill>
            <a:prstDash val="solid"/>
          </a:ln>
        </p:spPr>
      </p:sp>
      <p:sp>
        <p:nvSpPr>
          <p:cNvPr id="11" name="Text 8"/>
          <p:cNvSpPr txBox="1"/>
          <p:nvPr/>
        </p:nvSpPr>
        <p:spPr>
          <a:xfrm>
            <a:off x="4343400" y="6089904"/>
            <a:ext cx="868680" cy="237744"/>
          </a:xfrm>
          <a:prstGeom prst="rect">
            <a:avLst/>
          </a:prstGeom>
          <a:noFill/>
          <a:ln/>
        </p:spPr>
        <p:txBody>
          <a:bodyPr wrap="square" lIns="0" tIns="0" rIns="0" bIns="0" rtlCol="0" anchor="ctr"/>
          <a:lstStyle/>
          <a:p>
            <a:pPr algn="ctr" indent="0" marL="0">
              <a:buNone/>
            </a:pPr>
            <a:r>
              <a:rPr lang="en-US" sz="900" b="1" dirty="0">
                <a:solidFill>
                  <a:srgbClr val="8A5A00"/>
                </a:solidFill>
                <a:latin typeface="Calibri" pitchFamily="34" charset="0"/>
                <a:ea typeface="Calibri" pitchFamily="34" charset="-122"/>
                <a:cs typeface="Calibri" pitchFamily="34" charset="-120"/>
              </a:rPr>
              <a:t>Define</a:t>
            </a:r>
            <a:endParaRPr lang="en-US" sz="900" dirty="0"/>
          </a:p>
        </p:txBody>
      </p:sp>
      <p:sp>
        <p:nvSpPr>
          <p:cNvPr id="12" name="Text 9"/>
          <p:cNvSpPr txBox="1"/>
          <p:nvPr/>
        </p:nvSpPr>
        <p:spPr>
          <a:xfrm>
            <a:off x="530352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Term is ambiguous. What it means changes the figure</a:t>
            </a:r>
            <a:endParaRPr lang="en-US" sz="900" dirty="0"/>
          </a:p>
        </p:txBody>
      </p:sp>
      <p:sp>
        <p:nvSpPr>
          <p:cNvPr id="13" name="Shape 10"/>
          <p:cNvSpPr/>
          <p:nvPr/>
        </p:nvSpPr>
        <p:spPr>
          <a:xfrm>
            <a:off x="8138160" y="6089904"/>
            <a:ext cx="868680" cy="237744"/>
          </a:xfrm>
          <a:prstGeom prst="roundRect">
            <a:avLst>
              <a:gd name="adj" fmla="val 19231"/>
            </a:avLst>
          </a:prstGeom>
          <a:solidFill>
            <a:srgbClr val="F7E0E0"/>
          </a:solidFill>
          <a:ln w="9525">
            <a:solidFill>
              <a:srgbClr val="9C2B2B"/>
            </a:solidFill>
            <a:prstDash val="solid"/>
          </a:ln>
        </p:spPr>
      </p:sp>
      <p:sp>
        <p:nvSpPr>
          <p:cNvPr id="14" name="Text 11"/>
          <p:cNvSpPr txBox="1"/>
          <p:nvPr/>
        </p:nvSpPr>
        <p:spPr>
          <a:xfrm>
            <a:off x="8138160" y="6089904"/>
            <a:ext cx="868680" cy="237744"/>
          </a:xfrm>
          <a:prstGeom prst="rect">
            <a:avLst/>
          </a:prstGeom>
          <a:noFill/>
          <a:ln/>
        </p:spPr>
        <p:txBody>
          <a:bodyPr wrap="square" lIns="0" tIns="0" rIns="0" bIns="0" rtlCol="0" anchor="ctr"/>
          <a:lstStyle/>
          <a:p>
            <a:pPr algn="ctr" indent="0" marL="0">
              <a:buNone/>
            </a:pPr>
            <a:r>
              <a:rPr lang="en-US" sz="900" b="1" dirty="0">
                <a:solidFill>
                  <a:srgbClr val="9C2B2B"/>
                </a:solidFill>
                <a:latin typeface="Calibri" pitchFamily="34" charset="0"/>
                <a:ea typeface="Calibri" pitchFamily="34" charset="-122"/>
                <a:cs typeface="Calibri" pitchFamily="34" charset="-120"/>
              </a:rPr>
              <a:t>No source</a:t>
            </a:r>
            <a:endParaRPr lang="en-US" sz="900" dirty="0"/>
          </a:p>
        </p:txBody>
      </p:sp>
      <p:sp>
        <p:nvSpPr>
          <p:cNvPr id="15" name="Text 12"/>
          <p:cNvSpPr txBox="1"/>
          <p:nvPr/>
        </p:nvSpPr>
        <p:spPr>
          <a:xfrm>
            <a:off x="9098280" y="6089904"/>
            <a:ext cx="2788920" cy="237744"/>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Nothing available produces this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WHERE OUR READINGS DIFFER</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Two points to resolve together</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250" dirty="0">
                <a:solidFill>
                  <a:srgbClr val="333F50"/>
                </a:solidFill>
                <a:latin typeface="Calibri" pitchFamily="34" charset="0"/>
                <a:ea typeface="Calibri" pitchFamily="34" charset="-122"/>
                <a:cs typeface="Calibri" pitchFamily="34" charset="-120"/>
              </a:rPr>
              <a:t>Your review and ours agree almost everywhere. These two do not, and both are worth settling before anything is built.</a:t>
            </a:r>
            <a:endParaRPr lang="en-US" sz="1250" dirty="0"/>
          </a:p>
        </p:txBody>
      </p:sp>
      <p:sp>
        <p:nvSpPr>
          <p:cNvPr id="5" name="Shape 3"/>
          <p:cNvSpPr/>
          <p:nvPr/>
        </p:nvSpPr>
        <p:spPr>
          <a:xfrm>
            <a:off x="548640" y="1737360"/>
            <a:ext cx="11091672" cy="1874520"/>
          </a:xfrm>
          <a:prstGeom prst="roundRect">
            <a:avLst>
              <a:gd name="adj" fmla="val 2927"/>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6" name="Shape 4"/>
          <p:cNvSpPr/>
          <p:nvPr/>
        </p:nvSpPr>
        <p:spPr>
          <a:xfrm>
            <a:off x="868680" y="1993392"/>
            <a:ext cx="365760" cy="365760"/>
          </a:xfrm>
          <a:prstGeom prst="ellipse">
            <a:avLst/>
          </a:prstGeom>
          <a:solidFill>
            <a:srgbClr val="1E2761"/>
          </a:solidFill>
          <a:ln/>
        </p:spPr>
      </p:sp>
      <p:sp>
        <p:nvSpPr>
          <p:cNvPr id="7" name="Text 5"/>
          <p:cNvSpPr txBox="1"/>
          <p:nvPr/>
        </p:nvSpPr>
        <p:spPr>
          <a:xfrm>
            <a:off x="868680" y="19933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463040" y="1938528"/>
            <a:ext cx="969264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Number of documents per library</a:t>
            </a:r>
            <a:endParaRPr lang="en-US" sz="1400" dirty="0"/>
          </a:p>
        </p:txBody>
      </p:sp>
      <p:sp>
        <p:nvSpPr>
          <p:cNvPr id="9" name="Text 7"/>
          <p:cNvSpPr txBox="1"/>
          <p:nvPr/>
        </p:nvSpPr>
        <p:spPr>
          <a:xfrm>
            <a:off x="1463040" y="2286000"/>
            <a:ext cx="9692640" cy="1188720"/>
          </a:xfrm>
          <a:prstGeom prst="rect">
            <a:avLst/>
          </a:prstGeom>
          <a:noFill/>
          <a:ln/>
        </p:spPr>
        <p:txBody>
          <a:bodyPr wrap="square" lIns="0" tIns="0" rIns="0" bIns="0" rtlCol="0" anchor="ctr"/>
          <a:lstStyle/>
          <a:p>
            <a:pPr indent="0" marL="0">
              <a:buNone/>
            </a:pPr>
            <a:r>
              <a:rPr lang="en-US" sz="1150" b="1" dirty="0">
                <a:solidFill>
                  <a:srgbClr val="333F50"/>
                </a:solidFill>
                <a:latin typeface="Calibri" pitchFamily="34" charset="0"/>
                <a:ea typeface="Calibri" pitchFamily="34" charset="-122"/>
                <a:cs typeface="Calibri" pitchFamily="34" charset="-120"/>
              </a:rPr>
              <a:t>You have marked this feasible. </a:t>
            </a:r>
            <a:endParaRPr lang="en-US" sz="1150" dirty="0"/>
          </a:p>
          <a:p>
            <a:pPr indent="0" marL="0">
              <a:buNone/>
            </a:pPr>
            <a:r>
              <a:rPr lang="en-US" sz="1150" dirty="0">
                <a:solidFill>
                  <a:srgbClr val="333F50"/>
                </a:solidFill>
                <a:latin typeface="Calibri" pitchFamily="34" charset="0"/>
                <a:ea typeface="Calibri" pitchFamily="34" charset="-122"/>
                <a:cs typeface="Calibri" pitchFamily="34" charset="-120"/>
              </a:rPr>
              <a:t>Our reading is that nothing available reports below site level. The lookup file gives us library names for each site, which is why library names are buildable, but it carries no count of what is inside them. Cloud Governance and the Microsoft reports both stop at the site.</a:t>
            </a:r>
            <a:endParaRPr lang="en-US" sz="1150" dirty="0"/>
          </a:p>
          <a:p>
            <a:pPr indent="0" marL="0">
              <a:buNone/>
            </a:pPr>
            <a:r>
              <a:rPr lang="en-US" sz="1150" b="1" dirty="0">
                <a:solidFill>
                  <a:srgbClr val="333F50"/>
                </a:solidFill>
                <a:latin typeface="Calibri" pitchFamily="34" charset="0"/>
                <a:ea typeface="Calibri" pitchFamily="34" charset="-122"/>
                <a:cs typeface="Calibri" pitchFamily="34" charset="-120"/>
              </a:rPr>
              <a:t>If you know of a source that counts documents per library, that changes the answer and we would like to see it. If not, this needs a document level scan, which is an ITD change rather than a report change.</a:t>
            </a:r>
            <a:endParaRPr lang="en-US" sz="1150" dirty="0"/>
          </a:p>
        </p:txBody>
      </p:sp>
      <p:sp>
        <p:nvSpPr>
          <p:cNvPr id="10" name="Shape 8"/>
          <p:cNvSpPr/>
          <p:nvPr/>
        </p:nvSpPr>
        <p:spPr>
          <a:xfrm>
            <a:off x="548640" y="3767328"/>
            <a:ext cx="11091672" cy="1874520"/>
          </a:xfrm>
          <a:prstGeom prst="roundRect">
            <a:avLst>
              <a:gd name="adj" fmla="val 2927"/>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1" name="Shape 9"/>
          <p:cNvSpPr/>
          <p:nvPr/>
        </p:nvSpPr>
        <p:spPr>
          <a:xfrm>
            <a:off x="868680" y="4023360"/>
            <a:ext cx="365760" cy="365760"/>
          </a:xfrm>
          <a:prstGeom prst="ellipse">
            <a:avLst/>
          </a:prstGeom>
          <a:solidFill>
            <a:srgbClr val="1E2761"/>
          </a:solidFill>
          <a:ln/>
        </p:spPr>
      </p:sp>
      <p:sp>
        <p:nvSpPr>
          <p:cNvPr id="12" name="Text 10"/>
          <p:cNvSpPr txBox="1"/>
          <p:nvPr/>
        </p:nvSpPr>
        <p:spPr>
          <a:xfrm>
            <a:off x="868680" y="40233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1463040" y="3968496"/>
            <a:ext cx="969264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Retention and Disposal is marked out of scope in full</a:t>
            </a:r>
            <a:endParaRPr lang="en-US" sz="1400" dirty="0"/>
          </a:p>
        </p:txBody>
      </p:sp>
      <p:sp>
        <p:nvSpPr>
          <p:cNvPr id="14" name="Text 12"/>
          <p:cNvSpPr txBox="1"/>
          <p:nvPr/>
        </p:nvSpPr>
        <p:spPr>
          <a:xfrm>
            <a:off x="1463040" y="4315968"/>
            <a:ext cx="9692640" cy="1188720"/>
          </a:xfrm>
          <a:prstGeom prst="rect">
            <a:avLst/>
          </a:prstGeom>
          <a:noFill/>
          <a:ln/>
        </p:spPr>
        <p:txBody>
          <a:bodyPr wrap="square" lIns="0" tIns="0" rIns="0" bIns="0" rtlCol="0" anchor="ctr"/>
          <a:lstStyle/>
          <a:p>
            <a:pPr indent="0" marL="0">
              <a:buNone/>
            </a:pPr>
            <a:r>
              <a:rPr lang="en-US" sz="1150" b="1" dirty="0">
                <a:solidFill>
                  <a:srgbClr val="333F50"/>
                </a:solidFill>
                <a:latin typeface="Calibri" pitchFamily="34" charset="0"/>
                <a:ea typeface="Calibri" pitchFamily="34" charset="-122"/>
                <a:cs typeface="Calibri" pitchFamily="34" charset="-120"/>
              </a:rPr>
              <a:t>Your sheet title reads out of scope, needs the disposition feature release. That is right for the disposal half. </a:t>
            </a:r>
            <a:endParaRPr lang="en-US" sz="1150" dirty="0"/>
          </a:p>
          <a:p>
            <a:pPr indent="0" marL="0">
              <a:buNone/>
            </a:pPr>
            <a:r>
              <a:rPr lang="en-US" sz="1150" dirty="0">
                <a:solidFill>
                  <a:srgbClr val="333F50"/>
                </a:solidFill>
                <a:latin typeface="Calibri" pitchFamily="34" charset="0"/>
                <a:ea typeface="Calibri" pitchFamily="34" charset="-122"/>
                <a:cs typeface="Calibri" pitchFamily="34" charset="-120"/>
              </a:rPr>
              <a:t>The retention half does not depend on it. Permanent and temporary retention by site, by library and by record, and the split of declared records by retention label, all come from the EDRMS database and can be built today.</a:t>
            </a:r>
            <a:endParaRPr lang="en-US" sz="1150" dirty="0"/>
          </a:p>
          <a:p>
            <a:pPr indent="0" marL="0">
              <a:buNone/>
            </a:pPr>
            <a:r>
              <a:rPr lang="en-US" sz="1150" b="1" dirty="0">
                <a:solidFill>
                  <a:srgbClr val="333F50"/>
                </a:solidFill>
                <a:latin typeface="Calibri" pitchFamily="34" charset="0"/>
                <a:ea typeface="Calibri" pitchFamily="34" charset="-122"/>
                <a:cs typeface="Calibri" pitchFamily="34" charset="-120"/>
              </a:rPr>
              <a:t>Parking the whole dashboard gives up a working half. Would you rather we bring the retention side into the MVP and leave only disposal for the feature release?</a:t>
            </a:r>
            <a:endParaRPr lang="en-US" sz="1150" dirty="0"/>
          </a:p>
        </p:txBody>
      </p:sp>
      <p:sp>
        <p:nvSpPr>
          <p:cNvPr id="15" name="Text 13"/>
          <p:cNvSpPr txBox="1"/>
          <p:nvPr/>
        </p:nvSpPr>
        <p:spPr>
          <a:xfrm>
            <a:off x="548640" y="5806440"/>
            <a:ext cx="11091672" cy="402336"/>
          </a:xfrm>
          <a:prstGeom prst="rect">
            <a:avLst/>
          </a:prstGeom>
          <a:noFill/>
          <a:ln/>
        </p:spPr>
        <p:txBody>
          <a:bodyPr wrap="square" lIns="0" tIns="0" rIns="0" bIns="0" rtlCol="0" anchor="ctr"/>
          <a:lstStyle/>
          <a:p>
            <a:pPr indent="0" marL="0">
              <a:buNone/>
            </a:pPr>
            <a:r>
              <a:rPr lang="en-US" sz="1050" i="1" dirty="0">
                <a:solidFill>
                  <a:srgbClr val="6B7A90"/>
                </a:solidFill>
                <a:latin typeface="Calibri" pitchFamily="34" charset="0"/>
                <a:ea typeface="Calibri" pitchFamily="34" charset="-122"/>
                <a:cs typeface="Calibri" pitchFamily="34" charset="-120"/>
              </a:rPr>
              <a:t>A handful of source attributions also differ, for example sites created, which you read from the EDRMS database and we read from Cloud Governance. Those are small and we will reconcile them row by row.</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WORDS THAT CHANGE THE FIGURE</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Terminology to confirm</a:t>
            </a:r>
            <a:endParaRPr lang="en-US" sz="3200" dirty="0"/>
          </a:p>
        </p:txBody>
      </p:sp>
      <p:sp>
        <p:nvSpPr>
          <p:cNvPr id="4" name="Text 2"/>
          <p:cNvSpPr txBox="1"/>
          <p:nvPr/>
        </p:nvSpPr>
        <p:spPr>
          <a:xfrm>
            <a:off x="548640" y="1298448"/>
            <a:ext cx="11091672" cy="274320"/>
          </a:xfrm>
          <a:prstGeom prst="rect">
            <a:avLst/>
          </a:prstGeom>
          <a:noFill/>
          <a:ln/>
        </p:spPr>
        <p:txBody>
          <a:bodyPr wrap="square" lIns="0" tIns="0" rIns="0" bIns="0" rtlCol="0" anchor="ctr"/>
          <a:lstStyle/>
          <a:p>
            <a:pPr indent="0" marL="0">
              <a:buNone/>
            </a:pPr>
            <a:r>
              <a:rPr lang="en-US" sz="1250" dirty="0">
                <a:solidFill>
                  <a:srgbClr val="333F50"/>
                </a:solidFill>
                <a:latin typeface="Calibri" pitchFamily="34" charset="0"/>
                <a:ea typeface="Calibri" pitchFamily="34" charset="-122"/>
                <a:cs typeface="Calibri" pitchFamily="34" charset="-120"/>
              </a:rPr>
              <a:t>Each of these reads more than one way. Which one you mean decides what the report counts.</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91672" cy="914400"/>
        </p:xfrm>
        <a:graphic>
          <a:graphicData uri="http://schemas.openxmlformats.org/drawingml/2006/table">
            <a:tbl>
              <a:tblPr/>
              <a:tblGrid>
                <a:gridCol w="2240280"/>
                <a:gridCol w="5074920"/>
                <a:gridCol w="377647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It could mean</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Our proposal</a:t>
                      </a:r>
                      <a:endParaRPr lang="en-US" sz="105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1E2761"/>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EDRMS user</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Anyone with access to an EDRMS site  ·  anyone who used it  ·  anyone who declared a record</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Someone who declared a record. It is the only one countable today.</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Due for disposal</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Every record has a due date, so all of them are due eventually. In 30, 60, 90 days, or overdue?</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Show it in windows: due within 30 days, 90 days and 12 months.</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Never accessed</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Never at all  ·  not in the last 180 days, which is as far back as the report reaches</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People with access to the site who have never opened it, from site permissions.</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Department</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The HQ office only  ·  the whole department including its RMs, offices and divisions</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Two levels: department, then division. Countries, RMs and offices are divisions.</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Sites created, deleted, archived</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All SharePoint sites  ·  EDRMS compliant sites only</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EDRMS sites only. Confirmed in the workshop that the other sites stay out.</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Visitors</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Distinct people who came  ·  the number of visits, which is what the report counts</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Site visits, and label it that way.</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Users creating documents</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People who created a document  ·  people who uploaded one  ·  both</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Needs your answer before it can be built either way.</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Unit</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Your own review asks what unit means in “clickable into that unit's dashboard”</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We read it as the department, office or RM on that row.</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Declaration rate</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Your review asks what a declaration rate is. Records against documents, or something else?</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Declared records divided by documents held, for the same unit.</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Active user</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Your review asks us to define it before the two comparison ratios can be built</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Someone with recorded activity in the window chosen. It is not the same as an EDRMS user.</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Division, on a user figure</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Your review asks whether a user has a division of their own, or takes the division of the site they worked in</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The site's division. A person can work across several units, a site belongs to one.</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r h="0">
                <a:tc>
                  <a:txBody>
                    <a:bodyPr/>
                    <a:lstStyle/>
                    <a:p>
                      <a:pPr indent="0" marL="0">
                        <a:buNone/>
                      </a:pPr>
                      <a:r>
                        <a:rPr lang="en-US" sz="900" b="1" dirty="0">
                          <a:solidFill>
                            <a:srgbClr val="333F50"/>
                          </a:solidFill>
                          <a:latin typeface="Calibri" pitchFamily="34" charset="0"/>
                          <a:ea typeface="Calibri" pitchFamily="34" charset="-122"/>
                          <a:cs typeface="Calibri" pitchFamily="34" charset="-120"/>
                        </a:rPr>
                        <a:t>SPO with MM</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Your own abbreviation, used as the source on three rows. We do not know what MM stands for.</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c>
                  <a:txBody>
                    <a:bodyPr/>
                    <a:lstStyle/>
                    <a:p>
                      <a:pPr indent="0" marL="0">
                        <a:buNone/>
                      </a:pPr>
                      <a:r>
                        <a:rPr lang="en-US" sz="900" dirty="0">
                          <a:solidFill>
                            <a:srgbClr val="333F50"/>
                          </a:solidFill>
                          <a:latin typeface="Calibri" pitchFamily="34" charset="0"/>
                          <a:ea typeface="Calibri" pitchFamily="34" charset="-122"/>
                          <a:cs typeface="Calibri" pitchFamily="34" charset="-120"/>
                        </a:rPr>
                        <a:t>Please confirm, so we record the right source against those rows.</a:t>
                      </a:r>
                      <a:endParaRPr lang="en-US" sz="900" dirty="0">
                        <a:latin typeface="Calibri" charset="0"/>
                        <a:ea typeface="Calibri" charset="0"/>
                        <a:cs typeface="Calibri" charset="0"/>
                      </a:endParaRPr>
                    </a:p>
                  </a:txBody>
                  <a:tcPr marL="91440" marR="91440" marT="45720" marB="45720" anchor="t">
                    <a:lnL w="9525" cap="flat" cmpd="sng" algn="ctr">
                      <a:solidFill>
                        <a:srgbClr val="DCE4EF"/>
                      </a:solidFill>
                      <a:prstDash val="solid"/>
                      <a:round/>
                      <a:headEnd type="none" w="med" len="med"/>
                      <a:tailEnd type="none" w="med" len="med"/>
                    </a:lnL>
                    <a:lnR w="9525" cap="flat" cmpd="sng" algn="ctr">
                      <a:solidFill>
                        <a:srgbClr val="DCE4EF"/>
                      </a:solidFill>
                      <a:prstDash val="solid"/>
                      <a:round/>
                      <a:headEnd type="none" w="med" len="med"/>
                      <a:tailEnd type="none" w="med" len="med"/>
                    </a:lnR>
                    <a:lnT w="9525" cap="flat" cmpd="sng" algn="ctr">
                      <a:solidFill>
                        <a:srgbClr val="DCE4EF"/>
                      </a:solidFill>
                      <a:prstDash val="solid"/>
                      <a:round/>
                      <a:headEnd type="none" w="med" len="med"/>
                      <a:tailEnd type="none" w="med" len="med"/>
                    </a:lnT>
                    <a:lnB w="9525" cap="flat" cmpd="sng" algn="ctr">
                      <a:solidFill>
                        <a:srgbClr val="DCE4EF"/>
                      </a:solidFill>
                      <a:prstDash val="solid"/>
                      <a:round/>
                      <a:headEnd type="none" w="med" len="med"/>
                      <a:tailEnd type="none" w="med" len="med"/>
                    </a:lnB>
                    <a:solidFill>
                      <a:srgbClr val="FBEFD4"/>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A"/>
        </a:solidFill>
      </p:bgPr>
    </p:bg>
    <p:spTree>
      <p:nvGrpSpPr>
        <p:cNvPr id="1" name=""/>
        <p:cNvGrpSpPr/>
        <p:nvPr/>
      </p:nvGrpSpPr>
      <p:grpSpPr>
        <a:xfrm>
          <a:off x="0" y="0"/>
          <a:ext cx="0" cy="0"/>
          <a:chOff x="0" y="0"/>
          <a:chExt cx="0" cy="0"/>
        </a:xfrm>
      </p:grpSpPr>
      <p:sp>
        <p:nvSpPr>
          <p:cNvPr id="2" name="Text 0"/>
          <p:cNvSpPr txBox="1"/>
          <p:nvPr/>
        </p:nvSpPr>
        <p:spPr>
          <a:xfrm>
            <a:off x="329184" y="274320"/>
            <a:ext cx="11219688" cy="219456"/>
          </a:xfrm>
          <a:prstGeom prst="rect">
            <a:avLst/>
          </a:prstGeom>
          <a:noFill/>
          <a:ln/>
        </p:spPr>
        <p:txBody>
          <a:bodyPr wrap="square" lIns="0" tIns="0" rIns="0" bIns="0" rtlCol="0" anchor="ctr"/>
          <a:lstStyle/>
          <a:p>
            <a:pPr indent="0" marL="0">
              <a:buNone/>
            </a:pPr>
            <a:r>
              <a:rPr lang="en-US" sz="1050" b="1" spc="160" kern="0" dirty="0">
                <a:solidFill>
                  <a:srgbClr val="6B7A90"/>
                </a:solidFill>
                <a:latin typeface="Calibri" pitchFamily="34" charset="0"/>
                <a:ea typeface="Calibri" pitchFamily="34" charset="-122"/>
                <a:cs typeface="Calibri" pitchFamily="34" charset="-120"/>
              </a:rPr>
              <a:t>NEXT STEPS</a:t>
            </a:r>
            <a:endParaRPr lang="en-US" sz="1050" dirty="0"/>
          </a:p>
        </p:txBody>
      </p:sp>
      <p:sp>
        <p:nvSpPr>
          <p:cNvPr id="3" name="Text 1"/>
          <p:cNvSpPr txBox="1"/>
          <p:nvPr/>
        </p:nvSpPr>
        <p:spPr>
          <a:xfrm>
            <a:off x="329184" y="512064"/>
            <a:ext cx="11219688" cy="658368"/>
          </a:xfrm>
          <a:prstGeom prst="rect">
            <a:avLst/>
          </a:prstGeom>
          <a:noFill/>
          <a:ln/>
        </p:spPr>
        <p:txBody>
          <a:bodyPr wrap="square" lIns="0" tIns="0" rIns="0" bIns="0" rtlCol="0" anchor="ctr"/>
          <a:lstStyle/>
          <a:p>
            <a:pPr indent="0" marL="0">
              <a:buNone/>
            </a:pPr>
            <a:r>
              <a:rPr lang="en-US" sz="3200" b="1" dirty="0">
                <a:solidFill>
                  <a:srgbClr val="44546A"/>
                </a:solidFill>
                <a:latin typeface="Cambria" pitchFamily="34" charset="0"/>
                <a:ea typeface="Cambria" pitchFamily="34" charset="-122"/>
                <a:cs typeface="Cambria" pitchFamily="34" charset="-120"/>
              </a:rPr>
              <a:t>From sources to a confirmed requirement set</a:t>
            </a:r>
            <a:endParaRPr lang="en-US" sz="3200" dirty="0"/>
          </a:p>
        </p:txBody>
      </p:sp>
      <p:sp>
        <p:nvSpPr>
          <p:cNvPr id="4" name="Shape 2"/>
          <p:cNvSpPr/>
          <p:nvPr/>
        </p:nvSpPr>
        <p:spPr>
          <a:xfrm>
            <a:off x="548640" y="1481328"/>
            <a:ext cx="11091672" cy="859536"/>
          </a:xfrm>
          <a:prstGeom prst="roundRect">
            <a:avLst>
              <a:gd name="adj" fmla="val 638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5" name="Shape 3"/>
          <p:cNvSpPr/>
          <p:nvPr/>
        </p:nvSpPr>
        <p:spPr>
          <a:xfrm>
            <a:off x="841248" y="1737360"/>
            <a:ext cx="347472" cy="347472"/>
          </a:xfrm>
          <a:prstGeom prst="ellipse">
            <a:avLst/>
          </a:prstGeom>
          <a:solidFill>
            <a:srgbClr val="1E2761"/>
          </a:solidFill>
          <a:ln/>
        </p:spPr>
      </p:sp>
      <p:sp>
        <p:nvSpPr>
          <p:cNvPr id="6" name="Text 4"/>
          <p:cNvSpPr txBox="1"/>
          <p:nvPr/>
        </p:nvSpPr>
        <p:spPr>
          <a:xfrm>
            <a:off x="841248" y="17373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389888" y="1481328"/>
            <a:ext cx="3977640" cy="85953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RAC reviews the two MVP dashboards</a:t>
            </a:r>
            <a:endParaRPr lang="en-US" sz="1300" dirty="0"/>
          </a:p>
        </p:txBody>
      </p:sp>
      <p:sp>
        <p:nvSpPr>
          <p:cNvPr id="8" name="Text 6"/>
          <p:cNvSpPr txBox="1"/>
          <p:nvPr/>
        </p:nvSpPr>
        <p:spPr>
          <a:xfrm>
            <a:off x="5486400" y="1481328"/>
            <a:ext cx="5897880" cy="859536"/>
          </a:xfrm>
          <a:prstGeom prst="rect">
            <a:avLst/>
          </a:prstGeom>
          <a:noFill/>
          <a:ln/>
        </p:spPr>
        <p:txBody>
          <a:bodyPr wrap="square" lIns="0" tIns="0" rIns="0" bIns="0" rtlCol="0" anchor="ctr"/>
          <a:lstStyle/>
          <a:p>
            <a:pPr indent="0" marL="0">
              <a:buNone/>
            </a:pPr>
            <a:r>
              <a:rPr lang="en-US" sz="1100" dirty="0">
                <a:solidFill>
                  <a:srgbClr val="333F50"/>
                </a:solidFill>
                <a:latin typeface="Calibri" pitchFamily="34" charset="0"/>
                <a:ea typeface="Calibri" pitchFamily="34" charset="-122"/>
                <a:cs typeface="Calibri" pitchFamily="34" charset="-120"/>
              </a:rPr>
              <a:t>The review pack lists every item with its source and what it costs to maintain. Comments go in the two response columns.</a:t>
            </a:r>
            <a:endParaRPr lang="en-US" sz="1100" dirty="0"/>
          </a:p>
        </p:txBody>
      </p:sp>
      <p:sp>
        <p:nvSpPr>
          <p:cNvPr id="9" name="Shape 7"/>
          <p:cNvSpPr/>
          <p:nvPr/>
        </p:nvSpPr>
        <p:spPr>
          <a:xfrm>
            <a:off x="548640" y="2414016"/>
            <a:ext cx="11091672" cy="859536"/>
          </a:xfrm>
          <a:prstGeom prst="roundRect">
            <a:avLst>
              <a:gd name="adj" fmla="val 638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0" name="Shape 8"/>
          <p:cNvSpPr/>
          <p:nvPr/>
        </p:nvSpPr>
        <p:spPr>
          <a:xfrm>
            <a:off x="841248" y="2670048"/>
            <a:ext cx="347472" cy="347472"/>
          </a:xfrm>
          <a:prstGeom prst="ellipse">
            <a:avLst/>
          </a:prstGeom>
          <a:solidFill>
            <a:srgbClr val="1E2761"/>
          </a:solidFill>
          <a:ln/>
        </p:spPr>
      </p:sp>
      <p:sp>
        <p:nvSpPr>
          <p:cNvPr id="11" name="Text 9"/>
          <p:cNvSpPr txBox="1"/>
          <p:nvPr/>
        </p:nvSpPr>
        <p:spPr>
          <a:xfrm>
            <a:off x="841248" y="267004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1389888" y="2414016"/>
            <a:ext cx="3977640" cy="85953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RAC settles the terminology</a:t>
            </a:r>
            <a:endParaRPr lang="en-US" sz="1300" dirty="0"/>
          </a:p>
        </p:txBody>
      </p:sp>
      <p:sp>
        <p:nvSpPr>
          <p:cNvPr id="13" name="Text 11"/>
          <p:cNvSpPr txBox="1"/>
          <p:nvPr/>
        </p:nvSpPr>
        <p:spPr>
          <a:xfrm>
            <a:off x="5486400" y="2414016"/>
            <a:ext cx="5897880" cy="859536"/>
          </a:xfrm>
          <a:prstGeom prst="rect">
            <a:avLst/>
          </a:prstGeom>
          <a:noFill/>
          <a:ln/>
        </p:spPr>
        <p:txBody>
          <a:bodyPr wrap="square" lIns="0" tIns="0" rIns="0" bIns="0" rtlCol="0" anchor="ctr"/>
          <a:lstStyle/>
          <a:p>
            <a:pPr indent="0" marL="0">
              <a:buNone/>
            </a:pPr>
            <a:r>
              <a:rPr lang="en-US" sz="1100" dirty="0">
                <a:solidFill>
                  <a:srgbClr val="333F50"/>
                </a:solidFill>
                <a:latin typeface="Calibri" pitchFamily="34" charset="0"/>
                <a:ea typeface="Calibri" pitchFamily="34" charset="-122"/>
                <a:cs typeface="Calibri" pitchFamily="34" charset="-120"/>
              </a:rPr>
              <a:t>The eight terms on the previous slide. Each one decides what a figure counts.</a:t>
            </a:r>
            <a:endParaRPr lang="en-US" sz="1100" dirty="0"/>
          </a:p>
        </p:txBody>
      </p:sp>
      <p:sp>
        <p:nvSpPr>
          <p:cNvPr id="14" name="Shape 12"/>
          <p:cNvSpPr/>
          <p:nvPr/>
        </p:nvSpPr>
        <p:spPr>
          <a:xfrm>
            <a:off x="548640" y="3346704"/>
            <a:ext cx="11091672" cy="859536"/>
          </a:xfrm>
          <a:prstGeom prst="roundRect">
            <a:avLst>
              <a:gd name="adj" fmla="val 638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15" name="Shape 13"/>
          <p:cNvSpPr/>
          <p:nvPr/>
        </p:nvSpPr>
        <p:spPr>
          <a:xfrm>
            <a:off x="841248" y="3602736"/>
            <a:ext cx="347472" cy="347472"/>
          </a:xfrm>
          <a:prstGeom prst="ellipse">
            <a:avLst/>
          </a:prstGeom>
          <a:solidFill>
            <a:srgbClr val="1E2761"/>
          </a:solidFill>
          <a:ln/>
        </p:spPr>
      </p:sp>
      <p:sp>
        <p:nvSpPr>
          <p:cNvPr id="16" name="Text 14"/>
          <p:cNvSpPr txBox="1"/>
          <p:nvPr/>
        </p:nvSpPr>
        <p:spPr>
          <a:xfrm>
            <a:off x="841248" y="360273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1389888" y="3346704"/>
            <a:ext cx="3977640" cy="85953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ITD confirms the lookup file</a:t>
            </a:r>
            <a:endParaRPr lang="en-US" sz="1300" dirty="0"/>
          </a:p>
        </p:txBody>
      </p:sp>
      <p:sp>
        <p:nvSpPr>
          <p:cNvPr id="18" name="Text 16"/>
          <p:cNvSpPr txBox="1"/>
          <p:nvPr/>
        </p:nvSpPr>
        <p:spPr>
          <a:xfrm>
            <a:off x="5486400" y="3346704"/>
            <a:ext cx="5897880" cy="859536"/>
          </a:xfrm>
          <a:prstGeom prst="rect">
            <a:avLst/>
          </a:prstGeom>
          <a:noFill/>
          <a:ln/>
        </p:spPr>
        <p:txBody>
          <a:bodyPr wrap="square" lIns="0" tIns="0" rIns="0" bIns="0" rtlCol="0" anchor="ctr"/>
          <a:lstStyle/>
          <a:p>
            <a:pPr indent="0" marL="0">
              <a:buNone/>
            </a:pPr>
            <a:r>
              <a:rPr lang="en-US" sz="1100" dirty="0">
                <a:solidFill>
                  <a:srgbClr val="333F50"/>
                </a:solidFill>
                <a:latin typeface="Calibri" pitchFamily="34" charset="0"/>
                <a:ea typeface="Calibri" pitchFamily="34" charset="-122"/>
                <a:cs typeface="Calibri" pitchFamily="34" charset="-120"/>
              </a:rPr>
              <a:t>Extend it to the full estate, add the site identifier, and agree where it lives and who maintains it.</a:t>
            </a:r>
            <a:endParaRPr lang="en-US" sz="1100" dirty="0"/>
          </a:p>
        </p:txBody>
      </p:sp>
      <p:sp>
        <p:nvSpPr>
          <p:cNvPr id="19" name="Shape 17"/>
          <p:cNvSpPr/>
          <p:nvPr/>
        </p:nvSpPr>
        <p:spPr>
          <a:xfrm>
            <a:off x="548640" y="4279392"/>
            <a:ext cx="11091672" cy="859536"/>
          </a:xfrm>
          <a:prstGeom prst="roundRect">
            <a:avLst>
              <a:gd name="adj" fmla="val 638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0" name="Shape 18"/>
          <p:cNvSpPr/>
          <p:nvPr/>
        </p:nvSpPr>
        <p:spPr>
          <a:xfrm>
            <a:off x="841248" y="4535424"/>
            <a:ext cx="347472" cy="347472"/>
          </a:xfrm>
          <a:prstGeom prst="ellipse">
            <a:avLst/>
          </a:prstGeom>
          <a:solidFill>
            <a:srgbClr val="1E2761"/>
          </a:solidFill>
          <a:ln/>
        </p:spPr>
      </p:sp>
      <p:sp>
        <p:nvSpPr>
          <p:cNvPr id="21" name="Text 19"/>
          <p:cNvSpPr txBox="1"/>
          <p:nvPr/>
        </p:nvSpPr>
        <p:spPr>
          <a:xfrm>
            <a:off x="841248" y="45354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1389888" y="4279392"/>
            <a:ext cx="3977640" cy="85953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We match requirements to sources</a:t>
            </a:r>
            <a:endParaRPr lang="en-US" sz="1300" dirty="0"/>
          </a:p>
        </p:txBody>
      </p:sp>
      <p:sp>
        <p:nvSpPr>
          <p:cNvPr id="23" name="Text 21"/>
          <p:cNvSpPr txBox="1"/>
          <p:nvPr/>
        </p:nvSpPr>
        <p:spPr>
          <a:xfrm>
            <a:off x="5486400" y="4279392"/>
            <a:ext cx="5897880" cy="859536"/>
          </a:xfrm>
          <a:prstGeom prst="rect">
            <a:avLst/>
          </a:prstGeom>
          <a:noFill/>
          <a:ln/>
        </p:spPr>
        <p:txBody>
          <a:bodyPr wrap="square" lIns="0" tIns="0" rIns="0" bIns="0" rtlCol="0" anchor="ctr"/>
          <a:lstStyle/>
          <a:p>
            <a:pPr indent="0" marL="0">
              <a:buNone/>
            </a:pPr>
            <a:r>
              <a:rPr lang="en-US" sz="1100" dirty="0">
                <a:solidFill>
                  <a:srgbClr val="333F50"/>
                </a:solidFill>
                <a:latin typeface="Calibri" pitchFamily="34" charset="0"/>
                <a:ea typeface="Calibri" pitchFamily="34" charset="-122"/>
                <a:cs typeface="Calibri" pitchFamily="34" charset="-120"/>
              </a:rPr>
              <a:t>Every item is marked available, needs a definition, or has no source.</a:t>
            </a:r>
            <a:endParaRPr lang="en-US" sz="1100" dirty="0"/>
          </a:p>
        </p:txBody>
      </p:sp>
      <p:sp>
        <p:nvSpPr>
          <p:cNvPr id="24" name="Shape 22"/>
          <p:cNvSpPr/>
          <p:nvPr/>
        </p:nvSpPr>
        <p:spPr>
          <a:xfrm>
            <a:off x="548640" y="5212080"/>
            <a:ext cx="11091672" cy="859536"/>
          </a:xfrm>
          <a:prstGeom prst="roundRect">
            <a:avLst>
              <a:gd name="adj" fmla="val 6383"/>
            </a:avLst>
          </a:prstGeom>
          <a:solidFill>
            <a:srgbClr val="FFFFFF"/>
          </a:solidFill>
          <a:ln w="12700">
            <a:solidFill>
              <a:srgbClr val="DCE4EF"/>
            </a:solidFill>
            <a:prstDash val="solid"/>
          </a:ln>
          <a:effectLst>
            <a:outerShdw sx="100000" sy="100000" kx="0" ky="0" algn="bl" rotWithShape="0" blurRad="76200" dist="12700" dir="5400000">
              <a:srgbClr val="9AA8BC">
                <a:alpha val="18000"/>
              </a:srgbClr>
            </a:outerShdw>
          </a:effectLst>
        </p:spPr>
      </p:sp>
      <p:sp>
        <p:nvSpPr>
          <p:cNvPr id="25" name="Shape 23"/>
          <p:cNvSpPr/>
          <p:nvPr/>
        </p:nvSpPr>
        <p:spPr>
          <a:xfrm>
            <a:off x="841248" y="5468112"/>
            <a:ext cx="347472" cy="347472"/>
          </a:xfrm>
          <a:prstGeom prst="ellipse">
            <a:avLst/>
          </a:prstGeom>
          <a:solidFill>
            <a:srgbClr val="1E2761"/>
          </a:solidFill>
          <a:ln/>
        </p:spPr>
      </p:sp>
      <p:sp>
        <p:nvSpPr>
          <p:cNvPr id="26" name="Text 24"/>
          <p:cNvSpPr txBox="1"/>
          <p:nvPr/>
        </p:nvSpPr>
        <p:spPr>
          <a:xfrm>
            <a:off x="841248" y="54681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1389888" y="5212080"/>
            <a:ext cx="3977640" cy="859536"/>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team decides on what remains</a:t>
            </a:r>
            <a:endParaRPr lang="en-US" sz="1300" dirty="0"/>
          </a:p>
        </p:txBody>
      </p:sp>
      <p:sp>
        <p:nvSpPr>
          <p:cNvPr id="28" name="Text 26"/>
          <p:cNvSpPr txBox="1"/>
          <p:nvPr/>
        </p:nvSpPr>
        <p:spPr>
          <a:xfrm>
            <a:off x="5486400" y="5212080"/>
            <a:ext cx="5897880" cy="859536"/>
          </a:xfrm>
          <a:prstGeom prst="rect">
            <a:avLst/>
          </a:prstGeom>
          <a:noFill/>
          <a:ln/>
        </p:spPr>
        <p:txBody>
          <a:bodyPr wrap="square" lIns="0" tIns="0" rIns="0" bIns="0" rtlCol="0" anchor="ctr"/>
          <a:lstStyle/>
          <a:p>
            <a:pPr indent="0" marL="0">
              <a:buNone/>
            </a:pPr>
            <a:r>
              <a:rPr lang="en-US" sz="1100" dirty="0">
                <a:solidFill>
                  <a:srgbClr val="333F50"/>
                </a:solidFill>
                <a:latin typeface="Calibri" pitchFamily="34" charset="0"/>
                <a:ea typeface="Calibri" pitchFamily="34" charset="-122"/>
                <a:cs typeface="Calibri" pitchFamily="34" charset="-120"/>
              </a:rPr>
              <a:t>Where no source can be provided, we agree together whether the item is dropped or deferred.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822960" y="278892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txBox="1"/>
          <p:nvPr/>
        </p:nvSpPr>
        <p:spPr>
          <a:xfrm>
            <a:off x="822960" y="3703320"/>
            <a:ext cx="10515600" cy="329184"/>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RAC   |   ITD   |   AvePoint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RAC Reporting Suite: MVP Proposal and Next Steps</dc:title>
  <dc:subject>PptxGenJS Presentation</dc:subject>
  <dc:creator>EDRMS Utilization Report</dc:creator>
  <cp:lastModifiedBy>EDRMS Utilization Report</cp:lastModifiedBy>
  <cp:revision>1</cp:revision>
  <dcterms:created xsi:type="dcterms:W3CDTF">2026-08-31T09:32:18Z</dcterms:created>
  <dcterms:modified xsi:type="dcterms:W3CDTF">2026-08-31T09:32:18Z</dcterms:modified>
</cp:coreProperties>
</file>