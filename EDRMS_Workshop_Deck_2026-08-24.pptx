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EDRMS Utilization Report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workshop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41248" y="3520440"/>
            <a:ext cx="1371600" cy="4114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spend most of today inside one file, not in these slides.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HERE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wrote the requirements. We built what could be built.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70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off your 69 slide deck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00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CA9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343400" y="2377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 the prototype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670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on screen today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600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3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83880" y="2377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670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for one reason: no source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55 are not a backlog of work we have not done.</a:t>
            </a:r>
            <a:pPr indent="0" marL="0">
              <a:buNone/>
            </a:pPr>
            <a:r>
              <a:rPr lang="en-US" sz="145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are questions we cannot answer without you. Most of them collapse into five missing sources, and today is about finding out whether those five exist.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4572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we are about to open holds all 250 of them, one per row, with a picture of the built screen beside each one.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minutes of slides, then the file for the rest.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0" y="1463040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file, and where the time goes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11155680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1, Bank-wide Oversight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933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993392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register, division, the disposal fields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523744"/>
            <a:ext cx="11155680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23744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2, Department Insights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52374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523744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Go-live, visitors, the library categories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11155680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54096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3, Project Insights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05409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054096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twenty rows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11155680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84448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4, Institutional File Plan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58444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3584448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file plan lives, and how terms attach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11155680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148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5, Retention and Disposal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411480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4114800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against temporary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645152"/>
            <a:ext cx="11155680" cy="493776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64515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6, Records and Archive Holdings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64515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4645152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eServe, capacity, and what this screen is for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5175504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175504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517550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5175504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and dates against the five sources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asked a lot of questions today. That is the point of the session: seventeen of them, and we will write your answers straight into the file as we go.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FILE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columns. Two of them matter most.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23360" y="1417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number we will call 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11155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01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Items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0" y="19019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words, off your slide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386584"/>
            <a:ext cx="11155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865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23360" y="23865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Tile, table column, chart, indicator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871216"/>
            <a:ext cx="11155680" cy="457200"/>
          </a:xfrm>
          <a:prstGeom prst="rect">
            <a:avLst/>
          </a:prstGeom>
          <a:solidFill>
            <a:srgbClr val="FDF1DE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712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prototype?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23360" y="28712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means you can see it today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55848"/>
            <a:ext cx="11155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55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23360" y="33558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69 slides it came from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840480"/>
            <a:ext cx="11155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not there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23360" y="3840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filled in when the answer is No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325112"/>
            <a:ext cx="11155680" cy="457200"/>
          </a:xfrm>
          <a:prstGeom prst="rect">
            <a:avLst/>
          </a:prstGeom>
          <a:solidFill>
            <a:srgbClr val="FDF1DE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25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needs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023360" y="43251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says ASK, that is a question for you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809744"/>
            <a:ext cx="11155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09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023360" y="480974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seventeen it belongs 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543153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DF1DE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4315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74520" y="5431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Built. On screen. Argue with it today.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543153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BE6E4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54315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80960" y="5431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built, and the row says why.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58978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tab. Look at row 4, the headings, then row 6, the first requirement.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MOCKUPS COLUMN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screen is pictured beside the requirement it came from.</a:t>
            </a:r>
            <a:endParaRPr lang="en-US" sz="2500" dirty="0"/>
          </a:p>
        </p:txBody>
      </p:sp>
      <p:pic>
        <p:nvPicPr>
          <p:cNvPr id="4" name="Image 0" descr="/home/user/Jim/deck/shots/bw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51721"/>
            <a:ext cx="6949440" cy="2908837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8FA3B8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7724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on each row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772400" y="1801368"/>
            <a:ext cx="91440" cy="91440"/>
          </a:xfrm>
          <a:prstGeom prst="rect">
            <a:avLst/>
          </a:prstGeom>
          <a:solidFill>
            <a:srgbClr val="00A5A8"/>
          </a:solidFill>
          <a:ln w="12700">
            <a:solidFill>
              <a:srgbClr val="00A5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691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requirement, in your own words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2368296"/>
            <a:ext cx="91440" cy="91440"/>
          </a:xfrm>
          <a:prstGeom prst="rect">
            <a:avLst/>
          </a:prstGeom>
          <a:solidFill>
            <a:srgbClr val="00A5A8"/>
          </a:solidFill>
          <a:ln w="12700">
            <a:solidFill>
              <a:srgbClr val="00A5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225856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 is built, in one word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0" y="2935224"/>
            <a:ext cx="91440" cy="91440"/>
          </a:xfrm>
          <a:prstGeom prst="rect">
            <a:avLst/>
          </a:prstGeom>
          <a:solidFill>
            <a:srgbClr val="00A5A8"/>
          </a:solidFill>
          <a:ln w="12700">
            <a:solidFill>
              <a:srgbClr val="00A5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282549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 of the built screen, in the row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0" y="3502152"/>
            <a:ext cx="91440" cy="91440"/>
          </a:xfrm>
          <a:prstGeom prst="rect">
            <a:avLst/>
          </a:prstGeom>
          <a:solidFill>
            <a:srgbClr val="00A5A8"/>
          </a:solidFill>
          <a:ln w="12700">
            <a:solidFill>
              <a:srgbClr val="00A5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0" y="339242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not built, the reason and the ask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0" y="4206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nobody has to remember what a screen looked like. It is on the row, next to the words you wrote about it.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58978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tab, column I. Click a picture to enlarge it.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tabs, and where the open questions actually are.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Bank-wide Oversight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0" y="1490472"/>
            <a:ext cx="2994128" cy="274320"/>
          </a:xfrm>
          <a:prstGeom prst="rect">
            <a:avLst/>
          </a:prstGeom>
          <a:solidFill>
            <a:srgbClr val="5CA943"/>
          </a:solidFill>
          <a:ln w="12700">
            <a:solidFill>
              <a:srgbClr val="5CA9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34608" y="1490472"/>
            <a:ext cx="1429016" cy="274320"/>
          </a:xfrm>
          <a:prstGeom prst="rect">
            <a:avLst/>
          </a:prstGeom>
          <a:solidFill>
            <a:srgbClr val="B3241C"/>
          </a:solidFill>
          <a:ln w="12700">
            <a:solidFill>
              <a:srgbClr val="B324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2980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98480" y="1371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Department Insights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2057400"/>
            <a:ext cx="4014854" cy="274320"/>
          </a:xfrm>
          <a:prstGeom prst="rect">
            <a:avLst/>
          </a:prstGeom>
          <a:solidFill>
            <a:srgbClr val="5CA943"/>
          </a:solidFill>
          <a:ln w="12700">
            <a:solidFill>
              <a:srgbClr val="5CA9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55334" y="2057400"/>
            <a:ext cx="1837306" cy="274320"/>
          </a:xfrm>
          <a:prstGeom prst="rect">
            <a:avLst/>
          </a:prstGeom>
          <a:solidFill>
            <a:srgbClr val="B3241C"/>
          </a:solidFill>
          <a:ln w="12700">
            <a:solidFill>
              <a:srgbClr val="B324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2980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0" y="19385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054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Project Insights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2624328"/>
            <a:ext cx="1360967" cy="274320"/>
          </a:xfrm>
          <a:prstGeom prst="rect">
            <a:avLst/>
          </a:prstGeom>
          <a:solidFill>
            <a:srgbClr val="5CA943"/>
          </a:solidFill>
          <a:ln w="12700">
            <a:solidFill>
              <a:srgbClr val="5CA9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29800" y="250545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98480" y="25054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0723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Institutional File Plan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3191256"/>
            <a:ext cx="1633161" cy="274320"/>
          </a:xfrm>
          <a:prstGeom prst="rect">
            <a:avLst/>
          </a:prstGeom>
          <a:solidFill>
            <a:srgbClr val="5CA943"/>
          </a:solidFill>
          <a:ln w="12700">
            <a:solidFill>
              <a:srgbClr val="5CA9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9800" y="30723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8480" y="30723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6393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Retention and Disposal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0" y="3758184"/>
            <a:ext cx="1224871" cy="274320"/>
          </a:xfrm>
          <a:prstGeom prst="rect">
            <a:avLst/>
          </a:prstGeom>
          <a:solidFill>
            <a:srgbClr val="5CA943"/>
          </a:solidFill>
          <a:ln w="12700">
            <a:solidFill>
              <a:srgbClr val="5CA9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65351" y="3758184"/>
            <a:ext cx="612435" cy="274320"/>
          </a:xfrm>
          <a:prstGeom prst="rect">
            <a:avLst/>
          </a:prstGeom>
          <a:solidFill>
            <a:srgbClr val="B3241C"/>
          </a:solidFill>
          <a:ln w="12700">
            <a:solidFill>
              <a:srgbClr val="B324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9800" y="36393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98480" y="36393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Records and Archive Holdings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840480" y="4325112"/>
            <a:ext cx="1905354" cy="274320"/>
          </a:xfrm>
          <a:prstGeom prst="rect">
            <a:avLst/>
          </a:prstGeom>
          <a:solidFill>
            <a:srgbClr val="5CA943"/>
          </a:solidFill>
          <a:ln w="12700">
            <a:solidFill>
              <a:srgbClr val="5CA9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4206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98480" y="42062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out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50292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3, 4 and 6 have nothing marked out, and that is not good news. </a:t>
            </a:r>
            <a:pPr indent="0" marL="0">
              <a:buNone/>
            </a:pPr>
            <a:r>
              <a:rPr lang="en-US" sz="14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every row is drawn but almost none of it has a real source yet. Tabs 1 and 2 carry all 55 of the open rows.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58978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to start. We work left to right.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ANSWERS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every open row waits on one of these five.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register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41732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staff, contractor or consultant, and who was trained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35440" y="141732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rows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07040" y="141732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76856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76856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register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276856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SharePoint sites belong to which project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35440" y="2276856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rows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607040" y="2276856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136392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3639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136392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division is and what records 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0" y="3136392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rows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07040" y="3136392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995928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9592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date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99592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each site became EDRMS compliant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35440" y="399592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rows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07040" y="399592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855464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85546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sources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4855464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eServe for requests, RAC for the holdings register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35440" y="4855464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6 entire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607040" y="4855464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Q6, Q15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leave today with an owner and a date against each of these five, the workshop has done its job. Everything else is detail.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OF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Bank-wide Oversight</a:t>
            </a:r>
            <a:endParaRPr lang="en-US" sz="2500" dirty="0"/>
          </a:p>
        </p:txBody>
      </p:sp>
      <p:pic>
        <p:nvPicPr>
          <p:cNvPr id="4" name="Image 0" descr="/home/user/Jim/deck/shots/bw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9093"/>
            <a:ext cx="6675120" cy="2794015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8FA3B8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498080" y="118872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188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in</a:t>
            </a:r>
            <a:pPr indent="0" marL="0">
              <a:buNone/>
            </a:pPr>
            <a:r>
              <a:rPr lang="en-US" sz="15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not built</a:t>
            </a:r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rows 6 to 78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19659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tiles the client drew on slide 34, the overview of all 1,032 sites, the two project lists, and the drills behind users, documents, records, counterparts and disposal.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32004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SETTLE HERE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0" y="3593592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3493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register, which is five columns on this tab alone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4160520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4059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Division, which is four more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0" y="4727448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46268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disposal fields: approver, status, disposed month on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5120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this tab: Q1, Q3, Q5, Q6, Q7, Q8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5413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row 6, the ten tiles. Then scroll to row 36, where the red starts.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58978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1, "Bank-wide Oversight". Rows 6 to 78.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OF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Insights</a:t>
            </a:r>
            <a:endParaRPr lang="en-US" sz="2500" dirty="0"/>
          </a:p>
        </p:txBody>
      </p:sp>
      <p:pic>
        <p:nvPicPr>
          <p:cNvPr id="4" name="Image 0" descr="/home/user/Jim/deck/shots/dp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62996"/>
            <a:ext cx="6675120" cy="2646208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8FA3B8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498080" y="118872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188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in</a:t>
            </a:r>
            <a:pPr indent="0" marL="0">
              <a:buNone/>
            </a:pPr>
            <a:r>
              <a:rPr lang="en-US" sz="15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not built</a:t>
            </a:r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rows 6 to 100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19659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 at a time: its profile, its users, its sites, its visits, its documents, records, counterparts, disposal, and its libraries by file plan category.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32004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SETTLE HERE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0" y="3593592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3493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date per site, or agreement that the creation date stands 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4160520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4059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split internal and external, and access requests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0" y="4727448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46268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six library categories need their own picker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5120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this tab: Q4, Q9, Q10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5413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row 6, the department picker. The red runs from row 22.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58978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2, "Department Insights". Rows 6 to 100.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 OF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Insights</a:t>
            </a:r>
            <a:endParaRPr lang="en-US" sz="2500" dirty="0"/>
          </a:p>
        </p:txBody>
      </p:sp>
      <p:pic>
        <p:nvPicPr>
          <p:cNvPr id="4" name="Image 0" descr="/home/user/Jim/deck/shots/pj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08165"/>
            <a:ext cx="6675120" cy="2755871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8FA3B8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498080" y="118872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188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</a:t>
            </a:r>
            <a:pPr indent="0" marL="0">
              <a:buNone/>
            </a:pPr>
            <a:r>
              <a:rPr lang="en-US" sz="15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marked out</a:t>
            </a:r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rows 6 to 28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19659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project's profile: eight fields, seven clickable tiles and three charts. Every row on this tab says Yes, and every row waits on the same one thing.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32004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SETTLE HERE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0" y="3593592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3493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SharePoint sites belong to which project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4160520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4059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holds the project attributes, and who owns 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5120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this tab: Q2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5413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 is short. Read the What it needs column down the whole tab: it says ASK on every row.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58978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3, "Project Insights". Rows 6 to 28.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 OF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File Plan</a:t>
            </a:r>
            <a:endParaRPr lang="en-US" sz="2500" dirty="0"/>
          </a:p>
        </p:txBody>
      </p:sp>
      <p:pic>
        <p:nvPicPr>
          <p:cNvPr id="4" name="Image 0" descr="/home/user/Jim/deck/shots/fp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95864"/>
            <a:ext cx="6675120" cy="3380471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8FA3B8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498080" y="118872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188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in</a:t>
            </a:r>
            <a:pPr indent="0" marL="0">
              <a:buNone/>
            </a:pPr>
            <a:r>
              <a:rPr lang="en-US" sz="15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marked out</a:t>
            </a:r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rows 6 to 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19659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rollup across the five categories, then one screen per category with its terms, libraries, documents, records and counterparts.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32004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SETTLE HERE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0" y="3593592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3493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file plan actually lives, and who maintains 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4160520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4059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which library or document uses which term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0" y="4727448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46268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new library and new term requests are tracked anywhere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5120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this tab: Q12, Q13, Q14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5413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on this tab says Yes. The question here is not what to build, it is what feeds it.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58978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4, "Institutional File Plan". Rows 6 to 30.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5 OF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and Disposal</a:t>
            </a:r>
            <a:endParaRPr lang="en-US" sz="2500" dirty="0"/>
          </a:p>
        </p:txBody>
      </p:sp>
      <p:pic>
        <p:nvPicPr>
          <p:cNvPr id="4" name="Image 0" descr="/home/user/Jim/deck/shots/rd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6836"/>
            <a:ext cx="6675120" cy="2598529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8FA3B8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498080" y="118872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188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in</a:t>
            </a:r>
            <a:pPr indent="0" marL="0">
              <a:buNone/>
            </a:pPr>
            <a:r>
              <a:rPr lang="en-US" sz="15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B3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not built</a:t>
            </a:r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rows 6 to 35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19659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permanent and temporary split, the two retention tables, the retention filter, and declared records by retention label.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32004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SETTLE HERE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0" y="3593592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3493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retention labels are permanent and which are temporary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4160520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4059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removed columns on the slide 44 rollup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0" y="4727448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46268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records disposed can be counted at all today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5120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this tab: Q11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5413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row 6. The red block is rows 12 to 17, and row 33.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58978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5, "Retention and Disposal". Rows 6 to 35.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6 OF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and Archive Holdings</a:t>
            </a:r>
            <a:endParaRPr lang="en-US" sz="2500" dirty="0"/>
          </a:p>
        </p:txBody>
      </p:sp>
      <p:pic>
        <p:nvPicPr>
          <p:cNvPr id="4" name="Image 0" descr="/home/user/Jim/deck/shots/ra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79050"/>
            <a:ext cx="6675120" cy="3614101"/>
          </a:xfrm>
          <a:prstGeom prst="rect">
            <a:avLst/>
          </a:prstGeom>
          <a:effectLst>
            <a:outerShdw sx="100000" sy="100000" kx="0" ky="0" algn="bl" rotWithShape="0" blurRad="177800" dist="25400" dir="5400000">
              <a:srgbClr val="8FA3B8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498080" y="118872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188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A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in</a:t>
            </a:r>
            <a:pPr indent="0" marL="0">
              <a:buNone/>
            </a:pPr>
            <a:r>
              <a:rPr lang="en-US" sz="150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5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marked out</a:t>
            </a:r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rows 6 to 36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19659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estate: the overview you screenshotted, the storage table, the retrieval table, and disposal. Built from the totals on your own slide 67, because nothing else exists to build it from.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32004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SETTLE HERE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0" y="3593592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3493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eServe the retrieval system of record, and who owns 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4160520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4059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room capacity be included, which your slide 68 asks us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0" y="4727448"/>
            <a:ext cx="91440" cy="91440"/>
          </a:xfrm>
          <a:prstGeom prst="rect">
            <a:avLst/>
          </a:prstGeom>
          <a:solidFill>
            <a:srgbClr val="C77B18"/>
          </a:solidFill>
          <a:ln w="12700">
            <a:solidFill>
              <a:srgbClr val="C77B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46268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retrieval free up capacity, which your slide 69 asks us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5120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this tab: Q15, Q16, Q17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54132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says Yes, and every figure on the screen is illustrative. That distinction is the whole conversation on this tab.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58978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6, "Records and Archive Holdings". Rows 6 to 36.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name and a date against each. We will fill this in now.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572000" cy="45720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0" y="1371600"/>
            <a:ext cx="2057400" cy="45720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1371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exist?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1371600"/>
            <a:ext cx="2423160" cy="45720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0" y="1371600"/>
            <a:ext cx="1965960" cy="45720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980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828800"/>
            <a:ext cx="457200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82880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1828800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182880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82880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register
</a:t>
            </a:r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staff, contractor or consultant, and who was trained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578608"/>
            <a:ext cx="457200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2578608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578608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2578608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57860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register
</a:t>
            </a:r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SharePoint sites belong to which project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328416"/>
            <a:ext cx="457200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3328416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3328416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3328416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2841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
</a:t>
            </a:r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division is and what records it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457200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4078224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4078224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92640" y="4078224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07822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date
</a:t>
            </a:r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each site became EDRMS compliant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4828032"/>
            <a:ext cx="457200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4828032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4828032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4828032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82803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sources
</a:t>
            </a:r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eServe for requests, RAC for the holdings register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to "does it exist" is no, that is a good answer. It lets us take the rows off the report today instead of showing you a blank column for another month.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answer turns into.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 the department rule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17720" y="141732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41732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 department figure reconciles to the bank total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0" y="14173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week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11155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756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the project register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207568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07568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Insights becomes real, all 20 rows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0" y="207568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week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734056"/>
            <a:ext cx="1115568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3405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the user register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17720" y="273405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73405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columns across two dashboards come 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0" y="273405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392424"/>
            <a:ext cx="11155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3924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settle division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17720" y="339242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39242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rows either return or come off for good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0" y="339242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050792"/>
            <a:ext cx="1115568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05079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name the physical sources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17720" y="405079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05079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6 stops being an illustration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0" y="40507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eServe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709160"/>
            <a:ext cx="11155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7091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 say no to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17720" y="47091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470916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remove the row rather than leave it pending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0" y="47091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at perezfiles01-droid.github.io/Jim. It is a specification for the Power BI report, not the report itself.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0292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 is the record.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goes back to you today with your answers typed into it, in the same rows we read them from.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41248" y="3886200"/>
            <a:ext cx="1371600" cy="4114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built  •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waiting on you  •  </a:t>
            </a:r>
            <a:pPr indent="0" marL="0">
              <a:buNone/>
            </a:pPr>
            <a:r>
              <a:rPr lang="en-US" sz="1500" dirty="0">
                <a:solidFill>
                  <a:srgbClr val="00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questions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EDRMS_Util_Dashboard_Gap_Checker_2026-08-21.xlsx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EDRMS Utilization Report, requirements workshop</dc:title>
  <dc:subject>PptxGenJS Presentation</dc:subject>
  <dc:creator>ADB EDRMS Utilization Report</dc:creator>
  <cp:lastModifiedBy>ADB EDRMS Utilization Report</cp:lastModifiedBy>
  <cp:revision>1</cp:revision>
  <dcterms:created xsi:type="dcterms:W3CDTF">2026-08-24T07:34:06Z</dcterms:created>
  <dcterms:modified xsi:type="dcterms:W3CDTF">2026-08-24T07:34:06Z</dcterms:modified>
</cp:coreProperties>
</file>