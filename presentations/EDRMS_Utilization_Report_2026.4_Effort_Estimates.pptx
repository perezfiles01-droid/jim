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94F8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01168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EDRMS Utilization Report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640080" y="278892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 2026.4: effort estimates from the dev team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40080" y="356616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6E4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Based on the draft Product Backlog V2.4. The user stories and acceptance criteria are still being revised.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194F8E"/>
          </a:solidFill>
          <a:ln w="12700">
            <a:solidFill>
              <a:srgbClr val="194F8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02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need from you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804672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man-day estimate for each user story, so the 2026.4 plan can be set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Asian Development Bank  ·  EDRMS Utilization Report, Release 2026.4  ·  Draft for estimation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1371600"/>
            <a:ext cx="1124712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200"/>
              </a:spcAft>
              <a:buNone/>
            </a:pPr>
            <a:r>
              <a:rPr lang="en-US" sz="1600" b="1" dirty="0">
                <a:solidFill>
                  <a:srgbClr val="102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Scope: </a:t>
            </a:r>
            <a:pPr indent="0" marL="0">
              <a:spcAft>
                <a:spcPts val="1200"/>
              </a:spcAft>
              <a:buNone/>
            </a:pPr>
            <a:r>
              <a:rPr lang="en-US" sz="1600" dirty="0">
                <a:solidFill>
                  <a:srgbClr val="102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dashboards (Bank-wide Oversight, Department Insights), exports, and the reporting database. 18 user stories (26.4.00 to 2026.4.17).</a:t>
            </a:r>
            <a:endParaRPr lang="en-US" sz="16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600" b="1" dirty="0">
                <a:solidFill>
                  <a:srgbClr val="102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 per story, in man-days: </a:t>
            </a:r>
            <a:pPr indent="0" marL="0">
              <a:spcAft>
                <a:spcPts val="1200"/>
              </a:spcAft>
              <a:buNone/>
            </a:pPr>
            <a:r>
              <a:rPr lang="en-US" sz="1600" dirty="0">
                <a:solidFill>
                  <a:srgbClr val="102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 end, Front end, Unit testing, QA, Infra. These are the effort columns already in the Backlog sheet.</a:t>
            </a:r>
            <a:endParaRPr lang="en-US" sz="16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600" b="1" dirty="0">
                <a:solidFill>
                  <a:srgbClr val="102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 build: </a:t>
            </a:r>
            <a:pPr indent="0" marL="0">
              <a:spcAft>
                <a:spcPts val="1200"/>
              </a:spcAft>
              <a:buNone/>
            </a:pPr>
            <a:r>
              <a:rPr lang="en-US" sz="1600" dirty="0">
                <a:solidFill>
                  <a:srgbClr val="102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approved UI is the SharePoint web part 1.0.51 and the prototype site. Use them to see each story working with sample data.</a:t>
            </a:r>
            <a:endParaRPr lang="en-US" sz="16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600" b="1" dirty="0">
                <a:solidFill>
                  <a:srgbClr val="102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Data: </a:t>
            </a:r>
            <a:pPr indent="0" marL="0">
              <a:spcAft>
                <a:spcPts val="1200"/>
              </a:spcAft>
              <a:buNone/>
            </a:pPr>
            <a:r>
              <a:rPr lang="en-US" sz="1600" dirty="0">
                <a:solidFill>
                  <a:srgbClr val="102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weekly refresh, every Monday. Every figure shows "Data as of [Monday]".</a:t>
            </a:r>
            <a:endParaRPr lang="en-US" sz="16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600" b="1" dirty="0">
                <a:solidFill>
                  <a:srgbClr val="102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Draft: </a:t>
            </a:r>
            <a:pPr indent="0" marL="0">
              <a:spcAft>
                <a:spcPts val="1200"/>
              </a:spcAft>
              <a:buNone/>
            </a:pPr>
            <a:r>
              <a:rPr lang="en-US" sz="1600" dirty="0">
                <a:solidFill>
                  <a:srgbClr val="102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a range where a story depends on a source that is still open (slide 7). We will re-baseline when the backlog is final.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194F8E"/>
          </a:solidFill>
          <a:ln w="12700">
            <a:solidFill>
              <a:srgbClr val="194F8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02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for this release: system sources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804672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Pulled by the weekly refresh job into the reporting database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Asian Development Bank  ·  EDRMS Utilization Report, Release 2026.4  ·  Draft for estimation</a:t>
            </a:r>
            <a:endParaRPr lang="en-US" sz="9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25880"/>
          <a:ext cx="11247120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3840480"/>
                <a:gridCol w="2560320"/>
                <a:gridCol w="2011680"/>
              </a:tblGrid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Source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4F8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we take from it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4F8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Used for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4F8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4F8E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024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AvePoint Cloud Governance, Workspace report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024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Site list, EDRMS compliant flag, Department, site owner, created date, site type, site title (Name)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024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Sites, Department grouping, site details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024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Held (test tenant export)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024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Microsoft 365 SharePoint site usage report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024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File Count (documents), Storage Used, page views, last activity per site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024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Documents, storage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024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Held (test tenant export)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024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Microsoft 365 SharePoint activity user detail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024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Per-person activity, last activity date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024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Users active in the last 180 days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024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Held (test tenant export)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024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drm-npr PostgreSQL, public."Records"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024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Declared records only: declaring user, declaration date, physical counterpart, site URL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024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Records declared, trend, physical counterparts, people declaring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024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Queried (about 1,990 rows in UAT)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024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Microsoft Graph (driveItems, site analytics)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024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File created date, libraries, folders, unique viewers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024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New documents, library usage, site visitors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024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Partly tested. Folder count and internal / external split to confirm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194F8E"/>
          </a:solidFill>
          <a:ln w="12700">
            <a:solidFill>
              <a:srgbClr val="194F8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02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for this release: manual sources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804672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Provided by RAC as files and loaded into the database. They do not exist in any system.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Asian Development Bank  ·  EDRMS Utilization Report, Release 2026.4  ·  Draft for estimation</a:t>
            </a:r>
            <a:endParaRPr lang="en-US" sz="9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25880"/>
          <a:ext cx="11247120" cy="914400"/>
        </p:xfrm>
        <a:graphic>
          <a:graphicData uri="http://schemas.openxmlformats.org/drawingml/2006/table">
            <a:tbl>
              <a:tblPr/>
              <a:tblGrid>
                <a:gridCol w="3749040"/>
                <a:gridCol w="2743200"/>
                <a:gridCol w="2560320"/>
                <a:gridCol w="2194560"/>
              </a:tblGrid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4F8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From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4F8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Used for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4F8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4F8E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024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Department / Office / RM / RO list with Category, Sub-category, Sub-group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024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RAC (sir Rotsen's site file, filled by the BA team)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024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Every filter and grouping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024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Sample values in use. Final values pending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024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Approximate headcount per Department / Office / RM / RO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024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024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EDRMS users card, Comparison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024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Pending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024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Completed EDRMS training list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024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024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Training completion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024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Pending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024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Go-Live date per Department / Office / RM / RO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024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024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Department Insights Go-Live card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024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Pending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024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Site convention guide link per Department / Office / RM / RO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024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024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Site convention card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024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Pending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457200" y="539496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the estimate: allow for a simple upload or load step for each file, and a check that every site maps to one list entry.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194F8E"/>
          </a:solidFill>
          <a:ln w="12700">
            <a:solidFill>
              <a:srgbClr val="194F8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02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Estimates per user story (1 of 2)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804672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Man-days. Blank cells are for the dev team to fill in. Draft backlog V2.4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Asian Development Bank  ·  EDRMS Utilization Report, Release 2026.4  ·  Draft for estimation</a:t>
            </a:r>
            <a:endParaRPr lang="en-US" sz="9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11247120" cy="914400"/>
        </p:xfrm>
        <a:graphic>
          <a:graphicData uri="http://schemas.openxmlformats.org/drawingml/2006/table">
            <a:tbl>
              <a:tblPr/>
              <a:tblGrid>
                <a:gridCol w="365760"/>
                <a:gridCol w="2926080"/>
                <a:gridCol w="2377440"/>
                <a:gridCol w="2468880"/>
                <a:gridCol w="502920"/>
                <a:gridCol w="502920"/>
                <a:gridCol w="502920"/>
                <a:gridCol w="502920"/>
                <a:gridCol w="502920"/>
                <a:gridCol w="59436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4F8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Area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4F8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User story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4F8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Main data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4F8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4F8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4F8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4F8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4F8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Infra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4F8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4F8E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24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24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Access &amp; Navigation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24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Report Access and Navigation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24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Refresh date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24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24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Bank-wide Oversight: Top Panel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24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Bank-wide KPIs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24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Cloud Governance, site usage, Records, RAC headcount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24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24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Bank-wide Oversight: Overview of EDRMS Sites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24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Site Overview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24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Cloud Governance, RAC list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24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24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Bank-wide Oversight: EDRMS Users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24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EDRMS Users Breakdown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24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RAC headcount and training, user activity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24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24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Bank-wide Oversight: Documents in EDRMS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24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Documents Activity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24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Site usage (monthly), Graph created date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24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24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Bank-wide Oversight: Records Declared in EDRMS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24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Records Declaration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24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Records, site usage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24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24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Bank-wide Oversight: Physical Counterparts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24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Physical Counterparts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24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Records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24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24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Bank-wide Oversight: Declaration Trend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24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Trend &amp; Date Range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24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Records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24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24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Department Insights: Department Profile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24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Category / Sub-category / Sub-group / Site Selection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24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RAC list, Go-Live dates, convention links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194F8E"/>
          </a:solidFill>
          <a:ln w="12700">
            <a:solidFill>
              <a:srgbClr val="194F8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02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Estimates per user story (2 of 2)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804672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Man-days. Blank cells are for the dev team to fill in. Draft backlog V2.4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Asian Development Bank  ·  EDRMS Utilization Report, Release 2026.4  ·  Draft for estimation</a:t>
            </a:r>
            <a:endParaRPr lang="en-US" sz="9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11247120" cy="914400"/>
        </p:xfrm>
        <a:graphic>
          <a:graphicData uri="http://schemas.openxmlformats.org/drawingml/2006/table">
            <a:tbl>
              <a:tblPr/>
              <a:tblGrid>
                <a:gridCol w="365760"/>
                <a:gridCol w="2926080"/>
                <a:gridCol w="2377440"/>
                <a:gridCol w="2468880"/>
                <a:gridCol w="502920"/>
                <a:gridCol w="502920"/>
                <a:gridCol w="502920"/>
                <a:gridCol w="502920"/>
                <a:gridCol w="502920"/>
                <a:gridCol w="59436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4F8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Area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4F8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User story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4F8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Main data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4F8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4F8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4F8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4F8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4F8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Infra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4F8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4F8E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24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24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Department Insights: Overview of EDRMS Sites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24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Sites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24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Cloud Governance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24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24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Department Insights: Site Visits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24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Site Visitors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24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Graph site analytics, Cloud Governance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24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24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Department Insights: Documents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24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Documents and Storage per Site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24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Site usage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24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24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Department Insights: Records Declaration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24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Records and People per Site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24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Records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24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24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Department Insights: Physical Counterpart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24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Physical Counterparts per Site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24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Records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24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24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Department Insights: Departmental Library Usage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24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Libraries by Department / Office / RM / RO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24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Graph libraries and folders, Records, user activity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24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24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Bank-wide Oversight: Comparison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24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Headcount Comparison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24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RAC headcount, site usage, Records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24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24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Access &amp; Navigation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24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Export to Excel, PDF and PowerPoint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24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None (front end)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24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24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PosgreSQL Database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24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PostreSQL Database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24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 four reporting tables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194F8E"/>
          </a:solidFill>
          <a:ln w="12700">
            <a:solidFill>
              <a:srgbClr val="194F8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02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items that may change the estimates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804672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Please flag any story where one of these moves your number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Asian Development Bank  ·  EDRMS Utilization Report, Release 2026.4  ·  Draft for estimation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1371600"/>
            <a:ext cx="1124712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102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Folder count per library: Graph through the weekly scan is proposed. AvePoint to confirm in production (RAC Item 12).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102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values: the four-level filter is built from the file, so new values need no code change. Final values are still to come from RAC.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102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visitors: the internal / external split is not yet tested against the tenant.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102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Exports: PowerPoint is recommended alongside PDF and Excel. RAC to confirm (Item 8). Word would need a separate paginated report.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102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owners: show names instead of emails, pending RAC (Item 8).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102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RAC files (headcount, training, Go-Live, convention links) not yet received.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194F8E"/>
          </a:solidFill>
          <a:ln w="12700">
            <a:solidFill>
              <a:srgbClr val="194F8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02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Asian Development Bank  ·  EDRMS Utilization Report, Release 2026.4  ·  Draft for estimation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112471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400"/>
              </a:spcAft>
              <a:buSzPct val="100000"/>
              <a:buFont typeface="+mj-lt"/>
              <a:buAutoNum type="arabicPeriod" startAt="1"/>
            </a:pPr>
            <a:r>
              <a:rPr lang="en-US" sz="1800" dirty="0">
                <a:solidFill>
                  <a:srgbClr val="102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 team fills in the effort columns for the 18 stories in the Backlog sheet.</a:t>
            </a:r>
            <a:endParaRPr lang="en-US" sz="1800" dirty="0"/>
          </a:p>
          <a:p>
            <a:pPr marL="342900" indent="-342900">
              <a:spcAft>
                <a:spcPts val="1400"/>
              </a:spcAft>
              <a:buSzPct val="100000"/>
              <a:buFont typeface="+mj-lt"/>
              <a:buAutoNum type="arabicPeriod" startAt="1"/>
            </a:pPr>
            <a:r>
              <a:rPr lang="en-US" sz="1800" dirty="0">
                <a:solidFill>
                  <a:srgbClr val="102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a range, and note the open item, where a story depends on one.</a:t>
            </a:r>
            <a:endParaRPr lang="en-US" sz="1800" dirty="0"/>
          </a:p>
          <a:p>
            <a:pPr marL="342900" indent="-342900">
              <a:spcAft>
                <a:spcPts val="1400"/>
              </a:spcAft>
              <a:buSzPct val="100000"/>
              <a:buFont typeface="+mj-lt"/>
              <a:buAutoNum type="arabicPeriod" startAt="1"/>
            </a:pPr>
            <a:r>
              <a:rPr lang="en-US" sz="1800" dirty="0">
                <a:solidFill>
                  <a:srgbClr val="102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consolidate the totals and re-baseline once the backlog is final.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EDRMS Utilization Report 2026.4: effort estimates</dc:title>
  <dc:subject>PptxGenJS Presentation</dc:subject>
  <dc:creator>PptxGenJS</dc:creator>
  <cp:lastModifiedBy>PptxGenJS</cp:lastModifiedBy>
  <cp:revision>1</cp:revision>
  <dcterms:created xsi:type="dcterms:W3CDTF">2026-10-23T06:25:32Z</dcterms:created>
  <dcterms:modified xsi:type="dcterms:W3CDTF">2026-10-23T06:25:32Z</dcterms:modified>
</cp:coreProperties>
</file>