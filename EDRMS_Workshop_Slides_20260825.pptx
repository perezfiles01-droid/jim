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Read the Gap Checker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workbook, six tabs, 250 requirements — and the columns that matter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prototype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built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492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53492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things block most of it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COLUMNS TO READ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862072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2843784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prototype?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114800" y="2843784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or No. This is the honest state of the build today, not a plan.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429000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1071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there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14800" y="3410712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 a requirement was removed or relabelled. Read this before assuming anything is missing by accident.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3995928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0" y="3977640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needs before it can be built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114800" y="3977640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or decision that would unblock it. This column is the agenda for today.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562856"/>
            <a:ext cx="50292" cy="475488"/>
          </a:xfrm>
          <a:prstGeom prst="rect">
            <a:avLst/>
          </a:prstGeom>
          <a:solidFill>
            <a:srgbClr val="009B8A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44568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114800" y="4544568"/>
            <a:ext cx="743681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requirement appears in the prototype, so you can see it working.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239512"/>
            <a:ext cx="11094415" cy="566928"/>
          </a:xfrm>
          <a:prstGeom prst="rect">
            <a:avLst/>
          </a:prstGeom>
          <a:solidFill>
            <a:srgbClr val="F4F7F8"/>
          </a:solidFill>
          <a:ln w="12700">
            <a:solidFill>
              <a:srgbClr val="D8DE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9808" y="5312664"/>
            <a:ext cx="2194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note on relabelling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108960" y="5312664"/>
            <a:ext cx="835121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requirements are built but renamed — "total EDRMS users" is live as "users with recorded activity, last 180 days". Those count as built. We will flag the renames as we go.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Bank-wide Oversight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Bank-wide counts of users, records declared, physical counterparts and records due for disposal.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527048"/>
            <a:ext cx="5973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87568" y="1883664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6" name="Text 14"/>
          <p:cNvSpPr/>
          <p:nvPr/>
        </p:nvSpPr>
        <p:spPr>
          <a:xfrm>
            <a:off x="5925312" y="1819656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built tiles were relabelled, not dropped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87568" y="2231136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8" name="Text 16"/>
          <p:cNvSpPr/>
          <p:nvPr/>
        </p:nvSpPr>
        <p:spPr>
          <a:xfrm>
            <a:off x="5925312" y="2167128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"Total EDRMS users" → "users with recorded activity, last 180 days"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87568" y="2578608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0" name="Text 18"/>
          <p:cNvSpPr/>
          <p:nvPr/>
        </p:nvSpPr>
        <p:spPr>
          <a:xfrm>
            <a:off x="5925312" y="2514600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"Due for disposal" → "due within 30 / 90 days / 12 months"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87568" y="2926080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2" name="Text 20"/>
          <p:cNvSpPr/>
          <p:nvPr/>
        </p:nvSpPr>
        <p:spPr>
          <a:xfrm>
            <a:off x="5925312" y="2862072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Declaration rate built as "share of documents declared as records"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GAPS ARE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84378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82549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composition  ·  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302666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/ contractor / consultant counts, training completion, onboarded since go-live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3337560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28" name="Text 26"/>
          <p:cNvSpPr/>
          <p:nvPr/>
        </p:nvSpPr>
        <p:spPr>
          <a:xfrm>
            <a:off x="713232" y="3319272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Per-division breakdowns  ·  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520440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users declaring, per division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831336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3813048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 ·  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13232" y="4014216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Approver, status Approved / Declined / Extended, month-on-month, completion rate, overdue actions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325112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" y="4306824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 physical custody  ·  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3232" y="4507992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Turnover to RAC is a physical event no reachable system records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Bank-wide Oversight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Bank-wide Oversight: The Asks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gaps. Five questions close most of them.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374904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5910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" y="19202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385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" y="18836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the user register, and can we read employment type from it?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21762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5 requirements  ·  If not: Report total users only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68096" y="25786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5968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97280" y="25420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Division at ADB, and which system holds it?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97280" y="28346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4 requirements  ·  If not: Department-level reporting only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68096" y="323697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325526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97280" y="320040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site creation date acceptable as a stand-in for go-live?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349300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Drop onboarding metrics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8096" y="38953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9136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97280" y="38587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was the disposal workflow removed? Is it out of scope, or unsourced?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97280" y="41513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7 requirements  ·  If not: We need your steer — no reason is recorded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68096" y="45537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45720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97280" y="45171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any record of physical turnover to RAC we have not found?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97280" y="48097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Confirmed dead end — drop it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Department Insights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measures as Bank-wide, cut by department, office and Records Management unit, with drill-down to site and library.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69280" y="1527048"/>
            <a:ext cx="5973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BUILT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87568" y="1883664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6" name="Text 14"/>
          <p:cNvSpPr/>
          <p:nvPr/>
        </p:nvSpPr>
        <p:spPr>
          <a:xfrm>
            <a:off x="5925312" y="1819656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tab: 86 requirements, 59 built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87568" y="2231136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8" name="Text 16"/>
          <p:cNvSpPr/>
          <p:nvPr/>
        </p:nvSpPr>
        <p:spPr>
          <a:xfrm>
            <a:off x="5925312" y="2167128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"Total site visitors" → "total site visits" — visits, not unique people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687568" y="2578608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0" name="Text 18"/>
          <p:cNvSpPr/>
          <p:nvPr/>
        </p:nvSpPr>
        <p:spPr>
          <a:xfrm>
            <a:off x="5925312" y="2514600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due dates rebuilt as 3 / 6 / 12 month bands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87568" y="2926080"/>
            <a:ext cx="146304" cy="14630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2" name="Text 20"/>
          <p:cNvSpPr/>
          <p:nvPr/>
        </p:nvSpPr>
        <p:spPr>
          <a:xfrm>
            <a:off x="5925312" y="2862072"/>
            <a:ext cx="565373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Documents, size in GB and declaration counts all built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48640" y="253288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GAPS ARE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284378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282549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composition  ·  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3232" y="302666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Staff, contractor, consultant counts and training completion rate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48640" y="3337560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28" name="Text 26"/>
          <p:cNvSpPr/>
          <p:nvPr/>
        </p:nvSpPr>
        <p:spPr>
          <a:xfrm>
            <a:off x="713232" y="3319272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Per-division breakdowns  ·  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3520440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declared, users declaring, per-library indicators by division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831336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3813048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split  ·  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13232" y="4014216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vs external visitors — which report shows this split?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48640" y="4325112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4" name="Text 32"/>
          <p:cNvSpPr/>
          <p:nvPr/>
        </p:nvSpPr>
        <p:spPr>
          <a:xfrm>
            <a:off x="713232" y="4306824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  ·  2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13232" y="4507992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granted and denied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4818888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37" name="Text 35"/>
          <p:cNvSpPr/>
          <p:nvPr/>
        </p:nvSpPr>
        <p:spPr>
          <a:xfrm>
            <a:off x="713232" y="4800600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workflow  ·  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13232" y="5001768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Approver, statuses, records disposed per year and month, disposed size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" y="5312664"/>
            <a:ext cx="50292" cy="420624"/>
          </a:xfrm>
          <a:prstGeom prst="rect">
            <a:avLst/>
          </a:prstGeom>
          <a:solidFill>
            <a:srgbClr val="E67C3B"/>
          </a:solidFill>
          <a:ln/>
        </p:spPr>
      </p:sp>
      <p:sp>
        <p:nvSpPr>
          <p:cNvPr id="40" name="Text 38"/>
          <p:cNvSpPr/>
          <p:nvPr/>
        </p:nvSpPr>
        <p:spPr>
          <a:xfrm>
            <a:off x="713232" y="5294376"/>
            <a:ext cx="1082009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conventions &amp; go-live  ·  2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13232" y="5495544"/>
            <a:ext cx="1082009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site / library / folder convention, go-live date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Department Insights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Department Insights: The Asks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gaps — but 8 of them are the same two questions asked on Bank-wide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374904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5910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68096" y="19202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19385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97280" y="18836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report shows site visitors split by internal and external?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97280" y="21762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Report total visits only, no split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68096" y="257860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259689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97280" y="254203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an approved SharePoint site, library and folder convention we can measure against?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97280" y="283464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1 requirement  ·  If not: Drop convention compliance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68096" y="323697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19" name="Text 17"/>
          <p:cNvSpPr/>
          <p:nvPr/>
        </p:nvSpPr>
        <p:spPr>
          <a:xfrm>
            <a:off x="768096" y="325526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97280" y="320040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access request grants and denials logged anywhere we can reach?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97280" y="349300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Drop access request metrics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8096" y="38953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3" name="Text 21"/>
          <p:cNvSpPr/>
          <p:nvPr/>
        </p:nvSpPr>
        <p:spPr>
          <a:xfrm>
            <a:off x="768096" y="39136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97280" y="38587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user register and Division questions as Bank-wide — one answer settles both tabs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97280" y="41513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8 requirements  ·  If not: See dependencies 1 and 2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68096" y="455371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7" name="Text 25"/>
          <p:cNvSpPr/>
          <p:nvPr/>
        </p:nvSpPr>
        <p:spPr>
          <a:xfrm>
            <a:off x="768096" y="457200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97280" y="451713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'visits' rather than 'unique visitors' meet your need?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97280" y="480974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Confirms 2 built tiles  ·  If not: Currently built as visits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Project Insights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Insights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attributes — facility type, modality, country, status, effectivity and closing date — against EDRMS site activity.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658368"/>
          </a:xfrm>
          <a:prstGeom prst="rect">
            <a:avLst/>
          </a:prstGeom>
          <a:solidFill>
            <a:srgbClr val="FDF2F4"/>
          </a:solidFill>
          <a:ln w="19050">
            <a:solidFill>
              <a:srgbClr val="C41E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481328"/>
            <a:ext cx="64008" cy="658368"/>
          </a:xfrm>
          <a:prstGeom prst="rect">
            <a:avLst/>
          </a:prstGeom>
          <a:solidFill>
            <a:srgbClr val="C41E3A"/>
          </a:solidFill>
          <a:ln/>
        </p:spPr>
      </p:sp>
      <p:sp>
        <p:nvSpPr>
          <p:cNvPr id="10" name="Text 8"/>
          <p:cNvSpPr/>
          <p:nvPr/>
        </p:nvSpPr>
        <p:spPr>
          <a:xfrm>
            <a:off x="804672" y="1572768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C41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BUILT, BUT UNSOURCED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04672" y="1792224"/>
            <a:ext cx="105457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20 requirements is built in the prototype. Not one of them has a confirmed data source.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486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488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21488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UI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749040" y="230428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41E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3749040" y="280720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data source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3310128"/>
            <a:ext cx="11094415" cy="3474720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341985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" y="374904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1" name="Text 19"/>
          <p:cNvSpPr/>
          <p:nvPr/>
        </p:nvSpPr>
        <p:spPr>
          <a:xfrm>
            <a:off x="768096" y="376732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97280" y="371246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system holds project attributes — facility type, modality, country, status, dates?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97280" y="400507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20 requirements  ·  If not: Project Insights stays a mockup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8096" y="435254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5" name="Text 23"/>
          <p:cNvSpPr/>
          <p:nvPr/>
        </p:nvSpPr>
        <p:spPr>
          <a:xfrm>
            <a:off x="768096" y="437083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" y="431596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owns that system, and can we get read access?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97280" y="460857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All 20 requirements  ·  If not: No source, no dashboard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68096" y="495604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9" name="Text 27"/>
          <p:cNvSpPr/>
          <p:nvPr/>
        </p:nvSpPr>
        <p:spPr>
          <a:xfrm>
            <a:off x="768096" y="497433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97280" y="491947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register mapping EDRMS sites to project IDs?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097280" y="521208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Site-to-project rollup  ·  If not: Site activity cannot roll up to a project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68096" y="5559552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3" name="Text 31"/>
          <p:cNvSpPr/>
          <p:nvPr/>
        </p:nvSpPr>
        <p:spPr>
          <a:xfrm>
            <a:off x="768096" y="5577840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97280" y="5522976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no register exists, can we derive the link by scanning site names?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097280" y="5815584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Site-to-project rollup  ·  If not: Workbook notes: "The register. Then SCAN."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68096" y="6163056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" y="6181344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7280" y="6126480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project-level reporting in scope for this phase at all?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97280" y="6419088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Scope decision  ·  If not: Defer the whole tab to phase 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Institutional File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File Plan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retention class hierarchy and how records map onto it.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1051560"/>
          </a:xfrm>
          <a:prstGeom prst="rect">
            <a:avLst/>
          </a:prstGeom>
          <a:solidFill>
            <a:srgbClr val="E8F7F5"/>
          </a:solidFill>
          <a:ln w="19050">
            <a:solidFill>
              <a:srgbClr val="009B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GAPS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24 requirements on this tab are built in the prototype. The workbook records no missing data and no outstanding question.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488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488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490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7490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21608"/>
            <a:ext cx="11094415" cy="1664208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83133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— CONFIRMATION ONLY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" y="416052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17880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" y="412394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this tab is complete. Have we missed anything?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441655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Confirm and move 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8096" y="476402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478231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97280" y="472744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file plan hierarchy shown match your current approved plan?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97280" y="502005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Flag any structural changes now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Retention and Disposal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Retention and Disposal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terms and disposal volumes across the bank.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5486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1488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21488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749040" y="148132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67C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749040" y="198424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669280" y="1499616"/>
            <a:ext cx="5973775" cy="731520"/>
          </a:xfrm>
          <a:prstGeom prst="rect">
            <a:avLst/>
          </a:prstGeom>
          <a:solidFill>
            <a:srgbClr val="FFF6EF"/>
          </a:solidFill>
          <a:ln w="15875">
            <a:solidFill>
              <a:srgbClr val="E67C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52160" y="157276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852160" y="1773936"/>
            <a:ext cx="5608015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 gaps are marked only "Removed." — no reason and no dependency is recorded in the workbook.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2441448"/>
            <a:ext cx="1109441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E67C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NINE REMOVED ITEMS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275234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Departments / Offices / RMs provisioned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00837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libraries provisioned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2644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declared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52044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physical counterparts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80560" y="275234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due for disposal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80560" y="300837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Number of records disposed  (appears twice)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480560" y="326440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Term (Top level)  (appears twice)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48640" y="3858768"/>
            <a:ext cx="11094415" cy="2267712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9808" y="396849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68096" y="429768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" y="431596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097280" y="426110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9 items were removed with no reason recorded. Were they descoped deliberately?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097280" y="455371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9 requirements  ·  If not: We need your decision before we can act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68096" y="490118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2" name="Text 30"/>
          <p:cNvSpPr/>
          <p:nvPr/>
        </p:nvSpPr>
        <p:spPr>
          <a:xfrm>
            <a:off x="768096" y="491947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97280" y="486460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duplicate measures already on Bank-wide. Is that the reason they were dropped?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97280" y="515721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Clarifies overlap  ·  If not: Likely intentional de-duplication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68096" y="5504688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36" name="Text 34"/>
          <p:cNvSpPr/>
          <p:nvPr/>
        </p:nvSpPr>
        <p:spPr>
          <a:xfrm>
            <a:off x="768096" y="5522976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97280" y="5468112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a top-level retention Term breakdown still wanted here?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097280" y="5760720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2 requirements  ·  If not: Drop the Term rows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12700">
            <a:solidFill>
              <a:srgbClr val="D8DEE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Records and Archive Holdings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384048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Records and Archive Holdings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109441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9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and digital archive holdings and their retention position.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1243584"/>
            <a:ext cx="1463040" cy="0"/>
          </a:xfrm>
          <a:prstGeom prst="line">
            <a:avLst/>
          </a:prstGeom>
          <a:noFill/>
          <a:ln w="38100">
            <a:solidFill>
              <a:srgbClr val="009B8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481328"/>
            <a:ext cx="11094415" cy="1051560"/>
          </a:xfrm>
          <a:prstGeom prst="rect">
            <a:avLst/>
          </a:prstGeom>
          <a:solidFill>
            <a:srgbClr val="E8F7F5"/>
          </a:solidFill>
          <a:ln w="19050">
            <a:solidFill>
              <a:srgbClr val="009B8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GAPS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011680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28 requirements on this tab are built in the prototype. The workbook records no missing data and no outstanding question.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3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1488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488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49040" y="271576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09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3749040" y="3218688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3721608"/>
            <a:ext cx="11094415" cy="1664208"/>
          </a:xfrm>
          <a:prstGeom prst="rect">
            <a:avLst/>
          </a:prstGeom>
          <a:solidFill>
            <a:srgbClr val="E8F7F5"/>
          </a:solidFill>
          <a:ln w="15875">
            <a:solidFill>
              <a:srgbClr val="009B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3831336"/>
            <a:ext cx="1069207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03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NEED FROM YOU — CONFIRMATION ONLY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" y="4160520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4178808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97280" y="4123944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believe this tab is complete. Have we missed anything?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97280" y="4416552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Confirm and move on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68096" y="4764024"/>
            <a:ext cx="237744" cy="237744"/>
          </a:xfrm>
          <a:prstGeom prst="ellipse">
            <a:avLst/>
          </a:prstGeom>
          <a:solidFill>
            <a:srgbClr val="009B8A"/>
          </a:solidFill>
          <a:ln/>
        </p:spPr>
      </p:sp>
      <p:sp>
        <p:nvSpPr>
          <p:cNvPr id="24" name="Text 22"/>
          <p:cNvSpPr/>
          <p:nvPr/>
        </p:nvSpPr>
        <p:spPr>
          <a:xfrm>
            <a:off x="768096" y="4782312"/>
            <a:ext cx="237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97280" y="4727448"/>
            <a:ext cx="7894015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holdings breakdown match how RAC actually reports its inventory?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97280" y="5020056"/>
            <a:ext cx="101800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—  ·  If not: Flag discrepancies now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2026-08-25T01:41:10Z</dcterms:created>
  <dcterms:modified xsi:type="dcterms:W3CDTF">2026-08-25T01:41:10Z</dcterms:modified>
</cp:coreProperties>
</file>