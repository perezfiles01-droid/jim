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8DE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the Gap Checker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workbook, six tabs, 250 requirements — and the columns that matter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243584"/>
            <a:ext cx="1463040" cy="0"/>
          </a:xfrm>
          <a:prstGeom prst="line">
            <a:avLst/>
          </a:prstGeom>
          <a:noFill/>
          <a:ln w="38100">
            <a:solidFill>
              <a:srgbClr val="009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1984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14813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9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148840" y="1984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prototype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14813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7C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749040" y="1984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49240" y="14813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349240" y="1984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block most of 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53288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COLUMNS TO READ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862072"/>
            <a:ext cx="50292" cy="475488"/>
          </a:xfrm>
          <a:prstGeom prst="rect">
            <a:avLst/>
          </a:prstGeom>
          <a:solidFill>
            <a:srgbClr val="009B8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8437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prototype?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0" y="2843784"/>
            <a:ext cx="74368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or No. This is the honest state of the build today, not a plan.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50292" cy="475488"/>
          </a:xfrm>
          <a:prstGeom prst="rect">
            <a:avLst/>
          </a:prstGeom>
          <a:solidFill>
            <a:srgbClr val="009B8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107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not there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0" y="3410712"/>
            <a:ext cx="74368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a requirement was removed or relabelled. Read this before assuming anything is missing by accident.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995928"/>
            <a:ext cx="50292" cy="475488"/>
          </a:xfrm>
          <a:prstGeom prst="rect">
            <a:avLst/>
          </a:prstGeom>
          <a:solidFill>
            <a:srgbClr val="009B8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9776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needs before it can be built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114800" y="3977640"/>
            <a:ext cx="74368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or decision that would unblock it. This column is the agenda for today.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562856"/>
            <a:ext cx="50292" cy="475488"/>
          </a:xfrm>
          <a:prstGeom prst="rect">
            <a:avLst/>
          </a:prstGeom>
          <a:solidFill>
            <a:srgbClr val="009B8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5445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114800" y="4544568"/>
            <a:ext cx="74368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requirement appears in the prototype, so you can see it working.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239512"/>
            <a:ext cx="11094415" cy="566928"/>
          </a:xfrm>
          <a:prstGeom prst="rect">
            <a:avLst/>
          </a:prstGeom>
          <a:solidFill>
            <a:srgbClr val="F4F7F8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31266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on relabelling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108960" y="5312664"/>
            <a:ext cx="835121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requirements are built but renamed — "total EDRMS users" is live as "users with recorded activity, last 180 days". Those count as built. We will flag the renames as we go.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8DE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workshop in one 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Things We Need From You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requirements are unbuilt. Six data dependencies account for nearly all of them.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243584"/>
            <a:ext cx="1463040" cy="0"/>
          </a:xfrm>
          <a:prstGeom prst="line">
            <a:avLst/>
          </a:prstGeom>
          <a:noFill/>
          <a:ln w="38100">
            <a:solidFill>
              <a:srgbClr val="009B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81328"/>
            <a:ext cx="352745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81328"/>
            <a:ext cx="3527450" cy="50292"/>
          </a:xfrm>
          <a:prstGeom prst="rect">
            <a:avLst/>
          </a:prstGeom>
          <a:solidFill>
            <a:srgbClr val="009B8A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682496"/>
            <a:ext cx="310896" cy="310896"/>
          </a:xfrm>
          <a:prstGeom prst="ellipse">
            <a:avLst/>
          </a:prstGeom>
          <a:solidFill>
            <a:srgbClr val="003D5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19072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24530" y="16459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67C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4026" y="1773936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066544"/>
            <a:ext cx="316169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register with employment type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2487168"/>
            <a:ext cx="316169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register that flags each EDRMS user as staff, contractor or consultant.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3072384"/>
            <a:ext cx="3161690" cy="0"/>
          </a:xfrm>
          <a:prstGeom prst="line">
            <a:avLst/>
          </a:prstGeom>
          <a:noFill/>
          <a:ln w="12700">
            <a:solidFill>
              <a:srgbClr val="E5E9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27248"/>
            <a:ext cx="31616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owner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" y="3291840"/>
            <a:ext cx="31616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Identity management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32122" y="1481328"/>
            <a:ext cx="352745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32122" y="1481328"/>
            <a:ext cx="3527450" cy="50292"/>
          </a:xfrm>
          <a:prstGeom prst="rect">
            <a:avLst/>
          </a:prstGeom>
          <a:solidFill>
            <a:srgbClr val="009B8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15002" y="1682496"/>
            <a:ext cx="310896" cy="310896"/>
          </a:xfrm>
          <a:prstGeom prst="ellipse">
            <a:avLst/>
          </a:prstGeom>
          <a:solidFill>
            <a:srgbClr val="003D5B"/>
          </a:solidFill>
          <a:ln/>
        </p:spPr>
      </p:sp>
      <p:sp>
        <p:nvSpPr>
          <p:cNvPr id="22" name="Text 20"/>
          <p:cNvSpPr/>
          <p:nvPr/>
        </p:nvSpPr>
        <p:spPr>
          <a:xfrm>
            <a:off x="4515002" y="1719072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08013" y="16459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67C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47509" y="1773936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15002" y="2066544"/>
            <a:ext cx="316169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definition and source for Division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15002" y="2487168"/>
            <a:ext cx="316169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Division means at ADB, and which system holds it per user or per site.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15002" y="3072384"/>
            <a:ext cx="3161690" cy="0"/>
          </a:xfrm>
          <a:prstGeom prst="line">
            <a:avLst/>
          </a:prstGeom>
          <a:noFill/>
          <a:ln w="12700">
            <a:solidFill>
              <a:srgbClr val="E5E9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15002" y="3127248"/>
            <a:ext cx="31616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owner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15002" y="3291840"/>
            <a:ext cx="31616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Management / HR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15605" y="1481328"/>
            <a:ext cx="352745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15605" y="1481328"/>
            <a:ext cx="3527450" cy="50292"/>
          </a:xfrm>
          <a:prstGeom prst="rect">
            <a:avLst/>
          </a:prstGeom>
          <a:solidFill>
            <a:srgbClr val="009B8A"/>
          </a:solidFill>
          <a:ln/>
        </p:spPr>
      </p:sp>
      <p:sp>
        <p:nvSpPr>
          <p:cNvPr id="32" name="Shape 30"/>
          <p:cNvSpPr/>
          <p:nvPr/>
        </p:nvSpPr>
        <p:spPr>
          <a:xfrm>
            <a:off x="8298485" y="1682496"/>
            <a:ext cx="310896" cy="310896"/>
          </a:xfrm>
          <a:prstGeom prst="ellipse">
            <a:avLst/>
          </a:prstGeom>
          <a:solidFill>
            <a:srgbClr val="003D5B"/>
          </a:solidFill>
          <a:ln/>
        </p:spPr>
      </p:sp>
      <p:sp>
        <p:nvSpPr>
          <p:cNvPr id="33" name="Text 31"/>
          <p:cNvSpPr/>
          <p:nvPr/>
        </p:nvSpPr>
        <p:spPr>
          <a:xfrm>
            <a:off x="8298485" y="1719072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91495" y="16459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67C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1130991" y="1773936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98485" y="2066544"/>
            <a:ext cx="316169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 source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298485" y="2487168"/>
            <a:ext cx="316169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EDRMS training completion is recorded, and whether we can read it.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298485" y="3072384"/>
            <a:ext cx="3161690" cy="0"/>
          </a:xfrm>
          <a:prstGeom prst="line">
            <a:avLst/>
          </a:prstGeom>
          <a:noFill/>
          <a:ln w="12700">
            <a:solidFill>
              <a:srgbClr val="E5E9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98485" y="3127248"/>
            <a:ext cx="31616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owner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298485" y="3291840"/>
            <a:ext cx="31616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Development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3803904"/>
            <a:ext cx="352745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3803904"/>
            <a:ext cx="3527450" cy="50292"/>
          </a:xfrm>
          <a:prstGeom prst="rect">
            <a:avLst/>
          </a:prstGeom>
          <a:solidFill>
            <a:srgbClr val="009B8A"/>
          </a:solidFill>
          <a:ln/>
        </p:spPr>
      </p:sp>
      <p:sp>
        <p:nvSpPr>
          <p:cNvPr id="43" name="Shape 41"/>
          <p:cNvSpPr/>
          <p:nvPr/>
        </p:nvSpPr>
        <p:spPr>
          <a:xfrm>
            <a:off x="731520" y="4005072"/>
            <a:ext cx="310896" cy="310896"/>
          </a:xfrm>
          <a:prstGeom prst="ellipse">
            <a:avLst/>
          </a:prstGeom>
          <a:solidFill>
            <a:srgbClr val="003D5B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4041648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24530" y="396849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67C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3564026" y="4096512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31520" y="4389120"/>
            <a:ext cx="316169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date per site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731520" y="4809744"/>
            <a:ext cx="316169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go-live date per site — or your agreement that site creation date stands in.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31520" y="5394960"/>
            <a:ext cx="3161690" cy="0"/>
          </a:xfrm>
          <a:prstGeom prst="line">
            <a:avLst/>
          </a:prstGeom>
          <a:noFill/>
          <a:ln w="12700">
            <a:solidFill>
              <a:srgbClr val="E5E9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" y="5449824"/>
            <a:ext cx="31616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owner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31520" y="5614416"/>
            <a:ext cx="31616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EDRMS rollout team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332122" y="3803904"/>
            <a:ext cx="352745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32122" y="3803904"/>
            <a:ext cx="3527450" cy="50292"/>
          </a:xfrm>
          <a:prstGeom prst="rect">
            <a:avLst/>
          </a:prstGeom>
          <a:solidFill>
            <a:srgbClr val="009B8A"/>
          </a:solidFill>
          <a:ln/>
        </p:spPr>
      </p:sp>
      <p:sp>
        <p:nvSpPr>
          <p:cNvPr id="54" name="Shape 52"/>
          <p:cNvSpPr/>
          <p:nvPr/>
        </p:nvSpPr>
        <p:spPr>
          <a:xfrm>
            <a:off x="4515002" y="4005072"/>
            <a:ext cx="310896" cy="310896"/>
          </a:xfrm>
          <a:prstGeom prst="ellipse">
            <a:avLst/>
          </a:prstGeom>
          <a:solidFill>
            <a:srgbClr val="003D5B"/>
          </a:solidFill>
          <a:ln/>
        </p:spPr>
      </p:sp>
      <p:sp>
        <p:nvSpPr>
          <p:cNvPr id="55" name="Text 53"/>
          <p:cNvSpPr/>
          <p:nvPr/>
        </p:nvSpPr>
        <p:spPr>
          <a:xfrm>
            <a:off x="4515002" y="4041648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808013" y="396849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67C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7347509" y="4096512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515002" y="4389120"/>
            <a:ext cx="316169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 for project attributes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4515002" y="4809744"/>
            <a:ext cx="316169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system holds facility type, modality, country, status, effectivity and closing date — and who owns it.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15002" y="5394960"/>
            <a:ext cx="3161690" cy="0"/>
          </a:xfrm>
          <a:prstGeom prst="line">
            <a:avLst/>
          </a:prstGeom>
          <a:noFill/>
          <a:ln w="12700">
            <a:solidFill>
              <a:srgbClr val="E5E9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15002" y="5449824"/>
            <a:ext cx="31616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owner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515002" y="5614416"/>
            <a:ext cx="31616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— this is the key name we need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115605" y="3803904"/>
            <a:ext cx="352745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15605" y="3803904"/>
            <a:ext cx="3527450" cy="50292"/>
          </a:xfrm>
          <a:prstGeom prst="rect">
            <a:avLst/>
          </a:prstGeom>
          <a:solidFill>
            <a:srgbClr val="009B8A"/>
          </a:solidFill>
          <a:ln/>
        </p:spPr>
      </p:sp>
      <p:sp>
        <p:nvSpPr>
          <p:cNvPr id="65" name="Shape 63"/>
          <p:cNvSpPr/>
          <p:nvPr/>
        </p:nvSpPr>
        <p:spPr>
          <a:xfrm>
            <a:off x="8298485" y="4005072"/>
            <a:ext cx="310896" cy="310896"/>
          </a:xfrm>
          <a:prstGeom prst="ellipse">
            <a:avLst/>
          </a:prstGeom>
          <a:solidFill>
            <a:srgbClr val="003D5B"/>
          </a:solidFill>
          <a:ln/>
        </p:spPr>
      </p:sp>
      <p:sp>
        <p:nvSpPr>
          <p:cNvPr id="66" name="Text 64"/>
          <p:cNvSpPr/>
          <p:nvPr/>
        </p:nvSpPr>
        <p:spPr>
          <a:xfrm>
            <a:off x="8298485" y="4041648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0591495" y="396849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67C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200" dirty="0"/>
          </a:p>
        </p:txBody>
      </p:sp>
      <p:sp>
        <p:nvSpPr>
          <p:cNvPr id="68" name="Text 66"/>
          <p:cNvSpPr/>
          <p:nvPr/>
        </p:nvSpPr>
        <p:spPr>
          <a:xfrm>
            <a:off x="11130991" y="4096512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298485" y="4389120"/>
            <a:ext cx="316169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Site-to-project register</a:t>
            </a:r>
            <a:endParaRPr lang="en-US" sz="1250" dirty="0"/>
          </a:p>
        </p:txBody>
      </p:sp>
      <p:sp>
        <p:nvSpPr>
          <p:cNvPr id="70" name="Text 68"/>
          <p:cNvSpPr/>
          <p:nvPr/>
        </p:nvSpPr>
        <p:spPr>
          <a:xfrm>
            <a:off x="8298485" y="4809744"/>
            <a:ext cx="316169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register mapping EDRMS sites to project IDs, so site activity can roll up to a project.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298485" y="5394960"/>
            <a:ext cx="3161690" cy="0"/>
          </a:xfrm>
          <a:prstGeom prst="line">
            <a:avLst/>
          </a:prstGeom>
          <a:noFill/>
          <a:ln w="12700">
            <a:solidFill>
              <a:srgbClr val="E5E9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98485" y="5449824"/>
            <a:ext cx="31616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owner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298485" y="5614416"/>
            <a:ext cx="31616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Management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48640" y="6163056"/>
            <a:ext cx="11094415" cy="384048"/>
          </a:xfrm>
          <a:prstGeom prst="rect">
            <a:avLst/>
          </a:prstGeom>
          <a:solidFill>
            <a:srgbClr val="F4F7F8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1520" y="6236208"/>
            <a:ext cx="107286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 1–4 unblock 18 gaps.  Deps 5–6 source 21 built-but-unsourced requirements.  </a:t>
            </a:r>
            <a:pPr algn="ctr" indent="0" marL="0">
              <a:buNone/>
            </a:pPr>
            <a:r>
              <a:rPr lang="en-US" sz="105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37 gaps carry no recorded reason — we need your steer on those.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8DE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37 Gaps With No Recorded Reason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only "Removed." in the workbook — no dependency, no rationale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243584"/>
            <a:ext cx="1463040" cy="0"/>
          </a:xfrm>
          <a:prstGeom prst="line">
            <a:avLst/>
          </a:prstGeom>
          <a:noFill/>
          <a:ln w="38100">
            <a:solidFill>
              <a:srgbClr val="009B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81328"/>
            <a:ext cx="3630900" cy="475488"/>
          </a:xfrm>
          <a:prstGeom prst="rect">
            <a:avLst/>
          </a:prstGeom>
          <a:solidFill>
            <a:srgbClr val="009B8A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600200"/>
            <a:ext cx="34114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have a stated dependency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79540" y="1481328"/>
            <a:ext cx="7463516" cy="47548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289268" y="1600200"/>
            <a:ext cx="72440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 no recorded reason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011680"/>
            <a:ext cx="110944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55 unbuilt requirements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267712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37 SIT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596896"/>
            <a:ext cx="50292" cy="4937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1518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25968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Bank-wide Oversight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06240" y="2578608"/>
            <a:ext cx="734537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workflow — approver, status Approved / Declined / Extended, month-on-month disposed, completion rate, overdue actions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145536"/>
            <a:ext cx="50292" cy="4937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16382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17320" y="31455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Insights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206240" y="3127248"/>
            <a:ext cx="734537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workflow again, plus access requests granted and denied, per-library user counts, site convention compliance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694176"/>
            <a:ext cx="50292" cy="4937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1246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17320" y="36941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and Disposal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206240" y="3675888"/>
            <a:ext cx="734537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and volume counts, and the top-level retention Term rows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279392"/>
            <a:ext cx="11094415" cy="2267712"/>
          </a:xfrm>
          <a:prstGeom prst="rect">
            <a:avLst/>
          </a:prstGeom>
          <a:solidFill>
            <a:srgbClr val="E8F7F5"/>
          </a:solidFill>
          <a:ln w="15875">
            <a:solidFill>
              <a:srgbClr val="009B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389120"/>
            <a:ext cx="1069207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8096" y="4718304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" y="4736592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" y="4681728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these descoped deliberately, or are they simply undocumented?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4974336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All 37  ·  If not: We cannot plan the backlog without knowing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68096" y="5321808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33" name="Text 31"/>
          <p:cNvSpPr/>
          <p:nvPr/>
        </p:nvSpPr>
        <p:spPr>
          <a:xfrm>
            <a:off x="768096" y="5340096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97280" y="5285232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disposal workflow accounts for 14 of the 37, across two tabs. Is disposal approval out of scope for this phase?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97280" y="5577840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14 requirements  ·  If not: Treat as descoped and record the decision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68096" y="5925312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37" name="Text 35"/>
          <p:cNvSpPr/>
          <p:nvPr/>
        </p:nvSpPr>
        <p:spPr>
          <a:xfrm>
            <a:off x="768096" y="5943600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97280" y="5888736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Retention and Disposal items duplicate measures already on Bank-wide. Was that the reason for removal?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97280" y="6181344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Clarifies 9  ·  If not: Likely intentional de-duplication — confirm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8DE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Bank-wide Oversight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Bank-wide Oversight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Bank-wide counts of users, records declared, physical counterparts and records due for disposal.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243584"/>
            <a:ext cx="1463040" cy="0"/>
          </a:xfrm>
          <a:prstGeom prst="line">
            <a:avLst/>
          </a:prstGeom>
          <a:noFill/>
          <a:ln w="38100">
            <a:solidFill>
              <a:srgbClr val="009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1984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14813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9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148840" y="1984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14813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7C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749040" y="1984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1527048"/>
            <a:ext cx="5973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BUILT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87568" y="1883664"/>
            <a:ext cx="146304" cy="14630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16" name="Text 14"/>
          <p:cNvSpPr/>
          <p:nvPr/>
        </p:nvSpPr>
        <p:spPr>
          <a:xfrm>
            <a:off x="5925312" y="1819656"/>
            <a:ext cx="565373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built tiles were relabelled, not dropped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87568" y="2231136"/>
            <a:ext cx="146304" cy="14630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18" name="Text 16"/>
          <p:cNvSpPr/>
          <p:nvPr/>
        </p:nvSpPr>
        <p:spPr>
          <a:xfrm>
            <a:off x="5925312" y="2167128"/>
            <a:ext cx="565373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"Total EDRMS users" → "users with recorded activity, last 180 days"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87568" y="2578608"/>
            <a:ext cx="146304" cy="14630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20" name="Text 18"/>
          <p:cNvSpPr/>
          <p:nvPr/>
        </p:nvSpPr>
        <p:spPr>
          <a:xfrm>
            <a:off x="5925312" y="2514600"/>
            <a:ext cx="565373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"Due for disposal" → "due within 30 / 90 days / 12 months"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87568" y="2926080"/>
            <a:ext cx="146304" cy="14630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22" name="Text 20"/>
          <p:cNvSpPr/>
          <p:nvPr/>
        </p:nvSpPr>
        <p:spPr>
          <a:xfrm>
            <a:off x="5925312" y="2862072"/>
            <a:ext cx="565373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rate built as "share of documents declared as records"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253288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E67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GAPS ARE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2843784"/>
            <a:ext cx="50292" cy="420624"/>
          </a:xfrm>
          <a:prstGeom prst="rect">
            <a:avLst/>
          </a:prstGeom>
          <a:solidFill>
            <a:srgbClr val="E67C3B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2825496"/>
            <a:ext cx="108200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composition  ·  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" y="3026664"/>
            <a:ext cx="108200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/ contractor / consultant counts, training completion, onboarded since go-live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337560"/>
            <a:ext cx="50292" cy="420624"/>
          </a:xfrm>
          <a:prstGeom prst="rect">
            <a:avLst/>
          </a:prstGeom>
          <a:solidFill>
            <a:srgbClr val="E67C3B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3319272"/>
            <a:ext cx="108200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Per-division breakdowns  · 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" y="3520440"/>
            <a:ext cx="108200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and users declaring, per division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831336"/>
            <a:ext cx="50292" cy="420624"/>
          </a:xfrm>
          <a:prstGeom prst="rect">
            <a:avLst/>
          </a:prstGeom>
          <a:solidFill>
            <a:srgbClr val="E67C3B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3813048"/>
            <a:ext cx="108200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workflow  ·  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" y="4014216"/>
            <a:ext cx="108200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Approver, status Approved / Declined / Extended, month-on-month, completion rate, overdue actions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325112"/>
            <a:ext cx="50292" cy="420624"/>
          </a:xfrm>
          <a:prstGeom prst="rect">
            <a:avLst/>
          </a:prstGeom>
          <a:solidFill>
            <a:srgbClr val="E67C3B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" y="4306824"/>
            <a:ext cx="108200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 physical custody  ·  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" y="4507992"/>
            <a:ext cx="108200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to RAC is a physical event no reachable system records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8DE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Bank-wide Oversight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Bank-wide Oversight: The Asks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gaps. Five questions close most of them.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243584"/>
            <a:ext cx="1463040" cy="0"/>
          </a:xfrm>
          <a:prstGeom prst="line">
            <a:avLst/>
          </a:prstGeom>
          <a:noFill/>
          <a:ln w="38100">
            <a:solidFill>
              <a:srgbClr val="009B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81328"/>
            <a:ext cx="11094415" cy="3749040"/>
          </a:xfrm>
          <a:prstGeom prst="rect">
            <a:avLst/>
          </a:prstGeom>
          <a:solidFill>
            <a:srgbClr val="E8F7F5"/>
          </a:solidFill>
          <a:ln w="15875">
            <a:solidFill>
              <a:srgbClr val="009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591056"/>
            <a:ext cx="1069207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8096" y="1920240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1938528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1883664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user register, and can we read employment type from it?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176272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5 requirements  ·  If not: Report total users only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68096" y="2578608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2596896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2542032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Division at ADB, and which system holds it?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2834640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4 requirements  ·  If not: Department-level reporting only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68096" y="3236976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" y="3255264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3200400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site creation date acceptable as a stand-in for go-live?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3493008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1 requirement  ·  If not: Drop onboarding metrics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68096" y="3895344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3913632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3858768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the disposal workflow removed? Is it out of scope, or unsourced?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4151376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7 requirements  ·  If not: We need your steer — no reason is recorded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68096" y="4553712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" y="4572000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97280" y="4517136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 record of physical turnover to RAC we have not found?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4809744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1 requirement  ·  If not: Confirmed dead end — drop it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8DE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Department 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Insights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measures as Bank-wide, cut by department, office and Records Management unit, with drill-down to site and library.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243584"/>
            <a:ext cx="1463040" cy="0"/>
          </a:xfrm>
          <a:prstGeom prst="line">
            <a:avLst/>
          </a:prstGeom>
          <a:noFill/>
          <a:ln w="38100">
            <a:solidFill>
              <a:srgbClr val="009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1984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14813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9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148840" y="1984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14813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7C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749040" y="1984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1527048"/>
            <a:ext cx="5973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BUILT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87568" y="1883664"/>
            <a:ext cx="146304" cy="14630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16" name="Text 14"/>
          <p:cNvSpPr/>
          <p:nvPr/>
        </p:nvSpPr>
        <p:spPr>
          <a:xfrm>
            <a:off x="5925312" y="1819656"/>
            <a:ext cx="565373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tab: 86 requirements, 59 built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87568" y="2231136"/>
            <a:ext cx="146304" cy="14630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18" name="Text 16"/>
          <p:cNvSpPr/>
          <p:nvPr/>
        </p:nvSpPr>
        <p:spPr>
          <a:xfrm>
            <a:off x="5925312" y="2167128"/>
            <a:ext cx="565373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"Total site visitors" → "total site visits" — visits, not unique people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87568" y="2578608"/>
            <a:ext cx="146304" cy="14630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20" name="Text 18"/>
          <p:cNvSpPr/>
          <p:nvPr/>
        </p:nvSpPr>
        <p:spPr>
          <a:xfrm>
            <a:off x="5925312" y="2514600"/>
            <a:ext cx="565373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due dates rebuilt as 3 / 6 / 12 month bands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87568" y="2926080"/>
            <a:ext cx="146304" cy="14630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22" name="Text 20"/>
          <p:cNvSpPr/>
          <p:nvPr/>
        </p:nvSpPr>
        <p:spPr>
          <a:xfrm>
            <a:off x="5925312" y="2862072"/>
            <a:ext cx="565373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size in GB and declaration counts all built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253288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E67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GAPS ARE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2843784"/>
            <a:ext cx="50292" cy="420624"/>
          </a:xfrm>
          <a:prstGeom prst="rect">
            <a:avLst/>
          </a:prstGeom>
          <a:solidFill>
            <a:srgbClr val="E67C3B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2825496"/>
            <a:ext cx="108200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composition  · 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" y="3026664"/>
            <a:ext cx="108200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contractor, consultant counts and training completion rate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337560"/>
            <a:ext cx="50292" cy="420624"/>
          </a:xfrm>
          <a:prstGeom prst="rect">
            <a:avLst/>
          </a:prstGeom>
          <a:solidFill>
            <a:srgbClr val="E67C3B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3319272"/>
            <a:ext cx="108200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Per-division breakdowns  · 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" y="3520440"/>
            <a:ext cx="108200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declared, users declaring, per-library indicators by division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831336"/>
            <a:ext cx="50292" cy="420624"/>
          </a:xfrm>
          <a:prstGeom prst="rect">
            <a:avLst/>
          </a:prstGeom>
          <a:solidFill>
            <a:srgbClr val="E67C3B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3813048"/>
            <a:ext cx="108200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split  ·  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" y="4014216"/>
            <a:ext cx="108200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vs external visitors — which report shows this split?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325112"/>
            <a:ext cx="50292" cy="420624"/>
          </a:xfrm>
          <a:prstGeom prst="rect">
            <a:avLst/>
          </a:prstGeom>
          <a:solidFill>
            <a:srgbClr val="E67C3B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" y="4306824"/>
            <a:ext cx="108200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requests  ·  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" y="4507992"/>
            <a:ext cx="108200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granted and denied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4818888"/>
            <a:ext cx="50292" cy="420624"/>
          </a:xfrm>
          <a:prstGeom prst="rect">
            <a:avLst/>
          </a:prstGeom>
          <a:solidFill>
            <a:srgbClr val="E67C3B"/>
          </a:solidFill>
          <a:ln/>
        </p:spPr>
      </p:sp>
      <p:sp>
        <p:nvSpPr>
          <p:cNvPr id="37" name="Text 35"/>
          <p:cNvSpPr/>
          <p:nvPr/>
        </p:nvSpPr>
        <p:spPr>
          <a:xfrm>
            <a:off x="713232" y="4800600"/>
            <a:ext cx="108200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workflow  ·  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3232" y="5001768"/>
            <a:ext cx="108200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Approver, statuses, records disposed per year and month, disposed size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5312664"/>
            <a:ext cx="50292" cy="420624"/>
          </a:xfrm>
          <a:prstGeom prst="rect">
            <a:avLst/>
          </a:prstGeom>
          <a:solidFill>
            <a:srgbClr val="E67C3B"/>
          </a:solidFill>
          <a:ln/>
        </p:spPr>
      </p:sp>
      <p:sp>
        <p:nvSpPr>
          <p:cNvPr id="40" name="Text 38"/>
          <p:cNvSpPr/>
          <p:nvPr/>
        </p:nvSpPr>
        <p:spPr>
          <a:xfrm>
            <a:off x="713232" y="5294376"/>
            <a:ext cx="108200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conventions &amp; go-live  ·  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13232" y="5495544"/>
            <a:ext cx="108200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site / library / folder convention, go-live date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8DE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Department 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Insights: The Asks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gaps — but 8 of them are the same two questions asked on Bank-wide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243584"/>
            <a:ext cx="1463040" cy="0"/>
          </a:xfrm>
          <a:prstGeom prst="line">
            <a:avLst/>
          </a:prstGeom>
          <a:noFill/>
          <a:ln w="38100">
            <a:solidFill>
              <a:srgbClr val="009B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81328"/>
            <a:ext cx="11094415" cy="3749040"/>
          </a:xfrm>
          <a:prstGeom prst="rect">
            <a:avLst/>
          </a:prstGeom>
          <a:solidFill>
            <a:srgbClr val="E8F7F5"/>
          </a:solidFill>
          <a:ln w="15875">
            <a:solidFill>
              <a:srgbClr val="009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591056"/>
            <a:ext cx="1069207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8096" y="1920240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1938528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1883664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report shows site visitors split by internal and external?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176272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2 requirements  ·  If not: Report total visits only, no split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68096" y="2578608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2596896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2542032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 approved SharePoint site, library and folder convention we can measure against?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2834640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1 requirement  ·  If not: Drop convention compliance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68096" y="3236976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" y="3255264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3200400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access request grants and denials logged anywhere we can reach?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3493008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2 requirements  ·  If not: Drop access request metrics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68096" y="3895344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3913632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3858768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user register and Division questions as Bank-wide — one answer settles both tabs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4151376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8 requirements  ·  If not: See dependencies 1 and 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68096" y="4553712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" y="4572000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97280" y="4517136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'visits' rather than 'unique visitors' meet your need?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4809744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Confirms 2 built tiles  ·  If not: Currently built as visits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8DE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Project 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Insights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attributes — facility type, modality, country, status, effectivity and closing date — against EDRMS site activity.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243584"/>
            <a:ext cx="1463040" cy="0"/>
          </a:xfrm>
          <a:prstGeom prst="line">
            <a:avLst/>
          </a:prstGeom>
          <a:noFill/>
          <a:ln w="38100">
            <a:solidFill>
              <a:srgbClr val="009B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81328"/>
            <a:ext cx="11094415" cy="658368"/>
          </a:xfrm>
          <a:prstGeom prst="rect">
            <a:avLst/>
          </a:prstGeom>
          <a:solidFill>
            <a:srgbClr val="FDF2F4"/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81328"/>
            <a:ext cx="64008" cy="65836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157276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BUT UNSOURCED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1792224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20 requirements is built in the prototype. Not one of them has a confirmed data source.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3042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48640" y="2807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23042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9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148840" y="2807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UI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23042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749040" y="2807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data source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310128"/>
            <a:ext cx="11094415" cy="3474720"/>
          </a:xfrm>
          <a:prstGeom prst="rect">
            <a:avLst/>
          </a:prstGeom>
          <a:solidFill>
            <a:srgbClr val="E8F7F5"/>
          </a:solidFill>
          <a:ln w="15875">
            <a:solidFill>
              <a:srgbClr val="009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419856"/>
            <a:ext cx="1069207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8096" y="3749040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3767328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3712464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system holds project attributes — facility type, modality, country, status, dates?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4005072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All 20 requirements  ·  If not: Project Insights stays a mockup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68096" y="4352544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" y="4370832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" y="4315968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that system, and can we get read access?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4608576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All 20 requirements  ·  If not: No source, no dashboard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8096" y="4956048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" y="4974336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" y="4919472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register mapping EDRMS sites to project IDs?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5212080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Site-to-project rollup  ·  If not: Site activity cannot roll up to a project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68096" y="5559552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33" name="Text 31"/>
          <p:cNvSpPr/>
          <p:nvPr/>
        </p:nvSpPr>
        <p:spPr>
          <a:xfrm>
            <a:off x="768096" y="5577840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97280" y="5522976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register exists, can we derive the link by scanning site names?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97280" y="5815584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Site-to-project rollup  ·  If not: Workbook notes: "The register. Then SCAN."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68096" y="6163056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37" name="Text 35"/>
          <p:cNvSpPr/>
          <p:nvPr/>
        </p:nvSpPr>
        <p:spPr>
          <a:xfrm>
            <a:off x="768096" y="6181344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97280" y="6126480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project-level reporting in scope for this phase at all?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97280" y="6419088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Scope decision  ·  If not: Defer the whole tab to phase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8DE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Institutional File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File Plan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retention class hierarchy and how records map onto 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243584"/>
            <a:ext cx="1463040" cy="0"/>
          </a:xfrm>
          <a:prstGeom prst="line">
            <a:avLst/>
          </a:prstGeom>
          <a:noFill/>
          <a:ln w="38100">
            <a:solidFill>
              <a:srgbClr val="009B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81328"/>
            <a:ext cx="11094415" cy="1051560"/>
          </a:xfrm>
          <a:prstGeom prst="rect">
            <a:avLst/>
          </a:prstGeom>
          <a:solidFill>
            <a:srgbClr val="E8F7F5"/>
          </a:solidFill>
          <a:ln w="19050">
            <a:solidFill>
              <a:srgbClr val="009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GAPS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24 requirements on this tab are built in the prototype. The workbook records no missing data and no outstanding question.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7157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48640" y="32186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27157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9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148840" y="32186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27157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9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749040" y="32186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721608"/>
            <a:ext cx="11094415" cy="1664208"/>
          </a:xfrm>
          <a:prstGeom prst="rect">
            <a:avLst/>
          </a:prstGeom>
          <a:solidFill>
            <a:srgbClr val="E8F7F5"/>
          </a:solidFill>
          <a:ln w="15875">
            <a:solidFill>
              <a:srgbClr val="009B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831336"/>
            <a:ext cx="1069207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 — CONFIRMATION ONLY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8096" y="4160520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4178808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4123944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believe this tab is complete. Have we missed anything?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4416552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—  ·  If not: Confirm and move 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8096" y="4764024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" y="4782312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" y="4727448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file plan hierarchy shown match your current approved plan?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5020056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—  ·  If not: Flag any structural changes now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8DE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Retention and Disposal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and Disposal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terms and disposal volumes across the bank.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243584"/>
            <a:ext cx="1463040" cy="0"/>
          </a:xfrm>
          <a:prstGeom prst="line">
            <a:avLst/>
          </a:prstGeom>
          <a:noFill/>
          <a:ln w="38100">
            <a:solidFill>
              <a:srgbClr val="009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1984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14813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9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148840" y="1984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14813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7C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749040" y="1984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1499616"/>
            <a:ext cx="5973775" cy="731520"/>
          </a:xfrm>
          <a:prstGeom prst="rect">
            <a:avLst/>
          </a:prstGeom>
          <a:solidFill>
            <a:srgbClr val="FFF6EF"/>
          </a:solidFill>
          <a:ln w="15875">
            <a:solidFill>
              <a:srgbClr val="E67C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5727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E67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52160" y="1773936"/>
            <a:ext cx="5608015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gaps are marked only "Removed." — no reason and no dependency is recorded in the workbook.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44144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E67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NINE REMOVED ITEMS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27523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Departments / Offices / RMs provisioned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00837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Number of libraries provisioned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2644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Number of records declared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Number of physical counterparts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27523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Number of records due for disposal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80560" y="300837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Number of records disposed  (appears twice)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0" y="32644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Term (Top level)  (appears twice)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858768"/>
            <a:ext cx="11094415" cy="2267712"/>
          </a:xfrm>
          <a:prstGeom prst="rect">
            <a:avLst/>
          </a:prstGeom>
          <a:solidFill>
            <a:srgbClr val="E8F7F5"/>
          </a:solidFill>
          <a:ln w="15875">
            <a:solidFill>
              <a:srgbClr val="009B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3968496"/>
            <a:ext cx="1069207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8096" y="4297680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" y="4315968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" y="4261104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9 items were removed with no reason recorded. Were they descoped deliberately?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" y="4553712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9 requirements  ·  If not: We need your decision before we can act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68096" y="4901184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" y="4919472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97280" y="4864608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duplicate measures already on Bank-wide. Is that the reason they were dropped?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" y="5157216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Clarifies overlap  ·  If not: Likely intentional de-duplication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68096" y="5504688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" y="5522976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97280" y="5468112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top-level retention Term breakdown still wanted here?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97280" y="5760720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2 requirements  ·  If not: Drop the Term rows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8DE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Records and Archive Holdings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Records and Archive Holdings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and digital archive holdings and their retention position.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243584"/>
            <a:ext cx="1463040" cy="0"/>
          </a:xfrm>
          <a:prstGeom prst="line">
            <a:avLst/>
          </a:prstGeom>
          <a:noFill/>
          <a:ln w="38100">
            <a:solidFill>
              <a:srgbClr val="009B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81328"/>
            <a:ext cx="11094415" cy="1051560"/>
          </a:xfrm>
          <a:prstGeom prst="rect">
            <a:avLst/>
          </a:prstGeom>
          <a:solidFill>
            <a:srgbClr val="E8F7F5"/>
          </a:solidFill>
          <a:ln w="19050">
            <a:solidFill>
              <a:srgbClr val="009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GAPS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28 requirements on this tab are built in the prototype. The workbook records no missing data and no outstanding question.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7157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48640" y="32186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27157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9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148840" y="32186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27157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9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749040" y="32186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721608"/>
            <a:ext cx="11094415" cy="1664208"/>
          </a:xfrm>
          <a:prstGeom prst="rect">
            <a:avLst/>
          </a:prstGeom>
          <a:solidFill>
            <a:srgbClr val="E8F7F5"/>
          </a:solidFill>
          <a:ln w="15875">
            <a:solidFill>
              <a:srgbClr val="009B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831336"/>
            <a:ext cx="1069207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 — CONFIRMATION ONLY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8096" y="4160520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4178808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4123944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believe this tab is complete. Have we missed anything?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4416552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—  ·  If not: Confirm and move 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8096" y="4764024"/>
            <a:ext cx="237744" cy="237744"/>
          </a:xfrm>
          <a:prstGeom prst="ellipse">
            <a:avLst/>
          </a:prstGeom>
          <a:solidFill>
            <a:srgbClr val="009B8A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" y="4782312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" y="4727448"/>
            <a:ext cx="789401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holdings breakdown match how RAC actually reports its inventory?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5020056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—  ·  If not: Flag discrepancies now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2026-08-25T01:43:38Z</dcterms:created>
  <dcterms:modified xsi:type="dcterms:W3CDTF">2026-08-25T01:43:38Z</dcterms:modified>
</cp:coreProperties>
</file>