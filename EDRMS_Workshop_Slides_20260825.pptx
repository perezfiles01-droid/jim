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Checker: Your Requirements File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proposed for the Utilization Report, with the mockups beside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3515258" cy="4572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1627632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requirement, one row each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1938528"/>
            <a:ext cx="351525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indicator, KPI, tile, table, column and profile field proposed for the Utilization Report, in one place. This file is the requirements document.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38218" y="1481328"/>
            <a:ext cx="3515258" cy="4572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2" name="Text 20"/>
          <p:cNvSpPr/>
          <p:nvPr/>
        </p:nvSpPr>
        <p:spPr>
          <a:xfrm>
            <a:off x="4338218" y="1627632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mockups sit beside them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38218" y="1938528"/>
            <a:ext cx="351525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points to the screen it appears on, so you can see the thing rather than imagine it.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27797" y="1481328"/>
            <a:ext cx="3515258" cy="45720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8127797" y="1627632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sourcing assessment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127797" y="1938528"/>
            <a:ext cx="351525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something is not built, the file says plainly what it would need before it could be.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1094415" cy="2432304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28529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COLOURS MEAN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96735" y="28529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workbook carries no legend — this is the key.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22960" y="3182112"/>
            <a:ext cx="603504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36192" y="32004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68880" y="32004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way you asked for it.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20840" y="3209544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discuss unless you want it changed.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22960" y="3657600"/>
            <a:ext cx="603504" cy="329184"/>
          </a:xfrm>
          <a:prstGeom prst="rect">
            <a:avLst/>
          </a:prstGeom>
          <a:solidFill>
            <a:srgbClr val="DBEEF4"/>
          </a:solidFill>
          <a:ln w="12700">
            <a:solidFill>
              <a:srgbClr val="8FB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536192" y="367588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468880" y="36758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but we swapped the measure for one that works better.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720840" y="3685032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column names what it became, and why.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22960" y="4133088"/>
            <a:ext cx="603504" cy="329184"/>
          </a:xfrm>
          <a:prstGeom prst="rect">
            <a:avLst/>
          </a:prstGeom>
          <a:solidFill>
            <a:srgbClr val="FFF3E0"/>
          </a:solidFill>
          <a:ln w="12700">
            <a:solidFill>
              <a:srgbClr val="E3B77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536192" y="4151376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468880" y="41513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— but look at these closely.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20840" y="416052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we proposed it ourselves, or it still needs a source confirmed. Tell us what to keep.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22960" y="4608576"/>
            <a:ext cx="603504" cy="329184"/>
          </a:xfrm>
          <a:prstGeom prst="rect">
            <a:avLst/>
          </a:prstGeom>
          <a:solidFill>
            <a:srgbClr val="FCE4E4"/>
          </a:solidFill>
          <a:ln w="12700">
            <a:solidFill>
              <a:srgbClr val="E0A6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36192" y="4626864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468880" y="46268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built. There is no source for it today.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20840" y="4636008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says what we would need before it could be.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48640" y="5303520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YOU TO DO WITH IT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563270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565099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96112" y="5614416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96112" y="5907024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design is right, say so and we lock it.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338218" y="563270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52" name="Text 50"/>
          <p:cNvSpPr/>
          <p:nvPr/>
        </p:nvSpPr>
        <p:spPr>
          <a:xfrm>
            <a:off x="4338218" y="565099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85690" y="5614416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685690" y="5907024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up any mockup you want different. Layout, wording, grouping — all still open.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127797" y="563270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56" name="Text 54"/>
          <p:cNvSpPr/>
          <p:nvPr/>
        </p:nvSpPr>
        <p:spPr>
          <a:xfrm>
            <a:off x="8127797" y="565099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475269" y="5614416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475269" y="5907024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what is missing. We will assess whether the system can supply it before we commit to it.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workshop in one 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We Need From You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requirements are unbuilt. Six data dependencies account for nearly all of them.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24530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4026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register with employment type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that flags each EDRMS user as staff, contractor or consultant.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/ Identity management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32122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32122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31" name="Shape 29"/>
          <p:cNvSpPr/>
          <p:nvPr/>
        </p:nvSpPr>
        <p:spPr>
          <a:xfrm>
            <a:off x="4515002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32" name="Text 30"/>
          <p:cNvSpPr/>
          <p:nvPr/>
        </p:nvSpPr>
        <p:spPr>
          <a:xfrm>
            <a:off x="4515002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08013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347509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15002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definition and source for Division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15002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Division means at ADB, and which system holds it per user or per site.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15002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15002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15002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Management / HR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115605" y="1481328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15605" y="1481328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42" name="Shape 40"/>
          <p:cNvSpPr/>
          <p:nvPr/>
        </p:nvSpPr>
        <p:spPr>
          <a:xfrm>
            <a:off x="8298485" y="1682496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43" name="Text 41"/>
          <p:cNvSpPr/>
          <p:nvPr/>
        </p:nvSpPr>
        <p:spPr>
          <a:xfrm>
            <a:off x="8298485" y="171907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591495" y="164592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1130991" y="1773936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298485" y="2066544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 source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298485" y="2487168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can read it.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298485" y="3072384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98485" y="3127248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98485" y="3291840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&amp; Development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53" name="Shape 51"/>
          <p:cNvSpPr/>
          <p:nvPr/>
        </p:nvSpPr>
        <p:spPr>
          <a:xfrm>
            <a:off x="731520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54" name="Text 52"/>
          <p:cNvSpPr/>
          <p:nvPr/>
        </p:nvSpPr>
        <p:spPr>
          <a:xfrm>
            <a:off x="731520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3024530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3564026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31520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1520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per site — or your agreement that site creation date stands in.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31520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31520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rollout team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332122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32122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64" name="Shape 62"/>
          <p:cNvSpPr/>
          <p:nvPr/>
        </p:nvSpPr>
        <p:spPr>
          <a:xfrm>
            <a:off x="4515002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65" name="Text 63"/>
          <p:cNvSpPr/>
          <p:nvPr/>
        </p:nvSpPr>
        <p:spPr>
          <a:xfrm>
            <a:off x="4515002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808013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7347509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15002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project attributes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4515002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facility type, modality, country, status, effectivity and closing date — and who owns it.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515002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15002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515002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— this is the key name we need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8115605" y="3803904"/>
            <a:ext cx="352745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15605" y="3803904"/>
            <a:ext cx="3527450" cy="50292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75" name="Shape 73"/>
          <p:cNvSpPr/>
          <p:nvPr/>
        </p:nvSpPr>
        <p:spPr>
          <a:xfrm>
            <a:off x="8298485" y="4005072"/>
            <a:ext cx="310896" cy="310896"/>
          </a:xfrm>
          <a:prstGeom prst="ellipse">
            <a:avLst/>
          </a:prstGeom>
          <a:solidFill>
            <a:srgbClr val="003D5B"/>
          </a:solidFill>
          <a:ln/>
        </p:spPr>
      </p:sp>
      <p:sp>
        <p:nvSpPr>
          <p:cNvPr id="76" name="Text 74"/>
          <p:cNvSpPr/>
          <p:nvPr/>
        </p:nvSpPr>
        <p:spPr>
          <a:xfrm>
            <a:off x="8298485" y="4041648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10591495" y="396849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78" name="Text 76"/>
          <p:cNvSpPr/>
          <p:nvPr/>
        </p:nvSpPr>
        <p:spPr>
          <a:xfrm>
            <a:off x="11130991" y="4096512"/>
            <a:ext cx="3840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reqs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298485" y="4389120"/>
            <a:ext cx="316169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Site-to-project register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8298485" y="4809744"/>
            <a:ext cx="31616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mapping EDRMS sites to project IDs, so site activity can roll up to a project.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8298485" y="5394960"/>
            <a:ext cx="3161690" cy="0"/>
          </a:xfrm>
          <a:prstGeom prst="line">
            <a:avLst/>
          </a:prstGeom>
          <a:noFill/>
          <a:ln w="12700">
            <a:solidFill>
              <a:srgbClr val="E5E9E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98485" y="5449824"/>
            <a:ext cx="31616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owner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98485" y="5614416"/>
            <a:ext cx="31616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Management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548640" y="6163056"/>
            <a:ext cx="11094415" cy="38404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31520" y="6236208"/>
            <a:ext cx="107286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 1–4 unblock 18 gaps.  Deps 5–6 source 21 built-but-unsourced requirements.  </a:t>
            </a:r>
            <a:pPr algn="ctr" indent="0" marL="0">
              <a:buNone/>
            </a:pPr>
            <a:r>
              <a:rPr lang="en-US" sz="1050" b="1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37 gaps carry no recorded reason — we need your steer on those.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ask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37 Gaps With No Recorded Reason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only "Removed." in the workbook — no dependency, no rationale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3630900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1600200"/>
            <a:ext cx="34114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have a stated dependency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9540" y="1481328"/>
            <a:ext cx="7463516" cy="475488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1" name="Text 19"/>
          <p:cNvSpPr/>
          <p:nvPr/>
        </p:nvSpPr>
        <p:spPr>
          <a:xfrm>
            <a:off x="4289268" y="1600200"/>
            <a:ext cx="72440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 no recorded reason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2011680"/>
            <a:ext cx="110944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55 unbuilt requirements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2267712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37 SIT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596896"/>
            <a:ext cx="50292" cy="493776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61518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417320" y="259689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206240" y="2578608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— approver, status Approved / Declined / Extended, month-on-month disposed, completion rate, overdue actions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3145536"/>
            <a:ext cx="50292" cy="493776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16382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417320" y="314553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206240" y="3127248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again, plus access requests granted and denied, per-library user counts, site convention compliance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3694176"/>
            <a:ext cx="50292" cy="493776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71246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1417320" y="369417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and Disposal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206240" y="3675888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and volume counts, and the top-level retention Term rows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4279392"/>
            <a:ext cx="11094415" cy="2267712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389120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68096" y="471830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9" name="Text 37"/>
          <p:cNvSpPr/>
          <p:nvPr/>
        </p:nvSpPr>
        <p:spPr>
          <a:xfrm>
            <a:off x="768096" y="473659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97280" y="468172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these descoped deliberately, or are they simply undocumented?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497433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37  ·  If not: We cannot plan the backlog without knowing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68096" y="53218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3" name="Text 41"/>
          <p:cNvSpPr/>
          <p:nvPr/>
        </p:nvSpPr>
        <p:spPr>
          <a:xfrm>
            <a:off x="768096" y="53400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" y="52852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disposal workflow accounts for 14 of the 37, across two tabs. Is disposal approval out of scope for this phase?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97280" y="55778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14 requirements  ·  If not: Treat as descoped and record the decision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68096" y="59253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7" name="Text 45"/>
          <p:cNvSpPr/>
          <p:nvPr/>
        </p:nvSpPr>
        <p:spPr>
          <a:xfrm>
            <a:off x="768096" y="59436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97280" y="58887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Retention and Disposal items duplicate measures already on Bank-wide. Was that the reason for removal?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61813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Clarifies 9  ·  If not: Likely intentional de-duplication — confirm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3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383280"/>
            <a:ext cx="7680960" cy="7680960"/>
          </a:xfrm>
          <a:prstGeom prst="ellipse">
            <a:avLst/>
          </a:prstGeom>
          <a:ln w="1905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206240"/>
            <a:ext cx="6035040" cy="603504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5029200"/>
            <a:ext cx="4389120" cy="438912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ITEMS 2 AND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Big Tabs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164592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 and Department Insights: 151 of the 250 requirements, and 46 of the 55 gaps.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counts of users, records declared, physical counterparts and records due for disposal.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6" name="Text 2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built tiles were relabelled, not dropped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EDRMS users" → "users with recorded activity, last 180 days"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"Due for disposal" → "due within 30 / 90 days / 12 months"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2" name="Text 3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 rate built as "share of documents declared as records"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5" name="Text 3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contractor / consultant counts, training completion, onboarded since go-live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users declaring, per division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 Approved / Declined / Extended, month-on-month, completion rate, overdue actions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 physical custody  ·  1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to RAC is a physical event no reachable system records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Oversight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Oversight: The Asks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gaps. Five questions close most of them.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user register, and can we read employment type from it?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5 requirements  ·  If not: Report total users only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Division at ADB, and which system holds it?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4 requirements  ·  If not: Department-level reporting only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site creation date acceptable as a stand-in for go-live?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onboarding metrics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the disposal workflow removed? Is it out of scope, or unsourced?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7 requirements  ·  If not: We need your steer — no reason is recorded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 record of physical turnover to RAC we have not found?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Confirmed dead end — drop 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unit, with drill-down to site and library.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6" name="Text 2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tab: 86 requirements, 59 built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site visitors" → "total site visits" — visits, not unique people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due dates rebuilt as 3 / 6 / 12 month bands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2" name="Text 3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size in GB and declaration counts all built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5" name="Text 3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Staff, contractor, consultant counts and training completion rate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declared, users declaring, per-library indicators by division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split  · 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vs external visitors — which report shows this split?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  ·  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granted and denied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4818888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7" name="Text 45"/>
          <p:cNvSpPr/>
          <p:nvPr/>
        </p:nvSpPr>
        <p:spPr>
          <a:xfrm>
            <a:off x="713232" y="4800600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13232" y="5001768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statuses, records disposed per year and month, disposed size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31266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50" name="Text 48"/>
          <p:cNvSpPr/>
          <p:nvPr/>
        </p:nvSpPr>
        <p:spPr>
          <a:xfrm>
            <a:off x="713232" y="529437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conventions &amp; go-live  ·  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13232" y="549554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site / library / folder convention, go-live date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Insights: The Asks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gaps — but 8 of them are the same two questions asked on Bank-wide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shows site visitors split by internal and external?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Report total visits only, no split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SharePoint site, library and folder convention we can measure against?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convention compliance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 grants and denials logged anywhere we can reach?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access request metrics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register and Division questions as Bank-wide — one answer settles both tabs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8 requirements  ·  If not: See dependencies 1 and 2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'visits' rather than 'unique visitors' meet your need?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Confirms 2 built tiles  ·  If not: Currently built as visits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383280"/>
            <a:ext cx="7680960" cy="7680960"/>
          </a:xfrm>
          <a:prstGeom prst="ellipse">
            <a:avLst/>
          </a:prstGeom>
          <a:ln w="1905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206240"/>
            <a:ext cx="6035040" cy="603504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5029200"/>
            <a:ext cx="4389120" cy="438912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164592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Insights: all 20 requirements are built. None has a confirmed data source.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Insights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attributes — facility type, modality, country, status, effectivity and closing date — against EDRMS site activity.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658368"/>
          </a:xfrm>
          <a:prstGeom prst="rect">
            <a:avLst/>
          </a:prstGeom>
          <a:solidFill>
            <a:srgbClr val="FDF2F4"/>
          </a:solidFill>
          <a:ln w="19050">
            <a:solidFill>
              <a:srgbClr val="C41E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481328"/>
            <a:ext cx="64008" cy="658368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15727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BUT UNSOURCED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04672" y="1792224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20 requirements is built in the prototype. Not one of them has a confirmed data source.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5486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488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21488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UI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7490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37490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data source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310128"/>
            <a:ext cx="11094415" cy="347472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" y="34198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8096" y="37490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" y="37673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97280" y="37124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project attributes — facility type, modality, country, status, dates?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97280" y="40050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Project Insights stays a mockup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68096" y="43525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5" name="Text 33"/>
          <p:cNvSpPr/>
          <p:nvPr/>
        </p:nvSpPr>
        <p:spPr>
          <a:xfrm>
            <a:off x="768096" y="43708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7280" y="43159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that system, and can we get read access?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97280" y="46085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No source, no dashboard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68096" y="495604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9" name="Text 37"/>
          <p:cNvSpPr/>
          <p:nvPr/>
        </p:nvSpPr>
        <p:spPr>
          <a:xfrm>
            <a:off x="768096" y="497433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97280" y="491947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 mapping EDRMS sites to project IDs?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521208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Site activity cannot roll up to a project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68096" y="555955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3" name="Text 41"/>
          <p:cNvSpPr/>
          <p:nvPr/>
        </p:nvSpPr>
        <p:spPr>
          <a:xfrm>
            <a:off x="768096" y="557784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" y="552297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register exists, can we derive the link by scanning site names?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97280" y="581558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Workbook notes: "The register. Then SCAN."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68096" y="616305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7" name="Text 45"/>
          <p:cNvSpPr/>
          <p:nvPr/>
        </p:nvSpPr>
        <p:spPr>
          <a:xfrm>
            <a:off x="768096" y="618134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097280" y="612648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project-level reporting in scope for this phase at all?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97280" y="641908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Scope decision  ·  If not: Defer the whole tab to phase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3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383280"/>
            <a:ext cx="7680960" cy="7680960"/>
          </a:xfrm>
          <a:prstGeom prst="ellipse">
            <a:avLst/>
          </a:prstGeom>
          <a:ln w="1905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554480" y="4206240"/>
            <a:ext cx="6035040" cy="603504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5029200"/>
            <a:ext cx="4389120" cy="4389120"/>
          </a:xfrm>
          <a:prstGeom prst="ellipse">
            <a:avLst/>
          </a:prstGeom>
          <a:ln w="12700">
            <a:solidFill>
              <a:srgbClr val="009B8A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ITEMS 5, 6 AND 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and Archive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164592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886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Plan, Retention and Disposal, Archive Holdings: two are complete, one needs your steer.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File Plan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File Plan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class hierarchy and how records map onto it.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file plan hierarchy shown match your current approved plan?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any structural changes now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and Disposal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 and Disposal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terms and disposal volumes across the bank.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0" y="1499616"/>
            <a:ext cx="5973775" cy="731520"/>
          </a:xfrm>
          <a:prstGeom prst="rect">
            <a:avLst/>
          </a:prstGeom>
          <a:solidFill>
            <a:srgbClr val="FFF6EF"/>
          </a:solidFill>
          <a:ln w="15875">
            <a:solidFill>
              <a:srgbClr val="E67C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0" y="157276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52160" y="1773936"/>
            <a:ext cx="560801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gaps are marked only "Removed." — no reason and no dependency is recorded in the workbook.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244144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NINE REMOVED ITEMS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Departments / Offices / RMs provisioned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libraries provisioned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declared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5204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physical counterparts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due for disposal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disposed  (appears twice)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Term (Top level)  (appears twice)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858768"/>
            <a:ext cx="11094415" cy="2267712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396849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8096" y="429768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" y="431596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97280" y="426110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9 items were removed with no reason recorded. Were they descoped deliberately?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97280" y="455371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9 requirements  ·  If not: We need your decision before we can 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68096" y="490118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2" name="Text 40"/>
          <p:cNvSpPr/>
          <p:nvPr/>
        </p:nvSpPr>
        <p:spPr>
          <a:xfrm>
            <a:off x="768096" y="491947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97280" y="486460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duplicate measures already on Bank-wide. Is that the reason they were dropped?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97280" y="515721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Clarifies overlap  ·  If not: Likely intentional de-duplication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8096" y="550468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" y="552297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97280" y="546811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top-level retention Term breakdown still wanted here?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97280" y="576072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the Term rows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94215" y="4206240"/>
            <a:ext cx="4754880" cy="4754880"/>
          </a:xfrm>
          <a:prstGeom prst="ellipse">
            <a:avLst/>
          </a:prstGeom>
          <a:ln w="15875">
            <a:solidFill>
              <a:srgbClr val="009B8A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88575" y="4800600"/>
            <a:ext cx="3566160" cy="356616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5394960"/>
            <a:ext cx="2377440" cy="2377440"/>
          </a:xfrm>
          <a:prstGeom prst="ellipse">
            <a:avLst/>
          </a:prstGeom>
          <a:ln w="9525">
            <a:solidFill>
              <a:srgbClr val="009B8A">
                <a:alpha val="7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Archive Holdings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10686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8" name="Shape 6"/>
          <p:cNvSpPr/>
          <p:nvPr/>
        </p:nvSpPr>
        <p:spPr>
          <a:xfrm>
            <a:off x="10276027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9" name="Shape 7"/>
          <p:cNvSpPr/>
          <p:nvPr/>
        </p:nvSpPr>
        <p:spPr>
          <a:xfrm>
            <a:off x="10445191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0" name="Shape 8"/>
          <p:cNvSpPr/>
          <p:nvPr/>
        </p:nvSpPr>
        <p:spPr>
          <a:xfrm>
            <a:off x="10614355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3519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52683" y="6492240"/>
            <a:ext cx="137160" cy="137160"/>
          </a:xfrm>
          <a:prstGeom prst="ellipse">
            <a:avLst/>
          </a:prstGeom>
          <a:solidFill>
            <a:srgbClr val="D8DEE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21847" y="6492240"/>
            <a:ext cx="137160" cy="137160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77295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and Archive Holdings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digital archive holdings and their retention position.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holdings breakdown match how RAC actually reports its inventory?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discrepancies now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2026-08-25T02:04:18Z</dcterms:created>
  <dcterms:modified xsi:type="dcterms:W3CDTF">2026-08-25T02:04:18Z</dcterms:modified>
</cp:coreProperties>
</file>