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the Gap Checker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workbook, six tabs, 250 requirements — and the columns that matter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5486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488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193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21488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prototype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490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37490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492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4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53492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block most of it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2532888"/>
            <a:ext cx="11094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COLUMNS TO READ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2862072"/>
            <a:ext cx="50292" cy="475488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2843784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prototype?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114800" y="2843784"/>
            <a:ext cx="74368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or No. This is the honest state of the build today, not a plan.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429000"/>
            <a:ext cx="50292" cy="475488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341071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there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114800" y="3410712"/>
            <a:ext cx="74368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a requirement was removed or relabelled. Read this before assuming anything is missing by accident.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3995928"/>
            <a:ext cx="50292" cy="475488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" y="397764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needs before it can be built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114800" y="3977640"/>
            <a:ext cx="74368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or decision that would unblock it. This column is the agenda for today.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" y="4562856"/>
            <a:ext cx="50292" cy="475488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37" name="Text 35"/>
          <p:cNvSpPr/>
          <p:nvPr/>
        </p:nvSpPr>
        <p:spPr>
          <a:xfrm>
            <a:off x="731520" y="4544568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114800" y="4544568"/>
            <a:ext cx="74368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requirement appears in the prototype, so you can see it working.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5239512"/>
            <a:ext cx="11094415" cy="566928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9808" y="5312664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on relabelling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108960" y="5312664"/>
            <a:ext cx="8351215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requirements are built but renamed — "total EDRMS users" is live as "users with recorded activity, last 180 days". Those count as built. We will flag the renames as we go.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workshop in one view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Things We Need From You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requirements are unbuilt. Six data dependencies account for nearly all of them.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1481328"/>
            <a:ext cx="352745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1481328"/>
            <a:ext cx="3527450" cy="50292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" y="1682496"/>
            <a:ext cx="310896" cy="310896"/>
          </a:xfrm>
          <a:prstGeom prst="ellipse">
            <a:avLst/>
          </a:prstGeom>
          <a:solidFill>
            <a:srgbClr val="003D5B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1719072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24530" y="164592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64026" y="1773936"/>
            <a:ext cx="3840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1520" y="2066544"/>
            <a:ext cx="316169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register with employment type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31520" y="2487168"/>
            <a:ext cx="31616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 that flags each EDRMS user as staff, contractor or consultant.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31520" y="3072384"/>
            <a:ext cx="3161690" cy="0"/>
          </a:xfrm>
          <a:prstGeom prst="line">
            <a:avLst/>
          </a:prstGeom>
          <a:noFill/>
          <a:ln w="12700">
            <a:solidFill>
              <a:srgbClr val="E5E9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3127248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owner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" y="3291840"/>
            <a:ext cx="31616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/ Identity management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332122" y="1481328"/>
            <a:ext cx="352745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32122" y="1481328"/>
            <a:ext cx="3527450" cy="50292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31" name="Shape 29"/>
          <p:cNvSpPr/>
          <p:nvPr/>
        </p:nvSpPr>
        <p:spPr>
          <a:xfrm>
            <a:off x="4515002" y="1682496"/>
            <a:ext cx="310896" cy="310896"/>
          </a:xfrm>
          <a:prstGeom prst="ellipse">
            <a:avLst/>
          </a:prstGeom>
          <a:solidFill>
            <a:srgbClr val="003D5B"/>
          </a:solidFill>
          <a:ln/>
        </p:spPr>
      </p:sp>
      <p:sp>
        <p:nvSpPr>
          <p:cNvPr id="32" name="Text 30"/>
          <p:cNvSpPr/>
          <p:nvPr/>
        </p:nvSpPr>
        <p:spPr>
          <a:xfrm>
            <a:off x="4515002" y="1719072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08013" y="164592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7347509" y="1773936"/>
            <a:ext cx="3840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15002" y="2066544"/>
            <a:ext cx="316169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definition and source for Division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515002" y="2487168"/>
            <a:ext cx="31616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Division means at ADB, and which system holds it per user or per site.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15002" y="3072384"/>
            <a:ext cx="3161690" cy="0"/>
          </a:xfrm>
          <a:prstGeom prst="line">
            <a:avLst/>
          </a:prstGeom>
          <a:noFill/>
          <a:ln w="12700">
            <a:solidFill>
              <a:srgbClr val="E5E9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15002" y="3127248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owner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515002" y="3291840"/>
            <a:ext cx="31616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Management / HR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115605" y="1481328"/>
            <a:ext cx="352745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115605" y="1481328"/>
            <a:ext cx="3527450" cy="50292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42" name="Shape 40"/>
          <p:cNvSpPr/>
          <p:nvPr/>
        </p:nvSpPr>
        <p:spPr>
          <a:xfrm>
            <a:off x="8298485" y="1682496"/>
            <a:ext cx="310896" cy="310896"/>
          </a:xfrm>
          <a:prstGeom prst="ellipse">
            <a:avLst/>
          </a:prstGeom>
          <a:solidFill>
            <a:srgbClr val="003D5B"/>
          </a:solidFill>
          <a:ln/>
        </p:spPr>
      </p:sp>
      <p:sp>
        <p:nvSpPr>
          <p:cNvPr id="43" name="Text 41"/>
          <p:cNvSpPr/>
          <p:nvPr/>
        </p:nvSpPr>
        <p:spPr>
          <a:xfrm>
            <a:off x="8298485" y="1719072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591495" y="164592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11130991" y="1773936"/>
            <a:ext cx="3840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98485" y="2066544"/>
            <a:ext cx="316169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completion source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8298485" y="2487168"/>
            <a:ext cx="31616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EDRMS training completion is recorded, and whether we can read it.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298485" y="3072384"/>
            <a:ext cx="3161690" cy="0"/>
          </a:xfrm>
          <a:prstGeom prst="line">
            <a:avLst/>
          </a:prstGeom>
          <a:noFill/>
          <a:ln w="12700">
            <a:solidFill>
              <a:srgbClr val="E5E9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98485" y="3127248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owner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298485" y="3291840"/>
            <a:ext cx="31616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&amp; Development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48640" y="3803904"/>
            <a:ext cx="352745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48640" y="3803904"/>
            <a:ext cx="3527450" cy="50292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53" name="Shape 51"/>
          <p:cNvSpPr/>
          <p:nvPr/>
        </p:nvSpPr>
        <p:spPr>
          <a:xfrm>
            <a:off x="731520" y="4005072"/>
            <a:ext cx="310896" cy="310896"/>
          </a:xfrm>
          <a:prstGeom prst="ellipse">
            <a:avLst/>
          </a:prstGeom>
          <a:solidFill>
            <a:srgbClr val="003D5B"/>
          </a:solidFill>
          <a:ln/>
        </p:spPr>
      </p:sp>
      <p:sp>
        <p:nvSpPr>
          <p:cNvPr id="54" name="Text 52"/>
          <p:cNvSpPr/>
          <p:nvPr/>
        </p:nvSpPr>
        <p:spPr>
          <a:xfrm>
            <a:off x="731520" y="4041648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3024530" y="396849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3564026" y="4096512"/>
            <a:ext cx="3840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reqs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31520" y="4389120"/>
            <a:ext cx="316169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 date per site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731520" y="4809744"/>
            <a:ext cx="31616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go-live date per site — or your agreement that site creation date stands in.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31520" y="5394960"/>
            <a:ext cx="3161690" cy="0"/>
          </a:xfrm>
          <a:prstGeom prst="line">
            <a:avLst/>
          </a:prstGeom>
          <a:noFill/>
          <a:ln w="12700">
            <a:solidFill>
              <a:srgbClr val="E5E9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31520" y="5449824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owner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731520" y="5614416"/>
            <a:ext cx="31616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rollout team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4332122" y="3803904"/>
            <a:ext cx="352745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32122" y="3803904"/>
            <a:ext cx="3527450" cy="50292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64" name="Shape 62"/>
          <p:cNvSpPr/>
          <p:nvPr/>
        </p:nvSpPr>
        <p:spPr>
          <a:xfrm>
            <a:off x="4515002" y="4005072"/>
            <a:ext cx="310896" cy="310896"/>
          </a:xfrm>
          <a:prstGeom prst="ellipse">
            <a:avLst/>
          </a:prstGeom>
          <a:solidFill>
            <a:srgbClr val="003D5B"/>
          </a:solidFill>
          <a:ln/>
        </p:spPr>
      </p:sp>
      <p:sp>
        <p:nvSpPr>
          <p:cNvPr id="65" name="Text 63"/>
          <p:cNvSpPr/>
          <p:nvPr/>
        </p:nvSpPr>
        <p:spPr>
          <a:xfrm>
            <a:off x="4515002" y="4041648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6808013" y="396849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7347509" y="4096512"/>
            <a:ext cx="3840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reqs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4515002" y="4389120"/>
            <a:ext cx="316169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 for project attributes</a:t>
            </a:r>
            <a:endParaRPr lang="en-US" sz="1250" dirty="0"/>
          </a:p>
        </p:txBody>
      </p:sp>
      <p:sp>
        <p:nvSpPr>
          <p:cNvPr id="69" name="Text 67"/>
          <p:cNvSpPr/>
          <p:nvPr/>
        </p:nvSpPr>
        <p:spPr>
          <a:xfrm>
            <a:off x="4515002" y="4809744"/>
            <a:ext cx="31616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system holds facility type, modality, country, status, effectivity and closing date — and who owns it.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4515002" y="5394960"/>
            <a:ext cx="3161690" cy="0"/>
          </a:xfrm>
          <a:prstGeom prst="line">
            <a:avLst/>
          </a:prstGeom>
          <a:noFill/>
          <a:ln w="12700">
            <a:solidFill>
              <a:srgbClr val="E5E9EB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15002" y="5449824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owner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4515002" y="5614416"/>
            <a:ext cx="31616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— this is the key name we need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8115605" y="3803904"/>
            <a:ext cx="352745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115605" y="3803904"/>
            <a:ext cx="3527450" cy="50292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75" name="Shape 73"/>
          <p:cNvSpPr/>
          <p:nvPr/>
        </p:nvSpPr>
        <p:spPr>
          <a:xfrm>
            <a:off x="8298485" y="4005072"/>
            <a:ext cx="310896" cy="310896"/>
          </a:xfrm>
          <a:prstGeom prst="ellipse">
            <a:avLst/>
          </a:prstGeom>
          <a:solidFill>
            <a:srgbClr val="003D5B"/>
          </a:solidFill>
          <a:ln/>
        </p:spPr>
      </p:sp>
      <p:sp>
        <p:nvSpPr>
          <p:cNvPr id="76" name="Text 74"/>
          <p:cNvSpPr/>
          <p:nvPr/>
        </p:nvSpPr>
        <p:spPr>
          <a:xfrm>
            <a:off x="8298485" y="4041648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10591495" y="396849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78" name="Text 76"/>
          <p:cNvSpPr/>
          <p:nvPr/>
        </p:nvSpPr>
        <p:spPr>
          <a:xfrm>
            <a:off x="11130991" y="4096512"/>
            <a:ext cx="3840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reqs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8298485" y="4389120"/>
            <a:ext cx="316169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Site-to-project register</a:t>
            </a:r>
            <a:endParaRPr lang="en-US" sz="1250" dirty="0"/>
          </a:p>
        </p:txBody>
      </p:sp>
      <p:sp>
        <p:nvSpPr>
          <p:cNvPr id="80" name="Text 78"/>
          <p:cNvSpPr/>
          <p:nvPr/>
        </p:nvSpPr>
        <p:spPr>
          <a:xfrm>
            <a:off x="8298485" y="4809744"/>
            <a:ext cx="31616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 mapping EDRMS sites to project IDs, so site activity can roll up to a project.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8298485" y="5394960"/>
            <a:ext cx="3161690" cy="0"/>
          </a:xfrm>
          <a:prstGeom prst="line">
            <a:avLst/>
          </a:prstGeom>
          <a:noFill/>
          <a:ln w="12700">
            <a:solidFill>
              <a:srgbClr val="E5E9EB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298485" y="5449824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owner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98485" y="5614416"/>
            <a:ext cx="31616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Management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548640" y="6163056"/>
            <a:ext cx="11094415" cy="384048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31520" y="6236208"/>
            <a:ext cx="107286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Deps 1–4 unblock 18 gaps.  Deps 5–6 source 21 built-but-unsourced requirements.  </a:t>
            </a:r>
            <a:pPr algn="ctr" indent="0" marL="0">
              <a:buNone/>
            </a:pPr>
            <a:r>
              <a:rPr lang="en-US" sz="105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37 gaps carry no recorded reason — we need your steer on those.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ask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37 Gaps With No Recorded Reason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only "Removed." in the workbook — no dependency, no rationale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1481328"/>
            <a:ext cx="3630900" cy="475488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1600200"/>
            <a:ext cx="34114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 have a stated dependency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9540" y="1481328"/>
            <a:ext cx="7463516" cy="475488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21" name="Text 19"/>
          <p:cNvSpPr/>
          <p:nvPr/>
        </p:nvSpPr>
        <p:spPr>
          <a:xfrm>
            <a:off x="4289268" y="1600200"/>
            <a:ext cx="72440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 no recorded reason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2011680"/>
            <a:ext cx="110944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55 unbuilt requirements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2267712"/>
            <a:ext cx="11094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37 SIT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2596896"/>
            <a:ext cx="50292" cy="493776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615184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417320" y="259689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Bank-wide Oversight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206240" y="2578608"/>
            <a:ext cx="734537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workflow — approver, status Approved / Declined / Extended, month-on-month disposed, completion rate, overdue actions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3145536"/>
            <a:ext cx="50292" cy="493776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3163824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417320" y="314553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Insights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206240" y="3127248"/>
            <a:ext cx="734537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workflow again, plus access requests granted and denied, per-library user counts, site convention compliance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8640" y="3694176"/>
            <a:ext cx="50292" cy="493776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3712464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1417320" y="369417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and Disposal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206240" y="3675888"/>
            <a:ext cx="734537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Provisioning and volume counts, and the top-level retention Term rows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48640" y="4279392"/>
            <a:ext cx="11094415" cy="2267712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4389120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68096" y="471830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9" name="Text 37"/>
          <p:cNvSpPr/>
          <p:nvPr/>
        </p:nvSpPr>
        <p:spPr>
          <a:xfrm>
            <a:off x="768096" y="473659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97280" y="468172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 these descoped deliberately, or are they simply undocumented?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97280" y="497433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All 37  ·  If not: We cannot plan the backlog without knowing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68096" y="5321808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43" name="Text 41"/>
          <p:cNvSpPr/>
          <p:nvPr/>
        </p:nvSpPr>
        <p:spPr>
          <a:xfrm>
            <a:off x="768096" y="5340096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097280" y="5285232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disposal workflow accounts for 14 of the 37, across two tabs. Is disposal approval out of scope for this phase?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097280" y="5577840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14 requirements  ·  If not: Treat as descoped and record the decision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68096" y="5925312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47" name="Text 45"/>
          <p:cNvSpPr/>
          <p:nvPr/>
        </p:nvSpPr>
        <p:spPr>
          <a:xfrm>
            <a:off x="768096" y="5943600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097280" y="5888736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Retention and Disposal items duplicate measures already on Bank-wide. Was that the reason for removal?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97280" y="6181344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Clarifies 9  ·  If not: Likely intentional de-duplication — confirm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3D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3383280"/>
            <a:ext cx="7680960" cy="7680960"/>
          </a:xfrm>
          <a:prstGeom prst="ellipse">
            <a:avLst/>
          </a:prstGeom>
          <a:ln w="19050">
            <a:solidFill>
              <a:srgbClr val="009B8A">
                <a:alpha val="2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554480" y="4206240"/>
            <a:ext cx="6035040" cy="6035040"/>
          </a:xfrm>
          <a:prstGeom prst="ellipse">
            <a:avLst/>
          </a:prstGeom>
          <a:ln w="12700">
            <a:solidFill>
              <a:srgbClr val="009B8A">
                <a:alpha val="2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31520" y="5029200"/>
            <a:ext cx="4389120" cy="4389120"/>
          </a:xfrm>
          <a:prstGeom prst="ellipse">
            <a:avLst/>
          </a:prstGeom>
          <a:ln w="12700">
            <a:solidFill>
              <a:srgbClr val="009B8A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14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ITEMS 2 AND 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8803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Big Tabs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914400" y="3703320"/>
            <a:ext cx="164592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8862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FC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Bank-wide Oversight and Department Insights: 151 of the 250 requirements, and 46 of the 55 gaps.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Bank-wide Oversight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Bank-wide Oversight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Bank-wide counts of users, records declared, physical counterparts and records due for disposal.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5486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488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21488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490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37490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69280" y="1527048"/>
            <a:ext cx="5973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BUILT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87568" y="1883664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6" name="Text 24"/>
          <p:cNvSpPr/>
          <p:nvPr/>
        </p:nvSpPr>
        <p:spPr>
          <a:xfrm>
            <a:off x="5925312" y="1819656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built tiles were relabelled, not dropped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87568" y="2231136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8" name="Text 26"/>
          <p:cNvSpPr/>
          <p:nvPr/>
        </p:nvSpPr>
        <p:spPr>
          <a:xfrm>
            <a:off x="5925312" y="2167128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"Total EDRMS users" → "users with recorded activity, last 180 days"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87568" y="2578608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0" name="Text 28"/>
          <p:cNvSpPr/>
          <p:nvPr/>
        </p:nvSpPr>
        <p:spPr>
          <a:xfrm>
            <a:off x="5925312" y="2514600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"Due for disposal" → "due within 30 / 90 days / 12 months"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87568" y="2926080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2" name="Text 30"/>
          <p:cNvSpPr/>
          <p:nvPr/>
        </p:nvSpPr>
        <p:spPr>
          <a:xfrm>
            <a:off x="5925312" y="2862072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Declaration rate built as "share of documents declared as records"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2532888"/>
            <a:ext cx="11094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GAPS ARE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2843784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35" name="Text 33"/>
          <p:cNvSpPr/>
          <p:nvPr/>
        </p:nvSpPr>
        <p:spPr>
          <a:xfrm>
            <a:off x="713232" y="2825496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composition  ·  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13232" y="3026664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/ contractor / consultant counts, training completion, onboarded since go-live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8640" y="3337560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38" name="Text 36"/>
          <p:cNvSpPr/>
          <p:nvPr/>
        </p:nvSpPr>
        <p:spPr>
          <a:xfrm>
            <a:off x="713232" y="3319272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Per-division breakdowns  ·  4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13232" y="3520440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users declaring, per division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48640" y="3831336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41" name="Text 39"/>
          <p:cNvSpPr/>
          <p:nvPr/>
        </p:nvSpPr>
        <p:spPr>
          <a:xfrm>
            <a:off x="713232" y="3813048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workflow  ·  7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13232" y="4014216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Approver, status Approved / Declined / Extended, month-on-month, completion rate, overdue actions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8640" y="4325112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44" name="Text 42"/>
          <p:cNvSpPr/>
          <p:nvPr/>
        </p:nvSpPr>
        <p:spPr>
          <a:xfrm>
            <a:off x="713232" y="4306824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 physical custody  ·  1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13232" y="4507992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 to RAC is a physical event no reachable system records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Bank-wide Oversight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Bank-wide Oversight: The Asks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gaps. Five questions close most of them.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1481328"/>
            <a:ext cx="11094415" cy="3749040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159105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8096" y="192024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193852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97280" y="188366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the user register, and can we read employment type from it?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97280" y="217627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5 requirements  ·  If not: Report total users only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8096" y="2578608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5" name="Text 23"/>
          <p:cNvSpPr/>
          <p:nvPr/>
        </p:nvSpPr>
        <p:spPr>
          <a:xfrm>
            <a:off x="768096" y="2596896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97280" y="2542032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Division at ADB, and which system holds it?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97280" y="2834640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4 requirements  ·  If not: Department-level reporting only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68096" y="3236976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9" name="Text 27"/>
          <p:cNvSpPr/>
          <p:nvPr/>
        </p:nvSpPr>
        <p:spPr>
          <a:xfrm>
            <a:off x="768096" y="3255264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97280" y="3200400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site creation date acceptable as a stand-in for go-live?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97280" y="3493008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1 requirement  ·  If not: Drop onboarding metrics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8096" y="389534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3" name="Text 31"/>
          <p:cNvSpPr/>
          <p:nvPr/>
        </p:nvSpPr>
        <p:spPr>
          <a:xfrm>
            <a:off x="768096" y="391363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97280" y="385876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was the disposal workflow removed? Is it out of scope, or unsourced?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97280" y="415137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7 requirements  ·  If not: We need your steer — no reason is recorded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68096" y="4553712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" y="4572000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97280" y="4517136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any record of physical turnover to RAC we have not found?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97280" y="4809744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1 requirement  ·  If not: Confirmed dead end — drop it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Insights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Insights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measures as Bank-wide, cut by department, office and Records Management unit, with drill-down to site and library.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5486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488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21488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490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37490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69280" y="1527048"/>
            <a:ext cx="5973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BUILT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87568" y="1883664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6" name="Text 24"/>
          <p:cNvSpPr/>
          <p:nvPr/>
        </p:nvSpPr>
        <p:spPr>
          <a:xfrm>
            <a:off x="5925312" y="1819656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tab: 86 requirements, 59 built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87568" y="2231136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8" name="Text 26"/>
          <p:cNvSpPr/>
          <p:nvPr/>
        </p:nvSpPr>
        <p:spPr>
          <a:xfrm>
            <a:off x="5925312" y="2167128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"Total site visitors" → "total site visits" — visits, not unique people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87568" y="2578608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0" name="Text 28"/>
          <p:cNvSpPr/>
          <p:nvPr/>
        </p:nvSpPr>
        <p:spPr>
          <a:xfrm>
            <a:off x="5925312" y="2514600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due dates rebuilt as 3 / 6 / 12 month bands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87568" y="2926080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2" name="Text 30"/>
          <p:cNvSpPr/>
          <p:nvPr/>
        </p:nvSpPr>
        <p:spPr>
          <a:xfrm>
            <a:off x="5925312" y="2862072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Documents, size in GB and declaration counts all built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2532888"/>
            <a:ext cx="11094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GAPS ARE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2843784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35" name="Text 33"/>
          <p:cNvSpPr/>
          <p:nvPr/>
        </p:nvSpPr>
        <p:spPr>
          <a:xfrm>
            <a:off x="713232" y="2825496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composition  ·  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13232" y="3026664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Staff, contractor, consultant counts and training completion rate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8640" y="3337560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38" name="Text 36"/>
          <p:cNvSpPr/>
          <p:nvPr/>
        </p:nvSpPr>
        <p:spPr>
          <a:xfrm>
            <a:off x="713232" y="3319272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Per-division breakdowns  ·  4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13232" y="3520440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declared, users declaring, per-library indicators by division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48640" y="3831336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41" name="Text 39"/>
          <p:cNvSpPr/>
          <p:nvPr/>
        </p:nvSpPr>
        <p:spPr>
          <a:xfrm>
            <a:off x="713232" y="3813048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 split  ·  2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13232" y="4014216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vs external visitors — which report shows this split?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8640" y="4325112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44" name="Text 42"/>
          <p:cNvSpPr/>
          <p:nvPr/>
        </p:nvSpPr>
        <p:spPr>
          <a:xfrm>
            <a:off x="713232" y="4306824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  ·  2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13232" y="4507992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granted and denied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8640" y="4818888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47" name="Text 45"/>
          <p:cNvSpPr/>
          <p:nvPr/>
        </p:nvSpPr>
        <p:spPr>
          <a:xfrm>
            <a:off x="713232" y="4800600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workflow  ·  7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13232" y="5001768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Approver, statuses, records disposed per year and month, disposed size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48640" y="5312664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50" name="Text 48"/>
          <p:cNvSpPr/>
          <p:nvPr/>
        </p:nvSpPr>
        <p:spPr>
          <a:xfrm>
            <a:off x="713232" y="5294376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conventions &amp; go-live  ·  2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13232" y="5495544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site / library / folder convention, go-live date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Insights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Insights: The Asks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gaps — but 8 of them are the same two questions asked on Bank-wide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1481328"/>
            <a:ext cx="11094415" cy="3749040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159105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8096" y="192024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193852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97280" y="188366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report shows site visitors split by internal and external?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97280" y="217627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2 requirements  ·  If not: Report total visits only, no split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8096" y="2578608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5" name="Text 23"/>
          <p:cNvSpPr/>
          <p:nvPr/>
        </p:nvSpPr>
        <p:spPr>
          <a:xfrm>
            <a:off x="768096" y="2596896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97280" y="2542032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 approved SharePoint site, library and folder convention we can measure against?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97280" y="2834640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1 requirement  ·  If not: Drop convention compliance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68096" y="3236976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9" name="Text 27"/>
          <p:cNvSpPr/>
          <p:nvPr/>
        </p:nvSpPr>
        <p:spPr>
          <a:xfrm>
            <a:off x="768096" y="3255264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97280" y="3200400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access request grants and denials logged anywhere we can reach?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97280" y="3493008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2 requirements  ·  If not: Drop access request metrics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8096" y="389534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3" name="Text 31"/>
          <p:cNvSpPr/>
          <p:nvPr/>
        </p:nvSpPr>
        <p:spPr>
          <a:xfrm>
            <a:off x="768096" y="391363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97280" y="385876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user register and Division questions as Bank-wide — one answer settles both tabs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97280" y="415137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8 requirements  ·  If not: See dependencies 1 and 2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68096" y="4553712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" y="4572000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97280" y="4517136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'visits' rather than 'unique visitors' meet your need?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97280" y="4809744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Confirms 2 built tiles  ·  If not: Currently built as visits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3D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3383280"/>
            <a:ext cx="7680960" cy="7680960"/>
          </a:xfrm>
          <a:prstGeom prst="ellipse">
            <a:avLst/>
          </a:prstGeom>
          <a:ln w="19050">
            <a:solidFill>
              <a:srgbClr val="009B8A">
                <a:alpha val="2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554480" y="4206240"/>
            <a:ext cx="6035040" cy="6035040"/>
          </a:xfrm>
          <a:prstGeom prst="ellipse">
            <a:avLst/>
          </a:prstGeom>
          <a:ln w="12700">
            <a:solidFill>
              <a:srgbClr val="009B8A">
                <a:alpha val="2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31520" y="5029200"/>
            <a:ext cx="4389120" cy="4389120"/>
          </a:xfrm>
          <a:prstGeom prst="ellipse">
            <a:avLst/>
          </a:prstGeom>
          <a:ln w="12700">
            <a:solidFill>
              <a:srgbClr val="009B8A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14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ITEM 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8803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914400" y="3703320"/>
            <a:ext cx="164592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8862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FC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Insights: all 20 requirements are built. None has a confirmed data source.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Insights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Insights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attributes — facility type, modality, country, status, effectivity and closing date — against EDRMS site activity.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1481328"/>
            <a:ext cx="11094415" cy="658368"/>
          </a:xfrm>
          <a:prstGeom prst="rect">
            <a:avLst/>
          </a:prstGeom>
          <a:solidFill>
            <a:srgbClr val="FDF2F4"/>
          </a:solidFill>
          <a:ln w="19050">
            <a:solidFill>
              <a:srgbClr val="C41E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1481328"/>
            <a:ext cx="64008" cy="658368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1572768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BUT UNSOURCED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04672" y="1792224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 20 requirements is built in the prototype. Not one of them has a confirmed data source.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230428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548640" y="280720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148840" y="230428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2148840" y="280720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UI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749040" y="230428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4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3749040" y="280720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data source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310128"/>
            <a:ext cx="11094415" cy="3474720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" y="341985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8096" y="374904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1" name="Text 29"/>
          <p:cNvSpPr/>
          <p:nvPr/>
        </p:nvSpPr>
        <p:spPr>
          <a:xfrm>
            <a:off x="768096" y="376732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97280" y="371246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system holds project attributes — facility type, modality, country, status, dates?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97280" y="400507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All 20 requirements  ·  If not: Project Insights stays a mockup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68096" y="435254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5" name="Text 33"/>
          <p:cNvSpPr/>
          <p:nvPr/>
        </p:nvSpPr>
        <p:spPr>
          <a:xfrm>
            <a:off x="768096" y="437083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97280" y="431596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that system, and can we get read access?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97280" y="460857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All 20 requirements  ·  If not: No source, no dashboard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68096" y="4956048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9" name="Text 37"/>
          <p:cNvSpPr/>
          <p:nvPr/>
        </p:nvSpPr>
        <p:spPr>
          <a:xfrm>
            <a:off x="768096" y="4974336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97280" y="4919472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register mapping EDRMS sites to project IDs?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97280" y="5212080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Site-to-project rollup  ·  If not: Site activity cannot roll up to a project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68096" y="5559552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43" name="Text 41"/>
          <p:cNvSpPr/>
          <p:nvPr/>
        </p:nvSpPr>
        <p:spPr>
          <a:xfrm>
            <a:off x="768096" y="5577840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097280" y="5522976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 register exists, can we derive the link by scanning site names?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097280" y="5815584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Site-to-project rollup  ·  If not: Workbook notes: "The register. Then SCAN."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68096" y="6163056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47" name="Text 45"/>
          <p:cNvSpPr/>
          <p:nvPr/>
        </p:nvSpPr>
        <p:spPr>
          <a:xfrm>
            <a:off x="768096" y="6181344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097280" y="6126480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project-level reporting in scope for this phase at all?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97280" y="6419088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Scope decision  ·  If not: Defer the whole tab to phase 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3D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3383280"/>
            <a:ext cx="7680960" cy="7680960"/>
          </a:xfrm>
          <a:prstGeom prst="ellipse">
            <a:avLst/>
          </a:prstGeom>
          <a:ln w="19050">
            <a:solidFill>
              <a:srgbClr val="009B8A">
                <a:alpha val="2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554480" y="4206240"/>
            <a:ext cx="6035040" cy="6035040"/>
          </a:xfrm>
          <a:prstGeom prst="ellipse">
            <a:avLst/>
          </a:prstGeom>
          <a:ln w="12700">
            <a:solidFill>
              <a:srgbClr val="009B8A">
                <a:alpha val="2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31520" y="5029200"/>
            <a:ext cx="4389120" cy="4389120"/>
          </a:xfrm>
          <a:prstGeom prst="ellipse">
            <a:avLst/>
          </a:prstGeom>
          <a:ln w="12700">
            <a:solidFill>
              <a:srgbClr val="009B8A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14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ITEMS 5, 6 AND 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8803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Operations and Archive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914400" y="3703320"/>
            <a:ext cx="164592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8862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FC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Plan, Retention and Disposal, Archive Holdings: two are complete, one needs your steer.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File Plan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Institutional File Plan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retention class hierarchy and how records map onto it.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1481328"/>
            <a:ext cx="11094415" cy="1051560"/>
          </a:xfrm>
          <a:prstGeom prst="rect">
            <a:avLst/>
          </a:prstGeom>
          <a:solidFill>
            <a:srgbClr val="E8F7F5"/>
          </a:solidFill>
          <a:ln w="19050">
            <a:solidFill>
              <a:srgbClr val="009B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164592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GAPS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201168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24 requirements on this tab are built in the prototype. The workbook records no missing data and no outstanding question.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5486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488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21488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7490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37490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721608"/>
            <a:ext cx="11094415" cy="1664208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383133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— CONFIRMATION ONLY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8096" y="416052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0" name="Text 28"/>
          <p:cNvSpPr/>
          <p:nvPr/>
        </p:nvSpPr>
        <p:spPr>
          <a:xfrm>
            <a:off x="768096" y="417880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97280" y="412394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believe this tab is complete. Have we missed anything?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97280" y="441655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—  ·  If not: Confirm and move 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68096" y="476402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4" name="Text 32"/>
          <p:cNvSpPr/>
          <p:nvPr/>
        </p:nvSpPr>
        <p:spPr>
          <a:xfrm>
            <a:off x="768096" y="478231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97280" y="472744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file plan hierarchy shown match your current approved plan?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97280" y="502005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—  ·  If not: Flag any structural changes now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and Disposal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Retention and Disposal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terms and disposal volumes across the bank.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5486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488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21488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490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37490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0" y="1499616"/>
            <a:ext cx="5973775" cy="731520"/>
          </a:xfrm>
          <a:prstGeom prst="rect">
            <a:avLst/>
          </a:prstGeom>
          <a:solidFill>
            <a:srgbClr val="FFF6EF"/>
          </a:solidFill>
          <a:ln w="15875">
            <a:solidFill>
              <a:srgbClr val="E67C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52160" y="157276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UNEXPLAINED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52160" y="1773936"/>
            <a:ext cx="5608015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 gaps are marked only "Removed." — no reason and no dependency is recorded in the workbook.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48640" y="2441448"/>
            <a:ext cx="11094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NINE REMOVED ITEMS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2752344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Departments / Offices / RMs provisioned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3008376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libraries provisioned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32644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records declared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3520440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physical counterparts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80560" y="2752344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records due for disposal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008376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records disposed  (appears twice)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480560" y="32644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Term (Top level)  (appears twice)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3858768"/>
            <a:ext cx="11094415" cy="2267712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9808" y="396849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68096" y="429768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8" name="Text 36"/>
          <p:cNvSpPr/>
          <p:nvPr/>
        </p:nvSpPr>
        <p:spPr>
          <a:xfrm>
            <a:off x="768096" y="431596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97280" y="426110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9 items were removed with no reason recorded. Were they descoped deliberately?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97280" y="455371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9 requirements  ·  If not: We need your decision before we can act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68096" y="490118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42" name="Text 40"/>
          <p:cNvSpPr/>
          <p:nvPr/>
        </p:nvSpPr>
        <p:spPr>
          <a:xfrm>
            <a:off x="768096" y="491947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097280" y="486460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duplicate measures already on Bank-wide. Is that the reason they were dropped?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97280" y="515721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Clarifies overlap  ·  If not: Likely intentional de-duplication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68096" y="5504688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46" name="Text 44"/>
          <p:cNvSpPr/>
          <p:nvPr/>
        </p:nvSpPr>
        <p:spPr>
          <a:xfrm>
            <a:off x="768096" y="5522976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097280" y="5468112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top-level retention Term breakdown still wanted here?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097280" y="5760720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2 requirements  ·  If not: Drop the Term rows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Archive Holdings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Records and Archive Holdings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and digital archive holdings and their retention position.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1481328"/>
            <a:ext cx="11094415" cy="1051560"/>
          </a:xfrm>
          <a:prstGeom prst="rect">
            <a:avLst/>
          </a:prstGeom>
          <a:solidFill>
            <a:srgbClr val="E8F7F5"/>
          </a:solidFill>
          <a:ln w="19050">
            <a:solidFill>
              <a:srgbClr val="009B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164592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GAPS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201168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28 requirements on this tab are built in the prototype. The workbook records no missing data and no outstanding question.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5486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488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21488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7490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37490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721608"/>
            <a:ext cx="11094415" cy="1664208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383133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— CONFIRMATION ONLY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8096" y="416052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0" name="Text 28"/>
          <p:cNvSpPr/>
          <p:nvPr/>
        </p:nvSpPr>
        <p:spPr>
          <a:xfrm>
            <a:off x="768096" y="417880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97280" y="412394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believe this tab is complete. Have we missed anything?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97280" y="441655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—  ·  If not: Confirm and move 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68096" y="476402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4" name="Text 32"/>
          <p:cNvSpPr/>
          <p:nvPr/>
        </p:nvSpPr>
        <p:spPr>
          <a:xfrm>
            <a:off x="768096" y="478231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97280" y="472744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holdings breakdown match how RAC actually reports its inventory?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97280" y="502005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—  ·  If not: Flag discrepancies now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2026-08-25T01:46:35Z</dcterms:created>
  <dcterms:modified xsi:type="dcterms:W3CDTF">2026-08-25T01:46:35Z</dcterms:modified>
</cp:coreProperties>
</file>