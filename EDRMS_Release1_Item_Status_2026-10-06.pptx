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9db084-930d-8a38-d134-a977d4788bac}">
          <p14:sldIdLst>
            <p14:sldId id="256"/>
            <p14:sldId id="257"/>
          </p14:sldIdLst>
        </p14:section>
        <p14:section name="Bank-wide Oversight" id="{4cabe5b2-17c8-9877-a39e-7549337e916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epartment Insights" id="{6643c697-7fbb-f9a7-b5ff-52ab66674938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Next steps" id="{69c00aaf-d5df-83bd-244d-a4ef353d73fc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EDRMS Utilization Report, Release 1  |  Floot design as of 5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EDRMS Utilization Report, Release 1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and breakdown on the Floot design, what each item shows, its status, and what we still need to ask, clarify or obtain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 Oversight and Department Insights  |  6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</a:rPr>
              <a:t>Each slide shows one card with its breakdown open, beside a table of the items it contains. Every item carries one of four statuses:</a:t>
            </a:r>
            <a:endParaRPr lang="en-US" sz="1600" dirty="0"/>
          </a:p>
        </p:txBody>
      </p:sp>
      <p:sp>
        <p:nvSpPr>
          <p:cNvPr id="4" name="status key ok"/>
          <p:cNvSpPr/>
          <p:nvPr/>
        </p:nvSpPr>
        <p:spPr>
          <a:xfrm>
            <a:off x="457200" y="16916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</a:rPr>
              <a:t>Agreed, sourced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RAC agreed it, and the source is proven on the test tenant. Needs only the production export.</a:t>
            </a:r>
            <a:endParaRPr lang="en-US" sz="1300" dirty="0"/>
          </a:p>
        </p:txBody>
      </p:sp>
      <p:sp>
        <p:nvSpPr>
          <p:cNvPr id="7" name="status key demo"/>
          <p:cNvSpPr/>
          <p:nvPr/>
        </p:nvSpPr>
        <p:spPr>
          <a:xfrm>
            <a:off x="3291840" y="16916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4A00"/>
                </a:solidFill>
              </a:rPr>
              <a:t>Agreed, demo figure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RAC agreed it and the source is known, but the number on screen is demo data until production data is loaded.</a:t>
            </a:r>
            <a:endParaRPr lang="en-US" sz="1300" dirty="0"/>
          </a:p>
        </p:txBody>
      </p:sp>
      <p:sp>
        <p:nvSpPr>
          <p:cNvPr id="10" name="status key ask"/>
          <p:cNvSpPr/>
          <p:nvPr/>
        </p:nvSpPr>
        <p:spPr>
          <a:xfrm>
            <a:off x="6126480" y="16916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1ECFA"/>
          </a:solidFill>
          <a:ln w="12700">
            <a:solidFill>
              <a:srgbClr val="E1EC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</a:rPr>
              <a:t>Needs clarification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Built, but a decision or definition is still open. Someone has to answer before it is final.</a:t>
            </a:r>
            <a:endParaRPr lang="en-US" sz="1300" dirty="0"/>
          </a:p>
        </p:txBody>
      </p:sp>
      <p:sp>
        <p:nvSpPr>
          <p:cNvPr id="13" name="status key gap"/>
          <p:cNvSpPr/>
          <p:nvPr/>
        </p:nvSpPr>
        <p:spPr>
          <a:xfrm>
            <a:off x="8961120" y="16916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1B1B"/>
                </a:solidFill>
              </a:rPr>
              <a:t>Still lacking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Missing data or a source that does not exist yet. Cannot be produced until it is supplied.</a:t>
            </a:r>
            <a:endParaRPr lang="en-US" sz="1300" dirty="0"/>
          </a:p>
        </p:txBody>
      </p:sp>
      <p:sp>
        <p:nvSpPr>
          <p:cNvPr id="16" name="key fact"/>
          <p:cNvSpPr/>
          <p:nvPr/>
        </p:nvSpPr>
        <p:spPr>
          <a:xfrm>
            <a:off x="457200" y="425196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3484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2545"/>
                </a:solidFill>
              </a:rPr>
              <a:t>The one thing to know before reading the numbers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B3C"/>
                </a:solidFill>
              </a:rPr>
              <a:t>Only the site counts are measured: 1,032 EDRMS sites, 1,030 of them with a department, 240 shared between departments. They come from the Cloud Governance Workspace report on the test tenant.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E1B1B"/>
                </a:solidFill>
              </a:rPr>
              <a:t>Every other figure in this deck is demo data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B3C"/>
                </a:solidFill>
              </a:rPr>
              <a:t> that shows the shape of the report. The real numbers arrive with the production exports, the first being the Cloud Governance Workspace report from Leah Bancale.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Bank-wide Oversight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cards, each with its breakdown, then 3 panels: physical counterparts, comparison and the records declaration trend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EDRMS sites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1 of 4: 1,032 compliant and active sites, with the top 10 chart and the sites table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338351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Active EDRMS site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338351"/>
          </a:xfrm>
          <a:prstGeom prst="rect">
            <a:avLst/>
          </a:prstGeom>
        </p:spPr>
      </p:pic>
      <p:graphicFrame>
        <p:nvGraphicFramePr>
          <p:cNvPr id="5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EDRMS sites card (1,032)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marked EDRMS in Cloud Governance (EDRMS Site Type). Project sites excluded, RAC item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Leah Bancale for the PRODUCTION Workspace report. Confirm converted sites are recorded the same way as created 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by number of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bars, units with the most EDRMS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None. Follows the sites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by Department / Office / RM / 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Searchable, paged table, from Cloud Governance 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shared sites count to the FIRST listed department (RAC, 21 Sep). 2 sites have no department: ask RAC who owns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sort of the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sorted by site count, highest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 with the 27 Aug instruction that every table opens on its first column. Confirm which rule wins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EDRMS users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2 of 4: approximate workforce headcount, with users active, no access and training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092174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EDRMS user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092174"/>
          </a:xfrm>
          <a:prstGeom prst="rect">
            <a:avLst/>
          </a:prstGeom>
        </p:spPr>
      </p:pic>
      <p:graphicFrame>
        <p:nvGraphicFramePr>
          <p:cNvPr id="6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EDRMS users card (11,800)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Rounded headcount per unit, RAC items 2 and 23. A reference value, not a measurement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per-unit numbers are PLACEHOLDERS. Need RAC’s real headcount list (item 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active in last 180 days (9,420)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who opened an EDRMS site. SharePoint activity report, 180 days is the longest window it serves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activity report export. Confirm 180 days is the threshold RAC wants (item 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access in 180 days (2,380)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minus active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the real headcount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training (9,405) and completion (80.0%)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completion from RAC: Excellerate for staff, RAC list for contractors and consultants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"of approx. 11,750" while the card says 11,800: same base must be used. Who sends the list, and how often?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Staff, contractor, consultant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 items 27 to 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 the page. Ask RAC whether Active Directory can give this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in EDRMS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3 of 4: documents and storage, with the month-by-month history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4456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Documents in EDRM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4456504"/>
          </a:xfrm>
          <a:prstGeom prst="rect">
            <a:avLst/>
          </a:prstGeom>
        </p:spPr>
      </p:pic>
      <p:graphicFrame>
        <p:nvGraphicFramePr>
          <p:cNvPr id="7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card (3.47M)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on EDRMS sites, from File Count in the SharePoint site usage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usage export. Test tenant holds 32,833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and storage by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and Storage used (GB) per Department / Office / RM / 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joined yet: the usage export hides site URLs. M365 admin must clear "Display concealed user, group and site names" and re-export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used (1,188 GB)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Used, also in Cloud Governance per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month by month (Jan 2024 to Sep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at start, total now and new documents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before the first monthly snapshot does not exist. Agree whether the series starts from go-live of the refresh 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declared in EDRMS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4 of 4: records declared, declaration rate and the people declaring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29196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Records declared in EDRM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2919620"/>
          </a:xfrm>
          <a:prstGeom prst="rect">
            <a:avLst/>
          </a:prstGeom>
        </p:spPr>
      </p:pic>
      <p:graphicFrame>
        <p:nvGraphicFramePr>
          <p:cNvPr id="8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declared card (21,646)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the EDRMS database table Records (drm-npr). Declared records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database access. UAT holds about 1,990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 rate (0.62%)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declared divided by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the document figure per unit, which waits on the concealed-names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users declaring (3,186)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people who declared a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SQL query, never yet run: COUNT(DISTINCT CreatedBy). Ask the dev team to run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follow their site to a department through the site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beyond the production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counterparts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Panel: records that also exist on paper, items 44 to 46 (agreed)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Physical counterpar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2540000"/>
          </a:xfrm>
          <a:prstGeom prst="rect">
            <a:avLst/>
          </a:prstGeom>
        </p:spPr>
      </p:pic>
      <p:graphicFrame>
        <p:nvGraphicFramePr>
          <p:cNvPr id="9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counterparts (3,830)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records flagged as also existing on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which field marks a counterpart in production (term set Physical Status)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with a counterpart (17.7%)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Counterparts divided by records declared, with donut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the two figures above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Counterparts by unit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Counterparts, records and share per Department / Office / RM / 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beyond the production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Panel: approximate headcount against documents or records, items 61 and 62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2003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Comparis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200308"/>
          </a:xfrm>
          <a:prstGeom prst="rect">
            <a:avLst/>
          </a:prstGeom>
        </p:spPr>
      </p:pic>
      <p:graphicFrame>
        <p:nvGraphicFramePr>
          <p:cNvPr id="10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against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bars per unit, each measure on its own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RAC’s condition was "if sourced authoritatively". Does a typed headcount list count?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against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with records declared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green bars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shows unrounded values (CWRD 650) while the users table rounds (CWRD 700). One rule needed, and RAC’s real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declaration trend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Panel: records declared per month and the running total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2836793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Records declaration tren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2836793"/>
          </a:xfrm>
          <a:prstGeom prst="rect">
            <a:avLst/>
          </a:prstGeom>
        </p:spPr>
      </p:pic>
      <p:graphicFrame>
        <p:nvGraphicFramePr>
          <p:cNvPr id="11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Presets and custom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3, 6, 12 months, year to date, all time, or a date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 bars and running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declaration date, Manila time, from the Records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database. Monthly figures shown are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declared in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for the chosen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the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Insights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profile, 5 cards each with its breakdown, then library usage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profile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The department picker, Go-Live date and site convention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1394239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Department profil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1394239"/>
          </a:xfrm>
          <a:prstGeom prst="rect">
            <a:avLst/>
          </a:prstGeom>
        </p:spPr>
      </p:pic>
      <p:graphicFrame>
        <p:nvGraphicFramePr>
          <p:cNvPr id="13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picker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the whole dashboard by Department / Office / RM / 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department started using EDRMS. Manual input by RAC, item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on screen are placeholders. Need RAC’s list. Site Created Time is NOT the go-live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convention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each department’s approved site guide, item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the link for each department from RAC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1 of 5: EDRMS sites, owners and creation dates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4303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Site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430380"/>
          </a:xfrm>
          <a:prstGeom prst="rect">
            <a:avLst/>
          </a:prstGeom>
        </p:spPr>
      </p:pic>
      <p:graphicFrame>
        <p:nvGraphicFramePr>
          <p:cNvPr id="14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card (1,032)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EDRMS sites for the chosen 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Workspace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Site, owner,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Cloud Governance: Primary Business Owner and Created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Time is when the site was made, not when it joined EDRMS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created over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per year, click a year for its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and custom range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Narrows the table and chart by creation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sourced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visitors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2 of 5: unique people who opened each site, last 180 days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5316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Site visitor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531612"/>
          </a:xfrm>
          <a:prstGeom prst="rect">
            <a:avLst/>
          </a:prstGeom>
        </p:spPr>
      </p:pic>
      <p:graphicFrame>
        <p:nvGraphicFramePr>
          <p:cNvPr id="15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visitors card (17,240)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people, not visits (item 4). Graph site analytics, actorCount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Production. One test site gave 5,535 visits from 12 people, so the label must stay "people"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and external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ADB account against guests, items 39 and 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with demo numbers, but no source for the split is proven. Ask whether audit logs may be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type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or Traditional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sites appear here although RAC item 1 excluded them from the 1,032. Which is right?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visited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by unique visitors, all, internal or 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the visitor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3 of 5: files and storage per site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117482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Documen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117482"/>
          </a:xfrm>
          <a:prstGeom prst="rect">
            <a:avLst/>
          </a:prstGeom>
        </p:spPr>
      </p:pic>
      <p:graphicFrame>
        <p:nvGraphicFramePr>
          <p:cNvPr id="16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card (3,473,000)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stored in EDRMS for the 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usage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and storage per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Count and storage for each EDRMS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blocker as Bank-wide: concealed site names stop the join. M365 admin 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declared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4 of 5: records and the people who declared them, per site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117482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Records declare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117482"/>
          </a:xfrm>
          <a:prstGeom prst="rect">
            <a:avLst/>
          </a:prstGeom>
        </p:spPr>
      </p:pic>
      <p:graphicFrame>
        <p:nvGraphicFramePr>
          <p:cNvPr id="17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declared card (21,646)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table, for the 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and people per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declared and distinct people declaring, per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COUNT(DISTINCT CreatedBy) query per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counterparts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Card 5 of 5: records that also have a paper version, per site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3117482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Physical counterpart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3117482"/>
          </a:xfrm>
          <a:prstGeom prst="rect">
            <a:avLst/>
          </a:prstGeom>
        </p:spPr>
      </p:pic>
      <p:graphicFrame>
        <p:nvGraphicFramePr>
          <p:cNvPr id="18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counterparts card (3,830)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with a paper or physical 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production field, as on Bank-wide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Counterparts, records and share per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Per-site table with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beyond production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usage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</a:rPr>
              <a:t>Panel: libraries by Department / Office / RM / RO</a:t>
            </a:r>
            <a:endParaRPr lang="en-US" sz="12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325880"/>
            <a:ext cx="5715000" cy="2758569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screenshot" descr="Library us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715000" cy="2758569"/>
          </a:xfrm>
          <a:prstGeom prst="rect">
            <a:avLst/>
          </a:prstGeom>
        </p:spPr>
      </p:pic>
      <p:graphicFrame>
        <p:nvGraphicFramePr>
          <p:cNvPr id="19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1430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Ask, clarify or still lacking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Libraries (1,600)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libraries in EDRMS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the weekly library scan, not yet 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Documents, records, counterparts per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Per-library table and Largest libraries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Agreed, demo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weekly 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users per library (96)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who opened or edited files in the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lacking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reports activity per SITE, never per library (item 81). No known source: agree to drop or mark Not captured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headings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headings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"Physical counterparts" overlaps "Active users" in the table heading. Layout fix needed in Floot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ask, and who to ask</a:t>
            </a:r>
            <a:endParaRPr lang="en-US" sz="2800" dirty="0"/>
          </a:p>
        </p:txBody>
      </p:sp>
      <p:sp>
        <p:nvSpPr>
          <p:cNvPr id="3" name="ask RAC"/>
          <p:cNvSpPr/>
          <p:nvPr/>
        </p:nvSpPr>
        <p:spPr>
          <a:xfrm>
            <a:off x="457200" y="1143000"/>
            <a:ext cx="2651760" cy="5120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RAC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48840"/>
            <a:ext cx="2377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Real headcount per unit (24), one rounding rule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Go-Live dates and site convention links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Does a typed headcount count as "sourced authoritatively"?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Staff, contractor, consultant split from AD? (27 to 29)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Inactivity threshold 180 days? (26)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Project sites in or out of the 1,032?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Owners of the 2 sites with no department</a:t>
            </a:r>
            <a:endParaRPr lang="en-US" sz="1200" dirty="0"/>
          </a:p>
        </p:txBody>
      </p:sp>
      <p:sp>
        <p:nvSpPr>
          <p:cNvPr id="6" name="ask Leah Bancale, Cloud Governance"/>
          <p:cNvSpPr/>
          <p:nvPr/>
        </p:nvSpPr>
        <p:spPr>
          <a:xfrm>
            <a:off x="3291840" y="1143000"/>
            <a:ext cx="2651760" cy="5120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Leah Bancale, Cloud Governance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48840"/>
            <a:ext cx="2377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PRODUCTION Workspace report export, the highest value 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Are converted sites recorded the same way as created ones?</a:t>
            </a:r>
            <a:endParaRPr lang="en-US" sz="1200" dirty="0"/>
          </a:p>
        </p:txBody>
      </p:sp>
      <p:sp>
        <p:nvSpPr>
          <p:cNvPr id="9" name="ask Microsoft 365 admin"/>
          <p:cNvSpPr/>
          <p:nvPr/>
        </p:nvSpPr>
        <p:spPr>
          <a:xfrm>
            <a:off x="6126480" y="1143000"/>
            <a:ext cx="2651760" cy="5120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Microsoft 365 admin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48840"/>
            <a:ext cx="2377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Clear "Display concealed user, group and site names", then re-export the site usage report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Production SharePoint activity report</a:t>
            </a:r>
            <a:endParaRPr lang="en-US" sz="1200" dirty="0"/>
          </a:p>
        </p:txBody>
      </p:sp>
      <p:sp>
        <p:nvSpPr>
          <p:cNvPr id="12" name="ask Dev team"/>
          <p:cNvSpPr/>
          <p:nvPr/>
        </p:nvSpPr>
        <p:spPr>
          <a:xfrm>
            <a:off x="8961120" y="1143000"/>
            <a:ext cx="2651760" cy="5120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</a:rPr>
              <a:t>Dev team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148840"/>
            <a:ext cx="2377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Run COUNT(DISTINCT CreatedBy) on the Records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Build the weekly site and library scan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Confirm the physical counterpart field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B EDRMS">
  <a:themeElements>
    <a:clrScheme name="ADB EDRMS">
      <a:dk1>
        <a:srgbClr val="1A2B3C"/>
      </a:dk1>
      <a:lt1>
        <a:srgbClr val="FFFFFF"/>
      </a:lt1>
      <a:dk2>
        <a:srgbClr val="0B2545"/>
      </a:dk2>
      <a:lt2>
        <a:srgbClr val="F4F6F9"/>
      </a:lt2>
      <a:accent1>
        <a:srgbClr val="0072BC"/>
      </a:accent1>
      <a:accent2>
        <a:srgbClr val="2E7D32"/>
      </a:accent2>
      <a:accent3>
        <a:srgbClr val="B26A00"/>
      </a:accent3>
      <a:accent4>
        <a:srgbClr val="1565C0"/>
      </a:accent4>
      <a:accent5>
        <a:srgbClr val="C62828"/>
      </a:accent5>
      <a:accent6>
        <a:srgbClr val="6B7A8C"/>
      </a:accent6>
      <a:hlink>
        <a:srgbClr val="0072BC"/>
      </a:hlink>
      <a:folHlink>
        <a:srgbClr val="0B2545"/>
      </a:folHlink>
    </a:clrScheme>
    <a:fontScheme name="ADB EDR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EDRMS Utilization Report, Release 1: item status</dc:title>
  <dc:subject>PptxGenJS Presentation</dc:subject>
  <dc:creator>EDRMS Utilization Report team</dc:creator>
  <cp:lastModifiedBy>EDRMS Utilization Report team</cp:lastModifiedBy>
  <cp:revision>1</cp:revision>
  <dcterms:created xsi:type="dcterms:W3CDTF">2026-10-06T03:15:53Z</dcterms:created>
  <dcterms:modified xsi:type="dcterms:W3CDTF">2026-10-06T03:15:53Z</dcterms:modified>
</cp:coreProperties>
</file>