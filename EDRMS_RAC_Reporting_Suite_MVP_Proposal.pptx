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session: this is a proposal for scope, not a sign-off on figures. The ask is consensus on two dashboards for this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the 28 Aug workshop: Kylie's framing was that if a source cannot be given, the item cannot be on the dashboard, and that maintenance after the project matters as much as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consensus explicitly. If the room prefers Option B, the consequence to state is that four dashboards would carry mostly empty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7/30/90/180 day windows are a hard product limit on the Microsoft reports, not a design choice. It is why anything phrased as 'never' cannot be answered from activity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question asked twice in the workshop: how does the data stay up to date, and who owns it once the project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this list in the room. Every one of these was raised either in RAC's own comments on the checker or in the technical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148840"/>
          </a:xfrm>
          <a:prstGeom prst="rect">
            <a:avLst/>
          </a:prstGeom>
          <a:solidFill>
            <a:srgbClr val="1E2761"/>
          </a:solidFill>
          <a:ln/>
        </p:spPr>
      </p:sp>
      <p:sp>
        <p:nvSpPr>
          <p:cNvPr id="3" name="Text 1"/>
          <p:cNvSpPr txBox="1"/>
          <p:nvPr/>
        </p:nvSpPr>
        <p:spPr>
          <a:xfrm>
            <a:off x="822960" y="868680"/>
            <a:ext cx="10515600" cy="310896"/>
          </a:xfrm>
          <a:prstGeom prst="rect">
            <a:avLst/>
          </a:prstGeom>
          <a:noFill/>
          <a:ln/>
        </p:spPr>
        <p:txBody>
          <a:bodyPr wrap="square" lIns="0" tIns="0" rIns="0" bIns="0" rtlCol="0" anchor="ctr"/>
          <a:lstStyle/>
          <a:p>
            <a:pPr indent="0" marL="0">
              <a:buNone/>
            </a:pPr>
            <a:r>
              <a:rPr lang="en-US" sz="1300" b="1" spc="240" kern="0" dirty="0">
                <a:solidFill>
                  <a:srgbClr val="CADCFC"/>
                </a:solidFill>
                <a:latin typeface="Calibri" pitchFamily="34" charset="0"/>
                <a:ea typeface="Calibri" pitchFamily="34" charset="-122"/>
                <a:cs typeface="Calibri" pitchFamily="34" charset="-120"/>
              </a:rPr>
              <a:t>EDRMS UTILIZATION REPORT</a:t>
            </a:r>
            <a:endParaRPr lang="en-US" sz="1300" dirty="0"/>
          </a:p>
        </p:txBody>
      </p:sp>
      <p:sp>
        <p:nvSpPr>
          <p:cNvPr id="4" name="Text 2"/>
          <p:cNvSpPr txBox="1"/>
          <p:nvPr/>
        </p:nvSpPr>
        <p:spPr>
          <a:xfrm>
            <a:off x="822960" y="1170432"/>
            <a:ext cx="10515600" cy="658368"/>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Reporting Suite</a:t>
            </a:r>
            <a:endParaRPr lang="en-US" sz="4000" dirty="0"/>
          </a:p>
        </p:txBody>
      </p:sp>
      <p:sp>
        <p:nvSpPr>
          <p:cNvPr id="5" name="Text 3"/>
          <p:cNvSpPr txBox="1"/>
          <p:nvPr/>
        </p:nvSpPr>
        <p:spPr>
          <a:xfrm>
            <a:off x="822960" y="2606040"/>
            <a:ext cx="10515600" cy="566928"/>
          </a:xfrm>
          <a:prstGeom prst="rect">
            <a:avLst/>
          </a:prstGeom>
          <a:noFill/>
          <a:ln/>
        </p:spPr>
        <p:txBody>
          <a:bodyPr wrap="square" lIns="0" tIns="0" rIns="0" bIns="0" rtlCol="0" anchor="ctr"/>
          <a:lstStyle/>
          <a:p>
            <a:pPr indent="0" marL="0">
              <a:buNone/>
            </a:pPr>
            <a:r>
              <a:rPr lang="en-US" sz="3000" b="1" dirty="0">
                <a:solidFill>
                  <a:srgbClr val="44546A"/>
                </a:solidFill>
                <a:latin typeface="Cambria" pitchFamily="34" charset="0"/>
                <a:ea typeface="Cambria" pitchFamily="34" charset="-122"/>
                <a:cs typeface="Cambria" pitchFamily="34" charset="-120"/>
              </a:rPr>
              <a:t>MVP Proposal and Next Steps</a:t>
            </a:r>
            <a:endParaRPr lang="en-US" sz="3000" dirty="0"/>
          </a:p>
        </p:txBody>
      </p:sp>
      <p:sp>
        <p:nvSpPr>
          <p:cNvPr id="6" name="Text 4"/>
          <p:cNvSpPr txBox="1"/>
          <p:nvPr/>
        </p:nvSpPr>
        <p:spPr>
          <a:xfrm>
            <a:off x="822960" y="3246120"/>
            <a:ext cx="9692640" cy="365760"/>
          </a:xfrm>
          <a:prstGeom prst="rect">
            <a:avLst/>
          </a:prstGeom>
          <a:noFill/>
          <a:ln/>
        </p:spPr>
        <p:txBody>
          <a:bodyPr wrap="square" lIns="0" tIns="0" rIns="0" bIns="0" rtlCol="0" anchor="ctr"/>
          <a:lstStyle/>
          <a:p>
            <a:pPr indent="0" marL="0">
              <a:buNone/>
            </a:pPr>
            <a:r>
              <a:rPr lang="en-US" sz="1500" dirty="0">
                <a:solidFill>
                  <a:srgbClr val="333F50"/>
                </a:solidFill>
                <a:latin typeface="Calibri" pitchFamily="34" charset="0"/>
                <a:ea typeface="Calibri" pitchFamily="34" charset="-122"/>
                <a:cs typeface="Calibri" pitchFamily="34" charset="-120"/>
              </a:rPr>
              <a:t>Deliver two dashboards well in this release, rather than six partially.</a:t>
            </a:r>
            <a:endParaRPr lang="en-US" sz="1500" dirty="0"/>
          </a:p>
        </p:txBody>
      </p:sp>
      <p:sp>
        <p:nvSpPr>
          <p:cNvPr id="7" name="Shape 5"/>
          <p:cNvSpPr/>
          <p:nvPr/>
        </p:nvSpPr>
        <p:spPr>
          <a:xfrm>
            <a:off x="822960" y="3977640"/>
            <a:ext cx="6583680" cy="658368"/>
          </a:xfrm>
          <a:prstGeom prst="roundRect">
            <a:avLst>
              <a:gd name="adj" fmla="val 8333"/>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8" name="Text 6"/>
          <p:cNvSpPr txBox="1"/>
          <p:nvPr/>
        </p:nvSpPr>
        <p:spPr>
          <a:xfrm>
            <a:off x="1097280" y="3977640"/>
            <a:ext cx="6126480" cy="65836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Decision needed: team consensus on the MVP scope</a:t>
            </a:r>
            <a:endParaRPr lang="en-US" sz="1400" dirty="0"/>
          </a:p>
        </p:txBody>
      </p:sp>
      <p:sp>
        <p:nvSpPr>
          <p:cNvPr id="9" name="Text 7"/>
          <p:cNvSpPr txBox="1"/>
          <p:nvPr/>
        </p:nvSpPr>
        <p:spPr>
          <a:xfrm>
            <a:off x="822960" y="4956048"/>
            <a:ext cx="6400800" cy="274320"/>
          </a:xfrm>
          <a:prstGeom prst="rect">
            <a:avLst/>
          </a:prstGeom>
          <a:noFill/>
          <a:ln/>
        </p:spPr>
        <p:txBody>
          <a:bodyPr wrap="square" lIns="0" tIns="0" rIns="0" bIns="0" rtlCol="0" anchor="ctr"/>
          <a:lstStyle/>
          <a:p>
            <a:pPr indent="0" marL="0">
              <a:buNone/>
            </a:pPr>
            <a:r>
              <a:rPr lang="en-US" sz="1200" dirty="0">
                <a:solidFill>
                  <a:srgbClr val="6B7A90"/>
                </a:solidFill>
                <a:latin typeface="Calibri" pitchFamily="34" charset="0"/>
                <a:ea typeface="Calibri" pitchFamily="34" charset="-122"/>
                <a:cs typeface="Calibri" pitchFamily="34" charset="-120"/>
              </a:rPr>
              <a:t>RAC   |   ITD   |   AvePoint</a:t>
            </a:r>
            <a:endParaRPr lang="en-US" sz="1200" dirty="0"/>
          </a:p>
        </p:txBody>
      </p:sp>
      <p:sp>
        <p:nvSpPr>
          <p:cNvPr id="10" name="Text 8"/>
          <p:cNvSpPr txBox="1"/>
          <p:nvPr/>
        </p:nvSpPr>
        <p:spPr>
          <a:xfrm>
            <a:off x="822960" y="5989320"/>
            <a:ext cx="10515600" cy="274320"/>
          </a:xfrm>
          <a:prstGeom prst="rect">
            <a:avLst/>
          </a:prstGeom>
          <a:noFill/>
          <a:ln/>
        </p:spPr>
        <p:txBody>
          <a:bodyPr wrap="square" lIns="0" tIns="0" rIns="0" bIns="0" rtlCol="0" anchor="ctr"/>
          <a:lstStyle/>
          <a:p>
            <a:pPr indent="0" marL="0">
              <a:buNone/>
            </a:pPr>
            <a:r>
              <a:rPr lang="en-US" sz="1150" dirty="0">
                <a:solidFill>
                  <a:srgbClr val="6B7A90"/>
                </a:solidFill>
                <a:latin typeface="Calibri" pitchFamily="34" charset="0"/>
                <a:ea typeface="Calibri" pitchFamily="34" charset="-122"/>
                <a:cs typeface="Calibri" pitchFamily="34" charset="-120"/>
              </a:rPr>
              <a:t>Enhancement Workshop (R2026.4)   ·   September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329184" y="45720"/>
            <a:ext cx="11219688" cy="658368"/>
          </a:xfrm>
          <a:prstGeom prst="rect">
            <a:avLst/>
          </a:prstGeom>
          <a:noFill/>
          <a:ln/>
        </p:spPr>
        <p:txBody>
          <a:bodyPr wrap="square" lIns="0" tIns="0" rIns="0" bIns="0" rtlCol="0" anchor="ctr"/>
          <a:lstStyle/>
          <a:p>
            <a:pPr indent="0" marL="0">
              <a:buNone/>
            </a:pPr>
            <a:r>
              <a:rPr lang="en-US" sz="3200" b="1" dirty="0">
                <a:solidFill>
                  <a:srgbClr val="44546A"/>
                </a:solidFill>
                <a:latin typeface="Cambria" pitchFamily="34" charset="0"/>
                <a:ea typeface="Cambria" pitchFamily="34" charset="-122"/>
                <a:cs typeface="Cambria" pitchFamily="34" charset="-120"/>
              </a:rPr>
              <a:t>Agenda</a:t>
            </a:r>
            <a:endParaRPr lang="en-US" sz="3200" dirty="0"/>
          </a:p>
        </p:txBody>
      </p:sp>
      <p:sp>
        <p:nvSpPr>
          <p:cNvPr id="3" name="Shape 1"/>
          <p:cNvSpPr/>
          <p:nvPr/>
        </p:nvSpPr>
        <p:spPr>
          <a:xfrm>
            <a:off x="548640" y="1051560"/>
            <a:ext cx="11091672" cy="576072"/>
          </a:xfrm>
          <a:prstGeom prst="roundRect">
            <a:avLst>
              <a:gd name="adj" fmla="val 9524"/>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4" name="Shape 2"/>
          <p:cNvSpPr/>
          <p:nvPr/>
        </p:nvSpPr>
        <p:spPr>
          <a:xfrm>
            <a:off x="777240" y="1188720"/>
            <a:ext cx="301752" cy="301752"/>
          </a:xfrm>
          <a:prstGeom prst="ellipse">
            <a:avLst/>
          </a:prstGeom>
          <a:solidFill>
            <a:srgbClr val="1E2761"/>
          </a:solidFill>
          <a:ln/>
        </p:spPr>
      </p:sp>
      <p:sp>
        <p:nvSpPr>
          <p:cNvPr id="5" name="Text 3"/>
          <p:cNvSpPr txBox="1"/>
          <p:nvPr/>
        </p:nvSpPr>
        <p:spPr>
          <a:xfrm>
            <a:off x="777240" y="1188720"/>
            <a:ext cx="301752"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1234440" y="1051560"/>
            <a:ext cx="3200400" cy="57607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Where we are</a:t>
            </a:r>
            <a:endParaRPr lang="en-US" sz="1350" dirty="0"/>
          </a:p>
        </p:txBody>
      </p:sp>
      <p:sp>
        <p:nvSpPr>
          <p:cNvPr id="7" name="Text 5"/>
          <p:cNvSpPr txBox="1"/>
          <p:nvPr/>
        </p:nvSpPr>
        <p:spPr>
          <a:xfrm>
            <a:off x="4526280" y="1051560"/>
            <a:ext cx="6858000" cy="576072"/>
          </a:xfrm>
          <a:prstGeom prst="rect">
            <a:avLst/>
          </a:prstGeom>
          <a:noFill/>
          <a:ln/>
        </p:spPr>
        <p:txBody>
          <a:bodyPr wrap="square" lIns="0" tIns="0" rIns="0" bIns="0" rtlCol="0" anchor="ctr"/>
          <a:lstStyle/>
          <a:p>
            <a:pPr indent="0" marL="0">
              <a:buNone/>
            </a:pPr>
            <a:r>
              <a:rPr lang="en-US" sz="1150" dirty="0">
                <a:solidFill>
                  <a:srgbClr val="333F50"/>
                </a:solidFill>
                <a:latin typeface="Calibri" pitchFamily="34" charset="0"/>
                <a:ea typeface="Calibri" pitchFamily="34" charset="-122"/>
                <a:cs typeface="Calibri" pitchFamily="34" charset="-120"/>
              </a:rPr>
              <a:t>What the 28 August workshop settled, and what it changed</a:t>
            </a:r>
            <a:endParaRPr lang="en-US" sz="1150" dirty="0"/>
          </a:p>
        </p:txBody>
      </p:sp>
      <p:sp>
        <p:nvSpPr>
          <p:cNvPr id="8" name="Shape 6"/>
          <p:cNvSpPr/>
          <p:nvPr/>
        </p:nvSpPr>
        <p:spPr>
          <a:xfrm>
            <a:off x="548640" y="1709928"/>
            <a:ext cx="11091672" cy="576072"/>
          </a:xfrm>
          <a:prstGeom prst="roundRect">
            <a:avLst>
              <a:gd name="adj" fmla="val 9524"/>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9" name="Shape 7"/>
          <p:cNvSpPr/>
          <p:nvPr/>
        </p:nvSpPr>
        <p:spPr>
          <a:xfrm>
            <a:off x="777240" y="1847088"/>
            <a:ext cx="301752" cy="301752"/>
          </a:xfrm>
          <a:prstGeom prst="ellipse">
            <a:avLst/>
          </a:prstGeom>
          <a:solidFill>
            <a:srgbClr val="1E2761"/>
          </a:solidFill>
          <a:ln/>
        </p:spPr>
      </p:sp>
      <p:sp>
        <p:nvSpPr>
          <p:cNvPr id="10" name="Text 8"/>
          <p:cNvSpPr txBox="1"/>
          <p:nvPr/>
        </p:nvSpPr>
        <p:spPr>
          <a:xfrm>
            <a:off x="777240" y="1847088"/>
            <a:ext cx="301752"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9"/>
          <p:cNvSpPr txBox="1"/>
          <p:nvPr/>
        </p:nvSpPr>
        <p:spPr>
          <a:xfrm>
            <a:off x="1234440" y="1709928"/>
            <a:ext cx="3200400" cy="57607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The proposal</a:t>
            </a:r>
            <a:endParaRPr lang="en-US" sz="1350" dirty="0"/>
          </a:p>
        </p:txBody>
      </p:sp>
      <p:sp>
        <p:nvSpPr>
          <p:cNvPr id="12" name="Text 10"/>
          <p:cNvSpPr txBox="1"/>
          <p:nvPr/>
        </p:nvSpPr>
        <p:spPr>
          <a:xfrm>
            <a:off x="4526280" y="1709928"/>
            <a:ext cx="6858000" cy="576072"/>
          </a:xfrm>
          <a:prstGeom prst="rect">
            <a:avLst/>
          </a:prstGeom>
          <a:noFill/>
          <a:ln/>
        </p:spPr>
        <p:txBody>
          <a:bodyPr wrap="square" lIns="0" tIns="0" rIns="0" bIns="0" rtlCol="0" anchor="ctr"/>
          <a:lstStyle/>
          <a:p>
            <a:pPr indent="0" marL="0">
              <a:buNone/>
            </a:pPr>
            <a:r>
              <a:rPr lang="en-US" sz="1150" dirty="0">
                <a:solidFill>
                  <a:srgbClr val="333F50"/>
                </a:solidFill>
                <a:latin typeface="Calibri" pitchFamily="34" charset="0"/>
                <a:ea typeface="Calibri" pitchFamily="34" charset="-122"/>
                <a:cs typeface="Calibri" pitchFamily="34" charset="-120"/>
              </a:rPr>
              <a:t>Two dashboards as the MVP for this release</a:t>
            </a:r>
            <a:endParaRPr lang="en-US" sz="1150" dirty="0"/>
          </a:p>
        </p:txBody>
      </p:sp>
      <p:sp>
        <p:nvSpPr>
          <p:cNvPr id="13" name="Shape 11"/>
          <p:cNvSpPr/>
          <p:nvPr/>
        </p:nvSpPr>
        <p:spPr>
          <a:xfrm>
            <a:off x="548640" y="2368296"/>
            <a:ext cx="11091672" cy="576072"/>
          </a:xfrm>
          <a:prstGeom prst="roundRect">
            <a:avLst>
              <a:gd name="adj" fmla="val 9524"/>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14" name="Shape 12"/>
          <p:cNvSpPr/>
          <p:nvPr/>
        </p:nvSpPr>
        <p:spPr>
          <a:xfrm>
            <a:off x="777240" y="2505456"/>
            <a:ext cx="301752" cy="301752"/>
          </a:xfrm>
          <a:prstGeom prst="ellipse">
            <a:avLst/>
          </a:prstGeom>
          <a:solidFill>
            <a:srgbClr val="1E2761"/>
          </a:solidFill>
          <a:ln/>
        </p:spPr>
      </p:sp>
      <p:sp>
        <p:nvSpPr>
          <p:cNvPr id="15" name="Text 13"/>
          <p:cNvSpPr txBox="1"/>
          <p:nvPr/>
        </p:nvSpPr>
        <p:spPr>
          <a:xfrm>
            <a:off x="777240" y="2505456"/>
            <a:ext cx="301752"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txBox="1"/>
          <p:nvPr/>
        </p:nvSpPr>
        <p:spPr>
          <a:xfrm>
            <a:off x="1234440" y="2368296"/>
            <a:ext cx="3200400" cy="57607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The data we have today</a:t>
            </a:r>
            <a:endParaRPr lang="en-US" sz="1350" dirty="0"/>
          </a:p>
        </p:txBody>
      </p:sp>
      <p:sp>
        <p:nvSpPr>
          <p:cNvPr id="17" name="Text 15"/>
          <p:cNvSpPr txBox="1"/>
          <p:nvPr/>
        </p:nvSpPr>
        <p:spPr>
          <a:xfrm>
            <a:off x="4526280" y="2368296"/>
            <a:ext cx="6858000" cy="576072"/>
          </a:xfrm>
          <a:prstGeom prst="rect">
            <a:avLst/>
          </a:prstGeom>
          <a:noFill/>
          <a:ln/>
        </p:spPr>
        <p:txBody>
          <a:bodyPr wrap="square" lIns="0" tIns="0" rIns="0" bIns="0" rtlCol="0" anchor="ctr"/>
          <a:lstStyle/>
          <a:p>
            <a:pPr indent="0" marL="0">
              <a:buNone/>
            </a:pPr>
            <a:r>
              <a:rPr lang="en-US" sz="1150" dirty="0">
                <a:solidFill>
                  <a:srgbClr val="333F50"/>
                </a:solidFill>
                <a:latin typeface="Calibri" pitchFamily="34" charset="0"/>
                <a:ea typeface="Calibri" pitchFamily="34" charset="-122"/>
                <a:cs typeface="Calibri" pitchFamily="34" charset="-120"/>
              </a:rPr>
              <a:t>Four sources, what each gives us, how each is produced</a:t>
            </a:r>
            <a:endParaRPr lang="en-US" sz="1150" dirty="0"/>
          </a:p>
        </p:txBody>
      </p:sp>
      <p:sp>
        <p:nvSpPr>
          <p:cNvPr id="18" name="Shape 16"/>
          <p:cNvSpPr/>
          <p:nvPr/>
        </p:nvSpPr>
        <p:spPr>
          <a:xfrm>
            <a:off x="548640" y="3026664"/>
            <a:ext cx="11091672" cy="576072"/>
          </a:xfrm>
          <a:prstGeom prst="roundRect">
            <a:avLst>
              <a:gd name="adj" fmla="val 9524"/>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19" name="Shape 17"/>
          <p:cNvSpPr/>
          <p:nvPr/>
        </p:nvSpPr>
        <p:spPr>
          <a:xfrm>
            <a:off x="777240" y="3163824"/>
            <a:ext cx="301752" cy="301752"/>
          </a:xfrm>
          <a:prstGeom prst="ellipse">
            <a:avLst/>
          </a:prstGeom>
          <a:solidFill>
            <a:srgbClr val="1E2761"/>
          </a:solidFill>
          <a:ln/>
        </p:spPr>
      </p:sp>
      <p:sp>
        <p:nvSpPr>
          <p:cNvPr id="20" name="Text 18"/>
          <p:cNvSpPr txBox="1"/>
          <p:nvPr/>
        </p:nvSpPr>
        <p:spPr>
          <a:xfrm>
            <a:off x="777240" y="3163824"/>
            <a:ext cx="301752"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Text 19"/>
          <p:cNvSpPr txBox="1"/>
          <p:nvPr/>
        </p:nvSpPr>
        <p:spPr>
          <a:xfrm>
            <a:off x="1234440" y="3026664"/>
            <a:ext cx="3200400" cy="57607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Feeding and maintaining the report</a:t>
            </a:r>
            <a:endParaRPr lang="en-US" sz="1350" dirty="0"/>
          </a:p>
        </p:txBody>
      </p:sp>
      <p:sp>
        <p:nvSpPr>
          <p:cNvPr id="22" name="Text 20"/>
          <p:cNvSpPr txBox="1"/>
          <p:nvPr/>
        </p:nvSpPr>
        <p:spPr>
          <a:xfrm>
            <a:off x="4526280" y="3026664"/>
            <a:ext cx="6858000" cy="576072"/>
          </a:xfrm>
          <a:prstGeom prst="rect">
            <a:avLst/>
          </a:prstGeom>
          <a:noFill/>
          <a:ln/>
        </p:spPr>
        <p:txBody>
          <a:bodyPr wrap="square" lIns="0" tIns="0" rIns="0" bIns="0" rtlCol="0" anchor="ctr"/>
          <a:lstStyle/>
          <a:p>
            <a:pPr indent="0" marL="0">
              <a:buNone/>
            </a:pPr>
            <a:r>
              <a:rPr lang="en-US" sz="1150" dirty="0">
                <a:solidFill>
                  <a:srgbClr val="333F50"/>
                </a:solidFill>
                <a:latin typeface="Calibri" pitchFamily="34" charset="0"/>
                <a:ea typeface="Calibri" pitchFamily="34" charset="-122"/>
                <a:cs typeface="Calibri" pitchFamily="34" charset="-120"/>
              </a:rPr>
              <a:t>How the sources reach the report and who keeps them current</a:t>
            </a:r>
            <a:endParaRPr lang="en-US" sz="1150" dirty="0"/>
          </a:p>
        </p:txBody>
      </p:sp>
      <p:sp>
        <p:nvSpPr>
          <p:cNvPr id="23" name="Shape 21"/>
          <p:cNvSpPr/>
          <p:nvPr/>
        </p:nvSpPr>
        <p:spPr>
          <a:xfrm>
            <a:off x="548640" y="3685032"/>
            <a:ext cx="11091672" cy="576072"/>
          </a:xfrm>
          <a:prstGeom prst="roundRect">
            <a:avLst>
              <a:gd name="adj" fmla="val 9524"/>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24" name="Shape 22"/>
          <p:cNvSpPr/>
          <p:nvPr/>
        </p:nvSpPr>
        <p:spPr>
          <a:xfrm>
            <a:off x="777240" y="3822192"/>
            <a:ext cx="301752" cy="301752"/>
          </a:xfrm>
          <a:prstGeom prst="ellipse">
            <a:avLst/>
          </a:prstGeom>
          <a:solidFill>
            <a:srgbClr val="1E2761"/>
          </a:solidFill>
          <a:ln/>
        </p:spPr>
      </p:sp>
      <p:sp>
        <p:nvSpPr>
          <p:cNvPr id="25" name="Text 23"/>
          <p:cNvSpPr txBox="1"/>
          <p:nvPr/>
        </p:nvSpPr>
        <p:spPr>
          <a:xfrm>
            <a:off x="777240" y="3822192"/>
            <a:ext cx="301752"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6" name="Text 24"/>
          <p:cNvSpPr txBox="1"/>
          <p:nvPr/>
        </p:nvSpPr>
        <p:spPr>
          <a:xfrm>
            <a:off x="1234440" y="3685032"/>
            <a:ext cx="3200400" cy="57607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Bank-wide Oversight</a:t>
            </a:r>
            <a:endParaRPr lang="en-US" sz="1350" dirty="0"/>
          </a:p>
        </p:txBody>
      </p:sp>
      <p:sp>
        <p:nvSpPr>
          <p:cNvPr id="27" name="Text 25"/>
          <p:cNvSpPr txBox="1"/>
          <p:nvPr/>
        </p:nvSpPr>
        <p:spPr>
          <a:xfrm>
            <a:off x="4526280" y="3685032"/>
            <a:ext cx="6858000" cy="576072"/>
          </a:xfrm>
          <a:prstGeom prst="rect">
            <a:avLst/>
          </a:prstGeom>
          <a:noFill/>
          <a:ln/>
        </p:spPr>
        <p:txBody>
          <a:bodyPr wrap="square" lIns="0" tIns="0" rIns="0" bIns="0" rtlCol="0" anchor="ctr"/>
          <a:lstStyle/>
          <a:p>
            <a:pPr indent="0" marL="0">
              <a:buNone/>
            </a:pPr>
            <a:r>
              <a:rPr lang="en-US" sz="1150" dirty="0">
                <a:solidFill>
                  <a:srgbClr val="333F50"/>
                </a:solidFill>
                <a:latin typeface="Calibri" pitchFamily="34" charset="0"/>
                <a:ea typeface="Calibri" pitchFamily="34" charset="-122"/>
                <a:cs typeface="Calibri" pitchFamily="34" charset="-120"/>
              </a:rPr>
              <a:t>Section by section: the term, what it means, where it comes from</a:t>
            </a:r>
            <a:endParaRPr lang="en-US" sz="1150" dirty="0"/>
          </a:p>
        </p:txBody>
      </p:sp>
      <p:sp>
        <p:nvSpPr>
          <p:cNvPr id="28" name="Shape 26"/>
          <p:cNvSpPr/>
          <p:nvPr/>
        </p:nvSpPr>
        <p:spPr>
          <a:xfrm>
            <a:off x="548640" y="4343400"/>
            <a:ext cx="11091672" cy="576072"/>
          </a:xfrm>
          <a:prstGeom prst="roundRect">
            <a:avLst>
              <a:gd name="adj" fmla="val 9524"/>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29" name="Shape 27"/>
          <p:cNvSpPr/>
          <p:nvPr/>
        </p:nvSpPr>
        <p:spPr>
          <a:xfrm>
            <a:off x="777240" y="4480560"/>
            <a:ext cx="301752" cy="301752"/>
          </a:xfrm>
          <a:prstGeom prst="ellipse">
            <a:avLst/>
          </a:prstGeom>
          <a:solidFill>
            <a:srgbClr val="1E2761"/>
          </a:solidFill>
          <a:ln/>
        </p:spPr>
      </p:sp>
      <p:sp>
        <p:nvSpPr>
          <p:cNvPr id="30" name="Text 28"/>
          <p:cNvSpPr txBox="1"/>
          <p:nvPr/>
        </p:nvSpPr>
        <p:spPr>
          <a:xfrm>
            <a:off x="777240" y="4480560"/>
            <a:ext cx="301752"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1" name="Text 29"/>
          <p:cNvSpPr txBox="1"/>
          <p:nvPr/>
        </p:nvSpPr>
        <p:spPr>
          <a:xfrm>
            <a:off x="1234440" y="4343400"/>
            <a:ext cx="3200400" cy="57607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Department Insights</a:t>
            </a:r>
            <a:endParaRPr lang="en-US" sz="1350" dirty="0"/>
          </a:p>
        </p:txBody>
      </p:sp>
      <p:sp>
        <p:nvSpPr>
          <p:cNvPr id="32" name="Text 30"/>
          <p:cNvSpPr txBox="1"/>
          <p:nvPr/>
        </p:nvSpPr>
        <p:spPr>
          <a:xfrm>
            <a:off x="4526280" y="4343400"/>
            <a:ext cx="6858000" cy="576072"/>
          </a:xfrm>
          <a:prstGeom prst="rect">
            <a:avLst/>
          </a:prstGeom>
          <a:noFill/>
          <a:ln/>
        </p:spPr>
        <p:txBody>
          <a:bodyPr wrap="square" lIns="0" tIns="0" rIns="0" bIns="0" rtlCol="0" anchor="ctr"/>
          <a:lstStyle/>
          <a:p>
            <a:pPr indent="0" marL="0">
              <a:buNone/>
            </a:pPr>
            <a:r>
              <a:rPr lang="en-US" sz="1150" dirty="0">
                <a:solidFill>
                  <a:srgbClr val="333F50"/>
                </a:solidFill>
                <a:latin typeface="Calibri" pitchFamily="34" charset="0"/>
                <a:ea typeface="Calibri" pitchFamily="34" charset="-122"/>
                <a:cs typeface="Calibri" pitchFamily="34" charset="-120"/>
              </a:rPr>
              <a:t>Section by section: the term, what it means, where it comes from</a:t>
            </a:r>
            <a:endParaRPr lang="en-US" sz="1150" dirty="0"/>
          </a:p>
        </p:txBody>
      </p:sp>
      <p:sp>
        <p:nvSpPr>
          <p:cNvPr id="33" name="Shape 31"/>
          <p:cNvSpPr/>
          <p:nvPr/>
        </p:nvSpPr>
        <p:spPr>
          <a:xfrm>
            <a:off x="548640" y="5001768"/>
            <a:ext cx="11091672" cy="576072"/>
          </a:xfrm>
          <a:prstGeom prst="roundRect">
            <a:avLst>
              <a:gd name="adj" fmla="val 9524"/>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34" name="Shape 32"/>
          <p:cNvSpPr/>
          <p:nvPr/>
        </p:nvSpPr>
        <p:spPr>
          <a:xfrm>
            <a:off x="777240" y="5138928"/>
            <a:ext cx="301752" cy="301752"/>
          </a:xfrm>
          <a:prstGeom prst="ellipse">
            <a:avLst/>
          </a:prstGeom>
          <a:solidFill>
            <a:srgbClr val="1E2761"/>
          </a:solidFill>
          <a:ln/>
        </p:spPr>
      </p:sp>
      <p:sp>
        <p:nvSpPr>
          <p:cNvPr id="35" name="Text 33"/>
          <p:cNvSpPr txBox="1"/>
          <p:nvPr/>
        </p:nvSpPr>
        <p:spPr>
          <a:xfrm>
            <a:off x="777240" y="5138928"/>
            <a:ext cx="301752"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6" name="Text 34"/>
          <p:cNvSpPr txBox="1"/>
          <p:nvPr/>
        </p:nvSpPr>
        <p:spPr>
          <a:xfrm>
            <a:off x="1234440" y="5001768"/>
            <a:ext cx="3200400" cy="57607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Terminology to confirm</a:t>
            </a:r>
            <a:endParaRPr lang="en-US" sz="1350" dirty="0"/>
          </a:p>
        </p:txBody>
      </p:sp>
      <p:sp>
        <p:nvSpPr>
          <p:cNvPr id="37" name="Text 35"/>
          <p:cNvSpPr txBox="1"/>
          <p:nvPr/>
        </p:nvSpPr>
        <p:spPr>
          <a:xfrm>
            <a:off x="4526280" y="5001768"/>
            <a:ext cx="6858000" cy="576072"/>
          </a:xfrm>
          <a:prstGeom prst="rect">
            <a:avLst/>
          </a:prstGeom>
          <a:noFill/>
          <a:ln/>
        </p:spPr>
        <p:txBody>
          <a:bodyPr wrap="square" lIns="0" tIns="0" rIns="0" bIns="0" rtlCol="0" anchor="ctr"/>
          <a:lstStyle/>
          <a:p>
            <a:pPr indent="0" marL="0">
              <a:buNone/>
            </a:pPr>
            <a:r>
              <a:rPr lang="en-US" sz="1150" dirty="0">
                <a:solidFill>
                  <a:srgbClr val="333F50"/>
                </a:solidFill>
                <a:latin typeface="Calibri" pitchFamily="34" charset="0"/>
                <a:ea typeface="Calibri" pitchFamily="34" charset="-122"/>
                <a:cs typeface="Calibri" pitchFamily="34" charset="-120"/>
              </a:rPr>
              <a:t>Words that change the figure depending on how you read them</a:t>
            </a:r>
            <a:endParaRPr lang="en-US" sz="1150" dirty="0"/>
          </a:p>
        </p:txBody>
      </p:sp>
      <p:sp>
        <p:nvSpPr>
          <p:cNvPr id="38" name="Shape 36"/>
          <p:cNvSpPr/>
          <p:nvPr/>
        </p:nvSpPr>
        <p:spPr>
          <a:xfrm>
            <a:off x="548640" y="5660136"/>
            <a:ext cx="11091672" cy="576072"/>
          </a:xfrm>
          <a:prstGeom prst="roundRect">
            <a:avLst>
              <a:gd name="adj" fmla="val 9524"/>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39" name="Shape 37"/>
          <p:cNvSpPr/>
          <p:nvPr/>
        </p:nvSpPr>
        <p:spPr>
          <a:xfrm>
            <a:off x="777240" y="5797296"/>
            <a:ext cx="301752" cy="301752"/>
          </a:xfrm>
          <a:prstGeom prst="ellipse">
            <a:avLst/>
          </a:prstGeom>
          <a:solidFill>
            <a:srgbClr val="1E2761"/>
          </a:solidFill>
          <a:ln/>
        </p:spPr>
      </p:sp>
      <p:sp>
        <p:nvSpPr>
          <p:cNvPr id="40" name="Text 38"/>
          <p:cNvSpPr txBox="1"/>
          <p:nvPr/>
        </p:nvSpPr>
        <p:spPr>
          <a:xfrm>
            <a:off x="777240" y="5797296"/>
            <a:ext cx="301752"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1" name="Text 39"/>
          <p:cNvSpPr txBox="1"/>
          <p:nvPr/>
        </p:nvSpPr>
        <p:spPr>
          <a:xfrm>
            <a:off x="1234440" y="5660136"/>
            <a:ext cx="3200400" cy="57607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Next steps and decisions</a:t>
            </a:r>
            <a:endParaRPr lang="en-US" sz="1350" dirty="0"/>
          </a:p>
        </p:txBody>
      </p:sp>
      <p:sp>
        <p:nvSpPr>
          <p:cNvPr id="42" name="Text 40"/>
          <p:cNvSpPr txBox="1"/>
          <p:nvPr/>
        </p:nvSpPr>
        <p:spPr>
          <a:xfrm>
            <a:off x="4526280" y="5660136"/>
            <a:ext cx="6858000" cy="576072"/>
          </a:xfrm>
          <a:prstGeom prst="rect">
            <a:avLst/>
          </a:prstGeom>
          <a:noFill/>
          <a:ln/>
        </p:spPr>
        <p:txBody>
          <a:bodyPr wrap="square" lIns="0" tIns="0" rIns="0" bIns="0" rtlCol="0" anchor="ctr"/>
          <a:lstStyle/>
          <a:p>
            <a:pPr indent="0" marL="0">
              <a:buNone/>
            </a:pPr>
            <a:r>
              <a:rPr lang="en-US" sz="1150" dirty="0">
                <a:solidFill>
                  <a:srgbClr val="333F50"/>
                </a:solidFill>
                <a:latin typeface="Calibri" pitchFamily="34" charset="0"/>
                <a:ea typeface="Calibri" pitchFamily="34" charset="-122"/>
                <a:cs typeface="Calibri" pitchFamily="34" charset="-120"/>
              </a:rPr>
              <a:t>What we need from each party, and by when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329184" y="274320"/>
            <a:ext cx="11219688" cy="219456"/>
          </a:xfrm>
          <a:prstGeom prst="rect">
            <a:avLst/>
          </a:prstGeom>
          <a:noFill/>
          <a:ln/>
        </p:spPr>
        <p:txBody>
          <a:bodyPr wrap="square" lIns="0" tIns="0" rIns="0" bIns="0" rtlCol="0" anchor="ctr"/>
          <a:lstStyle/>
          <a:p>
            <a:pPr indent="0" marL="0">
              <a:buNone/>
            </a:pPr>
            <a:r>
              <a:rPr lang="en-US" sz="1050" b="1" spc="160" kern="0" dirty="0">
                <a:solidFill>
                  <a:srgbClr val="6B7A90"/>
                </a:solidFill>
                <a:latin typeface="Calibri" pitchFamily="34" charset="0"/>
                <a:ea typeface="Calibri" pitchFamily="34" charset="-122"/>
                <a:cs typeface="Calibri" pitchFamily="34" charset="-120"/>
              </a:rPr>
              <a:t>CONTEXT</a:t>
            </a:r>
            <a:endParaRPr lang="en-US" sz="1050" dirty="0"/>
          </a:p>
        </p:txBody>
      </p:sp>
      <p:sp>
        <p:nvSpPr>
          <p:cNvPr id="3" name="Text 1"/>
          <p:cNvSpPr txBox="1"/>
          <p:nvPr/>
        </p:nvSpPr>
        <p:spPr>
          <a:xfrm>
            <a:off x="329184" y="512064"/>
            <a:ext cx="11219688" cy="658368"/>
          </a:xfrm>
          <a:prstGeom prst="rect">
            <a:avLst/>
          </a:prstGeom>
          <a:noFill/>
          <a:ln/>
        </p:spPr>
        <p:txBody>
          <a:bodyPr wrap="square" lIns="0" tIns="0" rIns="0" bIns="0" rtlCol="0" anchor="ctr"/>
          <a:lstStyle/>
          <a:p>
            <a:pPr indent="0" marL="0">
              <a:buNone/>
            </a:pPr>
            <a:r>
              <a:rPr lang="en-US" sz="3200" b="1" dirty="0">
                <a:solidFill>
                  <a:srgbClr val="44546A"/>
                </a:solidFill>
                <a:latin typeface="Cambria" pitchFamily="34" charset="0"/>
                <a:ea typeface="Cambria" pitchFamily="34" charset="-122"/>
                <a:cs typeface="Cambria" pitchFamily="34" charset="-120"/>
              </a:rPr>
              <a:t>Where we are</a:t>
            </a:r>
            <a:endParaRPr lang="en-US" sz="3200" dirty="0"/>
          </a:p>
        </p:txBody>
      </p:sp>
      <p:sp>
        <p:nvSpPr>
          <p:cNvPr id="4" name="Text 2"/>
          <p:cNvSpPr txBox="1"/>
          <p:nvPr/>
        </p:nvSpPr>
        <p:spPr>
          <a:xfrm>
            <a:off x="548640" y="1298448"/>
            <a:ext cx="11091672" cy="310896"/>
          </a:xfrm>
          <a:prstGeom prst="rect">
            <a:avLst/>
          </a:prstGeom>
          <a:noFill/>
          <a:ln/>
        </p:spPr>
        <p:txBody>
          <a:bodyPr wrap="square" lIns="0" tIns="0" rIns="0" bIns="0" rtlCol="0" anchor="ctr"/>
          <a:lstStyle/>
          <a:p>
            <a:pPr indent="0" marL="0">
              <a:buNone/>
            </a:pPr>
            <a:r>
              <a:rPr lang="en-US" sz="1300" dirty="0">
                <a:solidFill>
                  <a:srgbClr val="333F50"/>
                </a:solidFill>
                <a:latin typeface="Calibri" pitchFamily="34" charset="0"/>
                <a:ea typeface="Calibri" pitchFamily="34" charset="-122"/>
                <a:cs typeface="Calibri" pitchFamily="34" charset="-120"/>
              </a:rPr>
              <a:t>The workshop changed what we are bringing you. It asked a harder question than whether the screens look right.</a:t>
            </a:r>
            <a:endParaRPr lang="en-US" sz="1300" dirty="0"/>
          </a:p>
        </p:txBody>
      </p:sp>
      <p:sp>
        <p:nvSpPr>
          <p:cNvPr id="5" name="Shape 3"/>
          <p:cNvSpPr/>
          <p:nvPr/>
        </p:nvSpPr>
        <p:spPr>
          <a:xfrm>
            <a:off x="548640" y="1783080"/>
            <a:ext cx="3566160" cy="2148840"/>
          </a:xfrm>
          <a:prstGeom prst="roundRect">
            <a:avLst>
              <a:gd name="adj" fmla="val 2553"/>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6" name="Text 4"/>
          <p:cNvSpPr txBox="1"/>
          <p:nvPr/>
        </p:nvSpPr>
        <p:spPr>
          <a:xfrm>
            <a:off x="822960" y="2011680"/>
            <a:ext cx="3017520" cy="658368"/>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The requirement set is confirmed</a:t>
            </a:r>
            <a:endParaRPr lang="en-US" sz="1400" dirty="0"/>
          </a:p>
        </p:txBody>
      </p:sp>
      <p:sp>
        <p:nvSpPr>
          <p:cNvPr id="7" name="Text 5"/>
          <p:cNvSpPr txBox="1"/>
          <p:nvPr/>
        </p:nvSpPr>
        <p:spPr>
          <a:xfrm>
            <a:off x="822960" y="2724912"/>
            <a:ext cx="3017520" cy="1097280"/>
          </a:xfrm>
          <a:prstGeom prst="rect">
            <a:avLst/>
          </a:prstGeom>
          <a:noFill/>
          <a:ln/>
        </p:spPr>
        <p:txBody>
          <a:bodyPr wrap="square" lIns="0" tIns="0" rIns="0" bIns="0" rtlCol="0" anchor="ctr"/>
          <a:lstStyle/>
          <a:p>
            <a:pPr indent="0" marL="0">
              <a:buNone/>
            </a:pPr>
            <a:r>
              <a:rPr lang="en-US" sz="1150" dirty="0">
                <a:solidFill>
                  <a:srgbClr val="333F50"/>
                </a:solidFill>
                <a:latin typeface="Calibri" pitchFamily="34" charset="0"/>
                <a:ea typeface="Calibri" pitchFamily="34" charset="-122"/>
                <a:cs typeface="Calibri" pitchFamily="34" charset="-120"/>
              </a:rPr>
              <a:t>251 requirement items across the six dashboards, every one traced back to your own deck and your own wording.</a:t>
            </a:r>
            <a:endParaRPr lang="en-US" sz="1150" dirty="0"/>
          </a:p>
        </p:txBody>
      </p:sp>
      <p:sp>
        <p:nvSpPr>
          <p:cNvPr id="8" name="Shape 6"/>
          <p:cNvSpPr/>
          <p:nvPr/>
        </p:nvSpPr>
        <p:spPr>
          <a:xfrm>
            <a:off x="4311396" y="1783080"/>
            <a:ext cx="3566160" cy="2148840"/>
          </a:xfrm>
          <a:prstGeom prst="roundRect">
            <a:avLst>
              <a:gd name="adj" fmla="val 2553"/>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9" name="Text 7"/>
          <p:cNvSpPr txBox="1"/>
          <p:nvPr/>
        </p:nvSpPr>
        <p:spPr>
          <a:xfrm>
            <a:off x="4585716" y="2011680"/>
            <a:ext cx="3017520" cy="658368"/>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The bar moved</a:t>
            </a:r>
            <a:endParaRPr lang="en-US" sz="1400" dirty="0"/>
          </a:p>
        </p:txBody>
      </p:sp>
      <p:sp>
        <p:nvSpPr>
          <p:cNvPr id="10" name="Text 8"/>
          <p:cNvSpPr txBox="1"/>
          <p:nvPr/>
        </p:nvSpPr>
        <p:spPr>
          <a:xfrm>
            <a:off x="4585716" y="2724912"/>
            <a:ext cx="3017520" cy="1097280"/>
          </a:xfrm>
          <a:prstGeom prst="rect">
            <a:avLst/>
          </a:prstGeom>
          <a:noFill/>
          <a:ln/>
        </p:spPr>
        <p:txBody>
          <a:bodyPr wrap="square" lIns="0" tIns="0" rIns="0" bIns="0" rtlCol="0" anchor="ctr"/>
          <a:lstStyle/>
          <a:p>
            <a:pPr indent="0" marL="0">
              <a:buNone/>
            </a:pPr>
            <a:r>
              <a:rPr lang="en-US" sz="1150" dirty="0">
                <a:solidFill>
                  <a:srgbClr val="333F50"/>
                </a:solidFill>
                <a:latin typeface="Calibri" pitchFamily="34" charset="0"/>
                <a:ea typeface="Calibri" pitchFamily="34" charset="-122"/>
                <a:cs typeface="Calibri" pitchFamily="34" charset="-120"/>
              </a:rPr>
              <a:t>For every figure: where is it sourced from, how is it collated, and what must a records team member do to keep it current after the project ends.</a:t>
            </a:r>
            <a:endParaRPr lang="en-US" sz="1150" dirty="0"/>
          </a:p>
        </p:txBody>
      </p:sp>
      <p:sp>
        <p:nvSpPr>
          <p:cNvPr id="11" name="Shape 9"/>
          <p:cNvSpPr/>
          <p:nvPr/>
        </p:nvSpPr>
        <p:spPr>
          <a:xfrm>
            <a:off x="8074152" y="1783080"/>
            <a:ext cx="3566160" cy="2148840"/>
          </a:xfrm>
          <a:prstGeom prst="roundRect">
            <a:avLst>
              <a:gd name="adj" fmla="val 2553"/>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12" name="Text 10"/>
          <p:cNvSpPr txBox="1"/>
          <p:nvPr/>
        </p:nvSpPr>
        <p:spPr>
          <a:xfrm>
            <a:off x="8348472" y="2011680"/>
            <a:ext cx="3017520" cy="658368"/>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Four sources are now on the table</a:t>
            </a:r>
            <a:endParaRPr lang="en-US" sz="1400" dirty="0"/>
          </a:p>
        </p:txBody>
      </p:sp>
      <p:sp>
        <p:nvSpPr>
          <p:cNvPr id="13" name="Text 11"/>
          <p:cNvSpPr txBox="1"/>
          <p:nvPr/>
        </p:nvSpPr>
        <p:spPr>
          <a:xfrm>
            <a:off x="8348472" y="2724912"/>
            <a:ext cx="3017520" cy="1097280"/>
          </a:xfrm>
          <a:prstGeom prst="rect">
            <a:avLst/>
          </a:prstGeom>
          <a:noFill/>
          <a:ln/>
        </p:spPr>
        <p:txBody>
          <a:bodyPr wrap="square" lIns="0" tIns="0" rIns="0" bIns="0" rtlCol="0" anchor="ctr"/>
          <a:lstStyle/>
          <a:p>
            <a:pPr indent="0" marL="0">
              <a:buNone/>
            </a:pPr>
            <a:r>
              <a:rPr lang="en-US" sz="1150" dirty="0">
                <a:solidFill>
                  <a:srgbClr val="333F50"/>
                </a:solidFill>
                <a:latin typeface="Calibri" pitchFamily="34" charset="0"/>
                <a:ea typeface="Calibri" pitchFamily="34" charset="-122"/>
                <a:cs typeface="Calibri" pitchFamily="34" charset="-120"/>
              </a:rPr>
              <a:t>Between the EDRMS database, Cloud Governance, the Microsoft 365 reports and the ITD lookup file, most of two dashboards can be filled.</a:t>
            </a:r>
            <a:endParaRPr lang="en-US" sz="1150" dirty="0"/>
          </a:p>
        </p:txBody>
      </p:sp>
      <p:sp>
        <p:nvSpPr>
          <p:cNvPr id="14" name="Shape 12"/>
          <p:cNvSpPr/>
          <p:nvPr/>
        </p:nvSpPr>
        <p:spPr>
          <a:xfrm>
            <a:off x="548640" y="4224528"/>
            <a:ext cx="11091672" cy="1417320"/>
          </a:xfrm>
          <a:prstGeom prst="roundRect">
            <a:avLst>
              <a:gd name="adj" fmla="val 3871"/>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15" name="Text 13"/>
          <p:cNvSpPr txBox="1"/>
          <p:nvPr/>
        </p:nvSpPr>
        <p:spPr>
          <a:xfrm>
            <a:off x="868680" y="4407408"/>
            <a:ext cx="10424160" cy="274320"/>
          </a:xfrm>
          <a:prstGeom prst="rect">
            <a:avLst/>
          </a:prstGeom>
          <a:noFill/>
          <a:ln/>
        </p:spPr>
        <p:txBody>
          <a:bodyPr wrap="square" lIns="0" tIns="0" rIns="0" bIns="0" rtlCol="0" anchor="ctr"/>
          <a:lstStyle/>
          <a:p>
            <a:pPr indent="0" marL="0">
              <a:buNone/>
            </a:pPr>
            <a:r>
              <a:rPr lang="en-US" sz="1200" b="1" dirty="0">
                <a:solidFill>
                  <a:srgbClr val="6B7A90"/>
                </a:solidFill>
                <a:latin typeface="Calibri" pitchFamily="34" charset="0"/>
                <a:ea typeface="Calibri" pitchFamily="34" charset="-122"/>
                <a:cs typeface="Calibri" pitchFamily="34" charset="-120"/>
              </a:rPr>
              <a:t>What follows from that</a:t>
            </a:r>
            <a:endParaRPr lang="en-US" sz="1200" dirty="0"/>
          </a:p>
        </p:txBody>
      </p:sp>
      <p:sp>
        <p:nvSpPr>
          <p:cNvPr id="16" name="Text 14"/>
          <p:cNvSpPr txBox="1"/>
          <p:nvPr/>
        </p:nvSpPr>
        <p:spPr>
          <a:xfrm>
            <a:off x="868680" y="4709160"/>
            <a:ext cx="10424160" cy="777240"/>
          </a:xfrm>
          <a:prstGeom prst="rect">
            <a:avLst/>
          </a:prstGeom>
          <a:noFill/>
          <a:ln/>
        </p:spPr>
        <p:txBody>
          <a:bodyPr wrap="square" lIns="0" tIns="0" rIns="0" bIns="0" rtlCol="0" anchor="ctr"/>
          <a:lstStyle/>
          <a:p>
            <a:pPr indent="0" marL="0">
              <a:buNone/>
            </a:pPr>
            <a:r>
              <a:rPr lang="en-US" sz="1250" b="1" dirty="0">
                <a:solidFill>
                  <a:srgbClr val="333F50"/>
                </a:solidFill>
                <a:latin typeface="Calibri" pitchFamily="34" charset="0"/>
                <a:ea typeface="Calibri" pitchFamily="34" charset="-122"/>
                <a:cs typeface="Calibri" pitchFamily="34" charset="-120"/>
              </a:rPr>
              <a:t>Two dashboards can be delivered properly now. </a:t>
            </a:r>
            <a:pPr indent="0" marL="0">
              <a:buNone/>
            </a:pPr>
            <a:r>
              <a:rPr lang="en-US" sz="1250" dirty="0">
                <a:solidFill>
                  <a:srgbClr val="333F50"/>
                </a:solidFill>
                <a:latin typeface="Calibri" pitchFamily="34" charset="0"/>
                <a:ea typeface="Calibri" pitchFamily="34" charset="-122"/>
                <a:cs typeface="Calibri" pitchFamily="34" charset="-120"/>
              </a:rPr>
              <a:t>The other four each wait on something outside this team: a project register, the file plan term list, a disposal system, or a physical archive system. Building all six at once means six partial dashboards and no confirmed source behind most of them.</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329184" y="274320"/>
            <a:ext cx="11219688" cy="219456"/>
          </a:xfrm>
          <a:prstGeom prst="rect">
            <a:avLst/>
          </a:prstGeom>
          <a:noFill/>
          <a:ln/>
        </p:spPr>
        <p:txBody>
          <a:bodyPr wrap="square" lIns="0" tIns="0" rIns="0" bIns="0" rtlCol="0" anchor="ctr"/>
          <a:lstStyle/>
          <a:p>
            <a:pPr indent="0" marL="0">
              <a:buNone/>
            </a:pPr>
            <a:r>
              <a:rPr lang="en-US" sz="1050" b="1" spc="160" kern="0" dirty="0">
                <a:solidFill>
                  <a:srgbClr val="6B7A90"/>
                </a:solidFill>
                <a:latin typeface="Calibri" pitchFamily="34" charset="0"/>
                <a:ea typeface="Calibri" pitchFamily="34" charset="-122"/>
                <a:cs typeface="Calibri" pitchFamily="34" charset="-120"/>
              </a:rPr>
              <a:t>THE PROPOSAL</a:t>
            </a:r>
            <a:endParaRPr lang="en-US" sz="1050" dirty="0"/>
          </a:p>
        </p:txBody>
      </p:sp>
      <p:sp>
        <p:nvSpPr>
          <p:cNvPr id="3" name="Text 1"/>
          <p:cNvSpPr txBox="1"/>
          <p:nvPr/>
        </p:nvSpPr>
        <p:spPr>
          <a:xfrm>
            <a:off x="329184" y="512064"/>
            <a:ext cx="11219688" cy="658368"/>
          </a:xfrm>
          <a:prstGeom prst="rect">
            <a:avLst/>
          </a:prstGeom>
          <a:noFill/>
          <a:ln/>
        </p:spPr>
        <p:txBody>
          <a:bodyPr wrap="square" lIns="0" tIns="0" rIns="0" bIns="0" rtlCol="0" anchor="ctr"/>
          <a:lstStyle/>
          <a:p>
            <a:pPr indent="0" marL="0">
              <a:buNone/>
            </a:pPr>
            <a:r>
              <a:rPr lang="en-US" sz="3200" b="1" dirty="0">
                <a:solidFill>
                  <a:srgbClr val="44546A"/>
                </a:solidFill>
                <a:latin typeface="Cambria" pitchFamily="34" charset="0"/>
                <a:ea typeface="Cambria" pitchFamily="34" charset="-122"/>
                <a:cs typeface="Cambria" pitchFamily="34" charset="-120"/>
              </a:rPr>
              <a:t>Two dashboards as the MVP for this release</a:t>
            </a:r>
            <a:endParaRPr lang="en-US" sz="3200" dirty="0"/>
          </a:p>
        </p:txBody>
      </p:sp>
      <p:sp>
        <p:nvSpPr>
          <p:cNvPr id="4" name="Text 2"/>
          <p:cNvSpPr txBox="1"/>
          <p:nvPr/>
        </p:nvSpPr>
        <p:spPr>
          <a:xfrm>
            <a:off x="548640" y="1298448"/>
            <a:ext cx="11091672" cy="274320"/>
          </a:xfrm>
          <a:prstGeom prst="rect">
            <a:avLst/>
          </a:prstGeom>
          <a:noFill/>
          <a:ln/>
        </p:spPr>
        <p:txBody>
          <a:bodyPr wrap="square" lIns="0" tIns="0" rIns="0" bIns="0" rtlCol="0" anchor="ctr"/>
          <a:lstStyle/>
          <a:p>
            <a:pPr indent="0" marL="0">
              <a:buNone/>
            </a:pPr>
            <a:r>
              <a:rPr lang="en-US" sz="1250" dirty="0">
                <a:solidFill>
                  <a:srgbClr val="333F50"/>
                </a:solidFill>
                <a:latin typeface="Calibri" pitchFamily="34" charset="0"/>
                <a:ea typeface="Calibri" pitchFamily="34" charset="-122"/>
                <a:cs typeface="Calibri" pitchFamily="34" charset="-120"/>
              </a:rPr>
              <a:t>Nothing is removed from scope. The remaining four are parked for a future release.</a:t>
            </a:r>
            <a:endParaRPr lang="en-US" sz="1250" dirty="0"/>
          </a:p>
        </p:txBody>
      </p:sp>
      <p:sp>
        <p:nvSpPr>
          <p:cNvPr id="5" name="Shape 3"/>
          <p:cNvSpPr/>
          <p:nvPr/>
        </p:nvSpPr>
        <p:spPr>
          <a:xfrm>
            <a:off x="548640" y="1719072"/>
            <a:ext cx="5577840" cy="2331720"/>
          </a:xfrm>
          <a:prstGeom prst="roundRect">
            <a:avLst>
              <a:gd name="adj" fmla="val 2353"/>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6" name="Text 4"/>
          <p:cNvSpPr txBox="1"/>
          <p:nvPr/>
        </p:nvSpPr>
        <p:spPr>
          <a:xfrm>
            <a:off x="868680" y="1901952"/>
            <a:ext cx="4937760" cy="219456"/>
          </a:xfrm>
          <a:prstGeom prst="rect">
            <a:avLst/>
          </a:prstGeom>
          <a:noFill/>
          <a:ln/>
        </p:spPr>
        <p:txBody>
          <a:bodyPr wrap="square" lIns="0" tIns="0" rIns="0" bIns="0" rtlCol="0" anchor="ctr"/>
          <a:lstStyle/>
          <a:p>
            <a:pPr indent="0" marL="0">
              <a:buNone/>
            </a:pPr>
            <a:r>
              <a:rPr lang="en-US" sz="1000" b="1" spc="140" kern="0" dirty="0">
                <a:solidFill>
                  <a:srgbClr val="6B7A90"/>
                </a:solidFill>
                <a:latin typeface="Calibri" pitchFamily="34" charset="0"/>
                <a:ea typeface="Calibri" pitchFamily="34" charset="-122"/>
                <a:cs typeface="Calibri" pitchFamily="34" charset="-120"/>
              </a:rPr>
              <a:t>IN THIS RELEASE</a:t>
            </a:r>
            <a:endParaRPr lang="en-US" sz="1000" dirty="0"/>
          </a:p>
        </p:txBody>
      </p:sp>
      <p:sp>
        <p:nvSpPr>
          <p:cNvPr id="7" name="Shape 5"/>
          <p:cNvSpPr/>
          <p:nvPr/>
        </p:nvSpPr>
        <p:spPr>
          <a:xfrm>
            <a:off x="868680" y="2240280"/>
            <a:ext cx="329184" cy="329184"/>
          </a:xfrm>
          <a:prstGeom prst="ellipse">
            <a:avLst/>
          </a:prstGeom>
          <a:solidFill>
            <a:srgbClr val="1E2761"/>
          </a:solidFill>
          <a:ln/>
        </p:spPr>
      </p:sp>
      <p:sp>
        <p:nvSpPr>
          <p:cNvPr id="8" name="Text 6"/>
          <p:cNvSpPr txBox="1"/>
          <p:nvPr/>
        </p:nvSpPr>
        <p:spPr>
          <a:xfrm>
            <a:off x="868680" y="22402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txBox="1"/>
          <p:nvPr/>
        </p:nvSpPr>
        <p:spPr>
          <a:xfrm>
            <a:off x="1353312" y="2240280"/>
            <a:ext cx="4480560" cy="32918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Bank-wide Oversight</a:t>
            </a:r>
            <a:endParaRPr lang="en-US" sz="1500" dirty="0"/>
          </a:p>
        </p:txBody>
      </p:sp>
      <p:sp>
        <p:nvSpPr>
          <p:cNvPr id="10" name="Shape 8"/>
          <p:cNvSpPr/>
          <p:nvPr/>
        </p:nvSpPr>
        <p:spPr>
          <a:xfrm>
            <a:off x="868680" y="2788920"/>
            <a:ext cx="329184" cy="329184"/>
          </a:xfrm>
          <a:prstGeom prst="ellipse">
            <a:avLst/>
          </a:prstGeom>
          <a:solidFill>
            <a:srgbClr val="1E2761"/>
          </a:solidFill>
          <a:ln/>
        </p:spPr>
      </p:sp>
      <p:sp>
        <p:nvSpPr>
          <p:cNvPr id="11" name="Text 9"/>
          <p:cNvSpPr txBox="1"/>
          <p:nvPr/>
        </p:nvSpPr>
        <p:spPr>
          <a:xfrm>
            <a:off x="868680" y="27889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txBox="1"/>
          <p:nvPr/>
        </p:nvSpPr>
        <p:spPr>
          <a:xfrm>
            <a:off x="1353312" y="2788920"/>
            <a:ext cx="4480560" cy="32918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Department Insights</a:t>
            </a:r>
            <a:endParaRPr lang="en-US" sz="1500" dirty="0"/>
          </a:p>
        </p:txBody>
      </p:sp>
      <p:sp>
        <p:nvSpPr>
          <p:cNvPr id="13" name="Text 11"/>
          <p:cNvSpPr txBox="1"/>
          <p:nvPr/>
        </p:nvSpPr>
        <p:spPr>
          <a:xfrm>
            <a:off x="868680" y="3364992"/>
            <a:ext cx="4937760" cy="621792"/>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333F50"/>
                </a:solidFill>
                <a:latin typeface="Calibri" pitchFamily="34" charset="0"/>
                <a:ea typeface="Calibri" pitchFamily="34" charset="-122"/>
                <a:cs typeface="Calibri" pitchFamily="34" charset="-120"/>
              </a:rPr>
              <a:t>Available from the sources we hold today</a:t>
            </a:r>
            <a:endParaRPr lang="en-US" sz="1150" dirty="0"/>
          </a:p>
          <a:p>
            <a:pPr marL="342900" indent="-342900">
              <a:spcAft>
                <a:spcPts val="400"/>
              </a:spcAft>
              <a:buSzPct val="100000"/>
              <a:buChar char="•"/>
            </a:pPr>
            <a:r>
              <a:rPr lang="en-US" sz="1150" dirty="0">
                <a:solidFill>
                  <a:srgbClr val="333F50"/>
                </a:solidFill>
                <a:latin typeface="Calibri" pitchFamily="34" charset="0"/>
                <a:ea typeface="Calibri" pitchFamily="34" charset="-122"/>
                <a:cs typeface="Calibri" pitchFamily="34" charset="-120"/>
              </a:rPr>
              <a:t>The two the team most needs to use now</a:t>
            </a:r>
            <a:endParaRPr lang="en-US" sz="1150" dirty="0"/>
          </a:p>
          <a:p>
            <a:pPr marL="342900" indent="-342900">
              <a:spcAft>
                <a:spcPts val="400"/>
              </a:spcAft>
              <a:buSzPct val="100000"/>
              <a:buChar char="•"/>
            </a:pPr>
            <a:r>
              <a:rPr lang="en-US" sz="1150" dirty="0">
                <a:solidFill>
                  <a:srgbClr val="333F50"/>
                </a:solidFill>
                <a:latin typeface="Calibri" pitchFamily="34" charset="0"/>
                <a:ea typeface="Calibri" pitchFamily="34" charset="-122"/>
                <a:cs typeface="Calibri" pitchFamily="34" charset="-120"/>
              </a:rPr>
              <a:t>Delivered to a finished standard, not a partial one</a:t>
            </a:r>
            <a:endParaRPr lang="en-US" sz="1150" dirty="0"/>
          </a:p>
        </p:txBody>
      </p:sp>
      <p:sp>
        <p:nvSpPr>
          <p:cNvPr id="14" name="Shape 12"/>
          <p:cNvSpPr/>
          <p:nvPr/>
        </p:nvSpPr>
        <p:spPr>
          <a:xfrm>
            <a:off x="6336792" y="1719072"/>
            <a:ext cx="5303520" cy="2331720"/>
          </a:xfrm>
          <a:prstGeom prst="roundRect">
            <a:avLst>
              <a:gd name="adj" fmla="val 2353"/>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15" name="Text 13"/>
          <p:cNvSpPr txBox="1"/>
          <p:nvPr/>
        </p:nvSpPr>
        <p:spPr>
          <a:xfrm>
            <a:off x="6656832" y="1901952"/>
            <a:ext cx="4663440" cy="219456"/>
          </a:xfrm>
          <a:prstGeom prst="rect">
            <a:avLst/>
          </a:prstGeom>
          <a:noFill/>
          <a:ln/>
        </p:spPr>
        <p:txBody>
          <a:bodyPr wrap="square" lIns="0" tIns="0" rIns="0" bIns="0" rtlCol="0" anchor="ctr"/>
          <a:lstStyle/>
          <a:p>
            <a:pPr indent="0" marL="0">
              <a:buNone/>
            </a:pPr>
            <a:r>
              <a:rPr lang="en-US" sz="1000" b="1" spc="140" kern="0" dirty="0">
                <a:solidFill>
                  <a:srgbClr val="6B7A90"/>
                </a:solidFill>
                <a:latin typeface="Calibri" pitchFamily="34" charset="0"/>
                <a:ea typeface="Calibri" pitchFamily="34" charset="-122"/>
                <a:cs typeface="Calibri" pitchFamily="34" charset="-120"/>
              </a:rPr>
              <a:t>PARKED, STILL IN SCOPE</a:t>
            </a:r>
            <a:endParaRPr lang="en-US" sz="1000" dirty="0"/>
          </a:p>
        </p:txBody>
      </p:sp>
      <p:sp>
        <p:nvSpPr>
          <p:cNvPr id="16" name="Text 14"/>
          <p:cNvSpPr txBox="1"/>
          <p:nvPr/>
        </p:nvSpPr>
        <p:spPr>
          <a:xfrm>
            <a:off x="6656832" y="2240280"/>
            <a:ext cx="2331720" cy="402336"/>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Project Insights</a:t>
            </a:r>
            <a:endParaRPr lang="en-US" sz="1200" dirty="0"/>
          </a:p>
        </p:txBody>
      </p:sp>
      <p:sp>
        <p:nvSpPr>
          <p:cNvPr id="17" name="Text 15"/>
          <p:cNvSpPr txBox="1"/>
          <p:nvPr/>
        </p:nvSpPr>
        <p:spPr>
          <a:xfrm>
            <a:off x="9052560" y="2240280"/>
            <a:ext cx="2377440" cy="402336"/>
          </a:xfrm>
          <a:prstGeom prst="rect">
            <a:avLst/>
          </a:prstGeom>
          <a:noFill/>
          <a:ln/>
        </p:spPr>
        <p:txBody>
          <a:bodyPr wrap="square" lIns="0" tIns="0" rIns="0" bIns="0" rtlCol="0" anchor="ctr"/>
          <a:lstStyle/>
          <a:p>
            <a:pPr indent="0" marL="0">
              <a:buNone/>
            </a:pPr>
            <a:r>
              <a:rPr lang="en-US" sz="1000" dirty="0">
                <a:solidFill>
                  <a:srgbClr val="6B7A90"/>
                </a:solidFill>
                <a:latin typeface="Calibri" pitchFamily="34" charset="0"/>
                <a:ea typeface="Calibri" pitchFamily="34" charset="-122"/>
                <a:cs typeface="Calibri" pitchFamily="34" charset="-120"/>
              </a:rPr>
              <a:t>Waits on a site to project register</a:t>
            </a:r>
            <a:endParaRPr lang="en-US" sz="1000" dirty="0"/>
          </a:p>
        </p:txBody>
      </p:sp>
      <p:sp>
        <p:nvSpPr>
          <p:cNvPr id="18" name="Text 16"/>
          <p:cNvSpPr txBox="1"/>
          <p:nvPr/>
        </p:nvSpPr>
        <p:spPr>
          <a:xfrm>
            <a:off x="6656832" y="2660904"/>
            <a:ext cx="2331720" cy="402336"/>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Institutional File Plan</a:t>
            </a:r>
            <a:endParaRPr lang="en-US" sz="1200" dirty="0"/>
          </a:p>
        </p:txBody>
      </p:sp>
      <p:sp>
        <p:nvSpPr>
          <p:cNvPr id="19" name="Text 17"/>
          <p:cNvSpPr txBox="1"/>
          <p:nvPr/>
        </p:nvSpPr>
        <p:spPr>
          <a:xfrm>
            <a:off x="9052560" y="2660904"/>
            <a:ext cx="2377440" cy="402336"/>
          </a:xfrm>
          <a:prstGeom prst="rect">
            <a:avLst/>
          </a:prstGeom>
          <a:noFill/>
          <a:ln/>
        </p:spPr>
        <p:txBody>
          <a:bodyPr wrap="square" lIns="0" tIns="0" rIns="0" bIns="0" rtlCol="0" anchor="ctr"/>
          <a:lstStyle/>
          <a:p>
            <a:pPr indent="0" marL="0">
              <a:buNone/>
            </a:pPr>
            <a:r>
              <a:rPr lang="en-US" sz="1000" dirty="0">
                <a:solidFill>
                  <a:srgbClr val="6B7A90"/>
                </a:solidFill>
                <a:latin typeface="Calibri" pitchFamily="34" charset="0"/>
                <a:ea typeface="Calibri" pitchFamily="34" charset="-122"/>
                <a:cs typeface="Calibri" pitchFamily="34" charset="-120"/>
              </a:rPr>
              <a:t>Waits on the file plan term list</a:t>
            </a:r>
            <a:endParaRPr lang="en-US" sz="1000" dirty="0"/>
          </a:p>
        </p:txBody>
      </p:sp>
      <p:sp>
        <p:nvSpPr>
          <p:cNvPr id="20" name="Text 18"/>
          <p:cNvSpPr txBox="1"/>
          <p:nvPr/>
        </p:nvSpPr>
        <p:spPr>
          <a:xfrm>
            <a:off x="6656832" y="3081528"/>
            <a:ext cx="2331720" cy="402336"/>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Retention and Disposal</a:t>
            </a:r>
            <a:endParaRPr lang="en-US" sz="1200" dirty="0"/>
          </a:p>
        </p:txBody>
      </p:sp>
      <p:sp>
        <p:nvSpPr>
          <p:cNvPr id="21" name="Text 19"/>
          <p:cNvSpPr txBox="1"/>
          <p:nvPr/>
        </p:nvSpPr>
        <p:spPr>
          <a:xfrm>
            <a:off x="9052560" y="3081528"/>
            <a:ext cx="2377440" cy="402336"/>
          </a:xfrm>
          <a:prstGeom prst="rect">
            <a:avLst/>
          </a:prstGeom>
          <a:noFill/>
          <a:ln/>
        </p:spPr>
        <p:txBody>
          <a:bodyPr wrap="square" lIns="0" tIns="0" rIns="0" bIns="0" rtlCol="0" anchor="ctr"/>
          <a:lstStyle/>
          <a:p>
            <a:pPr indent="0" marL="0">
              <a:buNone/>
            </a:pPr>
            <a:r>
              <a:rPr lang="en-US" sz="1000" dirty="0">
                <a:solidFill>
                  <a:srgbClr val="6B7A90"/>
                </a:solidFill>
                <a:latin typeface="Calibri" pitchFamily="34" charset="0"/>
                <a:ea typeface="Calibri" pitchFamily="34" charset="-122"/>
                <a:cs typeface="Calibri" pitchFamily="34" charset="-120"/>
              </a:rPr>
              <a:t>Retention works. Disposal has its own release</a:t>
            </a:r>
            <a:endParaRPr lang="en-US" sz="1000" dirty="0"/>
          </a:p>
        </p:txBody>
      </p:sp>
      <p:sp>
        <p:nvSpPr>
          <p:cNvPr id="22" name="Text 20"/>
          <p:cNvSpPr txBox="1"/>
          <p:nvPr/>
        </p:nvSpPr>
        <p:spPr>
          <a:xfrm>
            <a:off x="6656832" y="3502152"/>
            <a:ext cx="2331720" cy="402336"/>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Records and Archives Holdings</a:t>
            </a:r>
            <a:endParaRPr lang="en-US" sz="1200" dirty="0"/>
          </a:p>
        </p:txBody>
      </p:sp>
      <p:sp>
        <p:nvSpPr>
          <p:cNvPr id="23" name="Text 21"/>
          <p:cNvSpPr txBox="1"/>
          <p:nvPr/>
        </p:nvSpPr>
        <p:spPr>
          <a:xfrm>
            <a:off x="9052560" y="3502152"/>
            <a:ext cx="2377440" cy="402336"/>
          </a:xfrm>
          <a:prstGeom prst="rect">
            <a:avLst/>
          </a:prstGeom>
          <a:noFill/>
          <a:ln/>
        </p:spPr>
        <p:txBody>
          <a:bodyPr wrap="square" lIns="0" tIns="0" rIns="0" bIns="0" rtlCol="0" anchor="ctr"/>
          <a:lstStyle/>
          <a:p>
            <a:pPr indent="0" marL="0">
              <a:buNone/>
            </a:pPr>
            <a:r>
              <a:rPr lang="en-US" sz="1000" dirty="0">
                <a:solidFill>
                  <a:srgbClr val="6B7A90"/>
                </a:solidFill>
                <a:latin typeface="Calibri" pitchFamily="34" charset="0"/>
                <a:ea typeface="Calibri" pitchFamily="34" charset="-122"/>
                <a:cs typeface="Calibri" pitchFamily="34" charset="-120"/>
              </a:rPr>
              <a:t>Waits on a physical archive system</a:t>
            </a:r>
            <a:endParaRPr lang="en-US" sz="1000" dirty="0"/>
          </a:p>
        </p:txBody>
      </p:sp>
      <p:sp>
        <p:nvSpPr>
          <p:cNvPr id="24" name="Shape 22"/>
          <p:cNvSpPr/>
          <p:nvPr/>
        </p:nvSpPr>
        <p:spPr>
          <a:xfrm>
            <a:off x="548640" y="4224528"/>
            <a:ext cx="11091672" cy="2011680"/>
          </a:xfrm>
          <a:prstGeom prst="roundRect">
            <a:avLst>
              <a:gd name="adj" fmla="val 2727"/>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25" name="Text 23"/>
          <p:cNvSpPr txBox="1"/>
          <p:nvPr/>
        </p:nvSpPr>
        <p:spPr>
          <a:xfrm>
            <a:off x="868680" y="4389120"/>
            <a:ext cx="10424160" cy="237744"/>
          </a:xfrm>
          <a:prstGeom prst="rect">
            <a:avLst/>
          </a:prstGeom>
          <a:noFill/>
          <a:ln/>
        </p:spPr>
        <p:txBody>
          <a:bodyPr wrap="square" lIns="0" tIns="0" rIns="0" bIns="0" rtlCol="0" anchor="ctr"/>
          <a:lstStyle/>
          <a:p>
            <a:pPr indent="0" marL="0">
              <a:buNone/>
            </a:pPr>
            <a:r>
              <a:rPr lang="en-US" sz="1050" b="1" spc="140" kern="0" dirty="0">
                <a:solidFill>
                  <a:srgbClr val="6B7A90"/>
                </a:solidFill>
                <a:latin typeface="Calibri" pitchFamily="34" charset="0"/>
                <a:ea typeface="Calibri" pitchFamily="34" charset="-122"/>
                <a:cs typeface="Calibri" pitchFamily="34" charset="-120"/>
              </a:rPr>
              <a:t>THE DECISION WE NEED TODAY</a:t>
            </a:r>
            <a:endParaRPr lang="en-US" sz="1050" dirty="0"/>
          </a:p>
        </p:txBody>
      </p:sp>
      <p:sp>
        <p:nvSpPr>
          <p:cNvPr id="26" name="Shape 24"/>
          <p:cNvSpPr/>
          <p:nvPr/>
        </p:nvSpPr>
        <p:spPr>
          <a:xfrm>
            <a:off x="868680" y="4681728"/>
            <a:ext cx="5074920" cy="1371600"/>
          </a:xfrm>
          <a:prstGeom prst="roundRect">
            <a:avLst>
              <a:gd name="adj" fmla="val 3333"/>
            </a:avLst>
          </a:prstGeom>
          <a:solidFill>
            <a:srgbClr val="E8F0E9"/>
          </a:solidFill>
          <a:ln w="12700">
            <a:solidFill>
              <a:srgbClr val="1F6B3B"/>
            </a:solidFill>
            <a:prstDash val="solid"/>
          </a:ln>
        </p:spPr>
      </p:sp>
      <p:sp>
        <p:nvSpPr>
          <p:cNvPr id="27" name="Text 25"/>
          <p:cNvSpPr txBox="1"/>
          <p:nvPr/>
        </p:nvSpPr>
        <p:spPr>
          <a:xfrm>
            <a:off x="1097280" y="4791456"/>
            <a:ext cx="4572000" cy="256032"/>
          </a:xfrm>
          <a:prstGeom prst="rect">
            <a:avLst/>
          </a:prstGeom>
          <a:noFill/>
          <a:ln/>
        </p:spPr>
        <p:txBody>
          <a:bodyPr wrap="square" lIns="0" tIns="0" rIns="0" bIns="0" rtlCol="0" anchor="ctr"/>
          <a:lstStyle/>
          <a:p>
            <a:pPr indent="0" marL="0">
              <a:buNone/>
            </a:pPr>
            <a:r>
              <a:rPr lang="en-US" sz="1200" b="1" dirty="0">
                <a:solidFill>
                  <a:srgbClr val="1F6B3B"/>
                </a:solidFill>
                <a:latin typeface="Calibri" pitchFamily="34" charset="0"/>
                <a:ea typeface="Calibri" pitchFamily="34" charset="-122"/>
                <a:cs typeface="Calibri" pitchFamily="34" charset="-120"/>
              </a:rPr>
              <a:t>Option A</a:t>
            </a:r>
            <a:endParaRPr lang="en-US" sz="1200" dirty="0"/>
          </a:p>
        </p:txBody>
      </p:sp>
      <p:sp>
        <p:nvSpPr>
          <p:cNvPr id="28" name="Text 26"/>
          <p:cNvSpPr txBox="1"/>
          <p:nvPr/>
        </p:nvSpPr>
        <p:spPr>
          <a:xfrm>
            <a:off x="1097280" y="5065776"/>
            <a:ext cx="4617720" cy="868680"/>
          </a:xfrm>
          <a:prstGeom prst="rect">
            <a:avLst/>
          </a:prstGeom>
          <a:noFill/>
          <a:ln/>
        </p:spPr>
        <p:txBody>
          <a:bodyPr wrap="square" lIns="0" tIns="0" rIns="0" bIns="0" rtlCol="0" anchor="ctr"/>
          <a:lstStyle/>
          <a:p>
            <a:pPr indent="0" marL="0">
              <a:buNone/>
            </a:pPr>
            <a:r>
              <a:rPr lang="en-US" sz="1150" dirty="0">
                <a:solidFill>
                  <a:srgbClr val="333F50"/>
                </a:solidFill>
                <a:latin typeface="Calibri" pitchFamily="34" charset="0"/>
                <a:ea typeface="Calibri" pitchFamily="34" charset="-122"/>
                <a:cs typeface="Calibri" pitchFamily="34" charset="-120"/>
              </a:rPr>
              <a:t>Bank-wide Oversight and Department Insights as the MVP for this release, with the other four parked in scope for a future release.</a:t>
            </a:r>
            <a:endParaRPr lang="en-US" sz="1150" dirty="0"/>
          </a:p>
        </p:txBody>
      </p:sp>
      <p:sp>
        <p:nvSpPr>
          <p:cNvPr id="29" name="Shape 27"/>
          <p:cNvSpPr/>
          <p:nvPr/>
        </p:nvSpPr>
        <p:spPr>
          <a:xfrm>
            <a:off x="6245352" y="4681728"/>
            <a:ext cx="5074920" cy="1371600"/>
          </a:xfrm>
          <a:prstGeom prst="roundRect">
            <a:avLst>
              <a:gd name="adj" fmla="val 3333"/>
            </a:avLst>
          </a:prstGeom>
          <a:solidFill>
            <a:srgbClr val="F3F5F9"/>
          </a:solidFill>
          <a:ln w="12700">
            <a:solidFill>
              <a:srgbClr val="AAB6C8"/>
            </a:solidFill>
            <a:prstDash val="solid"/>
          </a:ln>
        </p:spPr>
      </p:sp>
      <p:sp>
        <p:nvSpPr>
          <p:cNvPr id="30" name="Text 28"/>
          <p:cNvSpPr txBox="1"/>
          <p:nvPr/>
        </p:nvSpPr>
        <p:spPr>
          <a:xfrm>
            <a:off x="6473952" y="4791456"/>
            <a:ext cx="4572000" cy="256032"/>
          </a:xfrm>
          <a:prstGeom prst="rect">
            <a:avLst/>
          </a:prstGeom>
          <a:noFill/>
          <a:ln/>
        </p:spPr>
        <p:txBody>
          <a:bodyPr wrap="square" lIns="0" tIns="0" rIns="0" bIns="0" rtlCol="0" anchor="ctr"/>
          <a:lstStyle/>
          <a:p>
            <a:pPr indent="0" marL="0">
              <a:buNone/>
            </a:pPr>
            <a:r>
              <a:rPr lang="en-US" sz="1200" b="1" dirty="0">
                <a:solidFill>
                  <a:srgbClr val="333F50"/>
                </a:solidFill>
                <a:latin typeface="Calibri" pitchFamily="34" charset="0"/>
                <a:ea typeface="Calibri" pitchFamily="34" charset="-122"/>
                <a:cs typeface="Calibri" pitchFamily="34" charset="-120"/>
              </a:rPr>
              <a:t>Option B</a:t>
            </a:r>
            <a:endParaRPr lang="en-US" sz="1200" dirty="0"/>
          </a:p>
        </p:txBody>
      </p:sp>
      <p:sp>
        <p:nvSpPr>
          <p:cNvPr id="31" name="Text 29"/>
          <p:cNvSpPr txBox="1"/>
          <p:nvPr/>
        </p:nvSpPr>
        <p:spPr>
          <a:xfrm>
            <a:off x="6473952" y="5065776"/>
            <a:ext cx="4617720" cy="868680"/>
          </a:xfrm>
          <a:prstGeom prst="rect">
            <a:avLst/>
          </a:prstGeom>
          <a:noFill/>
          <a:ln/>
        </p:spPr>
        <p:txBody>
          <a:bodyPr wrap="square" lIns="0" tIns="0" rIns="0" bIns="0" rtlCol="0" anchor="ctr"/>
          <a:lstStyle/>
          <a:p>
            <a:pPr indent="0" marL="0">
              <a:buNone/>
            </a:pPr>
            <a:r>
              <a:rPr lang="en-US" sz="1150" dirty="0">
                <a:solidFill>
                  <a:srgbClr val="333F50"/>
                </a:solidFill>
                <a:latin typeface="Calibri" pitchFamily="34" charset="0"/>
                <a:ea typeface="Calibri" pitchFamily="34" charset="-122"/>
                <a:cs typeface="Calibri" pitchFamily="34" charset="-120"/>
              </a:rPr>
              <a:t>All six dashboards in one release. This means four of them ship with most measures unsourced until the systems behind them exist.</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329184" y="274320"/>
            <a:ext cx="11219688" cy="219456"/>
          </a:xfrm>
          <a:prstGeom prst="rect">
            <a:avLst/>
          </a:prstGeom>
          <a:noFill/>
          <a:ln/>
        </p:spPr>
        <p:txBody>
          <a:bodyPr wrap="square" lIns="0" tIns="0" rIns="0" bIns="0" rtlCol="0" anchor="ctr"/>
          <a:lstStyle/>
          <a:p>
            <a:pPr indent="0" marL="0">
              <a:buNone/>
            </a:pPr>
            <a:r>
              <a:rPr lang="en-US" sz="1050" b="1" spc="160" kern="0" dirty="0">
                <a:solidFill>
                  <a:srgbClr val="6B7A90"/>
                </a:solidFill>
                <a:latin typeface="Calibri" pitchFamily="34" charset="0"/>
                <a:ea typeface="Calibri" pitchFamily="34" charset="-122"/>
                <a:cs typeface="Calibri" pitchFamily="34" charset="-120"/>
              </a:rPr>
              <a:t>AVAILABLE DATA</a:t>
            </a:r>
            <a:endParaRPr lang="en-US" sz="1050" dirty="0"/>
          </a:p>
        </p:txBody>
      </p:sp>
      <p:sp>
        <p:nvSpPr>
          <p:cNvPr id="3" name="Text 1"/>
          <p:cNvSpPr txBox="1"/>
          <p:nvPr/>
        </p:nvSpPr>
        <p:spPr>
          <a:xfrm>
            <a:off x="329184" y="512064"/>
            <a:ext cx="11219688" cy="658368"/>
          </a:xfrm>
          <a:prstGeom prst="rect">
            <a:avLst/>
          </a:prstGeom>
          <a:noFill/>
          <a:ln/>
        </p:spPr>
        <p:txBody>
          <a:bodyPr wrap="square" lIns="0" tIns="0" rIns="0" bIns="0" rtlCol="0" anchor="ctr"/>
          <a:lstStyle/>
          <a:p>
            <a:pPr indent="0" marL="0">
              <a:buNone/>
            </a:pPr>
            <a:r>
              <a:rPr lang="en-US" sz="3200" b="1" dirty="0">
                <a:solidFill>
                  <a:srgbClr val="44546A"/>
                </a:solidFill>
                <a:latin typeface="Cambria" pitchFamily="34" charset="0"/>
                <a:ea typeface="Cambria" pitchFamily="34" charset="-122"/>
                <a:cs typeface="Cambria" pitchFamily="34" charset="-120"/>
              </a:rPr>
              <a:t>The four sources we have today</a:t>
            </a:r>
            <a:endParaRPr lang="en-US" sz="3200" dirty="0"/>
          </a:p>
        </p:txBody>
      </p:sp>
      <p:sp>
        <p:nvSpPr>
          <p:cNvPr id="4" name="Text 2"/>
          <p:cNvSpPr txBox="1"/>
          <p:nvPr/>
        </p:nvSpPr>
        <p:spPr>
          <a:xfrm>
            <a:off x="548640" y="1298448"/>
            <a:ext cx="11091672" cy="274320"/>
          </a:xfrm>
          <a:prstGeom prst="rect">
            <a:avLst/>
          </a:prstGeom>
          <a:noFill/>
          <a:ln/>
        </p:spPr>
        <p:txBody>
          <a:bodyPr wrap="square" lIns="0" tIns="0" rIns="0" bIns="0" rtlCol="0" anchor="ctr"/>
          <a:lstStyle/>
          <a:p>
            <a:pPr indent="0" marL="0">
              <a:buNone/>
            </a:pPr>
            <a:r>
              <a:rPr lang="en-US" sz="1250" dirty="0">
                <a:solidFill>
                  <a:srgbClr val="333F50"/>
                </a:solidFill>
                <a:latin typeface="Calibri" pitchFamily="34" charset="0"/>
                <a:ea typeface="Calibri" pitchFamily="34" charset="-122"/>
                <a:cs typeface="Calibri" pitchFamily="34" charset="-120"/>
              </a:rPr>
              <a:t>Everything on the two MVP dashboards is built from these. Nothing else is assumed.</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1874520"/>
                <a:gridCol w="3291840"/>
                <a:gridCol w="3246120"/>
                <a:gridCol w="2679192"/>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gives us</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How it is produced</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How current</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p>
                      <a:pPr indent="0" marL="0">
                        <a:buNone/>
                      </a:pPr>
                      <a:r>
                        <a:rPr lang="en-US" sz="1000" b="1" dirty="0">
                          <a:solidFill>
                            <a:srgbClr val="333F50"/>
                          </a:solidFill>
                          <a:latin typeface="Calibri" pitchFamily="34" charset="0"/>
                          <a:ea typeface="Calibri" pitchFamily="34" charset="-122"/>
                          <a:cs typeface="Calibri" pitchFamily="34" charset="-120"/>
                        </a:rPr>
                        <a:t>(drm-npr)</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Declared records, physical counterparts, retention labels, disposal due dates, who declared and when</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Written by EDRMS itself as records are declared. Read directly by query.</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Live. No manual step.</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AvePoint</a:t>
                      </a:r>
                      <a:endParaRPr lang="en-US" sz="1000" dirty="0">
                        <a:latin typeface="Calibri" charset="0"/>
                        <a:ea typeface="Calibri" charset="0"/>
                        <a:cs typeface="Calibri" charset="0"/>
                      </a:endParaRPr>
                    </a:p>
                    <a:p>
                      <a:pPr indent="0" marL="0">
                        <a:buNone/>
                      </a:pPr>
                      <a:r>
                        <a:rPr lang="en-US" sz="1000" b="1" dirty="0">
                          <a:solidFill>
                            <a:srgbClr val="333F50"/>
                          </a:solidFill>
                          <a:latin typeface="Calibri" pitchFamily="34" charset="0"/>
                          <a:ea typeface="Calibri" pitchFamily="34" charset="-122"/>
                          <a:cs typeface="Calibri" pitchFamily="34" charset="-120"/>
                        </a:rPr>
                        <a:t>Cloud Governance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The EDRMS compliant site list, department, site owner, site status, storage used, last active time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Cloud Governance &gt; Directory &gt; Workspace report &gt; Export report</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On demand today. Can be scheduled.</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Microsoft 365</a:t>
                      </a:r>
                      <a:endParaRPr lang="en-US" sz="1000" dirty="0">
                        <a:latin typeface="Calibri" charset="0"/>
                        <a:ea typeface="Calibri" charset="0"/>
                        <a:cs typeface="Calibri" charset="0"/>
                      </a:endParaRPr>
                    </a:p>
                    <a:p>
                      <a:pPr indent="0" marL="0">
                        <a:buNone/>
                      </a:pPr>
                      <a:r>
                        <a:rPr lang="en-US" sz="1000" b="1" dirty="0">
                          <a:solidFill>
                            <a:srgbClr val="333F50"/>
                          </a:solidFill>
                          <a:latin typeface="Calibri" pitchFamily="34" charset="0"/>
                          <a:ea typeface="Calibri" pitchFamily="34" charset="-122"/>
                          <a:cs typeface="Calibri" pitchFamily="34" charset="-120"/>
                        </a:rPr>
                        <a:t>SharePoint reports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Site usage: file count, page views, visited pages, storage.</a:t>
                      </a:r>
                      <a:endParaRPr lang="en-US" sz="1000" dirty="0">
                        <a:latin typeface="Calibri" charset="0"/>
                        <a:ea typeface="Calibri" charset="0"/>
                        <a:cs typeface="Calibri" charset="0"/>
                      </a:endParaRPr>
                    </a:p>
                    <a:p>
                      <a:pPr indent="0" marL="0">
                        <a:buNone/>
                      </a:pPr>
                      <a:r>
                        <a:rPr lang="en-US" sz="1000" dirty="0">
                          <a:solidFill>
                            <a:srgbClr val="333F50"/>
                          </a:solidFill>
                          <a:latin typeface="Calibri" pitchFamily="34" charset="0"/>
                          <a:ea typeface="Calibri" pitchFamily="34" charset="-122"/>
                          <a:cs typeface="Calibri" pitchFamily="34" charset="-120"/>
                        </a:rPr>
                        <a:t>Activity: per user last activity date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M365 admin centre &gt; Reports &gt; Usage &gt; SharePoint site usage, and SharePoint activity</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Windows of 7, 30, 90 or 180 days. Nothing longer is offered.</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Site lookup file</a:t>
                      </a:r>
                      <a:endParaRPr lang="en-US" sz="1000" dirty="0">
                        <a:latin typeface="Calibri" charset="0"/>
                        <a:ea typeface="Calibri" charset="0"/>
                        <a:cs typeface="Calibri" charset="0"/>
                      </a:endParaRPr>
                    </a:p>
                    <a:p>
                      <a:pPr indent="0" marL="0">
                        <a:buNone/>
                      </a:pPr>
                      <a:r>
                        <a:rPr lang="en-US" sz="1000" b="1" dirty="0">
                          <a:solidFill>
                            <a:srgbClr val="333F50"/>
                          </a:solidFill>
                          <a:latin typeface="Calibri" pitchFamily="34" charset="0"/>
                          <a:ea typeface="Calibri" pitchFamily="34" charset="-122"/>
                          <a:cs typeface="Calibri" pitchFamily="34" charset="-120"/>
                        </a:rPr>
                        <a:t>(from ITD)</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Site to department, division and library mapping, plus a production flag separating live sites from demo and UAT</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Maintained by the BA team. Currently an Excel file on the project site.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b="1" dirty="0">
                          <a:solidFill>
                            <a:srgbClr val="8A5A00"/>
                          </a:solidFill>
                          <a:latin typeface="Calibri" pitchFamily="34" charset="0"/>
                          <a:ea typeface="Calibri" pitchFamily="34" charset="-122"/>
                          <a:cs typeface="Calibri" pitchFamily="34" charset="-120"/>
                        </a:rPr>
                        <a:t>Manual. This is the one that can go stale.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r>
            </a:tbl>
          </a:graphicData>
        </a:graphic>
      </p:graphicFrame>
      <p:sp>
        <p:nvSpPr>
          <p:cNvPr id="6" name="Shape 3"/>
          <p:cNvSpPr/>
          <p:nvPr/>
        </p:nvSpPr>
        <p:spPr>
          <a:xfrm>
            <a:off x="548640" y="5440680"/>
            <a:ext cx="11091672" cy="841248"/>
          </a:xfrm>
          <a:prstGeom prst="roundRect">
            <a:avLst>
              <a:gd name="adj" fmla="val 6522"/>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7" name="Text 4"/>
          <p:cNvSpPr txBox="1"/>
          <p:nvPr/>
        </p:nvSpPr>
        <p:spPr>
          <a:xfrm>
            <a:off x="868680" y="5596128"/>
            <a:ext cx="1042416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Sample of each report:  </a:t>
            </a:r>
            <a:pPr indent="0" marL="0">
              <a:buNone/>
            </a:pPr>
            <a:r>
              <a:rPr lang="en-US" sz="1200" b="1" dirty="0">
                <a:solidFill>
                  <a:srgbClr val="8A5A00"/>
                </a:solidFill>
                <a:latin typeface="Calibri" pitchFamily="34" charset="0"/>
                <a:ea typeface="Calibri" pitchFamily="34" charset="-122"/>
                <a:cs typeface="Calibri" pitchFamily="34" charset="-120"/>
              </a:rPr>
              <a:t>[ LINK TO BE PASTED HERE ]</a:t>
            </a:r>
            <a:pPr indent="0" marL="0">
              <a:buNone/>
            </a:pPr>
            <a:r>
              <a:rPr lang="en-US" sz="1200" dirty="0">
                <a:solidFill>
                  <a:srgbClr val="333F50"/>
                </a:solidFill>
                <a:latin typeface="Calibri" pitchFamily="34" charset="0"/>
                <a:ea typeface="Calibri" pitchFamily="34" charset="-122"/>
                <a:cs typeface="Calibri" pitchFamily="34" charset="-120"/>
              </a:rPr>
              <a:t>   so you can see the columns each one returns and how it is generated.</a:t>
            </a:r>
            <a:endParaRPr lang="en-US" sz="1200" dirty="0"/>
          </a:p>
        </p:txBody>
      </p:sp>
      <p:sp>
        <p:nvSpPr>
          <p:cNvPr id="8" name="Text 5"/>
          <p:cNvSpPr txBox="1"/>
          <p:nvPr/>
        </p:nvSpPr>
        <p:spPr>
          <a:xfrm>
            <a:off x="868680" y="5888736"/>
            <a:ext cx="10424160" cy="292608"/>
          </a:xfrm>
          <a:prstGeom prst="rect">
            <a:avLst/>
          </a:prstGeom>
          <a:noFill/>
          <a:ln/>
        </p:spPr>
        <p:txBody>
          <a:bodyPr wrap="square" lIns="0" tIns="0" rIns="0" bIns="0" rtlCol="0" anchor="ctr"/>
          <a:lstStyle/>
          <a:p>
            <a:pPr indent="0" marL="0">
              <a:buNone/>
            </a:pPr>
            <a:r>
              <a:rPr lang="en-US" sz="1100" dirty="0">
                <a:solidFill>
                  <a:srgbClr val="6B7A90"/>
                </a:solidFill>
                <a:latin typeface="Calibri" pitchFamily="34" charset="0"/>
                <a:ea typeface="Calibri" pitchFamily="34" charset="-122"/>
                <a:cs typeface="Calibri" pitchFamily="34" charset="-120"/>
              </a:rPr>
              <a:t>The lookup file currently covers 92 sites, of which 38 are production. Extending it to the full estate is the single request that most increases what we can report 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329184" y="274320"/>
            <a:ext cx="11219688" cy="219456"/>
          </a:xfrm>
          <a:prstGeom prst="rect">
            <a:avLst/>
          </a:prstGeom>
          <a:noFill/>
          <a:ln/>
        </p:spPr>
        <p:txBody>
          <a:bodyPr wrap="square" lIns="0" tIns="0" rIns="0" bIns="0" rtlCol="0" anchor="ctr"/>
          <a:lstStyle/>
          <a:p>
            <a:pPr indent="0" marL="0">
              <a:buNone/>
            </a:pPr>
            <a:r>
              <a:rPr lang="en-US" sz="1050" b="1" spc="160" kern="0" dirty="0">
                <a:solidFill>
                  <a:srgbClr val="6B7A90"/>
                </a:solidFill>
                <a:latin typeface="Calibri" pitchFamily="34" charset="0"/>
                <a:ea typeface="Calibri" pitchFamily="34" charset="-122"/>
                <a:cs typeface="Calibri" pitchFamily="34" charset="-120"/>
              </a:rPr>
              <a:t>THE PIPELINE</a:t>
            </a:r>
            <a:endParaRPr lang="en-US" sz="1050" dirty="0"/>
          </a:p>
        </p:txBody>
      </p:sp>
      <p:sp>
        <p:nvSpPr>
          <p:cNvPr id="3" name="Text 1"/>
          <p:cNvSpPr txBox="1"/>
          <p:nvPr/>
        </p:nvSpPr>
        <p:spPr>
          <a:xfrm>
            <a:off x="329184" y="512064"/>
            <a:ext cx="11219688" cy="658368"/>
          </a:xfrm>
          <a:prstGeom prst="rect">
            <a:avLst/>
          </a:prstGeom>
          <a:noFill/>
          <a:ln/>
        </p:spPr>
        <p:txBody>
          <a:bodyPr wrap="square" lIns="0" tIns="0" rIns="0" bIns="0" rtlCol="0" anchor="ctr"/>
          <a:lstStyle/>
          <a:p>
            <a:pPr indent="0" marL="0">
              <a:buNone/>
            </a:pPr>
            <a:r>
              <a:rPr lang="en-US" sz="3200" b="1" dirty="0">
                <a:solidFill>
                  <a:srgbClr val="44546A"/>
                </a:solidFill>
                <a:latin typeface="Cambria" pitchFamily="34" charset="0"/>
                <a:ea typeface="Cambria" pitchFamily="34" charset="-122"/>
                <a:cs typeface="Cambria" pitchFamily="34" charset="-120"/>
              </a:rPr>
              <a:t>How the report is fed, and who keeps it current</a:t>
            </a:r>
            <a:endParaRPr lang="en-US" sz="3200" dirty="0"/>
          </a:p>
        </p:txBody>
      </p:sp>
      <p:sp>
        <p:nvSpPr>
          <p:cNvPr id="4" name="Text 2"/>
          <p:cNvSpPr txBox="1"/>
          <p:nvPr/>
        </p:nvSpPr>
        <p:spPr>
          <a:xfrm>
            <a:off x="548640" y="1298448"/>
            <a:ext cx="11091672" cy="274320"/>
          </a:xfrm>
          <a:prstGeom prst="rect">
            <a:avLst/>
          </a:prstGeom>
          <a:noFill/>
          <a:ln/>
        </p:spPr>
        <p:txBody>
          <a:bodyPr wrap="square" lIns="0" tIns="0" rIns="0" bIns="0" rtlCol="0" anchor="ctr"/>
          <a:lstStyle/>
          <a:p>
            <a:pPr indent="0" marL="0">
              <a:buNone/>
            </a:pPr>
            <a:r>
              <a:rPr lang="en-US" sz="1250" dirty="0">
                <a:solidFill>
                  <a:srgbClr val="333F50"/>
                </a:solidFill>
                <a:latin typeface="Calibri" pitchFamily="34" charset="0"/>
                <a:ea typeface="Calibri" pitchFamily="34" charset="-122"/>
                <a:cs typeface="Calibri" pitchFamily="34" charset="-120"/>
              </a:rPr>
              <a:t>Every figure is a join between these sources. The join key is the site.</a:t>
            </a:r>
            <a:endParaRPr lang="en-US" sz="1250" dirty="0"/>
          </a:p>
        </p:txBody>
      </p:sp>
      <p:sp>
        <p:nvSpPr>
          <p:cNvPr id="5" name="Shape 3"/>
          <p:cNvSpPr/>
          <p:nvPr/>
        </p:nvSpPr>
        <p:spPr>
          <a:xfrm>
            <a:off x="548640" y="1719072"/>
            <a:ext cx="2615184" cy="1188720"/>
          </a:xfrm>
          <a:prstGeom prst="roundRect">
            <a:avLst>
              <a:gd name="adj" fmla="val 4615"/>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6" name="Text 4"/>
          <p:cNvSpPr txBox="1"/>
          <p:nvPr/>
        </p:nvSpPr>
        <p:spPr>
          <a:xfrm>
            <a:off x="731520" y="1847088"/>
            <a:ext cx="2249424"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EDRMS Database</a:t>
            </a:r>
            <a:endParaRPr lang="en-US" sz="1200" dirty="0"/>
          </a:p>
        </p:txBody>
      </p:sp>
      <p:sp>
        <p:nvSpPr>
          <p:cNvPr id="7" name="Text 5"/>
          <p:cNvSpPr txBox="1"/>
          <p:nvPr/>
        </p:nvSpPr>
        <p:spPr>
          <a:xfrm>
            <a:off x="731520" y="2139696"/>
            <a:ext cx="2249424" cy="676656"/>
          </a:xfrm>
          <a:prstGeom prst="rect">
            <a:avLst/>
          </a:prstGeom>
          <a:noFill/>
          <a:ln/>
        </p:spPr>
        <p:txBody>
          <a:bodyPr wrap="square" lIns="0" tIns="0" rIns="0" bIns="0" rtlCol="0" anchor="ctr"/>
          <a:lstStyle/>
          <a:p>
            <a:pPr indent="0" marL="0">
              <a:buNone/>
            </a:pPr>
            <a:r>
              <a:rPr lang="en-US" sz="1000" dirty="0">
                <a:solidFill>
                  <a:srgbClr val="6B7A90"/>
                </a:solidFill>
                <a:latin typeface="Calibri" pitchFamily="34" charset="0"/>
                <a:ea typeface="Calibri" pitchFamily="34" charset="-122"/>
                <a:cs typeface="Calibri" pitchFamily="34" charset="-120"/>
              </a:rPr>
              <a:t>Records, counterparts,</a:t>
            </a:r>
            <a:endParaRPr lang="en-US" sz="1000" dirty="0"/>
          </a:p>
          <a:p>
            <a:pPr indent="0" marL="0">
              <a:buNone/>
            </a:pPr>
            <a:r>
              <a:rPr lang="en-US" sz="1000" dirty="0">
                <a:solidFill>
                  <a:srgbClr val="6B7A90"/>
                </a:solidFill>
                <a:latin typeface="Calibri" pitchFamily="34" charset="0"/>
                <a:ea typeface="Calibri" pitchFamily="34" charset="-122"/>
                <a:cs typeface="Calibri" pitchFamily="34" charset="-120"/>
              </a:rPr>
              <a:t>retention, disposal dates</a:t>
            </a:r>
            <a:endParaRPr lang="en-US" sz="1000" dirty="0"/>
          </a:p>
        </p:txBody>
      </p:sp>
      <p:sp>
        <p:nvSpPr>
          <p:cNvPr id="8" name="Shape 6"/>
          <p:cNvSpPr/>
          <p:nvPr/>
        </p:nvSpPr>
        <p:spPr>
          <a:xfrm>
            <a:off x="3383280" y="1719072"/>
            <a:ext cx="2615184" cy="1188720"/>
          </a:xfrm>
          <a:prstGeom prst="roundRect">
            <a:avLst>
              <a:gd name="adj" fmla="val 4615"/>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9" name="Text 7"/>
          <p:cNvSpPr txBox="1"/>
          <p:nvPr/>
        </p:nvSpPr>
        <p:spPr>
          <a:xfrm>
            <a:off x="3566160" y="1847088"/>
            <a:ext cx="2249424"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Cloud Governance</a:t>
            </a:r>
            <a:endParaRPr lang="en-US" sz="1200" dirty="0"/>
          </a:p>
        </p:txBody>
      </p:sp>
      <p:sp>
        <p:nvSpPr>
          <p:cNvPr id="10" name="Text 8"/>
          <p:cNvSpPr txBox="1"/>
          <p:nvPr/>
        </p:nvSpPr>
        <p:spPr>
          <a:xfrm>
            <a:off x="3566160" y="2139696"/>
            <a:ext cx="2249424" cy="676656"/>
          </a:xfrm>
          <a:prstGeom prst="rect">
            <a:avLst/>
          </a:prstGeom>
          <a:noFill/>
          <a:ln/>
        </p:spPr>
        <p:txBody>
          <a:bodyPr wrap="square" lIns="0" tIns="0" rIns="0" bIns="0" rtlCol="0" anchor="ctr"/>
          <a:lstStyle/>
          <a:p>
            <a:pPr indent="0" marL="0">
              <a:buNone/>
            </a:pPr>
            <a:r>
              <a:rPr lang="en-US" sz="1000" dirty="0">
                <a:solidFill>
                  <a:srgbClr val="6B7A90"/>
                </a:solidFill>
                <a:latin typeface="Calibri" pitchFamily="34" charset="0"/>
                <a:ea typeface="Calibri" pitchFamily="34" charset="-122"/>
                <a:cs typeface="Calibri" pitchFamily="34" charset="-120"/>
              </a:rPr>
              <a:t>Site list, department,</a:t>
            </a:r>
            <a:endParaRPr lang="en-US" sz="1000" dirty="0"/>
          </a:p>
          <a:p>
            <a:pPr indent="0" marL="0">
              <a:buNone/>
            </a:pPr>
            <a:r>
              <a:rPr lang="en-US" sz="1000" dirty="0">
                <a:solidFill>
                  <a:srgbClr val="6B7A90"/>
                </a:solidFill>
                <a:latin typeface="Calibri" pitchFamily="34" charset="0"/>
                <a:ea typeface="Calibri" pitchFamily="34" charset="-122"/>
                <a:cs typeface="Calibri" pitchFamily="34" charset="-120"/>
              </a:rPr>
              <a:t>owner, status, storage</a:t>
            </a:r>
            <a:endParaRPr lang="en-US" sz="1000" dirty="0"/>
          </a:p>
        </p:txBody>
      </p:sp>
      <p:sp>
        <p:nvSpPr>
          <p:cNvPr id="11" name="Shape 9"/>
          <p:cNvSpPr/>
          <p:nvPr/>
        </p:nvSpPr>
        <p:spPr>
          <a:xfrm>
            <a:off x="6217920" y="1719072"/>
            <a:ext cx="2615184" cy="1188720"/>
          </a:xfrm>
          <a:prstGeom prst="roundRect">
            <a:avLst>
              <a:gd name="adj" fmla="val 4615"/>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12" name="Text 10"/>
          <p:cNvSpPr txBox="1"/>
          <p:nvPr/>
        </p:nvSpPr>
        <p:spPr>
          <a:xfrm>
            <a:off x="6400800" y="1847088"/>
            <a:ext cx="2249424"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Microsoft 365</a:t>
            </a:r>
            <a:endParaRPr lang="en-US" sz="1200" dirty="0"/>
          </a:p>
        </p:txBody>
      </p:sp>
      <p:sp>
        <p:nvSpPr>
          <p:cNvPr id="13" name="Text 11"/>
          <p:cNvSpPr txBox="1"/>
          <p:nvPr/>
        </p:nvSpPr>
        <p:spPr>
          <a:xfrm>
            <a:off x="6400800" y="2139696"/>
            <a:ext cx="2249424" cy="676656"/>
          </a:xfrm>
          <a:prstGeom prst="rect">
            <a:avLst/>
          </a:prstGeom>
          <a:noFill/>
          <a:ln/>
        </p:spPr>
        <p:txBody>
          <a:bodyPr wrap="square" lIns="0" tIns="0" rIns="0" bIns="0" rtlCol="0" anchor="ctr"/>
          <a:lstStyle/>
          <a:p>
            <a:pPr indent="0" marL="0">
              <a:buNone/>
            </a:pPr>
            <a:r>
              <a:rPr lang="en-US" sz="1000" dirty="0">
                <a:solidFill>
                  <a:srgbClr val="6B7A90"/>
                </a:solidFill>
                <a:latin typeface="Calibri" pitchFamily="34" charset="0"/>
                <a:ea typeface="Calibri" pitchFamily="34" charset="-122"/>
                <a:cs typeface="Calibri" pitchFamily="34" charset="-120"/>
              </a:rPr>
              <a:t>Usage and activity,</a:t>
            </a:r>
            <a:endParaRPr lang="en-US" sz="1000" dirty="0"/>
          </a:p>
          <a:p>
            <a:pPr indent="0" marL="0">
              <a:buNone/>
            </a:pPr>
            <a:r>
              <a:rPr lang="en-US" sz="1000" dirty="0">
                <a:solidFill>
                  <a:srgbClr val="6B7A90"/>
                </a:solidFill>
                <a:latin typeface="Calibri" pitchFamily="34" charset="0"/>
                <a:ea typeface="Calibri" pitchFamily="34" charset="-122"/>
                <a:cs typeface="Calibri" pitchFamily="34" charset="-120"/>
              </a:rPr>
              <a:t>7 to 180 day windows</a:t>
            </a:r>
            <a:endParaRPr lang="en-US" sz="1000" dirty="0"/>
          </a:p>
        </p:txBody>
      </p:sp>
      <p:sp>
        <p:nvSpPr>
          <p:cNvPr id="14" name="Shape 12"/>
          <p:cNvSpPr/>
          <p:nvPr/>
        </p:nvSpPr>
        <p:spPr>
          <a:xfrm>
            <a:off x="9052560" y="1719072"/>
            <a:ext cx="2615184" cy="1188720"/>
          </a:xfrm>
          <a:prstGeom prst="roundRect">
            <a:avLst>
              <a:gd name="adj" fmla="val 4615"/>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15" name="Text 13"/>
          <p:cNvSpPr txBox="1"/>
          <p:nvPr/>
        </p:nvSpPr>
        <p:spPr>
          <a:xfrm>
            <a:off x="9235440" y="1847088"/>
            <a:ext cx="2249424"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ITD lookup file</a:t>
            </a:r>
            <a:endParaRPr lang="en-US" sz="1200" dirty="0"/>
          </a:p>
        </p:txBody>
      </p:sp>
      <p:sp>
        <p:nvSpPr>
          <p:cNvPr id="16" name="Text 14"/>
          <p:cNvSpPr txBox="1"/>
          <p:nvPr/>
        </p:nvSpPr>
        <p:spPr>
          <a:xfrm>
            <a:off x="9235440" y="2139696"/>
            <a:ext cx="2249424" cy="676656"/>
          </a:xfrm>
          <a:prstGeom prst="rect">
            <a:avLst/>
          </a:prstGeom>
          <a:noFill/>
          <a:ln/>
        </p:spPr>
        <p:txBody>
          <a:bodyPr wrap="square" lIns="0" tIns="0" rIns="0" bIns="0" rtlCol="0" anchor="ctr"/>
          <a:lstStyle/>
          <a:p>
            <a:pPr indent="0" marL="0">
              <a:buNone/>
            </a:pPr>
            <a:r>
              <a:rPr lang="en-US" sz="1000" dirty="0">
                <a:solidFill>
                  <a:srgbClr val="6B7A90"/>
                </a:solidFill>
                <a:latin typeface="Calibri" pitchFamily="34" charset="0"/>
                <a:ea typeface="Calibri" pitchFamily="34" charset="-122"/>
                <a:cs typeface="Calibri" pitchFamily="34" charset="-120"/>
              </a:rPr>
              <a:t>Department, division,</a:t>
            </a:r>
            <a:endParaRPr lang="en-US" sz="1000" dirty="0"/>
          </a:p>
          <a:p>
            <a:pPr indent="0" marL="0">
              <a:buNone/>
            </a:pPr>
            <a:r>
              <a:rPr lang="en-US" sz="1000" dirty="0">
                <a:solidFill>
                  <a:srgbClr val="6B7A90"/>
                </a:solidFill>
                <a:latin typeface="Calibri" pitchFamily="34" charset="0"/>
                <a:ea typeface="Calibri" pitchFamily="34" charset="-122"/>
                <a:cs typeface="Calibri" pitchFamily="34" charset="-120"/>
              </a:rPr>
              <a:t>library, production flag</a:t>
            </a:r>
            <a:endParaRPr lang="en-US" sz="1000" dirty="0"/>
          </a:p>
        </p:txBody>
      </p:sp>
      <p:sp>
        <p:nvSpPr>
          <p:cNvPr id="17" name="Shape 15"/>
          <p:cNvSpPr/>
          <p:nvPr/>
        </p:nvSpPr>
        <p:spPr>
          <a:xfrm>
            <a:off x="548640" y="3108960"/>
            <a:ext cx="11091672" cy="566928"/>
          </a:xfrm>
          <a:prstGeom prst="roundRect">
            <a:avLst>
              <a:gd name="adj" fmla="val 9677"/>
            </a:avLst>
          </a:prstGeom>
          <a:solidFill>
            <a:srgbClr val="1E2761"/>
          </a:solidFill>
          <a:ln/>
        </p:spPr>
      </p:sp>
      <p:sp>
        <p:nvSpPr>
          <p:cNvPr id="18" name="Text 16"/>
          <p:cNvSpPr txBox="1"/>
          <p:nvPr/>
        </p:nvSpPr>
        <p:spPr>
          <a:xfrm>
            <a:off x="548640" y="3108960"/>
            <a:ext cx="11091672"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Joined on the site, then grouped by department or division</a:t>
            </a:r>
            <a:endParaRPr lang="en-US" sz="1300" dirty="0"/>
          </a:p>
        </p:txBody>
      </p:sp>
      <p:sp>
        <p:nvSpPr>
          <p:cNvPr id="19" name="Shape 17"/>
          <p:cNvSpPr/>
          <p:nvPr/>
        </p:nvSpPr>
        <p:spPr>
          <a:xfrm>
            <a:off x="548640" y="3840480"/>
            <a:ext cx="11091672" cy="502920"/>
          </a:xfrm>
          <a:prstGeom prst="roundRect">
            <a:avLst>
              <a:gd name="adj" fmla="val 10909"/>
            </a:avLst>
          </a:prstGeom>
          <a:solidFill>
            <a:srgbClr val="CADCFC"/>
          </a:solidFill>
          <a:ln/>
        </p:spPr>
      </p:sp>
      <p:sp>
        <p:nvSpPr>
          <p:cNvPr id="20" name="Text 18"/>
          <p:cNvSpPr txBox="1"/>
          <p:nvPr/>
        </p:nvSpPr>
        <p:spPr>
          <a:xfrm>
            <a:off x="548640" y="3840480"/>
            <a:ext cx="11091672" cy="50292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Bank-wide Oversight   and   Department Insights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4553712"/>
          <a:ext cx="11091672" cy="914400"/>
        </p:xfrm>
        <a:graphic>
          <a:graphicData uri="http://schemas.openxmlformats.org/drawingml/2006/table">
            <a:tbl>
              <a:tblPr/>
              <a:tblGrid>
                <a:gridCol w="2377440"/>
                <a:gridCol w="2834640"/>
                <a:gridCol w="5879592"/>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Who keeps it current</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that person has to do</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r>
              <a:tr h="0">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Nobody. EDRMS writes it.</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Nothing. The figure appears because a record was declared.</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r>
              <a:tr h="0">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Cloud Governance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Whoever provisions the site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8A5A00"/>
                          </a:solidFill>
                          <a:latin typeface="Calibri" pitchFamily="34" charset="0"/>
                          <a:ea typeface="Calibri" pitchFamily="34" charset="-122"/>
                          <a:cs typeface="Calibri" pitchFamily="34" charset="-120"/>
                        </a:rPr>
                        <a:t>Set department and division when a site is created. Left blank, that site drops out of every departmental figure without any error showing.</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r>
              <a:tr h="0">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Microsoft 365</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Nobody. Microsoft generates it.</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Nothing, but the window cannot be widened beyond 180 days.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r>
              <a:tr h="0">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ITD lookup file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BA team today</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8A5A00"/>
                          </a:solidFill>
                          <a:latin typeface="Calibri" pitchFamily="34" charset="0"/>
                          <a:ea typeface="Calibri" pitchFamily="34" charset="-122"/>
                          <a:cs typeface="Calibri" pitchFamily="34" charset="-120"/>
                        </a:rPr>
                        <a:t>Keep the mapping current as sites are created, renamed or retired. Proposed to move into the EDRMS database with an admin page so RAC can maintain it.</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329184" y="274320"/>
            <a:ext cx="11219688" cy="219456"/>
          </a:xfrm>
          <a:prstGeom prst="rect">
            <a:avLst/>
          </a:prstGeom>
          <a:noFill/>
          <a:ln/>
        </p:spPr>
        <p:txBody>
          <a:bodyPr wrap="square" lIns="0" tIns="0" rIns="0" bIns="0" rtlCol="0" anchor="ctr"/>
          <a:lstStyle/>
          <a:p>
            <a:pPr indent="0" marL="0">
              <a:buNone/>
            </a:pPr>
            <a:r>
              <a:rPr lang="en-US" sz="1050" b="1" spc="160" kern="0" dirty="0">
                <a:solidFill>
                  <a:srgbClr val="6B7A90"/>
                </a:solidFill>
                <a:latin typeface="Calibri" pitchFamily="34" charset="0"/>
                <a:ea typeface="Calibri" pitchFamily="34" charset="-122"/>
                <a:cs typeface="Calibri" pitchFamily="34" charset="-120"/>
              </a:rPr>
              <a:t>MVP DASHBOARD 1</a:t>
            </a:r>
            <a:endParaRPr lang="en-US" sz="1050" dirty="0"/>
          </a:p>
        </p:txBody>
      </p:sp>
      <p:sp>
        <p:nvSpPr>
          <p:cNvPr id="3" name="Text 1"/>
          <p:cNvSpPr txBox="1"/>
          <p:nvPr/>
        </p:nvSpPr>
        <p:spPr>
          <a:xfrm>
            <a:off x="329184" y="512064"/>
            <a:ext cx="11219688" cy="658368"/>
          </a:xfrm>
          <a:prstGeom prst="rect">
            <a:avLst/>
          </a:prstGeom>
          <a:noFill/>
          <a:ln/>
        </p:spPr>
        <p:txBody>
          <a:bodyPr wrap="square" lIns="0" tIns="0" rIns="0" bIns="0" rtlCol="0" anchor="ctr"/>
          <a:lstStyle/>
          <a:p>
            <a:pPr indent="0" marL="0">
              <a:buNone/>
            </a:pPr>
            <a:r>
              <a:rPr lang="en-US" sz="3200" b="1" dirty="0">
                <a:solidFill>
                  <a:srgbClr val="44546A"/>
                </a:solidFill>
                <a:latin typeface="Cambria" pitchFamily="34" charset="0"/>
                <a:ea typeface="Cambria" pitchFamily="34" charset="-122"/>
                <a:cs typeface="Cambria" pitchFamily="34" charset="-120"/>
              </a:rPr>
              <a:t>Bank-wide Oversight</a:t>
            </a:r>
            <a:endParaRPr lang="en-US" sz="3200" dirty="0"/>
          </a:p>
        </p:txBody>
      </p:sp>
      <p:sp>
        <p:nvSpPr>
          <p:cNvPr id="4" name="Text 2"/>
          <p:cNvSpPr txBox="1"/>
          <p:nvPr/>
        </p:nvSpPr>
        <p:spPr>
          <a:xfrm>
            <a:off x="548640" y="1298448"/>
            <a:ext cx="11091672" cy="274320"/>
          </a:xfrm>
          <a:prstGeom prst="rect">
            <a:avLst/>
          </a:prstGeom>
          <a:noFill/>
          <a:ln/>
        </p:spPr>
        <p:txBody>
          <a:bodyPr wrap="square" lIns="0" tIns="0" rIns="0" bIns="0" rtlCol="0" anchor="ctr"/>
          <a:lstStyle/>
          <a:p>
            <a:pPr indent="0" marL="0">
              <a:buNone/>
            </a:pPr>
            <a:r>
              <a:rPr lang="en-US" sz="1300" dirty="0">
                <a:solidFill>
                  <a:srgbClr val="333F50"/>
                </a:solidFill>
                <a:latin typeface="Calibri" pitchFamily="34" charset="0"/>
                <a:ea typeface="Calibri" pitchFamily="34" charset="-122"/>
                <a:cs typeface="Calibri" pitchFamily="34" charset="-120"/>
              </a:rPr>
              <a:t>How much is in EDRMS, and who is using it, for the whole bank on one page.</a:t>
            </a:r>
            <a:endParaRPr lang="en-US" sz="1300" dirty="0"/>
          </a:p>
        </p:txBody>
      </p:sp>
      <p:sp>
        <p:nvSpPr>
          <p:cNvPr id="5" name="Shape 3"/>
          <p:cNvSpPr/>
          <p:nvPr/>
        </p:nvSpPr>
        <p:spPr>
          <a:xfrm>
            <a:off x="548640" y="1691640"/>
            <a:ext cx="6720840" cy="4087368"/>
          </a:xfrm>
          <a:prstGeom prst="roundRect">
            <a:avLst>
              <a:gd name="adj" fmla="val 1119"/>
            </a:avLst>
          </a:prstGeom>
          <a:solidFill>
            <a:srgbClr val="E6ECF6"/>
          </a:solidFill>
          <a:ln w="15875">
            <a:solidFill>
              <a:srgbClr val="9FB2CE"/>
            </a:solidFill>
            <a:prstDash val="dash"/>
          </a:ln>
        </p:spPr>
      </p:sp>
      <p:sp>
        <p:nvSpPr>
          <p:cNvPr id="6" name="Text 4"/>
          <p:cNvSpPr txBox="1"/>
          <p:nvPr/>
        </p:nvSpPr>
        <p:spPr>
          <a:xfrm>
            <a:off x="548640" y="3351276"/>
            <a:ext cx="6720840" cy="237744"/>
          </a:xfrm>
          <a:prstGeom prst="rect">
            <a:avLst/>
          </a:prstGeom>
          <a:noFill/>
          <a:ln/>
        </p:spPr>
        <p:txBody>
          <a:bodyPr wrap="square" lIns="0" tIns="0" rIns="0" bIns="0" rtlCol="0" anchor="ctr"/>
          <a:lstStyle/>
          <a:p>
            <a:pPr algn="ctr" indent="0" marL="0">
              <a:buNone/>
            </a:pPr>
            <a:r>
              <a:rPr lang="en-US" sz="1050" b="1" dirty="0">
                <a:solidFill>
                  <a:srgbClr val="5C7396"/>
                </a:solidFill>
                <a:latin typeface="Calibri" pitchFamily="34" charset="0"/>
                <a:ea typeface="Calibri" pitchFamily="34" charset="-122"/>
                <a:cs typeface="Calibri" pitchFamily="34" charset="-120"/>
              </a:rPr>
              <a:t>IMAGE PLACEHOLDER</a:t>
            </a:r>
            <a:endParaRPr lang="en-US" sz="1050" dirty="0"/>
          </a:p>
        </p:txBody>
      </p:sp>
      <p:sp>
        <p:nvSpPr>
          <p:cNvPr id="7" name="Text 5"/>
          <p:cNvSpPr txBox="1"/>
          <p:nvPr/>
        </p:nvSpPr>
        <p:spPr>
          <a:xfrm>
            <a:off x="731520" y="3625596"/>
            <a:ext cx="6355080" cy="548640"/>
          </a:xfrm>
          <a:prstGeom prst="rect">
            <a:avLst/>
          </a:prstGeom>
          <a:noFill/>
          <a:ln/>
        </p:spPr>
        <p:txBody>
          <a:bodyPr wrap="square" lIns="0" tIns="0" rIns="0" bIns="0" rtlCol="0" anchor="ctr"/>
          <a:lstStyle/>
          <a:p>
            <a:pPr algn="ctr" indent="0" marL="0">
              <a:buNone/>
            </a:pPr>
            <a:r>
              <a:rPr lang="en-US" sz="1150" dirty="0">
                <a:solidFill>
                  <a:srgbClr val="333F50"/>
                </a:solidFill>
                <a:latin typeface="Calibri" pitchFamily="34" charset="0"/>
                <a:ea typeface="Calibri" pitchFamily="34" charset="-122"/>
                <a:cs typeface="Calibri" pitchFamily="34" charset="-120"/>
              </a:rPr>
              <a:t>Mockup: Bank-wide Oversight, full page</a:t>
            </a:r>
            <a:endParaRPr lang="en-US" sz="1150" dirty="0"/>
          </a:p>
          <a:p>
            <a:pPr algn="ctr" indent="0" marL="0">
              <a:buNone/>
            </a:pPr>
            <a:r>
              <a:rPr lang="en-US" sz="1150" dirty="0">
                <a:solidFill>
                  <a:srgbClr val="333F50"/>
                </a:solidFill>
                <a:latin typeface="Calibri" pitchFamily="34" charset="0"/>
                <a:ea typeface="Calibri" pitchFamily="34" charset="-122"/>
                <a:cs typeface="Calibri" pitchFamily="34" charset="-120"/>
              </a:rPr>
              <a:t>(cover page 2 of the mockup PDF)</a:t>
            </a:r>
            <a:endParaRPr lang="en-US" sz="1150" dirty="0"/>
          </a:p>
        </p:txBody>
      </p:sp>
      <p:sp>
        <p:nvSpPr>
          <p:cNvPr id="8" name="Shape 6"/>
          <p:cNvSpPr/>
          <p:nvPr/>
        </p:nvSpPr>
        <p:spPr>
          <a:xfrm>
            <a:off x="7498080" y="1691640"/>
            <a:ext cx="4142232" cy="932688"/>
          </a:xfrm>
          <a:prstGeom prst="roundRect">
            <a:avLst>
              <a:gd name="adj" fmla="val 5882"/>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9" name="Shape 7"/>
          <p:cNvSpPr/>
          <p:nvPr/>
        </p:nvSpPr>
        <p:spPr>
          <a:xfrm>
            <a:off x="7726680" y="1837944"/>
            <a:ext cx="274320" cy="274320"/>
          </a:xfrm>
          <a:prstGeom prst="ellipse">
            <a:avLst/>
          </a:prstGeom>
          <a:solidFill>
            <a:srgbClr val="1E2761"/>
          </a:solidFill>
          <a:ln/>
        </p:spPr>
      </p:sp>
      <p:sp>
        <p:nvSpPr>
          <p:cNvPr id="10" name="Text 8"/>
          <p:cNvSpPr txBox="1"/>
          <p:nvPr/>
        </p:nvSpPr>
        <p:spPr>
          <a:xfrm>
            <a:off x="7726680" y="183794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Text 9"/>
          <p:cNvSpPr txBox="1"/>
          <p:nvPr/>
        </p:nvSpPr>
        <p:spPr>
          <a:xfrm>
            <a:off x="8138160" y="1810512"/>
            <a:ext cx="329184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Top panel</a:t>
            </a:r>
            <a:endParaRPr lang="en-US" sz="1200" dirty="0"/>
          </a:p>
        </p:txBody>
      </p:sp>
      <p:sp>
        <p:nvSpPr>
          <p:cNvPr id="12" name="Text 10"/>
          <p:cNvSpPr txBox="1"/>
          <p:nvPr/>
        </p:nvSpPr>
        <p:spPr>
          <a:xfrm>
            <a:off x="8138160" y="2093976"/>
            <a:ext cx="3291840" cy="475488"/>
          </a:xfrm>
          <a:prstGeom prst="rect">
            <a:avLst/>
          </a:prstGeom>
          <a:noFill/>
          <a:ln/>
        </p:spPr>
        <p:txBody>
          <a:bodyPr wrap="square" lIns="0" tIns="0" rIns="0" bIns="0" rtlCol="0" anchor="ctr"/>
          <a:lstStyle/>
          <a:p>
            <a:pPr indent="0" marL="0">
              <a:buNone/>
            </a:pPr>
            <a:r>
              <a:rPr lang="en-US" sz="950" dirty="0">
                <a:solidFill>
                  <a:srgbClr val="6B7A90"/>
                </a:solidFill>
                <a:latin typeface="Calibri" pitchFamily="34" charset="0"/>
                <a:ea typeface="Calibri" pitchFamily="34" charset="-122"/>
                <a:cs typeface="Calibri" pitchFamily="34" charset="-120"/>
              </a:rPr>
              <a:t>Ten tiles. Eight open a table below. Two navigate to another dashboard.</a:t>
            </a:r>
            <a:endParaRPr lang="en-US" sz="950" dirty="0"/>
          </a:p>
        </p:txBody>
      </p:sp>
      <p:sp>
        <p:nvSpPr>
          <p:cNvPr id="13" name="Shape 11"/>
          <p:cNvSpPr/>
          <p:nvPr/>
        </p:nvSpPr>
        <p:spPr>
          <a:xfrm>
            <a:off x="7498080" y="2743200"/>
            <a:ext cx="4142232" cy="932688"/>
          </a:xfrm>
          <a:prstGeom prst="roundRect">
            <a:avLst>
              <a:gd name="adj" fmla="val 5882"/>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14" name="Shape 12"/>
          <p:cNvSpPr/>
          <p:nvPr/>
        </p:nvSpPr>
        <p:spPr>
          <a:xfrm>
            <a:off x="7726680" y="2889504"/>
            <a:ext cx="274320" cy="274320"/>
          </a:xfrm>
          <a:prstGeom prst="ellipse">
            <a:avLst/>
          </a:prstGeom>
          <a:solidFill>
            <a:srgbClr val="1E2761"/>
          </a:solidFill>
          <a:ln/>
        </p:spPr>
      </p:sp>
      <p:sp>
        <p:nvSpPr>
          <p:cNvPr id="15" name="Text 13"/>
          <p:cNvSpPr txBox="1"/>
          <p:nvPr/>
        </p:nvSpPr>
        <p:spPr>
          <a:xfrm>
            <a:off x="7726680" y="28895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6" name="Text 14"/>
          <p:cNvSpPr txBox="1"/>
          <p:nvPr/>
        </p:nvSpPr>
        <p:spPr>
          <a:xfrm>
            <a:off x="8138160" y="2862072"/>
            <a:ext cx="329184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Overview of EDRMS sites</a:t>
            </a:r>
            <a:endParaRPr lang="en-US" sz="1200" dirty="0"/>
          </a:p>
        </p:txBody>
      </p:sp>
      <p:sp>
        <p:nvSpPr>
          <p:cNvPr id="17" name="Text 15"/>
          <p:cNvSpPr txBox="1"/>
          <p:nvPr/>
        </p:nvSpPr>
        <p:spPr>
          <a:xfrm>
            <a:off x="8138160" y="3145536"/>
            <a:ext cx="3291840" cy="475488"/>
          </a:xfrm>
          <a:prstGeom prst="rect">
            <a:avLst/>
          </a:prstGeom>
          <a:noFill/>
          <a:ln/>
        </p:spPr>
        <p:txBody>
          <a:bodyPr wrap="square" lIns="0" tIns="0" rIns="0" bIns="0" rtlCol="0" anchor="ctr"/>
          <a:lstStyle/>
          <a:p>
            <a:pPr indent="0" marL="0">
              <a:buNone/>
            </a:pPr>
            <a:r>
              <a:rPr lang="en-US" sz="950" dirty="0">
                <a:solidFill>
                  <a:srgbClr val="6B7A90"/>
                </a:solidFill>
                <a:latin typeface="Calibri" pitchFamily="34" charset="0"/>
                <a:ea typeface="Calibri" pitchFamily="34" charset="-122"/>
                <a:cs typeface="Calibri" pitchFamily="34" charset="-120"/>
              </a:rPr>
              <a:t>Every department, office and RM with its sites, documents, records and counterparts.</a:t>
            </a:r>
            <a:endParaRPr lang="en-US" sz="950" dirty="0"/>
          </a:p>
        </p:txBody>
      </p:sp>
      <p:sp>
        <p:nvSpPr>
          <p:cNvPr id="18" name="Shape 16"/>
          <p:cNvSpPr/>
          <p:nvPr/>
        </p:nvSpPr>
        <p:spPr>
          <a:xfrm>
            <a:off x="7498080" y="3794760"/>
            <a:ext cx="4142232" cy="932688"/>
          </a:xfrm>
          <a:prstGeom prst="roundRect">
            <a:avLst>
              <a:gd name="adj" fmla="val 5882"/>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19" name="Shape 17"/>
          <p:cNvSpPr/>
          <p:nvPr/>
        </p:nvSpPr>
        <p:spPr>
          <a:xfrm>
            <a:off x="7726680" y="3941064"/>
            <a:ext cx="274320" cy="274320"/>
          </a:xfrm>
          <a:prstGeom prst="ellipse">
            <a:avLst/>
          </a:prstGeom>
          <a:solidFill>
            <a:srgbClr val="1E2761"/>
          </a:solidFill>
          <a:ln/>
        </p:spPr>
      </p:sp>
      <p:sp>
        <p:nvSpPr>
          <p:cNvPr id="20" name="Text 18"/>
          <p:cNvSpPr txBox="1"/>
          <p:nvPr/>
        </p:nvSpPr>
        <p:spPr>
          <a:xfrm>
            <a:off x="7726680" y="394106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1" name="Text 19"/>
          <p:cNvSpPr txBox="1"/>
          <p:nvPr/>
        </p:nvSpPr>
        <p:spPr>
          <a:xfrm>
            <a:off x="8138160" y="3913632"/>
            <a:ext cx="329184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Comparison</a:t>
            </a:r>
            <a:endParaRPr lang="en-US" sz="1200" dirty="0"/>
          </a:p>
        </p:txBody>
      </p:sp>
      <p:sp>
        <p:nvSpPr>
          <p:cNvPr id="22" name="Text 20"/>
          <p:cNvSpPr txBox="1"/>
          <p:nvPr/>
        </p:nvSpPr>
        <p:spPr>
          <a:xfrm>
            <a:off x="8138160" y="4197096"/>
            <a:ext cx="3291840" cy="475488"/>
          </a:xfrm>
          <a:prstGeom prst="rect">
            <a:avLst/>
          </a:prstGeom>
          <a:noFill/>
          <a:ln/>
        </p:spPr>
        <p:txBody>
          <a:bodyPr wrap="square" lIns="0" tIns="0" rIns="0" bIns="0" rtlCol="0" anchor="ctr"/>
          <a:lstStyle/>
          <a:p>
            <a:pPr indent="0" marL="0">
              <a:buNone/>
            </a:pPr>
            <a:r>
              <a:rPr lang="en-US" sz="950" dirty="0">
                <a:solidFill>
                  <a:srgbClr val="6B7A90"/>
                </a:solidFill>
                <a:latin typeface="Calibri" pitchFamily="34" charset="0"/>
                <a:ea typeface="Calibri" pitchFamily="34" charset="-122"/>
                <a:cs typeface="Calibri" pitchFamily="34" charset="-120"/>
              </a:rPr>
              <a:t>Documents set against records declared, so you can see who is storing but not declaring.</a:t>
            </a:r>
            <a:endParaRPr lang="en-US" sz="950" dirty="0"/>
          </a:p>
        </p:txBody>
      </p:sp>
      <p:sp>
        <p:nvSpPr>
          <p:cNvPr id="23" name="Shape 21"/>
          <p:cNvSpPr/>
          <p:nvPr/>
        </p:nvSpPr>
        <p:spPr>
          <a:xfrm>
            <a:off x="7498080" y="4846320"/>
            <a:ext cx="4142232" cy="932688"/>
          </a:xfrm>
          <a:prstGeom prst="roundRect">
            <a:avLst>
              <a:gd name="adj" fmla="val 5882"/>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24" name="Shape 22"/>
          <p:cNvSpPr/>
          <p:nvPr/>
        </p:nvSpPr>
        <p:spPr>
          <a:xfrm>
            <a:off x="7726680" y="4992624"/>
            <a:ext cx="274320" cy="274320"/>
          </a:xfrm>
          <a:prstGeom prst="ellipse">
            <a:avLst/>
          </a:prstGeom>
          <a:solidFill>
            <a:srgbClr val="1E2761"/>
          </a:solidFill>
          <a:ln/>
        </p:spPr>
      </p:sp>
      <p:sp>
        <p:nvSpPr>
          <p:cNvPr id="25" name="Text 23"/>
          <p:cNvSpPr txBox="1"/>
          <p:nvPr/>
        </p:nvSpPr>
        <p:spPr>
          <a:xfrm>
            <a:off x="7726680" y="499262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6" name="Text 24"/>
          <p:cNvSpPr txBox="1"/>
          <p:nvPr/>
        </p:nvSpPr>
        <p:spPr>
          <a:xfrm>
            <a:off x="8138160" y="4965192"/>
            <a:ext cx="329184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Records declaration trend</a:t>
            </a:r>
            <a:endParaRPr lang="en-US" sz="1200" dirty="0"/>
          </a:p>
        </p:txBody>
      </p:sp>
      <p:sp>
        <p:nvSpPr>
          <p:cNvPr id="27" name="Text 25"/>
          <p:cNvSpPr txBox="1"/>
          <p:nvPr/>
        </p:nvSpPr>
        <p:spPr>
          <a:xfrm>
            <a:off x="8138160" y="5248656"/>
            <a:ext cx="3291840" cy="475488"/>
          </a:xfrm>
          <a:prstGeom prst="rect">
            <a:avLst/>
          </a:prstGeom>
          <a:noFill/>
          <a:ln/>
        </p:spPr>
        <p:txBody>
          <a:bodyPr wrap="square" lIns="0" tIns="0" rIns="0" bIns="0" rtlCol="0" anchor="ctr"/>
          <a:lstStyle/>
          <a:p>
            <a:pPr indent="0" marL="0">
              <a:buNone/>
            </a:pPr>
            <a:r>
              <a:rPr lang="en-US" sz="950" dirty="0">
                <a:solidFill>
                  <a:srgbClr val="6B7A90"/>
                </a:solidFill>
                <a:latin typeface="Calibri" pitchFamily="34" charset="0"/>
                <a:ea typeface="Calibri" pitchFamily="34" charset="-122"/>
                <a:cs typeface="Calibri" pitchFamily="34" charset="-120"/>
              </a:rPr>
              <a:t>A running total over time, with a date range you choose.</a:t>
            </a:r>
            <a:endParaRPr lang="en-US" sz="950" dirty="0"/>
          </a:p>
        </p:txBody>
      </p:sp>
      <p:sp>
        <p:nvSpPr>
          <p:cNvPr id="28" name="Text 26"/>
          <p:cNvSpPr txBox="1"/>
          <p:nvPr/>
        </p:nvSpPr>
        <p:spPr>
          <a:xfrm>
            <a:off x="548640" y="5989320"/>
            <a:ext cx="11091672" cy="274320"/>
          </a:xfrm>
          <a:prstGeom prst="rect">
            <a:avLst/>
          </a:prstGeom>
          <a:noFill/>
          <a:ln/>
        </p:spPr>
        <p:txBody>
          <a:bodyPr wrap="square" lIns="0" tIns="0" rIns="0" bIns="0" rtlCol="0" anchor="ctr"/>
          <a:lstStyle/>
          <a:p>
            <a:pPr indent="0" marL="0">
              <a:buNone/>
            </a:pPr>
            <a:r>
              <a:rPr lang="en-US" sz="1100" i="1" dirty="0">
                <a:solidFill>
                  <a:srgbClr val="6B7A90"/>
                </a:solidFill>
                <a:latin typeface="Calibri" pitchFamily="34" charset="0"/>
                <a:ea typeface="Calibri" pitchFamily="34" charset="-122"/>
                <a:cs typeface="Calibri" pitchFamily="34" charset="-120"/>
              </a:rPr>
              <a:t>The figures shown are illustrative. React to the shape, the labels and the logic.</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329184" y="274320"/>
            <a:ext cx="11219688" cy="219456"/>
          </a:xfrm>
          <a:prstGeom prst="rect">
            <a:avLst/>
          </a:prstGeom>
          <a:noFill/>
          <a:ln/>
        </p:spPr>
        <p:txBody>
          <a:bodyPr wrap="square" lIns="0" tIns="0" rIns="0" bIns="0" rtlCol="0" anchor="ctr"/>
          <a:lstStyle/>
          <a:p>
            <a:pPr indent="0" marL="0">
              <a:buNone/>
            </a:pPr>
            <a:r>
              <a:rPr lang="en-US" sz="1050" b="1" spc="160" kern="0" dirty="0">
                <a:solidFill>
                  <a:srgbClr val="6B7A90"/>
                </a:solidFill>
                <a:latin typeface="Calibri" pitchFamily="34" charset="0"/>
                <a:ea typeface="Calibri" pitchFamily="34" charset="-122"/>
                <a:cs typeface="Calibri" pitchFamily="34" charset="-120"/>
              </a:rPr>
              <a:t>WHAT EACH ITEM MEANS AND WHERE IT COMES FROM</a:t>
            </a:r>
            <a:endParaRPr lang="en-US" sz="1050" dirty="0"/>
          </a:p>
        </p:txBody>
      </p:sp>
      <p:sp>
        <p:nvSpPr>
          <p:cNvPr id="3" name="Text 1"/>
          <p:cNvSpPr txBox="1"/>
          <p:nvPr/>
        </p:nvSpPr>
        <p:spPr>
          <a:xfrm>
            <a:off x="329184" y="512064"/>
            <a:ext cx="11219688" cy="658368"/>
          </a:xfrm>
          <a:prstGeom prst="rect">
            <a:avLst/>
          </a:prstGeom>
          <a:noFill/>
          <a:ln/>
        </p:spPr>
        <p:txBody>
          <a:bodyPr wrap="square" lIns="0" tIns="0" rIns="0" bIns="0" rtlCol="0" anchor="ctr"/>
          <a:lstStyle/>
          <a:p>
            <a:pPr indent="0" marL="0">
              <a:buNone/>
            </a:pPr>
            <a:r>
              <a:rPr lang="en-US" sz="3200" b="1" dirty="0">
                <a:solidFill>
                  <a:srgbClr val="44546A"/>
                </a:solidFill>
                <a:latin typeface="Cambria" pitchFamily="34" charset="0"/>
                <a:ea typeface="Cambria" pitchFamily="34" charset="-122"/>
                <a:cs typeface="Cambria" pitchFamily="34" charset="-120"/>
              </a:rPr>
              <a:t>Bank-wide Oversight: the top panel</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91672" cy="914400"/>
        </p:xfrm>
        <a:graphic>
          <a:graphicData uri="http://schemas.openxmlformats.org/drawingml/2006/table">
            <a:tbl>
              <a:tblPr/>
              <a:tblGrid>
                <a:gridCol w="2331720"/>
                <a:gridCol w="3063240"/>
                <a:gridCol w="3913632"/>
                <a:gridCol w="178308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Your term</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counts</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Active EDRMS SharePoint sites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EDRMS sites, grouped by department, office or RM</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Cloud Governance, with department and division backfilled</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algn="ctr" indent="0" marL="0">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Total number of EDRMS users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People with recorded SharePoint activity in the window</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SharePoint activity log</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algn="ctr" indent="0" marL="0">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Total number of documents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File count per site, rolled up</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SharePoint site usage, joined to the Cloud Governance site list</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algn="ctr" indent="0" marL="0">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Total number of records declared</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Declared records, counted once each</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algn="ctr" indent="0" marL="0">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Total physical counterparts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Declared records flagged as having a paper counterpart</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algn="ctr" indent="0" marL="0">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Records due for disposal</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Records reaching their disposal due date in a window</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algn="ctr" indent="0" marL="0">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Sovereign and nonsovereign project sites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Sites belonging to a project</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No source. Out of scope for this release.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algn="ctr" indent="0" marL="0">
                        <a:buNone/>
                      </a:pPr>
                      <a:r>
                        <a:rPr lang="en-US" sz="1000" b="1" dirty="0">
                          <a:solidFill>
                            <a:srgbClr val="9C2B2B"/>
                          </a:solidFill>
                          <a:latin typeface="Calibri" pitchFamily="34" charset="0"/>
                          <a:ea typeface="Calibri" pitchFamily="34" charset="-122"/>
                          <a:cs typeface="Calibri" pitchFamily="34" charset="-120"/>
                        </a:rPr>
                        <a:t>No source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r>
            </a:tbl>
          </a:graphicData>
        </a:graphic>
      </p:graphicFrame>
      <p:sp>
        <p:nvSpPr>
          <p:cNvPr id="5" name="Shape 2"/>
          <p:cNvSpPr/>
          <p:nvPr/>
        </p:nvSpPr>
        <p:spPr>
          <a:xfrm>
            <a:off x="548640" y="4617720"/>
            <a:ext cx="11091672" cy="1188720"/>
          </a:xfrm>
          <a:prstGeom prst="roundRect">
            <a:avLst>
              <a:gd name="adj" fmla="val 4615"/>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6" name="Text 3"/>
          <p:cNvSpPr txBox="1"/>
          <p:nvPr/>
        </p:nvSpPr>
        <p:spPr>
          <a:xfrm>
            <a:off x="868680" y="4773168"/>
            <a:ext cx="10424160" cy="237744"/>
          </a:xfrm>
          <a:prstGeom prst="rect">
            <a:avLst/>
          </a:prstGeom>
          <a:noFill/>
          <a:ln/>
        </p:spPr>
        <p:txBody>
          <a:bodyPr wrap="square" lIns="0" tIns="0" rIns="0" bIns="0" rtlCol="0" anchor="ctr"/>
          <a:lstStyle/>
          <a:p>
            <a:pPr indent="0" marL="0">
              <a:buNone/>
            </a:pPr>
            <a:r>
              <a:rPr lang="en-US" sz="1050" b="1" spc="140" kern="0" dirty="0">
                <a:solidFill>
                  <a:srgbClr val="6B7A90"/>
                </a:solidFill>
                <a:latin typeface="Calibri" pitchFamily="34" charset="0"/>
                <a:ea typeface="Calibri" pitchFamily="34" charset="-122"/>
                <a:cs typeface="Calibri" pitchFamily="34" charset="-120"/>
              </a:rPr>
              <a:t>Raised by your own review</a:t>
            </a:r>
            <a:endParaRPr lang="en-US" sz="1050" dirty="0"/>
          </a:p>
        </p:txBody>
      </p:sp>
      <p:sp>
        <p:nvSpPr>
          <p:cNvPr id="7" name="Text 4"/>
          <p:cNvSpPr txBox="1"/>
          <p:nvPr/>
        </p:nvSpPr>
        <p:spPr>
          <a:xfrm>
            <a:off x="868680" y="5029200"/>
            <a:ext cx="10424160" cy="685800"/>
          </a:xfrm>
          <a:prstGeom prst="rect">
            <a:avLst/>
          </a:prstGeom>
          <a:noFill/>
          <a:ln/>
        </p:spPr>
        <p:txBody>
          <a:bodyPr wrap="square" lIns="0" tIns="0" rIns="0" bIns="0" rtlCol="0" anchor="ctr"/>
          <a:lstStyle/>
          <a:p>
            <a:pPr indent="0" marL="0">
              <a:buNone/>
            </a:pPr>
            <a:r>
              <a:rPr lang="en-US" sz="1100" i="1" dirty="0">
                <a:solidFill>
                  <a:srgbClr val="333F50"/>
                </a:solidFill>
                <a:latin typeface="Calibri" pitchFamily="34" charset="0"/>
                <a:ea typeface="Calibri" pitchFamily="34" charset="-122"/>
                <a:cs typeface="Calibri" pitchFamily="34" charset="-120"/>
              </a:rPr>
              <a:t>“All records have a due date for disposal. What does due for disposal mean? Due in the next 30, 60 or 90 days?”</a:t>
            </a:r>
            <a:endParaRPr lang="en-US" sz="1100" dirty="0"/>
          </a:p>
          <a:p>
            <a:pPr indent="0" marL="0">
              <a:buNone/>
            </a:pPr>
            <a:r>
              <a:rPr lang="en-US" sz="1100" i="1" dirty="0">
                <a:solidFill>
                  <a:srgbClr val="333F50"/>
                </a:solidFill>
                <a:latin typeface="Calibri" pitchFamily="34" charset="0"/>
                <a:ea typeface="Calibri" pitchFamily="34" charset="-122"/>
                <a:cs typeface="Calibri" pitchFamily="34" charset="-120"/>
              </a:rPr>
              <a:t>“Is this user with access to EDRMS sites?”</a:t>
            </a:r>
            <a:endParaRPr lang="en-US" sz="1100" dirty="0"/>
          </a:p>
          <a:p>
            <a:pPr indent="0" marL="0">
              <a:buNone/>
            </a:pPr>
            <a:r>
              <a:rPr lang="en-US" sz="1100" b="1" dirty="0">
                <a:solidFill>
                  <a:srgbClr val="333F50"/>
                </a:solidFill>
                <a:latin typeface="Calibri" pitchFamily="34" charset="0"/>
                <a:ea typeface="Calibri" pitchFamily="34" charset="-122"/>
                <a:cs typeface="Calibri" pitchFamily="34" charset="-120"/>
              </a:rPr>
              <a:t>Both change the figure entirely. We need one answer each before these tiles can be built.</a:t>
            </a:r>
            <a:endParaRPr lang="en-US" sz="1100" dirty="0"/>
          </a:p>
        </p:txBody>
      </p:sp>
      <p:sp>
        <p:nvSpPr>
          <p:cNvPr id="8" name="Shape 5"/>
          <p:cNvSpPr/>
          <p:nvPr/>
        </p:nvSpPr>
        <p:spPr>
          <a:xfrm>
            <a:off x="548640" y="6089904"/>
            <a:ext cx="868680" cy="237744"/>
          </a:xfrm>
          <a:prstGeom prst="roundRect">
            <a:avLst>
              <a:gd name="adj" fmla="val 19231"/>
            </a:avLst>
          </a:prstGeom>
          <a:solidFill>
            <a:srgbClr val="DCEDE2"/>
          </a:solidFill>
          <a:ln w="9525">
            <a:solidFill>
              <a:srgbClr val="1F6B3B"/>
            </a:solidFill>
            <a:prstDash val="solid"/>
          </a:ln>
        </p:spPr>
      </p:sp>
      <p:sp>
        <p:nvSpPr>
          <p:cNvPr id="9" name="Text 6"/>
          <p:cNvSpPr txBox="1"/>
          <p:nvPr/>
        </p:nvSpPr>
        <p:spPr>
          <a:xfrm>
            <a:off x="548640" y="6089904"/>
            <a:ext cx="868680" cy="237744"/>
          </a:xfrm>
          <a:prstGeom prst="rect">
            <a:avLst/>
          </a:prstGeom>
          <a:noFill/>
          <a:ln/>
        </p:spPr>
        <p:txBody>
          <a:bodyPr wrap="square" lIns="0" tIns="0" rIns="0" bIns="0" rtlCol="0" anchor="ctr"/>
          <a:lstStyle/>
          <a:p>
            <a:pPr algn="ctr" indent="0" marL="0">
              <a:buNone/>
            </a:pPr>
            <a:r>
              <a:rPr lang="en-US" sz="900" b="1" dirty="0">
                <a:solidFill>
                  <a:srgbClr val="1F6B3B"/>
                </a:solidFill>
                <a:latin typeface="Calibri" pitchFamily="34" charset="0"/>
                <a:ea typeface="Calibri" pitchFamily="34" charset="-122"/>
                <a:cs typeface="Calibri" pitchFamily="34" charset="-120"/>
              </a:rPr>
              <a:t>Available</a:t>
            </a:r>
            <a:endParaRPr lang="en-US" sz="900" dirty="0"/>
          </a:p>
        </p:txBody>
      </p:sp>
      <p:sp>
        <p:nvSpPr>
          <p:cNvPr id="10" name="Text 7"/>
          <p:cNvSpPr txBox="1"/>
          <p:nvPr/>
        </p:nvSpPr>
        <p:spPr>
          <a:xfrm>
            <a:off x="1508760" y="6089904"/>
            <a:ext cx="2788920" cy="237744"/>
          </a:xfrm>
          <a:prstGeom prst="rect">
            <a:avLst/>
          </a:prstGeom>
          <a:noFill/>
          <a:ln/>
        </p:spPr>
        <p:txBody>
          <a:bodyPr wrap="square" lIns="0" tIns="0" rIns="0" bIns="0" rtlCol="0" anchor="ctr"/>
          <a:lstStyle/>
          <a:p>
            <a:pPr indent="0" marL="0">
              <a:buNone/>
            </a:pPr>
            <a:r>
              <a:rPr lang="en-US" sz="900" dirty="0">
                <a:solidFill>
                  <a:srgbClr val="6B7A90"/>
                </a:solidFill>
                <a:latin typeface="Calibri" pitchFamily="34" charset="0"/>
                <a:ea typeface="Calibri" pitchFamily="34" charset="-122"/>
                <a:cs typeface="Calibri" pitchFamily="34" charset="-120"/>
              </a:rPr>
              <a:t>Sourced and buildable today</a:t>
            </a:r>
            <a:endParaRPr lang="en-US" sz="900" dirty="0"/>
          </a:p>
        </p:txBody>
      </p:sp>
      <p:sp>
        <p:nvSpPr>
          <p:cNvPr id="11" name="Shape 8"/>
          <p:cNvSpPr/>
          <p:nvPr/>
        </p:nvSpPr>
        <p:spPr>
          <a:xfrm>
            <a:off x="4343400" y="6089904"/>
            <a:ext cx="868680" cy="237744"/>
          </a:xfrm>
          <a:prstGeom prst="roundRect">
            <a:avLst>
              <a:gd name="adj" fmla="val 19231"/>
            </a:avLst>
          </a:prstGeom>
          <a:solidFill>
            <a:srgbClr val="FBEFD4"/>
          </a:solidFill>
          <a:ln w="9525">
            <a:solidFill>
              <a:srgbClr val="8A5A00"/>
            </a:solidFill>
            <a:prstDash val="solid"/>
          </a:ln>
        </p:spPr>
      </p:sp>
      <p:sp>
        <p:nvSpPr>
          <p:cNvPr id="12" name="Text 9"/>
          <p:cNvSpPr txBox="1"/>
          <p:nvPr/>
        </p:nvSpPr>
        <p:spPr>
          <a:xfrm>
            <a:off x="4343400" y="6089904"/>
            <a:ext cx="868680" cy="237744"/>
          </a:xfrm>
          <a:prstGeom prst="rect">
            <a:avLst/>
          </a:prstGeom>
          <a:noFill/>
          <a:ln/>
        </p:spPr>
        <p:txBody>
          <a:bodyPr wrap="square" lIns="0" tIns="0" rIns="0" bIns="0" rtlCol="0" anchor="ctr"/>
          <a:lstStyle/>
          <a:p>
            <a:pPr algn="ctr" indent="0" marL="0">
              <a:buNone/>
            </a:pPr>
            <a:r>
              <a:rPr lang="en-US" sz="900" b="1" dirty="0">
                <a:solidFill>
                  <a:srgbClr val="8A5A00"/>
                </a:solidFill>
                <a:latin typeface="Calibri" pitchFamily="34" charset="0"/>
                <a:ea typeface="Calibri" pitchFamily="34" charset="-122"/>
                <a:cs typeface="Calibri" pitchFamily="34" charset="-120"/>
              </a:rPr>
              <a:t>Define</a:t>
            </a:r>
            <a:endParaRPr lang="en-US" sz="900" dirty="0"/>
          </a:p>
        </p:txBody>
      </p:sp>
      <p:sp>
        <p:nvSpPr>
          <p:cNvPr id="13" name="Text 10"/>
          <p:cNvSpPr txBox="1"/>
          <p:nvPr/>
        </p:nvSpPr>
        <p:spPr>
          <a:xfrm>
            <a:off x="5303520" y="6089904"/>
            <a:ext cx="2788920" cy="237744"/>
          </a:xfrm>
          <a:prstGeom prst="rect">
            <a:avLst/>
          </a:prstGeom>
          <a:noFill/>
          <a:ln/>
        </p:spPr>
        <p:txBody>
          <a:bodyPr wrap="square" lIns="0" tIns="0" rIns="0" bIns="0" rtlCol="0" anchor="ctr"/>
          <a:lstStyle/>
          <a:p>
            <a:pPr indent="0" marL="0">
              <a:buNone/>
            </a:pPr>
            <a:r>
              <a:rPr lang="en-US" sz="900" dirty="0">
                <a:solidFill>
                  <a:srgbClr val="6B7A90"/>
                </a:solidFill>
                <a:latin typeface="Calibri" pitchFamily="34" charset="0"/>
                <a:ea typeface="Calibri" pitchFamily="34" charset="-122"/>
                <a:cs typeface="Calibri" pitchFamily="34" charset="-120"/>
              </a:rPr>
              <a:t>Term is ambiguous. What it means changes the figure</a:t>
            </a:r>
            <a:endParaRPr lang="en-US" sz="900" dirty="0"/>
          </a:p>
        </p:txBody>
      </p:sp>
      <p:sp>
        <p:nvSpPr>
          <p:cNvPr id="14" name="Shape 11"/>
          <p:cNvSpPr/>
          <p:nvPr/>
        </p:nvSpPr>
        <p:spPr>
          <a:xfrm>
            <a:off x="8138160" y="6089904"/>
            <a:ext cx="868680" cy="237744"/>
          </a:xfrm>
          <a:prstGeom prst="roundRect">
            <a:avLst>
              <a:gd name="adj" fmla="val 19231"/>
            </a:avLst>
          </a:prstGeom>
          <a:solidFill>
            <a:srgbClr val="F7E0E0"/>
          </a:solidFill>
          <a:ln w="9525">
            <a:solidFill>
              <a:srgbClr val="9C2B2B"/>
            </a:solidFill>
            <a:prstDash val="solid"/>
          </a:ln>
        </p:spPr>
      </p:sp>
      <p:sp>
        <p:nvSpPr>
          <p:cNvPr id="15" name="Text 12"/>
          <p:cNvSpPr txBox="1"/>
          <p:nvPr/>
        </p:nvSpPr>
        <p:spPr>
          <a:xfrm>
            <a:off x="8138160" y="6089904"/>
            <a:ext cx="868680" cy="237744"/>
          </a:xfrm>
          <a:prstGeom prst="rect">
            <a:avLst/>
          </a:prstGeom>
          <a:noFill/>
          <a:ln/>
        </p:spPr>
        <p:txBody>
          <a:bodyPr wrap="square" lIns="0" tIns="0" rIns="0" bIns="0" rtlCol="0" anchor="ctr"/>
          <a:lstStyle/>
          <a:p>
            <a:pPr algn="ctr" indent="0" marL="0">
              <a:buNone/>
            </a:pPr>
            <a:r>
              <a:rPr lang="en-US" sz="900" b="1" dirty="0">
                <a:solidFill>
                  <a:srgbClr val="9C2B2B"/>
                </a:solidFill>
                <a:latin typeface="Calibri" pitchFamily="34" charset="0"/>
                <a:ea typeface="Calibri" pitchFamily="34" charset="-122"/>
                <a:cs typeface="Calibri" pitchFamily="34" charset="-120"/>
              </a:rPr>
              <a:t>No source</a:t>
            </a:r>
            <a:endParaRPr lang="en-US" sz="900" dirty="0"/>
          </a:p>
        </p:txBody>
      </p:sp>
      <p:sp>
        <p:nvSpPr>
          <p:cNvPr id="16" name="Text 13"/>
          <p:cNvSpPr txBox="1"/>
          <p:nvPr/>
        </p:nvSpPr>
        <p:spPr>
          <a:xfrm>
            <a:off x="9098280" y="6089904"/>
            <a:ext cx="2788920" cy="237744"/>
          </a:xfrm>
          <a:prstGeom prst="rect">
            <a:avLst/>
          </a:prstGeom>
          <a:noFill/>
          <a:ln/>
        </p:spPr>
        <p:txBody>
          <a:bodyPr wrap="square" lIns="0" tIns="0" rIns="0" bIns="0" rtlCol="0" anchor="ctr"/>
          <a:lstStyle/>
          <a:p>
            <a:pPr indent="0" marL="0">
              <a:buNone/>
            </a:pPr>
            <a:r>
              <a:rPr lang="en-US" sz="900" dirty="0">
                <a:solidFill>
                  <a:srgbClr val="6B7A90"/>
                </a:solidFill>
                <a:latin typeface="Calibri" pitchFamily="34" charset="0"/>
                <a:ea typeface="Calibri" pitchFamily="34" charset="-122"/>
                <a:cs typeface="Calibri" pitchFamily="34" charset="-120"/>
              </a:rPr>
              <a:t>Nothing available produces this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329184" y="274320"/>
            <a:ext cx="11219688" cy="219456"/>
          </a:xfrm>
          <a:prstGeom prst="rect">
            <a:avLst/>
          </a:prstGeom>
          <a:noFill/>
          <a:ln/>
        </p:spPr>
        <p:txBody>
          <a:bodyPr wrap="square" lIns="0" tIns="0" rIns="0" bIns="0" rtlCol="0" anchor="ctr"/>
          <a:lstStyle/>
          <a:p>
            <a:pPr indent="0" marL="0">
              <a:buNone/>
            </a:pPr>
            <a:r>
              <a:rPr lang="en-US" sz="1050" b="1" spc="160" kern="0" dirty="0">
                <a:solidFill>
                  <a:srgbClr val="6B7A90"/>
                </a:solidFill>
                <a:latin typeface="Calibri" pitchFamily="34" charset="0"/>
                <a:ea typeface="Calibri" pitchFamily="34" charset="-122"/>
                <a:cs typeface="Calibri" pitchFamily="34" charset="-120"/>
              </a:rPr>
              <a:t>WHAT EACH ITEM MEANS AND WHERE IT COMES FROM</a:t>
            </a:r>
            <a:endParaRPr lang="en-US" sz="1050" dirty="0"/>
          </a:p>
        </p:txBody>
      </p:sp>
      <p:sp>
        <p:nvSpPr>
          <p:cNvPr id="3" name="Text 1"/>
          <p:cNvSpPr txBox="1"/>
          <p:nvPr/>
        </p:nvSpPr>
        <p:spPr>
          <a:xfrm>
            <a:off x="329184" y="512064"/>
            <a:ext cx="11219688" cy="658368"/>
          </a:xfrm>
          <a:prstGeom prst="rect">
            <a:avLst/>
          </a:prstGeom>
          <a:noFill/>
          <a:ln/>
        </p:spPr>
        <p:txBody>
          <a:bodyPr wrap="square" lIns="0" tIns="0" rIns="0" bIns="0" rtlCol="0" anchor="ctr"/>
          <a:lstStyle/>
          <a:p>
            <a:pPr indent="0" marL="0">
              <a:buNone/>
            </a:pPr>
            <a:r>
              <a:rPr lang="en-US" sz="3200" b="1" dirty="0">
                <a:solidFill>
                  <a:srgbClr val="44546A"/>
                </a:solidFill>
                <a:latin typeface="Cambria" pitchFamily="34" charset="0"/>
                <a:ea typeface="Cambria" pitchFamily="34" charset="-122"/>
                <a:cs typeface="Cambria" pitchFamily="34" charset="-120"/>
              </a:rPr>
              <a:t>Bank-wide Oversight: tables, indicators and trend</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91672" cy="914400"/>
        </p:xfrm>
        <a:graphic>
          <a:graphicData uri="http://schemas.openxmlformats.org/drawingml/2006/table">
            <a:tbl>
              <a:tblPr/>
              <a:tblGrid>
                <a:gridCol w="2331720"/>
                <a:gridCol w="3063240"/>
                <a:gridCol w="3913632"/>
                <a:gridCol w="178308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Your term</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counts</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Department / office / RM</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The owning unit of each site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Cloud Governance. Department is set at provisioning; division needs backfilling</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algn="ctr" indent="0" marL="0">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Sites created, deleted, archived</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Site lifecycle counts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Cloud Governance site status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algn="ctr" indent="0" marL="0">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Inactive site for 90 days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Sites with no activity in the window</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SharePoint site usage, last activity date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algn="ctr" indent="0" marL="0">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Never accessed EDRMS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People with access to a site who have never opened it</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Site permissions checked against the activity log</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algn="ctr" indent="0" marL="0">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Staff, contractors, consultants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Users split by employment type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No source. Needs a user register with employment type.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algn="ctr" indent="0" marL="0">
                        <a:buNone/>
                      </a:pPr>
                      <a:r>
                        <a:rPr lang="en-US" sz="1000" b="1" dirty="0">
                          <a:solidFill>
                            <a:srgbClr val="9C2B2B"/>
                          </a:solidFill>
                          <a:latin typeface="Calibri" pitchFamily="34" charset="0"/>
                          <a:ea typeface="Calibri" pitchFamily="34" charset="-122"/>
                          <a:cs typeface="Calibri" pitchFamily="34" charset="-120"/>
                        </a:rPr>
                        <a:t>No source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Completion of training</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Users who completed EDRMS training</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Held by the learning team. Owner identified, file not yet supplied.</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algn="ctr" indent="0" marL="0">
                        <a:buNone/>
                      </a:pPr>
                      <a:r>
                        <a:rPr lang="en-US" sz="1000" b="1" dirty="0">
                          <a:solidFill>
                            <a:srgbClr val="9C2B2B"/>
                          </a:solidFill>
                          <a:latin typeface="Calibri" pitchFamily="34" charset="0"/>
                          <a:ea typeface="Calibri" pitchFamily="34" charset="-122"/>
                          <a:cs typeface="Calibri" pitchFamily="34" charset="-120"/>
                        </a:rPr>
                        <a:t>No source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New documents month on month</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Documents added in each month</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Needs a document level scan that does not exist yet</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algn="ctr" indent="0" marL="0">
                        <a:buNone/>
                      </a:pPr>
                      <a:r>
                        <a:rPr lang="en-US" sz="1000" b="1" dirty="0">
                          <a:solidFill>
                            <a:srgbClr val="9C2B2B"/>
                          </a:solidFill>
                          <a:latin typeface="Calibri" pitchFamily="34" charset="0"/>
                          <a:ea typeface="Calibri" pitchFamily="34" charset="-122"/>
                          <a:cs typeface="Calibri" pitchFamily="34" charset="-120"/>
                        </a:rPr>
                        <a:t>No source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Records declaration trend</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Declared records as a running total over time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algn="ctr" indent="0" marL="0">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r>
            </a:tbl>
          </a:graphicData>
        </a:graphic>
      </p:graphicFrame>
      <p:sp>
        <p:nvSpPr>
          <p:cNvPr id="5" name="Shape 2"/>
          <p:cNvSpPr/>
          <p:nvPr/>
        </p:nvSpPr>
        <p:spPr>
          <a:xfrm>
            <a:off x="548640" y="4983480"/>
            <a:ext cx="11091672" cy="868680"/>
          </a:xfrm>
          <a:prstGeom prst="roundRect">
            <a:avLst>
              <a:gd name="adj" fmla="val 6316"/>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6" name="Text 3"/>
          <p:cNvSpPr txBox="1"/>
          <p:nvPr/>
        </p:nvSpPr>
        <p:spPr>
          <a:xfrm>
            <a:off x="868680" y="5138928"/>
            <a:ext cx="10424160" cy="566928"/>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Never accessed:  </a:t>
            </a:r>
            <a:pPr indent="0" marL="0">
              <a:buNone/>
            </a:pPr>
            <a:r>
              <a:rPr lang="en-US" sz="1150" dirty="0">
                <a:solidFill>
                  <a:srgbClr val="333F50"/>
                </a:solidFill>
                <a:latin typeface="Calibri" pitchFamily="34" charset="0"/>
                <a:ea typeface="Calibri" pitchFamily="34" charset="-122"/>
                <a:cs typeface="Calibri" pitchFamily="34" charset="-120"/>
              </a:rPr>
              <a:t>agreed in the technical session that this means people who have access to the site and have never opened it, checked against the site's own members, owners and visitors rather than the whole tenant. Please confirm that is your intent.</a:t>
            </a:r>
            <a:endParaRPr lang="en-US" sz="1150" dirty="0"/>
          </a:p>
        </p:txBody>
      </p:sp>
      <p:sp>
        <p:nvSpPr>
          <p:cNvPr id="7" name="Shape 4"/>
          <p:cNvSpPr/>
          <p:nvPr/>
        </p:nvSpPr>
        <p:spPr>
          <a:xfrm>
            <a:off x="548640" y="6089904"/>
            <a:ext cx="868680" cy="237744"/>
          </a:xfrm>
          <a:prstGeom prst="roundRect">
            <a:avLst>
              <a:gd name="adj" fmla="val 19231"/>
            </a:avLst>
          </a:prstGeom>
          <a:solidFill>
            <a:srgbClr val="DCEDE2"/>
          </a:solidFill>
          <a:ln w="9525">
            <a:solidFill>
              <a:srgbClr val="1F6B3B"/>
            </a:solidFill>
            <a:prstDash val="solid"/>
          </a:ln>
        </p:spPr>
      </p:sp>
      <p:sp>
        <p:nvSpPr>
          <p:cNvPr id="8" name="Text 5"/>
          <p:cNvSpPr txBox="1"/>
          <p:nvPr/>
        </p:nvSpPr>
        <p:spPr>
          <a:xfrm>
            <a:off x="548640" y="6089904"/>
            <a:ext cx="868680" cy="237744"/>
          </a:xfrm>
          <a:prstGeom prst="rect">
            <a:avLst/>
          </a:prstGeom>
          <a:noFill/>
          <a:ln/>
        </p:spPr>
        <p:txBody>
          <a:bodyPr wrap="square" lIns="0" tIns="0" rIns="0" bIns="0" rtlCol="0" anchor="ctr"/>
          <a:lstStyle/>
          <a:p>
            <a:pPr algn="ctr" indent="0" marL="0">
              <a:buNone/>
            </a:pPr>
            <a:r>
              <a:rPr lang="en-US" sz="900" b="1" dirty="0">
                <a:solidFill>
                  <a:srgbClr val="1F6B3B"/>
                </a:solidFill>
                <a:latin typeface="Calibri" pitchFamily="34" charset="0"/>
                <a:ea typeface="Calibri" pitchFamily="34" charset="-122"/>
                <a:cs typeface="Calibri" pitchFamily="34" charset="-120"/>
              </a:rPr>
              <a:t>Available</a:t>
            </a:r>
            <a:endParaRPr lang="en-US" sz="900" dirty="0"/>
          </a:p>
        </p:txBody>
      </p:sp>
      <p:sp>
        <p:nvSpPr>
          <p:cNvPr id="9" name="Text 6"/>
          <p:cNvSpPr txBox="1"/>
          <p:nvPr/>
        </p:nvSpPr>
        <p:spPr>
          <a:xfrm>
            <a:off x="1508760" y="6089904"/>
            <a:ext cx="2788920" cy="237744"/>
          </a:xfrm>
          <a:prstGeom prst="rect">
            <a:avLst/>
          </a:prstGeom>
          <a:noFill/>
          <a:ln/>
        </p:spPr>
        <p:txBody>
          <a:bodyPr wrap="square" lIns="0" tIns="0" rIns="0" bIns="0" rtlCol="0" anchor="ctr"/>
          <a:lstStyle/>
          <a:p>
            <a:pPr indent="0" marL="0">
              <a:buNone/>
            </a:pPr>
            <a:r>
              <a:rPr lang="en-US" sz="900" dirty="0">
                <a:solidFill>
                  <a:srgbClr val="6B7A90"/>
                </a:solidFill>
                <a:latin typeface="Calibri" pitchFamily="34" charset="0"/>
                <a:ea typeface="Calibri" pitchFamily="34" charset="-122"/>
                <a:cs typeface="Calibri" pitchFamily="34" charset="-120"/>
              </a:rPr>
              <a:t>Sourced and buildable today</a:t>
            </a:r>
            <a:endParaRPr lang="en-US" sz="900" dirty="0"/>
          </a:p>
        </p:txBody>
      </p:sp>
      <p:sp>
        <p:nvSpPr>
          <p:cNvPr id="10" name="Shape 7"/>
          <p:cNvSpPr/>
          <p:nvPr/>
        </p:nvSpPr>
        <p:spPr>
          <a:xfrm>
            <a:off x="4343400" y="6089904"/>
            <a:ext cx="868680" cy="237744"/>
          </a:xfrm>
          <a:prstGeom prst="roundRect">
            <a:avLst>
              <a:gd name="adj" fmla="val 19231"/>
            </a:avLst>
          </a:prstGeom>
          <a:solidFill>
            <a:srgbClr val="FBEFD4"/>
          </a:solidFill>
          <a:ln w="9525">
            <a:solidFill>
              <a:srgbClr val="8A5A00"/>
            </a:solidFill>
            <a:prstDash val="solid"/>
          </a:ln>
        </p:spPr>
      </p:sp>
      <p:sp>
        <p:nvSpPr>
          <p:cNvPr id="11" name="Text 8"/>
          <p:cNvSpPr txBox="1"/>
          <p:nvPr/>
        </p:nvSpPr>
        <p:spPr>
          <a:xfrm>
            <a:off x="4343400" y="6089904"/>
            <a:ext cx="868680" cy="237744"/>
          </a:xfrm>
          <a:prstGeom prst="rect">
            <a:avLst/>
          </a:prstGeom>
          <a:noFill/>
          <a:ln/>
        </p:spPr>
        <p:txBody>
          <a:bodyPr wrap="square" lIns="0" tIns="0" rIns="0" bIns="0" rtlCol="0" anchor="ctr"/>
          <a:lstStyle/>
          <a:p>
            <a:pPr algn="ctr" indent="0" marL="0">
              <a:buNone/>
            </a:pPr>
            <a:r>
              <a:rPr lang="en-US" sz="900" b="1" dirty="0">
                <a:solidFill>
                  <a:srgbClr val="8A5A00"/>
                </a:solidFill>
                <a:latin typeface="Calibri" pitchFamily="34" charset="0"/>
                <a:ea typeface="Calibri" pitchFamily="34" charset="-122"/>
                <a:cs typeface="Calibri" pitchFamily="34" charset="-120"/>
              </a:rPr>
              <a:t>Define</a:t>
            </a:r>
            <a:endParaRPr lang="en-US" sz="900" dirty="0"/>
          </a:p>
        </p:txBody>
      </p:sp>
      <p:sp>
        <p:nvSpPr>
          <p:cNvPr id="12" name="Text 9"/>
          <p:cNvSpPr txBox="1"/>
          <p:nvPr/>
        </p:nvSpPr>
        <p:spPr>
          <a:xfrm>
            <a:off x="5303520" y="6089904"/>
            <a:ext cx="2788920" cy="237744"/>
          </a:xfrm>
          <a:prstGeom prst="rect">
            <a:avLst/>
          </a:prstGeom>
          <a:noFill/>
          <a:ln/>
        </p:spPr>
        <p:txBody>
          <a:bodyPr wrap="square" lIns="0" tIns="0" rIns="0" bIns="0" rtlCol="0" anchor="ctr"/>
          <a:lstStyle/>
          <a:p>
            <a:pPr indent="0" marL="0">
              <a:buNone/>
            </a:pPr>
            <a:r>
              <a:rPr lang="en-US" sz="900" dirty="0">
                <a:solidFill>
                  <a:srgbClr val="6B7A90"/>
                </a:solidFill>
                <a:latin typeface="Calibri" pitchFamily="34" charset="0"/>
                <a:ea typeface="Calibri" pitchFamily="34" charset="-122"/>
                <a:cs typeface="Calibri" pitchFamily="34" charset="-120"/>
              </a:rPr>
              <a:t>Term is ambiguous. What it means changes the figure</a:t>
            </a:r>
            <a:endParaRPr lang="en-US" sz="900" dirty="0"/>
          </a:p>
        </p:txBody>
      </p:sp>
      <p:sp>
        <p:nvSpPr>
          <p:cNvPr id="13" name="Shape 10"/>
          <p:cNvSpPr/>
          <p:nvPr/>
        </p:nvSpPr>
        <p:spPr>
          <a:xfrm>
            <a:off x="8138160" y="6089904"/>
            <a:ext cx="868680" cy="237744"/>
          </a:xfrm>
          <a:prstGeom prst="roundRect">
            <a:avLst>
              <a:gd name="adj" fmla="val 19231"/>
            </a:avLst>
          </a:prstGeom>
          <a:solidFill>
            <a:srgbClr val="F7E0E0"/>
          </a:solidFill>
          <a:ln w="9525">
            <a:solidFill>
              <a:srgbClr val="9C2B2B"/>
            </a:solidFill>
            <a:prstDash val="solid"/>
          </a:ln>
        </p:spPr>
      </p:sp>
      <p:sp>
        <p:nvSpPr>
          <p:cNvPr id="14" name="Text 11"/>
          <p:cNvSpPr txBox="1"/>
          <p:nvPr/>
        </p:nvSpPr>
        <p:spPr>
          <a:xfrm>
            <a:off x="8138160" y="6089904"/>
            <a:ext cx="868680" cy="237744"/>
          </a:xfrm>
          <a:prstGeom prst="rect">
            <a:avLst/>
          </a:prstGeom>
          <a:noFill/>
          <a:ln/>
        </p:spPr>
        <p:txBody>
          <a:bodyPr wrap="square" lIns="0" tIns="0" rIns="0" bIns="0" rtlCol="0" anchor="ctr"/>
          <a:lstStyle/>
          <a:p>
            <a:pPr algn="ctr" indent="0" marL="0">
              <a:buNone/>
            </a:pPr>
            <a:r>
              <a:rPr lang="en-US" sz="900" b="1" dirty="0">
                <a:solidFill>
                  <a:srgbClr val="9C2B2B"/>
                </a:solidFill>
                <a:latin typeface="Calibri" pitchFamily="34" charset="0"/>
                <a:ea typeface="Calibri" pitchFamily="34" charset="-122"/>
                <a:cs typeface="Calibri" pitchFamily="34" charset="-120"/>
              </a:rPr>
              <a:t>No source</a:t>
            </a:r>
            <a:endParaRPr lang="en-US" sz="900" dirty="0"/>
          </a:p>
        </p:txBody>
      </p:sp>
      <p:sp>
        <p:nvSpPr>
          <p:cNvPr id="15" name="Text 12"/>
          <p:cNvSpPr txBox="1"/>
          <p:nvPr/>
        </p:nvSpPr>
        <p:spPr>
          <a:xfrm>
            <a:off x="9098280" y="6089904"/>
            <a:ext cx="2788920" cy="237744"/>
          </a:xfrm>
          <a:prstGeom prst="rect">
            <a:avLst/>
          </a:prstGeom>
          <a:noFill/>
          <a:ln/>
        </p:spPr>
        <p:txBody>
          <a:bodyPr wrap="square" lIns="0" tIns="0" rIns="0" bIns="0" rtlCol="0" anchor="ctr"/>
          <a:lstStyle/>
          <a:p>
            <a:pPr indent="0" marL="0">
              <a:buNone/>
            </a:pPr>
            <a:r>
              <a:rPr lang="en-US" sz="900" dirty="0">
                <a:solidFill>
                  <a:srgbClr val="6B7A90"/>
                </a:solidFill>
                <a:latin typeface="Calibri" pitchFamily="34" charset="0"/>
                <a:ea typeface="Calibri" pitchFamily="34" charset="-122"/>
                <a:cs typeface="Calibri" pitchFamily="34" charset="-120"/>
              </a:rPr>
              <a:t>Nothing available produces this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329184" y="274320"/>
            <a:ext cx="11219688" cy="219456"/>
          </a:xfrm>
          <a:prstGeom prst="rect">
            <a:avLst/>
          </a:prstGeom>
          <a:noFill/>
          <a:ln/>
        </p:spPr>
        <p:txBody>
          <a:bodyPr wrap="square" lIns="0" tIns="0" rIns="0" bIns="0" rtlCol="0" anchor="ctr"/>
          <a:lstStyle/>
          <a:p>
            <a:pPr indent="0" marL="0">
              <a:buNone/>
            </a:pPr>
            <a:r>
              <a:rPr lang="en-US" sz="1050" b="1" spc="160" kern="0" dirty="0">
                <a:solidFill>
                  <a:srgbClr val="6B7A90"/>
                </a:solidFill>
                <a:latin typeface="Calibri" pitchFamily="34" charset="0"/>
                <a:ea typeface="Calibri" pitchFamily="34" charset="-122"/>
                <a:cs typeface="Calibri" pitchFamily="34" charset="-120"/>
              </a:rPr>
              <a:t>MVP DASHBOARD 2</a:t>
            </a:r>
            <a:endParaRPr lang="en-US" sz="1050" dirty="0"/>
          </a:p>
        </p:txBody>
      </p:sp>
      <p:sp>
        <p:nvSpPr>
          <p:cNvPr id="3" name="Text 1"/>
          <p:cNvSpPr txBox="1"/>
          <p:nvPr/>
        </p:nvSpPr>
        <p:spPr>
          <a:xfrm>
            <a:off x="329184" y="512064"/>
            <a:ext cx="11219688" cy="658368"/>
          </a:xfrm>
          <a:prstGeom prst="rect">
            <a:avLst/>
          </a:prstGeom>
          <a:noFill/>
          <a:ln/>
        </p:spPr>
        <p:txBody>
          <a:bodyPr wrap="square" lIns="0" tIns="0" rIns="0" bIns="0" rtlCol="0" anchor="ctr"/>
          <a:lstStyle/>
          <a:p>
            <a:pPr indent="0" marL="0">
              <a:buNone/>
            </a:pPr>
            <a:r>
              <a:rPr lang="en-US" sz="3200" b="1" dirty="0">
                <a:solidFill>
                  <a:srgbClr val="44546A"/>
                </a:solidFill>
                <a:latin typeface="Cambria" pitchFamily="34" charset="0"/>
                <a:ea typeface="Cambria" pitchFamily="34" charset="-122"/>
                <a:cs typeface="Cambria" pitchFamily="34" charset="-120"/>
              </a:rPr>
              <a:t>Department Insights</a:t>
            </a:r>
            <a:endParaRPr lang="en-US" sz="3200" dirty="0"/>
          </a:p>
        </p:txBody>
      </p:sp>
      <p:sp>
        <p:nvSpPr>
          <p:cNvPr id="4" name="Text 2"/>
          <p:cNvSpPr txBox="1"/>
          <p:nvPr/>
        </p:nvSpPr>
        <p:spPr>
          <a:xfrm>
            <a:off x="548640" y="1298448"/>
            <a:ext cx="11091672" cy="274320"/>
          </a:xfrm>
          <a:prstGeom prst="rect">
            <a:avLst/>
          </a:prstGeom>
          <a:noFill/>
          <a:ln/>
        </p:spPr>
        <p:txBody>
          <a:bodyPr wrap="square" lIns="0" tIns="0" rIns="0" bIns="0" rtlCol="0" anchor="ctr"/>
          <a:lstStyle/>
          <a:p>
            <a:pPr indent="0" marL="0">
              <a:buNone/>
            </a:pPr>
            <a:r>
              <a:rPr lang="en-US" sz="1300" dirty="0">
                <a:solidFill>
                  <a:srgbClr val="333F50"/>
                </a:solidFill>
                <a:latin typeface="Calibri" pitchFamily="34" charset="0"/>
                <a:ea typeface="Calibri" pitchFamily="34" charset="-122"/>
                <a:cs typeface="Calibri" pitchFamily="34" charset="-120"/>
              </a:rPr>
              <a:t>One unit's own view. Pick a department, office or RM and everything below refreshes for it.</a:t>
            </a:r>
            <a:endParaRPr lang="en-US" sz="1300" dirty="0"/>
          </a:p>
        </p:txBody>
      </p:sp>
      <p:sp>
        <p:nvSpPr>
          <p:cNvPr id="5" name="Shape 3"/>
          <p:cNvSpPr/>
          <p:nvPr/>
        </p:nvSpPr>
        <p:spPr>
          <a:xfrm>
            <a:off x="548640" y="1691640"/>
            <a:ext cx="6720840" cy="4087368"/>
          </a:xfrm>
          <a:prstGeom prst="roundRect">
            <a:avLst>
              <a:gd name="adj" fmla="val 1119"/>
            </a:avLst>
          </a:prstGeom>
          <a:solidFill>
            <a:srgbClr val="E6ECF6"/>
          </a:solidFill>
          <a:ln w="15875">
            <a:solidFill>
              <a:srgbClr val="9FB2CE"/>
            </a:solidFill>
            <a:prstDash val="dash"/>
          </a:ln>
        </p:spPr>
      </p:sp>
      <p:sp>
        <p:nvSpPr>
          <p:cNvPr id="6" name="Text 4"/>
          <p:cNvSpPr txBox="1"/>
          <p:nvPr/>
        </p:nvSpPr>
        <p:spPr>
          <a:xfrm>
            <a:off x="548640" y="3351276"/>
            <a:ext cx="6720840" cy="237744"/>
          </a:xfrm>
          <a:prstGeom prst="rect">
            <a:avLst/>
          </a:prstGeom>
          <a:noFill/>
          <a:ln/>
        </p:spPr>
        <p:txBody>
          <a:bodyPr wrap="square" lIns="0" tIns="0" rIns="0" bIns="0" rtlCol="0" anchor="ctr"/>
          <a:lstStyle/>
          <a:p>
            <a:pPr algn="ctr" indent="0" marL="0">
              <a:buNone/>
            </a:pPr>
            <a:r>
              <a:rPr lang="en-US" sz="1050" b="1" dirty="0">
                <a:solidFill>
                  <a:srgbClr val="5C7396"/>
                </a:solidFill>
                <a:latin typeface="Calibri" pitchFamily="34" charset="0"/>
                <a:ea typeface="Calibri" pitchFamily="34" charset="-122"/>
                <a:cs typeface="Calibri" pitchFamily="34" charset="-120"/>
              </a:rPr>
              <a:t>IMAGE PLACEHOLDER</a:t>
            </a:r>
            <a:endParaRPr lang="en-US" sz="1050" dirty="0"/>
          </a:p>
        </p:txBody>
      </p:sp>
      <p:sp>
        <p:nvSpPr>
          <p:cNvPr id="7" name="Text 5"/>
          <p:cNvSpPr txBox="1"/>
          <p:nvPr/>
        </p:nvSpPr>
        <p:spPr>
          <a:xfrm>
            <a:off x="731520" y="3625596"/>
            <a:ext cx="6355080" cy="548640"/>
          </a:xfrm>
          <a:prstGeom prst="rect">
            <a:avLst/>
          </a:prstGeom>
          <a:noFill/>
          <a:ln/>
        </p:spPr>
        <p:txBody>
          <a:bodyPr wrap="square" lIns="0" tIns="0" rIns="0" bIns="0" rtlCol="0" anchor="ctr"/>
          <a:lstStyle/>
          <a:p>
            <a:pPr algn="ctr" indent="0" marL="0">
              <a:buNone/>
            </a:pPr>
            <a:r>
              <a:rPr lang="en-US" sz="1150" dirty="0">
                <a:solidFill>
                  <a:srgbClr val="333F50"/>
                </a:solidFill>
                <a:latin typeface="Calibri" pitchFamily="34" charset="0"/>
                <a:ea typeface="Calibri" pitchFamily="34" charset="-122"/>
                <a:cs typeface="Calibri" pitchFamily="34" charset="-120"/>
              </a:rPr>
              <a:t>Mockup: Department Insights, full page</a:t>
            </a:r>
            <a:endParaRPr lang="en-US" sz="1150" dirty="0"/>
          </a:p>
          <a:p>
            <a:pPr algn="ctr" indent="0" marL="0">
              <a:buNone/>
            </a:pPr>
            <a:r>
              <a:rPr lang="en-US" sz="1150" dirty="0">
                <a:solidFill>
                  <a:srgbClr val="333F50"/>
                </a:solidFill>
                <a:latin typeface="Calibri" pitchFamily="34" charset="0"/>
                <a:ea typeface="Calibri" pitchFamily="34" charset="-122"/>
                <a:cs typeface="Calibri" pitchFamily="34" charset="-120"/>
              </a:rPr>
              <a:t>(cover page 3 of the mockup PDF)</a:t>
            </a:r>
            <a:endParaRPr lang="en-US" sz="1150" dirty="0"/>
          </a:p>
        </p:txBody>
      </p:sp>
      <p:sp>
        <p:nvSpPr>
          <p:cNvPr id="8" name="Shape 6"/>
          <p:cNvSpPr/>
          <p:nvPr/>
        </p:nvSpPr>
        <p:spPr>
          <a:xfrm>
            <a:off x="7498080" y="1691640"/>
            <a:ext cx="4142232" cy="932688"/>
          </a:xfrm>
          <a:prstGeom prst="roundRect">
            <a:avLst>
              <a:gd name="adj" fmla="val 5882"/>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9" name="Shape 7"/>
          <p:cNvSpPr/>
          <p:nvPr/>
        </p:nvSpPr>
        <p:spPr>
          <a:xfrm>
            <a:off x="7726680" y="1837944"/>
            <a:ext cx="274320" cy="274320"/>
          </a:xfrm>
          <a:prstGeom prst="ellipse">
            <a:avLst/>
          </a:prstGeom>
          <a:solidFill>
            <a:srgbClr val="1E2761"/>
          </a:solidFill>
          <a:ln/>
        </p:spPr>
      </p:sp>
      <p:sp>
        <p:nvSpPr>
          <p:cNvPr id="10" name="Text 8"/>
          <p:cNvSpPr txBox="1"/>
          <p:nvPr/>
        </p:nvSpPr>
        <p:spPr>
          <a:xfrm>
            <a:off x="7726680" y="183794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Text 9"/>
          <p:cNvSpPr txBox="1"/>
          <p:nvPr/>
        </p:nvSpPr>
        <p:spPr>
          <a:xfrm>
            <a:off x="8138160" y="1810512"/>
            <a:ext cx="329184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Department profile</a:t>
            </a:r>
            <a:endParaRPr lang="en-US" sz="1200" dirty="0"/>
          </a:p>
        </p:txBody>
      </p:sp>
      <p:sp>
        <p:nvSpPr>
          <p:cNvPr id="12" name="Text 10"/>
          <p:cNvSpPr txBox="1"/>
          <p:nvPr/>
        </p:nvSpPr>
        <p:spPr>
          <a:xfrm>
            <a:off x="8138160" y="2093976"/>
            <a:ext cx="3291840" cy="475488"/>
          </a:xfrm>
          <a:prstGeom prst="rect">
            <a:avLst/>
          </a:prstGeom>
          <a:noFill/>
          <a:ln/>
        </p:spPr>
        <p:txBody>
          <a:bodyPr wrap="square" lIns="0" tIns="0" rIns="0" bIns="0" rtlCol="0" anchor="ctr"/>
          <a:lstStyle/>
          <a:p>
            <a:pPr indent="0" marL="0">
              <a:buNone/>
            </a:pPr>
            <a:r>
              <a:rPr lang="en-US" sz="950" dirty="0">
                <a:solidFill>
                  <a:srgbClr val="6B7A90"/>
                </a:solidFill>
                <a:latin typeface="Calibri" pitchFamily="34" charset="0"/>
                <a:ea typeface="Calibri" pitchFamily="34" charset="-122"/>
                <a:cs typeface="Calibri" pitchFamily="34" charset="-120"/>
              </a:rPr>
              <a:t>Seven tiles for the selected unit, each opening its own table.</a:t>
            </a:r>
            <a:endParaRPr lang="en-US" sz="950" dirty="0"/>
          </a:p>
        </p:txBody>
      </p:sp>
      <p:sp>
        <p:nvSpPr>
          <p:cNvPr id="13" name="Shape 11"/>
          <p:cNvSpPr/>
          <p:nvPr/>
        </p:nvSpPr>
        <p:spPr>
          <a:xfrm>
            <a:off x="7498080" y="2743200"/>
            <a:ext cx="4142232" cy="932688"/>
          </a:xfrm>
          <a:prstGeom prst="roundRect">
            <a:avLst>
              <a:gd name="adj" fmla="val 5882"/>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14" name="Shape 12"/>
          <p:cNvSpPr/>
          <p:nvPr/>
        </p:nvSpPr>
        <p:spPr>
          <a:xfrm>
            <a:off x="7726680" y="2889504"/>
            <a:ext cx="274320" cy="274320"/>
          </a:xfrm>
          <a:prstGeom prst="ellipse">
            <a:avLst/>
          </a:prstGeom>
          <a:solidFill>
            <a:srgbClr val="1E2761"/>
          </a:solidFill>
          <a:ln/>
        </p:spPr>
      </p:sp>
      <p:sp>
        <p:nvSpPr>
          <p:cNvPr id="15" name="Text 13"/>
          <p:cNvSpPr txBox="1"/>
          <p:nvPr/>
        </p:nvSpPr>
        <p:spPr>
          <a:xfrm>
            <a:off x="7726680" y="28895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6" name="Text 14"/>
          <p:cNvSpPr txBox="1"/>
          <p:nvPr/>
        </p:nvSpPr>
        <p:spPr>
          <a:xfrm>
            <a:off x="8138160" y="2862072"/>
            <a:ext cx="329184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Overview of EDRMS sites</a:t>
            </a:r>
            <a:endParaRPr lang="en-US" sz="1200" dirty="0"/>
          </a:p>
        </p:txBody>
      </p:sp>
      <p:sp>
        <p:nvSpPr>
          <p:cNvPr id="17" name="Text 15"/>
          <p:cNvSpPr txBox="1"/>
          <p:nvPr/>
        </p:nvSpPr>
        <p:spPr>
          <a:xfrm>
            <a:off x="8138160" y="3145536"/>
            <a:ext cx="3291840" cy="475488"/>
          </a:xfrm>
          <a:prstGeom prst="rect">
            <a:avLst/>
          </a:prstGeom>
          <a:noFill/>
          <a:ln/>
        </p:spPr>
        <p:txBody>
          <a:bodyPr wrap="square" lIns="0" tIns="0" rIns="0" bIns="0" rtlCol="0" anchor="ctr"/>
          <a:lstStyle/>
          <a:p>
            <a:pPr indent="0" marL="0">
              <a:buNone/>
            </a:pPr>
            <a:r>
              <a:rPr lang="en-US" sz="950" dirty="0">
                <a:solidFill>
                  <a:srgbClr val="6B7A90"/>
                </a:solidFill>
                <a:latin typeface="Calibri" pitchFamily="34" charset="0"/>
                <a:ea typeface="Calibri" pitchFamily="34" charset="-122"/>
                <a:cs typeface="Calibri" pitchFamily="34" charset="-120"/>
              </a:rPr>
              <a:t>Every site the unit owns, with its owner, documents, records and counterparts.</a:t>
            </a:r>
            <a:endParaRPr lang="en-US" sz="950" dirty="0"/>
          </a:p>
        </p:txBody>
      </p:sp>
      <p:sp>
        <p:nvSpPr>
          <p:cNvPr id="18" name="Shape 16"/>
          <p:cNvSpPr/>
          <p:nvPr/>
        </p:nvSpPr>
        <p:spPr>
          <a:xfrm>
            <a:off x="7498080" y="3794760"/>
            <a:ext cx="4142232" cy="932688"/>
          </a:xfrm>
          <a:prstGeom prst="roundRect">
            <a:avLst>
              <a:gd name="adj" fmla="val 5882"/>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19" name="Shape 17"/>
          <p:cNvSpPr/>
          <p:nvPr/>
        </p:nvSpPr>
        <p:spPr>
          <a:xfrm>
            <a:off x="7726680" y="3941064"/>
            <a:ext cx="274320" cy="274320"/>
          </a:xfrm>
          <a:prstGeom prst="ellipse">
            <a:avLst/>
          </a:prstGeom>
          <a:solidFill>
            <a:srgbClr val="1E2761"/>
          </a:solidFill>
          <a:ln/>
        </p:spPr>
      </p:sp>
      <p:sp>
        <p:nvSpPr>
          <p:cNvPr id="20" name="Text 18"/>
          <p:cNvSpPr txBox="1"/>
          <p:nvPr/>
        </p:nvSpPr>
        <p:spPr>
          <a:xfrm>
            <a:off x="7726680" y="394106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1" name="Text 19"/>
          <p:cNvSpPr txBox="1"/>
          <p:nvPr/>
        </p:nvSpPr>
        <p:spPr>
          <a:xfrm>
            <a:off x="8138160" y="3913632"/>
            <a:ext cx="329184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Site visits</a:t>
            </a:r>
            <a:endParaRPr lang="en-US" sz="1200" dirty="0"/>
          </a:p>
        </p:txBody>
      </p:sp>
      <p:sp>
        <p:nvSpPr>
          <p:cNvPr id="22" name="Text 20"/>
          <p:cNvSpPr txBox="1"/>
          <p:nvPr/>
        </p:nvSpPr>
        <p:spPr>
          <a:xfrm>
            <a:off x="8138160" y="4197096"/>
            <a:ext cx="3291840" cy="475488"/>
          </a:xfrm>
          <a:prstGeom prst="rect">
            <a:avLst/>
          </a:prstGeom>
          <a:noFill/>
          <a:ln/>
        </p:spPr>
        <p:txBody>
          <a:bodyPr wrap="square" lIns="0" tIns="0" rIns="0" bIns="0" rtlCol="0" anchor="ctr"/>
          <a:lstStyle/>
          <a:p>
            <a:pPr indent="0" marL="0">
              <a:buNone/>
            </a:pPr>
            <a:r>
              <a:rPr lang="en-US" sz="950" dirty="0">
                <a:solidFill>
                  <a:srgbClr val="6B7A90"/>
                </a:solidFill>
                <a:latin typeface="Calibri" pitchFamily="34" charset="0"/>
                <a:ea typeface="Calibri" pitchFamily="34" charset="-122"/>
                <a:cs typeface="Calibri" pitchFamily="34" charset="-120"/>
              </a:rPr>
              <a:t>Page views and visited pages per site, over a window you choose.</a:t>
            </a:r>
            <a:endParaRPr lang="en-US" sz="950" dirty="0"/>
          </a:p>
        </p:txBody>
      </p:sp>
      <p:sp>
        <p:nvSpPr>
          <p:cNvPr id="23" name="Shape 21"/>
          <p:cNvSpPr/>
          <p:nvPr/>
        </p:nvSpPr>
        <p:spPr>
          <a:xfrm>
            <a:off x="7498080" y="4846320"/>
            <a:ext cx="4142232" cy="932688"/>
          </a:xfrm>
          <a:prstGeom prst="roundRect">
            <a:avLst>
              <a:gd name="adj" fmla="val 5882"/>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24" name="Shape 22"/>
          <p:cNvSpPr/>
          <p:nvPr/>
        </p:nvSpPr>
        <p:spPr>
          <a:xfrm>
            <a:off x="7726680" y="4992624"/>
            <a:ext cx="274320" cy="274320"/>
          </a:xfrm>
          <a:prstGeom prst="ellipse">
            <a:avLst/>
          </a:prstGeom>
          <a:solidFill>
            <a:srgbClr val="1E2761"/>
          </a:solidFill>
          <a:ln/>
        </p:spPr>
      </p:sp>
      <p:sp>
        <p:nvSpPr>
          <p:cNvPr id="25" name="Text 23"/>
          <p:cNvSpPr txBox="1"/>
          <p:nvPr/>
        </p:nvSpPr>
        <p:spPr>
          <a:xfrm>
            <a:off x="7726680" y="499262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6" name="Text 24"/>
          <p:cNvSpPr txBox="1"/>
          <p:nvPr/>
        </p:nvSpPr>
        <p:spPr>
          <a:xfrm>
            <a:off x="8138160" y="4965192"/>
            <a:ext cx="329184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Library usage</a:t>
            </a:r>
            <a:endParaRPr lang="en-US" sz="1200" dirty="0"/>
          </a:p>
        </p:txBody>
      </p:sp>
      <p:sp>
        <p:nvSpPr>
          <p:cNvPr id="27" name="Text 25"/>
          <p:cNvSpPr txBox="1"/>
          <p:nvPr/>
        </p:nvSpPr>
        <p:spPr>
          <a:xfrm>
            <a:off x="8138160" y="5248656"/>
            <a:ext cx="3291840" cy="475488"/>
          </a:xfrm>
          <a:prstGeom prst="rect">
            <a:avLst/>
          </a:prstGeom>
          <a:noFill/>
          <a:ln/>
        </p:spPr>
        <p:txBody>
          <a:bodyPr wrap="square" lIns="0" tIns="0" rIns="0" bIns="0" rtlCol="0" anchor="ctr"/>
          <a:lstStyle/>
          <a:p>
            <a:pPr indent="0" marL="0">
              <a:buNone/>
            </a:pPr>
            <a:r>
              <a:rPr lang="en-US" sz="950" dirty="0">
                <a:solidFill>
                  <a:srgbClr val="6B7A90"/>
                </a:solidFill>
                <a:latin typeface="Calibri" pitchFamily="34" charset="0"/>
                <a:ea typeface="Calibri" pitchFamily="34" charset="-122"/>
                <a:cs typeface="Calibri" pitchFamily="34" charset="-120"/>
              </a:rPr>
              <a:t>Libraries inside the unit's sites, grouped by file plan category.</a:t>
            </a:r>
            <a:endParaRPr lang="en-US" sz="950" dirty="0"/>
          </a:p>
        </p:txBody>
      </p:sp>
      <p:sp>
        <p:nvSpPr>
          <p:cNvPr id="28" name="Text 26"/>
          <p:cNvSpPr txBox="1"/>
          <p:nvPr/>
        </p:nvSpPr>
        <p:spPr>
          <a:xfrm>
            <a:off x="548640" y="5989320"/>
            <a:ext cx="11091672" cy="274320"/>
          </a:xfrm>
          <a:prstGeom prst="rect">
            <a:avLst/>
          </a:prstGeom>
          <a:noFill/>
          <a:ln/>
        </p:spPr>
        <p:txBody>
          <a:bodyPr wrap="square" lIns="0" tIns="0" rIns="0" bIns="0" rtlCol="0" anchor="ctr"/>
          <a:lstStyle/>
          <a:p>
            <a:pPr indent="0" marL="0">
              <a:buNone/>
            </a:pPr>
            <a:r>
              <a:rPr lang="en-US" sz="1100" i="1" dirty="0">
                <a:solidFill>
                  <a:srgbClr val="6B7A90"/>
                </a:solidFill>
                <a:latin typeface="Calibri" pitchFamily="34" charset="0"/>
                <a:ea typeface="Calibri" pitchFamily="34" charset="-122"/>
                <a:cs typeface="Calibri" pitchFamily="34" charset="-120"/>
              </a:rPr>
              <a:t>Department here means the unit you select. See the terminology slide on what department covers.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329184" y="274320"/>
            <a:ext cx="11219688" cy="219456"/>
          </a:xfrm>
          <a:prstGeom prst="rect">
            <a:avLst/>
          </a:prstGeom>
          <a:noFill/>
          <a:ln/>
        </p:spPr>
        <p:txBody>
          <a:bodyPr wrap="square" lIns="0" tIns="0" rIns="0" bIns="0" rtlCol="0" anchor="ctr"/>
          <a:lstStyle/>
          <a:p>
            <a:pPr indent="0" marL="0">
              <a:buNone/>
            </a:pPr>
            <a:r>
              <a:rPr lang="en-US" sz="1050" b="1" spc="160" kern="0" dirty="0">
                <a:solidFill>
                  <a:srgbClr val="6B7A90"/>
                </a:solidFill>
                <a:latin typeface="Calibri" pitchFamily="34" charset="0"/>
                <a:ea typeface="Calibri" pitchFamily="34" charset="-122"/>
                <a:cs typeface="Calibri" pitchFamily="34" charset="-120"/>
              </a:rPr>
              <a:t>WHAT EACH ITEM MEANS AND WHERE IT COMES FROM</a:t>
            </a:r>
            <a:endParaRPr lang="en-US" sz="1050" dirty="0"/>
          </a:p>
        </p:txBody>
      </p:sp>
      <p:sp>
        <p:nvSpPr>
          <p:cNvPr id="3" name="Text 1"/>
          <p:cNvSpPr txBox="1"/>
          <p:nvPr/>
        </p:nvSpPr>
        <p:spPr>
          <a:xfrm>
            <a:off x="329184" y="512064"/>
            <a:ext cx="11219688" cy="658368"/>
          </a:xfrm>
          <a:prstGeom prst="rect">
            <a:avLst/>
          </a:prstGeom>
          <a:noFill/>
          <a:ln/>
        </p:spPr>
        <p:txBody>
          <a:bodyPr wrap="square" lIns="0" tIns="0" rIns="0" bIns="0" rtlCol="0" anchor="ctr"/>
          <a:lstStyle/>
          <a:p>
            <a:pPr indent="0" marL="0">
              <a:buNone/>
            </a:pPr>
            <a:r>
              <a:rPr lang="en-US" sz="3200" b="1" dirty="0">
                <a:solidFill>
                  <a:srgbClr val="44546A"/>
                </a:solidFill>
                <a:latin typeface="Cambria" pitchFamily="34" charset="0"/>
                <a:ea typeface="Cambria" pitchFamily="34" charset="-122"/>
                <a:cs typeface="Cambria" pitchFamily="34" charset="-120"/>
              </a:rPr>
              <a:t>Department Insights: the profile tiles</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91672" cy="914400"/>
        </p:xfrm>
        <a:graphic>
          <a:graphicData uri="http://schemas.openxmlformats.org/drawingml/2006/table">
            <a:tbl>
              <a:tblPr/>
              <a:tblGrid>
                <a:gridCol w="2331720"/>
                <a:gridCol w="3063240"/>
                <a:gridCol w="3913632"/>
                <a:gridCol w="178308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Your term</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counts</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EDRMS compliant sites created</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Sites provisioned to this unit</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Cloud Governance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algn="ctr" indent="0" marL="0">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Total number of EDRMS users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People with recorded activity for this unit</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SharePoint activity log</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algn="ctr" indent="0" marL="0">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Total number of site visitors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Page views and visited pages, not distinct people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SharePoint site usage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algn="ctr" indent="0" marL="0">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Total number of documents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File count across the unit's sites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SharePoint site usage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algn="ctr" indent="0" marL="0">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Total number of records declared</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Declared records for the unit's sites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algn="ctr" indent="0" marL="0">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Total physical counterparts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Declared records flagged as having a paper counterpart</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algn="ctr" indent="0" marL="0">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Records due for disposal</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Records reaching their due date in a window</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algn="ctr" indent="0" marL="0">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Go-Live date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When the unit went live on EDRMS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No source. Nothing records it.</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algn="ctr" indent="0" marL="0">
                        <a:buNone/>
                      </a:pPr>
                      <a:r>
                        <a:rPr lang="en-US" sz="1000" b="1" dirty="0">
                          <a:solidFill>
                            <a:srgbClr val="9C2B2B"/>
                          </a:solidFill>
                          <a:latin typeface="Calibri" pitchFamily="34" charset="0"/>
                          <a:ea typeface="Calibri" pitchFamily="34" charset="-122"/>
                          <a:cs typeface="Calibri" pitchFamily="34" charset="-120"/>
                        </a:rPr>
                        <a:t>No source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r>
            </a:tbl>
          </a:graphicData>
        </a:graphic>
      </p:graphicFrame>
      <p:sp>
        <p:nvSpPr>
          <p:cNvPr id="5" name="Shape 2"/>
          <p:cNvSpPr/>
          <p:nvPr/>
        </p:nvSpPr>
        <p:spPr>
          <a:xfrm>
            <a:off x="548640" y="4983480"/>
            <a:ext cx="11091672" cy="868680"/>
          </a:xfrm>
          <a:prstGeom prst="roundRect">
            <a:avLst>
              <a:gd name="adj" fmla="val 6316"/>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6" name="Text 3"/>
          <p:cNvSpPr txBox="1"/>
          <p:nvPr/>
        </p:nvSpPr>
        <p:spPr>
          <a:xfrm>
            <a:off x="868680" y="5138928"/>
            <a:ext cx="10424160" cy="566928"/>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This sheet has not yet been reviewed by RAC.  </a:t>
            </a:r>
            <a:pPr indent="0" marL="0">
              <a:buNone/>
            </a:pPr>
            <a:r>
              <a:rPr lang="en-US" sz="1150" dirty="0">
                <a:solidFill>
                  <a:srgbClr val="333F50"/>
                </a:solidFill>
                <a:latin typeface="Calibri" pitchFamily="34" charset="0"/>
                <a:ea typeface="Calibri" pitchFamily="34" charset="-122"/>
                <a:cs typeface="Calibri" pitchFamily="34" charset="-120"/>
              </a:rPr>
              <a:t>Bank-wide Oversight carries your comments against each row and they have been used above. Department Insights does not yet. The same review on this dashboard is the most useful next input we can receive.</a:t>
            </a:r>
            <a:endParaRPr lang="en-US" sz="1150" dirty="0"/>
          </a:p>
        </p:txBody>
      </p:sp>
      <p:sp>
        <p:nvSpPr>
          <p:cNvPr id="7" name="Shape 4"/>
          <p:cNvSpPr/>
          <p:nvPr/>
        </p:nvSpPr>
        <p:spPr>
          <a:xfrm>
            <a:off x="548640" y="6089904"/>
            <a:ext cx="868680" cy="237744"/>
          </a:xfrm>
          <a:prstGeom prst="roundRect">
            <a:avLst>
              <a:gd name="adj" fmla="val 19231"/>
            </a:avLst>
          </a:prstGeom>
          <a:solidFill>
            <a:srgbClr val="DCEDE2"/>
          </a:solidFill>
          <a:ln w="9525">
            <a:solidFill>
              <a:srgbClr val="1F6B3B"/>
            </a:solidFill>
            <a:prstDash val="solid"/>
          </a:ln>
        </p:spPr>
      </p:sp>
      <p:sp>
        <p:nvSpPr>
          <p:cNvPr id="8" name="Text 5"/>
          <p:cNvSpPr txBox="1"/>
          <p:nvPr/>
        </p:nvSpPr>
        <p:spPr>
          <a:xfrm>
            <a:off x="548640" y="6089904"/>
            <a:ext cx="868680" cy="237744"/>
          </a:xfrm>
          <a:prstGeom prst="rect">
            <a:avLst/>
          </a:prstGeom>
          <a:noFill/>
          <a:ln/>
        </p:spPr>
        <p:txBody>
          <a:bodyPr wrap="square" lIns="0" tIns="0" rIns="0" bIns="0" rtlCol="0" anchor="ctr"/>
          <a:lstStyle/>
          <a:p>
            <a:pPr algn="ctr" indent="0" marL="0">
              <a:buNone/>
            </a:pPr>
            <a:r>
              <a:rPr lang="en-US" sz="900" b="1" dirty="0">
                <a:solidFill>
                  <a:srgbClr val="1F6B3B"/>
                </a:solidFill>
                <a:latin typeface="Calibri" pitchFamily="34" charset="0"/>
                <a:ea typeface="Calibri" pitchFamily="34" charset="-122"/>
                <a:cs typeface="Calibri" pitchFamily="34" charset="-120"/>
              </a:rPr>
              <a:t>Available</a:t>
            </a:r>
            <a:endParaRPr lang="en-US" sz="900" dirty="0"/>
          </a:p>
        </p:txBody>
      </p:sp>
      <p:sp>
        <p:nvSpPr>
          <p:cNvPr id="9" name="Text 6"/>
          <p:cNvSpPr txBox="1"/>
          <p:nvPr/>
        </p:nvSpPr>
        <p:spPr>
          <a:xfrm>
            <a:off x="1508760" y="6089904"/>
            <a:ext cx="2788920" cy="237744"/>
          </a:xfrm>
          <a:prstGeom prst="rect">
            <a:avLst/>
          </a:prstGeom>
          <a:noFill/>
          <a:ln/>
        </p:spPr>
        <p:txBody>
          <a:bodyPr wrap="square" lIns="0" tIns="0" rIns="0" bIns="0" rtlCol="0" anchor="ctr"/>
          <a:lstStyle/>
          <a:p>
            <a:pPr indent="0" marL="0">
              <a:buNone/>
            </a:pPr>
            <a:r>
              <a:rPr lang="en-US" sz="900" dirty="0">
                <a:solidFill>
                  <a:srgbClr val="6B7A90"/>
                </a:solidFill>
                <a:latin typeface="Calibri" pitchFamily="34" charset="0"/>
                <a:ea typeface="Calibri" pitchFamily="34" charset="-122"/>
                <a:cs typeface="Calibri" pitchFamily="34" charset="-120"/>
              </a:rPr>
              <a:t>Sourced and buildable today</a:t>
            </a:r>
            <a:endParaRPr lang="en-US" sz="900" dirty="0"/>
          </a:p>
        </p:txBody>
      </p:sp>
      <p:sp>
        <p:nvSpPr>
          <p:cNvPr id="10" name="Shape 7"/>
          <p:cNvSpPr/>
          <p:nvPr/>
        </p:nvSpPr>
        <p:spPr>
          <a:xfrm>
            <a:off x="4343400" y="6089904"/>
            <a:ext cx="868680" cy="237744"/>
          </a:xfrm>
          <a:prstGeom prst="roundRect">
            <a:avLst>
              <a:gd name="adj" fmla="val 19231"/>
            </a:avLst>
          </a:prstGeom>
          <a:solidFill>
            <a:srgbClr val="FBEFD4"/>
          </a:solidFill>
          <a:ln w="9525">
            <a:solidFill>
              <a:srgbClr val="8A5A00"/>
            </a:solidFill>
            <a:prstDash val="solid"/>
          </a:ln>
        </p:spPr>
      </p:sp>
      <p:sp>
        <p:nvSpPr>
          <p:cNvPr id="11" name="Text 8"/>
          <p:cNvSpPr txBox="1"/>
          <p:nvPr/>
        </p:nvSpPr>
        <p:spPr>
          <a:xfrm>
            <a:off x="4343400" y="6089904"/>
            <a:ext cx="868680" cy="237744"/>
          </a:xfrm>
          <a:prstGeom prst="rect">
            <a:avLst/>
          </a:prstGeom>
          <a:noFill/>
          <a:ln/>
        </p:spPr>
        <p:txBody>
          <a:bodyPr wrap="square" lIns="0" tIns="0" rIns="0" bIns="0" rtlCol="0" anchor="ctr"/>
          <a:lstStyle/>
          <a:p>
            <a:pPr algn="ctr" indent="0" marL="0">
              <a:buNone/>
            </a:pPr>
            <a:r>
              <a:rPr lang="en-US" sz="900" b="1" dirty="0">
                <a:solidFill>
                  <a:srgbClr val="8A5A00"/>
                </a:solidFill>
                <a:latin typeface="Calibri" pitchFamily="34" charset="0"/>
                <a:ea typeface="Calibri" pitchFamily="34" charset="-122"/>
                <a:cs typeface="Calibri" pitchFamily="34" charset="-120"/>
              </a:rPr>
              <a:t>Define</a:t>
            </a:r>
            <a:endParaRPr lang="en-US" sz="900" dirty="0"/>
          </a:p>
        </p:txBody>
      </p:sp>
      <p:sp>
        <p:nvSpPr>
          <p:cNvPr id="12" name="Text 9"/>
          <p:cNvSpPr txBox="1"/>
          <p:nvPr/>
        </p:nvSpPr>
        <p:spPr>
          <a:xfrm>
            <a:off x="5303520" y="6089904"/>
            <a:ext cx="2788920" cy="237744"/>
          </a:xfrm>
          <a:prstGeom prst="rect">
            <a:avLst/>
          </a:prstGeom>
          <a:noFill/>
          <a:ln/>
        </p:spPr>
        <p:txBody>
          <a:bodyPr wrap="square" lIns="0" tIns="0" rIns="0" bIns="0" rtlCol="0" anchor="ctr"/>
          <a:lstStyle/>
          <a:p>
            <a:pPr indent="0" marL="0">
              <a:buNone/>
            </a:pPr>
            <a:r>
              <a:rPr lang="en-US" sz="900" dirty="0">
                <a:solidFill>
                  <a:srgbClr val="6B7A90"/>
                </a:solidFill>
                <a:latin typeface="Calibri" pitchFamily="34" charset="0"/>
                <a:ea typeface="Calibri" pitchFamily="34" charset="-122"/>
                <a:cs typeface="Calibri" pitchFamily="34" charset="-120"/>
              </a:rPr>
              <a:t>Term is ambiguous. What it means changes the figure</a:t>
            </a:r>
            <a:endParaRPr lang="en-US" sz="900" dirty="0"/>
          </a:p>
        </p:txBody>
      </p:sp>
      <p:sp>
        <p:nvSpPr>
          <p:cNvPr id="13" name="Shape 10"/>
          <p:cNvSpPr/>
          <p:nvPr/>
        </p:nvSpPr>
        <p:spPr>
          <a:xfrm>
            <a:off x="8138160" y="6089904"/>
            <a:ext cx="868680" cy="237744"/>
          </a:xfrm>
          <a:prstGeom prst="roundRect">
            <a:avLst>
              <a:gd name="adj" fmla="val 19231"/>
            </a:avLst>
          </a:prstGeom>
          <a:solidFill>
            <a:srgbClr val="F7E0E0"/>
          </a:solidFill>
          <a:ln w="9525">
            <a:solidFill>
              <a:srgbClr val="9C2B2B"/>
            </a:solidFill>
            <a:prstDash val="solid"/>
          </a:ln>
        </p:spPr>
      </p:sp>
      <p:sp>
        <p:nvSpPr>
          <p:cNvPr id="14" name="Text 11"/>
          <p:cNvSpPr txBox="1"/>
          <p:nvPr/>
        </p:nvSpPr>
        <p:spPr>
          <a:xfrm>
            <a:off x="8138160" y="6089904"/>
            <a:ext cx="868680" cy="237744"/>
          </a:xfrm>
          <a:prstGeom prst="rect">
            <a:avLst/>
          </a:prstGeom>
          <a:noFill/>
          <a:ln/>
        </p:spPr>
        <p:txBody>
          <a:bodyPr wrap="square" lIns="0" tIns="0" rIns="0" bIns="0" rtlCol="0" anchor="ctr"/>
          <a:lstStyle/>
          <a:p>
            <a:pPr algn="ctr" indent="0" marL="0">
              <a:buNone/>
            </a:pPr>
            <a:r>
              <a:rPr lang="en-US" sz="900" b="1" dirty="0">
                <a:solidFill>
                  <a:srgbClr val="9C2B2B"/>
                </a:solidFill>
                <a:latin typeface="Calibri" pitchFamily="34" charset="0"/>
                <a:ea typeface="Calibri" pitchFamily="34" charset="-122"/>
                <a:cs typeface="Calibri" pitchFamily="34" charset="-120"/>
              </a:rPr>
              <a:t>No source</a:t>
            </a:r>
            <a:endParaRPr lang="en-US" sz="900" dirty="0"/>
          </a:p>
        </p:txBody>
      </p:sp>
      <p:sp>
        <p:nvSpPr>
          <p:cNvPr id="15" name="Text 12"/>
          <p:cNvSpPr txBox="1"/>
          <p:nvPr/>
        </p:nvSpPr>
        <p:spPr>
          <a:xfrm>
            <a:off x="9098280" y="6089904"/>
            <a:ext cx="2788920" cy="237744"/>
          </a:xfrm>
          <a:prstGeom prst="rect">
            <a:avLst/>
          </a:prstGeom>
          <a:noFill/>
          <a:ln/>
        </p:spPr>
        <p:txBody>
          <a:bodyPr wrap="square" lIns="0" tIns="0" rIns="0" bIns="0" rtlCol="0" anchor="ctr"/>
          <a:lstStyle/>
          <a:p>
            <a:pPr indent="0" marL="0">
              <a:buNone/>
            </a:pPr>
            <a:r>
              <a:rPr lang="en-US" sz="900" dirty="0">
                <a:solidFill>
                  <a:srgbClr val="6B7A90"/>
                </a:solidFill>
                <a:latin typeface="Calibri" pitchFamily="34" charset="0"/>
                <a:ea typeface="Calibri" pitchFamily="34" charset="-122"/>
                <a:cs typeface="Calibri" pitchFamily="34" charset="-120"/>
              </a:rPr>
              <a:t>Nothing available produces this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329184" y="274320"/>
            <a:ext cx="11219688" cy="219456"/>
          </a:xfrm>
          <a:prstGeom prst="rect">
            <a:avLst/>
          </a:prstGeom>
          <a:noFill/>
          <a:ln/>
        </p:spPr>
        <p:txBody>
          <a:bodyPr wrap="square" lIns="0" tIns="0" rIns="0" bIns="0" rtlCol="0" anchor="ctr"/>
          <a:lstStyle/>
          <a:p>
            <a:pPr indent="0" marL="0">
              <a:buNone/>
            </a:pPr>
            <a:r>
              <a:rPr lang="en-US" sz="1050" b="1" spc="160" kern="0" dirty="0">
                <a:solidFill>
                  <a:srgbClr val="6B7A90"/>
                </a:solidFill>
                <a:latin typeface="Calibri" pitchFamily="34" charset="0"/>
                <a:ea typeface="Calibri" pitchFamily="34" charset="-122"/>
                <a:cs typeface="Calibri" pitchFamily="34" charset="-120"/>
              </a:rPr>
              <a:t>WHAT EACH ITEM MEANS AND WHERE IT COMES FROM</a:t>
            </a:r>
            <a:endParaRPr lang="en-US" sz="1050" dirty="0"/>
          </a:p>
        </p:txBody>
      </p:sp>
      <p:sp>
        <p:nvSpPr>
          <p:cNvPr id="3" name="Text 1"/>
          <p:cNvSpPr txBox="1"/>
          <p:nvPr/>
        </p:nvSpPr>
        <p:spPr>
          <a:xfrm>
            <a:off x="329184" y="512064"/>
            <a:ext cx="11219688" cy="658368"/>
          </a:xfrm>
          <a:prstGeom prst="rect">
            <a:avLst/>
          </a:prstGeom>
          <a:noFill/>
          <a:ln/>
        </p:spPr>
        <p:txBody>
          <a:bodyPr wrap="square" lIns="0" tIns="0" rIns="0" bIns="0" rtlCol="0" anchor="ctr"/>
          <a:lstStyle/>
          <a:p>
            <a:pPr indent="0" marL="0">
              <a:buNone/>
            </a:pPr>
            <a:r>
              <a:rPr lang="en-US" sz="3200" b="1" dirty="0">
                <a:solidFill>
                  <a:srgbClr val="44546A"/>
                </a:solidFill>
                <a:latin typeface="Cambria" pitchFamily="34" charset="0"/>
                <a:ea typeface="Cambria" pitchFamily="34" charset="-122"/>
                <a:cs typeface="Cambria" pitchFamily="34" charset="-120"/>
              </a:rPr>
              <a:t>Department Insights: sites, visits and libraries</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91672" cy="914400"/>
        </p:xfrm>
        <a:graphic>
          <a:graphicData uri="http://schemas.openxmlformats.org/drawingml/2006/table">
            <a:tbl>
              <a:tblPr/>
              <a:tblGrid>
                <a:gridCol w="2331720"/>
                <a:gridCol w="3063240"/>
                <a:gridCol w="3913632"/>
                <a:gridCol w="178308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Your term</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counts</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r>
              <a:tr h="0">
                <a:tc>
                  <a:txBody>
                    <a:bodyPr/>
                    <a:lstStyle/>
                    <a:p>
                      <a:pPr indent="0" marL="0">
                        <a:buNone/>
                      </a:pPr>
                      <a:r>
                        <a:rPr lang="en-US" sz="950" b="1" dirty="0">
                          <a:solidFill>
                            <a:srgbClr val="333F50"/>
                          </a:solidFill>
                          <a:latin typeface="Calibri" pitchFamily="34" charset="0"/>
                          <a:ea typeface="Calibri" pitchFamily="34" charset="-122"/>
                          <a:cs typeface="Calibri" pitchFamily="34" charset="-120"/>
                        </a:rPr>
                        <a:t>Name of sites, site owners</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Each site the unit owns and who owns it</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Cloud Governance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algn="ctr" indent="0" marL="0">
                        <a:buNone/>
                      </a:pPr>
                      <a:r>
                        <a:rPr lang="en-US" sz="950" b="1" dirty="0">
                          <a:solidFill>
                            <a:srgbClr val="1F6B3B"/>
                          </a:solidFill>
                          <a:latin typeface="Calibri" pitchFamily="34" charset="0"/>
                          <a:ea typeface="Calibri" pitchFamily="34" charset="-122"/>
                          <a:cs typeface="Calibri" pitchFamily="34" charset="-120"/>
                        </a:rPr>
                        <a:t>Available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r>
              <a:tr h="0">
                <a:tc>
                  <a:txBody>
                    <a:bodyPr/>
                    <a:lstStyle/>
                    <a:p>
                      <a:pPr indent="0" marL="0">
                        <a:buNone/>
                      </a:pPr>
                      <a:r>
                        <a:rPr lang="en-US" sz="950" b="1" dirty="0">
                          <a:solidFill>
                            <a:srgbClr val="333F50"/>
                          </a:solidFill>
                          <a:latin typeface="Calibri" pitchFamily="34" charset="0"/>
                          <a:ea typeface="Calibri" pitchFamily="34" charset="-122"/>
                          <a:cs typeface="Calibri" pitchFamily="34" charset="-120"/>
                        </a:rPr>
                        <a:t>Number of documents per site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File count for that site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SharePoint site usage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algn="ctr" indent="0" marL="0">
                        <a:buNone/>
                      </a:pPr>
                      <a:r>
                        <a:rPr lang="en-US" sz="950" b="1" dirty="0">
                          <a:solidFill>
                            <a:srgbClr val="1F6B3B"/>
                          </a:solidFill>
                          <a:latin typeface="Calibri" pitchFamily="34" charset="0"/>
                          <a:ea typeface="Calibri" pitchFamily="34" charset="-122"/>
                          <a:cs typeface="Calibri" pitchFamily="34" charset="-120"/>
                        </a:rPr>
                        <a:t>Available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r>
              <a:tr h="0">
                <a:tc>
                  <a:txBody>
                    <a:bodyPr/>
                    <a:lstStyle/>
                    <a:p>
                      <a:pPr indent="0" marL="0">
                        <a:buNone/>
                      </a:pPr>
                      <a:r>
                        <a:rPr lang="en-US" sz="950" b="1" dirty="0">
                          <a:solidFill>
                            <a:srgbClr val="333F50"/>
                          </a:solidFill>
                          <a:latin typeface="Calibri" pitchFamily="34" charset="0"/>
                          <a:ea typeface="Calibri" pitchFamily="34" charset="-122"/>
                          <a:cs typeface="Calibri" pitchFamily="34" charset="-120"/>
                        </a:rPr>
                        <a:t>Number of records, counterparts</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Declared records and paper counterparts per site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EDRMS database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algn="ctr" indent="0" marL="0">
                        <a:buNone/>
                      </a:pPr>
                      <a:r>
                        <a:rPr lang="en-US" sz="950" b="1" dirty="0">
                          <a:solidFill>
                            <a:srgbClr val="1F6B3B"/>
                          </a:solidFill>
                          <a:latin typeface="Calibri" pitchFamily="34" charset="0"/>
                          <a:ea typeface="Calibri" pitchFamily="34" charset="-122"/>
                          <a:cs typeface="Calibri" pitchFamily="34" charset="-120"/>
                        </a:rPr>
                        <a:t>Available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r>
              <a:tr h="0">
                <a:tc>
                  <a:txBody>
                    <a:bodyPr/>
                    <a:lstStyle/>
                    <a:p>
                      <a:pPr indent="0" marL="0">
                        <a:buNone/>
                      </a:pPr>
                      <a:r>
                        <a:rPr lang="en-US" sz="950" b="1" dirty="0">
                          <a:solidFill>
                            <a:srgbClr val="333F50"/>
                          </a:solidFill>
                          <a:latin typeface="Calibri" pitchFamily="34" charset="0"/>
                          <a:ea typeface="Calibri" pitchFamily="34" charset="-122"/>
                          <a:cs typeface="Calibri" pitchFamily="34" charset="-120"/>
                        </a:rPr>
                        <a:t>Page views, visited pages</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Visit activity per site in the window</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SharePoint site usage, 7 to 180 days</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algn="ctr" indent="0" marL="0">
                        <a:buNone/>
                      </a:pPr>
                      <a:r>
                        <a:rPr lang="en-US" sz="950" b="1" dirty="0">
                          <a:solidFill>
                            <a:srgbClr val="1F6B3B"/>
                          </a:solidFill>
                          <a:latin typeface="Calibri" pitchFamily="34" charset="0"/>
                          <a:ea typeface="Calibri" pitchFamily="34" charset="-122"/>
                          <a:cs typeface="Calibri" pitchFamily="34" charset="-120"/>
                        </a:rPr>
                        <a:t>Available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r>
              <a:tr h="0">
                <a:tc>
                  <a:txBody>
                    <a:bodyPr/>
                    <a:lstStyle/>
                    <a:p>
                      <a:pPr indent="0" marL="0">
                        <a:buNone/>
                      </a:pPr>
                      <a:r>
                        <a:rPr lang="en-US" sz="950" b="1" dirty="0">
                          <a:solidFill>
                            <a:srgbClr val="333F50"/>
                          </a:solidFill>
                          <a:latin typeface="Calibri" pitchFamily="34" charset="0"/>
                          <a:ea typeface="Calibri" pitchFamily="34" charset="-122"/>
                          <a:cs typeface="Calibri" pitchFamily="34" charset="-120"/>
                        </a:rPr>
                        <a:t>Visitors internal and external</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Visits split by where the person comes from</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No available report splits this</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algn="ctr" indent="0" marL="0">
                        <a:buNone/>
                      </a:pPr>
                      <a:r>
                        <a:rPr lang="en-US" sz="950" b="1" dirty="0">
                          <a:solidFill>
                            <a:srgbClr val="9C2B2B"/>
                          </a:solidFill>
                          <a:latin typeface="Calibri" pitchFamily="34" charset="0"/>
                          <a:ea typeface="Calibri" pitchFamily="34" charset="-122"/>
                          <a:cs typeface="Calibri" pitchFamily="34" charset="-120"/>
                        </a:rPr>
                        <a:t>No source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r>
              <a:tr h="0">
                <a:tc>
                  <a:txBody>
                    <a:bodyPr/>
                    <a:lstStyle/>
                    <a:p>
                      <a:pPr indent="0" marL="0">
                        <a:buNone/>
                      </a:pPr>
                      <a:r>
                        <a:rPr lang="en-US" sz="950" b="1" dirty="0">
                          <a:solidFill>
                            <a:srgbClr val="333F50"/>
                          </a:solidFill>
                          <a:latin typeface="Calibri" pitchFamily="34" charset="0"/>
                          <a:ea typeface="Calibri" pitchFamily="34" charset="-122"/>
                          <a:cs typeface="Calibri" pitchFamily="34" charset="-120"/>
                        </a:rPr>
                        <a:t>Access requests granted, denied</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Requests to join a site and their outcome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Site access request summary page, to be confirmed</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algn="ctr" indent="0" marL="0">
                        <a:buNone/>
                      </a:pPr>
                      <a:r>
                        <a:rPr lang="en-US" sz="950" b="1" dirty="0">
                          <a:solidFill>
                            <a:srgbClr val="8A5A00"/>
                          </a:solidFill>
                          <a:latin typeface="Calibri" pitchFamily="34" charset="0"/>
                          <a:ea typeface="Calibri" pitchFamily="34" charset="-122"/>
                          <a:cs typeface="Calibri" pitchFamily="34" charset="-120"/>
                        </a:rPr>
                        <a:t>Define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950" b="1" dirty="0">
                          <a:solidFill>
                            <a:srgbClr val="333F50"/>
                          </a:solidFill>
                          <a:latin typeface="Calibri" pitchFamily="34" charset="0"/>
                          <a:ea typeface="Calibri" pitchFamily="34" charset="-122"/>
                          <a:cs typeface="Calibri" pitchFamily="34" charset="-120"/>
                        </a:rPr>
                        <a:t>Library names</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Libraries inside each site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ITD lookup file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algn="ctr" indent="0" marL="0">
                        <a:buNone/>
                      </a:pPr>
                      <a:r>
                        <a:rPr lang="en-US" sz="950" b="1" dirty="0">
                          <a:solidFill>
                            <a:srgbClr val="1F6B3B"/>
                          </a:solidFill>
                          <a:latin typeface="Calibri" pitchFamily="34" charset="0"/>
                          <a:ea typeface="Calibri" pitchFamily="34" charset="-122"/>
                          <a:cs typeface="Calibri" pitchFamily="34" charset="-120"/>
                        </a:rPr>
                        <a:t>Available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r>
              <a:tr h="0">
                <a:tc>
                  <a:txBody>
                    <a:bodyPr/>
                    <a:lstStyle/>
                    <a:p>
                      <a:pPr indent="0" marL="0">
                        <a:buNone/>
                      </a:pPr>
                      <a:r>
                        <a:rPr lang="en-US" sz="950" b="1" dirty="0">
                          <a:solidFill>
                            <a:srgbClr val="333F50"/>
                          </a:solidFill>
                          <a:latin typeface="Calibri" pitchFamily="34" charset="0"/>
                          <a:ea typeface="Calibri" pitchFamily="34" charset="-122"/>
                          <a:cs typeface="Calibri" pitchFamily="34" charset="-120"/>
                        </a:rPr>
                        <a:t>Number of documents per library</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Documents inside each library</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Needs a document level scan. Nothing reports below site level today.</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algn="ctr" indent="0" marL="0">
                        <a:buNone/>
                      </a:pPr>
                      <a:r>
                        <a:rPr lang="en-US" sz="950" b="1" dirty="0">
                          <a:solidFill>
                            <a:srgbClr val="9C2B2B"/>
                          </a:solidFill>
                          <a:latin typeface="Calibri" pitchFamily="34" charset="0"/>
                          <a:ea typeface="Calibri" pitchFamily="34" charset="-122"/>
                          <a:cs typeface="Calibri" pitchFamily="34" charset="-120"/>
                        </a:rPr>
                        <a:t>No source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r>
              <a:tr h="0">
                <a:tc>
                  <a:txBody>
                    <a:bodyPr/>
                    <a:lstStyle/>
                    <a:p>
                      <a:pPr indent="0" marL="0">
                        <a:buNone/>
                      </a:pPr>
                      <a:r>
                        <a:rPr lang="en-US" sz="950" b="1" dirty="0">
                          <a:solidFill>
                            <a:srgbClr val="333F50"/>
                          </a:solidFill>
                          <a:latin typeface="Calibri" pitchFamily="34" charset="0"/>
                          <a:ea typeface="Calibri" pitchFamily="34" charset="-122"/>
                          <a:cs typeface="Calibri" pitchFamily="34" charset="-120"/>
                        </a:rPr>
                        <a:t>Number of users per library</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People using each library</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No source will ever produce this. Activity is never reported per library.</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algn="ctr" indent="0" marL="0">
                        <a:buNone/>
                      </a:pPr>
                      <a:r>
                        <a:rPr lang="en-US" sz="950" b="1" dirty="0">
                          <a:solidFill>
                            <a:srgbClr val="9C2B2B"/>
                          </a:solidFill>
                          <a:latin typeface="Calibri" pitchFamily="34" charset="0"/>
                          <a:ea typeface="Calibri" pitchFamily="34" charset="-122"/>
                          <a:cs typeface="Calibri" pitchFamily="34" charset="-120"/>
                        </a:rPr>
                        <a:t>No source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r>
            </a:tbl>
          </a:graphicData>
        </a:graphic>
      </p:graphicFrame>
      <p:sp>
        <p:nvSpPr>
          <p:cNvPr id="5" name="Shape 2"/>
          <p:cNvSpPr/>
          <p:nvPr/>
        </p:nvSpPr>
        <p:spPr>
          <a:xfrm>
            <a:off x="548640" y="5230368"/>
            <a:ext cx="11091672" cy="658368"/>
          </a:xfrm>
          <a:prstGeom prst="roundRect">
            <a:avLst>
              <a:gd name="adj" fmla="val 8333"/>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6" name="Text 3"/>
          <p:cNvSpPr txBox="1"/>
          <p:nvPr/>
        </p:nvSpPr>
        <p:spPr>
          <a:xfrm>
            <a:off x="868680" y="5358384"/>
            <a:ext cx="10424160" cy="402336"/>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Worth a decision now:  </a:t>
            </a:r>
            <a:pPr indent="0" marL="0">
              <a:buNone/>
            </a:pPr>
            <a:r>
              <a:rPr lang="en-US" sz="1150" dirty="0">
                <a:solidFill>
                  <a:srgbClr val="333F50"/>
                </a:solidFill>
                <a:latin typeface="Calibri" pitchFamily="34" charset="0"/>
                <a:ea typeface="Calibri" pitchFamily="34" charset="-122"/>
                <a:cs typeface="Calibri" pitchFamily="34" charset="-120"/>
              </a:rPr>
              <a:t>users per library cannot be produced by any source, now or later. We suggest dropping it rather than leaving it open.</a:t>
            </a:r>
            <a:endParaRPr lang="en-US" sz="1150" dirty="0"/>
          </a:p>
        </p:txBody>
      </p:sp>
      <p:sp>
        <p:nvSpPr>
          <p:cNvPr id="7" name="Shape 4"/>
          <p:cNvSpPr/>
          <p:nvPr/>
        </p:nvSpPr>
        <p:spPr>
          <a:xfrm>
            <a:off x="548640" y="6089904"/>
            <a:ext cx="868680" cy="237744"/>
          </a:xfrm>
          <a:prstGeom prst="roundRect">
            <a:avLst>
              <a:gd name="adj" fmla="val 19231"/>
            </a:avLst>
          </a:prstGeom>
          <a:solidFill>
            <a:srgbClr val="DCEDE2"/>
          </a:solidFill>
          <a:ln w="9525">
            <a:solidFill>
              <a:srgbClr val="1F6B3B"/>
            </a:solidFill>
            <a:prstDash val="solid"/>
          </a:ln>
        </p:spPr>
      </p:sp>
      <p:sp>
        <p:nvSpPr>
          <p:cNvPr id="8" name="Text 5"/>
          <p:cNvSpPr txBox="1"/>
          <p:nvPr/>
        </p:nvSpPr>
        <p:spPr>
          <a:xfrm>
            <a:off x="548640" y="6089904"/>
            <a:ext cx="868680" cy="237744"/>
          </a:xfrm>
          <a:prstGeom prst="rect">
            <a:avLst/>
          </a:prstGeom>
          <a:noFill/>
          <a:ln/>
        </p:spPr>
        <p:txBody>
          <a:bodyPr wrap="square" lIns="0" tIns="0" rIns="0" bIns="0" rtlCol="0" anchor="ctr"/>
          <a:lstStyle/>
          <a:p>
            <a:pPr algn="ctr" indent="0" marL="0">
              <a:buNone/>
            </a:pPr>
            <a:r>
              <a:rPr lang="en-US" sz="900" b="1" dirty="0">
                <a:solidFill>
                  <a:srgbClr val="1F6B3B"/>
                </a:solidFill>
                <a:latin typeface="Calibri" pitchFamily="34" charset="0"/>
                <a:ea typeface="Calibri" pitchFamily="34" charset="-122"/>
                <a:cs typeface="Calibri" pitchFamily="34" charset="-120"/>
              </a:rPr>
              <a:t>Available</a:t>
            </a:r>
            <a:endParaRPr lang="en-US" sz="900" dirty="0"/>
          </a:p>
        </p:txBody>
      </p:sp>
      <p:sp>
        <p:nvSpPr>
          <p:cNvPr id="9" name="Text 6"/>
          <p:cNvSpPr txBox="1"/>
          <p:nvPr/>
        </p:nvSpPr>
        <p:spPr>
          <a:xfrm>
            <a:off x="1508760" y="6089904"/>
            <a:ext cx="2788920" cy="237744"/>
          </a:xfrm>
          <a:prstGeom prst="rect">
            <a:avLst/>
          </a:prstGeom>
          <a:noFill/>
          <a:ln/>
        </p:spPr>
        <p:txBody>
          <a:bodyPr wrap="square" lIns="0" tIns="0" rIns="0" bIns="0" rtlCol="0" anchor="ctr"/>
          <a:lstStyle/>
          <a:p>
            <a:pPr indent="0" marL="0">
              <a:buNone/>
            </a:pPr>
            <a:r>
              <a:rPr lang="en-US" sz="900" dirty="0">
                <a:solidFill>
                  <a:srgbClr val="6B7A90"/>
                </a:solidFill>
                <a:latin typeface="Calibri" pitchFamily="34" charset="0"/>
                <a:ea typeface="Calibri" pitchFamily="34" charset="-122"/>
                <a:cs typeface="Calibri" pitchFamily="34" charset="-120"/>
              </a:rPr>
              <a:t>Sourced and buildable today</a:t>
            </a:r>
            <a:endParaRPr lang="en-US" sz="900" dirty="0"/>
          </a:p>
        </p:txBody>
      </p:sp>
      <p:sp>
        <p:nvSpPr>
          <p:cNvPr id="10" name="Shape 7"/>
          <p:cNvSpPr/>
          <p:nvPr/>
        </p:nvSpPr>
        <p:spPr>
          <a:xfrm>
            <a:off x="4343400" y="6089904"/>
            <a:ext cx="868680" cy="237744"/>
          </a:xfrm>
          <a:prstGeom prst="roundRect">
            <a:avLst>
              <a:gd name="adj" fmla="val 19231"/>
            </a:avLst>
          </a:prstGeom>
          <a:solidFill>
            <a:srgbClr val="FBEFD4"/>
          </a:solidFill>
          <a:ln w="9525">
            <a:solidFill>
              <a:srgbClr val="8A5A00"/>
            </a:solidFill>
            <a:prstDash val="solid"/>
          </a:ln>
        </p:spPr>
      </p:sp>
      <p:sp>
        <p:nvSpPr>
          <p:cNvPr id="11" name="Text 8"/>
          <p:cNvSpPr txBox="1"/>
          <p:nvPr/>
        </p:nvSpPr>
        <p:spPr>
          <a:xfrm>
            <a:off x="4343400" y="6089904"/>
            <a:ext cx="868680" cy="237744"/>
          </a:xfrm>
          <a:prstGeom prst="rect">
            <a:avLst/>
          </a:prstGeom>
          <a:noFill/>
          <a:ln/>
        </p:spPr>
        <p:txBody>
          <a:bodyPr wrap="square" lIns="0" tIns="0" rIns="0" bIns="0" rtlCol="0" anchor="ctr"/>
          <a:lstStyle/>
          <a:p>
            <a:pPr algn="ctr" indent="0" marL="0">
              <a:buNone/>
            </a:pPr>
            <a:r>
              <a:rPr lang="en-US" sz="900" b="1" dirty="0">
                <a:solidFill>
                  <a:srgbClr val="8A5A00"/>
                </a:solidFill>
                <a:latin typeface="Calibri" pitchFamily="34" charset="0"/>
                <a:ea typeface="Calibri" pitchFamily="34" charset="-122"/>
                <a:cs typeface="Calibri" pitchFamily="34" charset="-120"/>
              </a:rPr>
              <a:t>Define</a:t>
            </a:r>
            <a:endParaRPr lang="en-US" sz="900" dirty="0"/>
          </a:p>
        </p:txBody>
      </p:sp>
      <p:sp>
        <p:nvSpPr>
          <p:cNvPr id="12" name="Text 9"/>
          <p:cNvSpPr txBox="1"/>
          <p:nvPr/>
        </p:nvSpPr>
        <p:spPr>
          <a:xfrm>
            <a:off x="5303520" y="6089904"/>
            <a:ext cx="2788920" cy="237744"/>
          </a:xfrm>
          <a:prstGeom prst="rect">
            <a:avLst/>
          </a:prstGeom>
          <a:noFill/>
          <a:ln/>
        </p:spPr>
        <p:txBody>
          <a:bodyPr wrap="square" lIns="0" tIns="0" rIns="0" bIns="0" rtlCol="0" anchor="ctr"/>
          <a:lstStyle/>
          <a:p>
            <a:pPr indent="0" marL="0">
              <a:buNone/>
            </a:pPr>
            <a:r>
              <a:rPr lang="en-US" sz="900" dirty="0">
                <a:solidFill>
                  <a:srgbClr val="6B7A90"/>
                </a:solidFill>
                <a:latin typeface="Calibri" pitchFamily="34" charset="0"/>
                <a:ea typeface="Calibri" pitchFamily="34" charset="-122"/>
                <a:cs typeface="Calibri" pitchFamily="34" charset="-120"/>
              </a:rPr>
              <a:t>Term is ambiguous. What it means changes the figure</a:t>
            </a:r>
            <a:endParaRPr lang="en-US" sz="900" dirty="0"/>
          </a:p>
        </p:txBody>
      </p:sp>
      <p:sp>
        <p:nvSpPr>
          <p:cNvPr id="13" name="Shape 10"/>
          <p:cNvSpPr/>
          <p:nvPr/>
        </p:nvSpPr>
        <p:spPr>
          <a:xfrm>
            <a:off x="8138160" y="6089904"/>
            <a:ext cx="868680" cy="237744"/>
          </a:xfrm>
          <a:prstGeom prst="roundRect">
            <a:avLst>
              <a:gd name="adj" fmla="val 19231"/>
            </a:avLst>
          </a:prstGeom>
          <a:solidFill>
            <a:srgbClr val="F7E0E0"/>
          </a:solidFill>
          <a:ln w="9525">
            <a:solidFill>
              <a:srgbClr val="9C2B2B"/>
            </a:solidFill>
            <a:prstDash val="solid"/>
          </a:ln>
        </p:spPr>
      </p:sp>
      <p:sp>
        <p:nvSpPr>
          <p:cNvPr id="14" name="Text 11"/>
          <p:cNvSpPr txBox="1"/>
          <p:nvPr/>
        </p:nvSpPr>
        <p:spPr>
          <a:xfrm>
            <a:off x="8138160" y="6089904"/>
            <a:ext cx="868680" cy="237744"/>
          </a:xfrm>
          <a:prstGeom prst="rect">
            <a:avLst/>
          </a:prstGeom>
          <a:noFill/>
          <a:ln/>
        </p:spPr>
        <p:txBody>
          <a:bodyPr wrap="square" lIns="0" tIns="0" rIns="0" bIns="0" rtlCol="0" anchor="ctr"/>
          <a:lstStyle/>
          <a:p>
            <a:pPr algn="ctr" indent="0" marL="0">
              <a:buNone/>
            </a:pPr>
            <a:r>
              <a:rPr lang="en-US" sz="900" b="1" dirty="0">
                <a:solidFill>
                  <a:srgbClr val="9C2B2B"/>
                </a:solidFill>
                <a:latin typeface="Calibri" pitchFamily="34" charset="0"/>
                <a:ea typeface="Calibri" pitchFamily="34" charset="-122"/>
                <a:cs typeface="Calibri" pitchFamily="34" charset="-120"/>
              </a:rPr>
              <a:t>No source</a:t>
            </a:r>
            <a:endParaRPr lang="en-US" sz="900" dirty="0"/>
          </a:p>
        </p:txBody>
      </p:sp>
      <p:sp>
        <p:nvSpPr>
          <p:cNvPr id="15" name="Text 12"/>
          <p:cNvSpPr txBox="1"/>
          <p:nvPr/>
        </p:nvSpPr>
        <p:spPr>
          <a:xfrm>
            <a:off x="9098280" y="6089904"/>
            <a:ext cx="2788920" cy="237744"/>
          </a:xfrm>
          <a:prstGeom prst="rect">
            <a:avLst/>
          </a:prstGeom>
          <a:noFill/>
          <a:ln/>
        </p:spPr>
        <p:txBody>
          <a:bodyPr wrap="square" lIns="0" tIns="0" rIns="0" bIns="0" rtlCol="0" anchor="ctr"/>
          <a:lstStyle/>
          <a:p>
            <a:pPr indent="0" marL="0">
              <a:buNone/>
            </a:pPr>
            <a:r>
              <a:rPr lang="en-US" sz="900" dirty="0">
                <a:solidFill>
                  <a:srgbClr val="6B7A90"/>
                </a:solidFill>
                <a:latin typeface="Calibri" pitchFamily="34" charset="0"/>
                <a:ea typeface="Calibri" pitchFamily="34" charset="-122"/>
                <a:cs typeface="Calibri" pitchFamily="34" charset="-120"/>
              </a:rPr>
              <a:t>Nothing available produces this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329184" y="274320"/>
            <a:ext cx="11219688" cy="219456"/>
          </a:xfrm>
          <a:prstGeom prst="rect">
            <a:avLst/>
          </a:prstGeom>
          <a:noFill/>
          <a:ln/>
        </p:spPr>
        <p:txBody>
          <a:bodyPr wrap="square" lIns="0" tIns="0" rIns="0" bIns="0" rtlCol="0" anchor="ctr"/>
          <a:lstStyle/>
          <a:p>
            <a:pPr indent="0" marL="0">
              <a:buNone/>
            </a:pPr>
            <a:r>
              <a:rPr lang="en-US" sz="1050" b="1" spc="160" kern="0" dirty="0">
                <a:solidFill>
                  <a:srgbClr val="6B7A90"/>
                </a:solidFill>
                <a:latin typeface="Calibri" pitchFamily="34" charset="0"/>
                <a:ea typeface="Calibri" pitchFamily="34" charset="-122"/>
                <a:cs typeface="Calibri" pitchFamily="34" charset="-120"/>
              </a:rPr>
              <a:t>WORDS THAT CHANGE THE FIGURE</a:t>
            </a:r>
            <a:endParaRPr lang="en-US" sz="1050" dirty="0"/>
          </a:p>
        </p:txBody>
      </p:sp>
      <p:sp>
        <p:nvSpPr>
          <p:cNvPr id="3" name="Text 1"/>
          <p:cNvSpPr txBox="1"/>
          <p:nvPr/>
        </p:nvSpPr>
        <p:spPr>
          <a:xfrm>
            <a:off x="329184" y="512064"/>
            <a:ext cx="11219688" cy="658368"/>
          </a:xfrm>
          <a:prstGeom prst="rect">
            <a:avLst/>
          </a:prstGeom>
          <a:noFill/>
          <a:ln/>
        </p:spPr>
        <p:txBody>
          <a:bodyPr wrap="square" lIns="0" tIns="0" rIns="0" bIns="0" rtlCol="0" anchor="ctr"/>
          <a:lstStyle/>
          <a:p>
            <a:pPr indent="0" marL="0">
              <a:buNone/>
            </a:pPr>
            <a:r>
              <a:rPr lang="en-US" sz="3200" b="1" dirty="0">
                <a:solidFill>
                  <a:srgbClr val="44546A"/>
                </a:solidFill>
                <a:latin typeface="Cambria" pitchFamily="34" charset="0"/>
                <a:ea typeface="Cambria" pitchFamily="34" charset="-122"/>
                <a:cs typeface="Cambria" pitchFamily="34" charset="-120"/>
              </a:rPr>
              <a:t>Terminology to confirm</a:t>
            </a:r>
            <a:endParaRPr lang="en-US" sz="3200" dirty="0"/>
          </a:p>
        </p:txBody>
      </p:sp>
      <p:sp>
        <p:nvSpPr>
          <p:cNvPr id="4" name="Text 2"/>
          <p:cNvSpPr txBox="1"/>
          <p:nvPr/>
        </p:nvSpPr>
        <p:spPr>
          <a:xfrm>
            <a:off x="548640" y="1298448"/>
            <a:ext cx="11091672" cy="274320"/>
          </a:xfrm>
          <a:prstGeom prst="rect">
            <a:avLst/>
          </a:prstGeom>
          <a:noFill/>
          <a:ln/>
        </p:spPr>
        <p:txBody>
          <a:bodyPr wrap="square" lIns="0" tIns="0" rIns="0" bIns="0" rtlCol="0" anchor="ctr"/>
          <a:lstStyle/>
          <a:p>
            <a:pPr indent="0" marL="0">
              <a:buNone/>
            </a:pPr>
            <a:r>
              <a:rPr lang="en-US" sz="1250" dirty="0">
                <a:solidFill>
                  <a:srgbClr val="333F50"/>
                </a:solidFill>
                <a:latin typeface="Calibri" pitchFamily="34" charset="0"/>
                <a:ea typeface="Calibri" pitchFamily="34" charset="-122"/>
                <a:cs typeface="Calibri" pitchFamily="34" charset="-120"/>
              </a:rPr>
              <a:t>Each of these reads more than one way. Which one you mean decides what the report counts.</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64208"/>
          <a:ext cx="11091672" cy="914400"/>
        </p:xfrm>
        <a:graphic>
          <a:graphicData uri="http://schemas.openxmlformats.org/drawingml/2006/table">
            <a:tbl>
              <a:tblPr/>
              <a:tblGrid>
                <a:gridCol w="2240280"/>
                <a:gridCol w="5074920"/>
                <a:gridCol w="3776472"/>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Term</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It could mean</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Our proposal</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EDRMS user</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Anyone with access to an EDRMS site  ·  anyone who used it  ·  anyone who declared a record</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Someone who declared a record. It is the only one countable today.</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Due for disposal</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Every record has a due date, so all of them are due eventually. In 30, 60, 90 days, or overdue?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Show it in windows: due within 30 days, 90 days and 12 months.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Never accessed</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Never at all  ·  not in the last 180 days, which is as far back as the report reaches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People with access to the site who have never opened it, from site permissions.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Department</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The HQ office only  ·  the whole department including its RMs, offices and divisions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Two levels: department, then division. Countries, RMs and offices are divisions.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Sites created, deleted, archived</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All SharePoint sites  ·  EDRMS compliant sites only</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EDRMS sites only. Confirmed in the workshop that the other sites stay out.</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Visitors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Distinct people who came  ·  the number of visits, which is what the report counts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Site visits, and label it that way.</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Users creating documents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People who created a document  ·  people who uploaded one  ·  both</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Needs your answer before it can be built either way.</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Unit</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Your own review asks what unit means in “clickable into that unit's dashboard”</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We read it as the department, office or RM on that row.</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329184" y="274320"/>
            <a:ext cx="11219688" cy="219456"/>
          </a:xfrm>
          <a:prstGeom prst="rect">
            <a:avLst/>
          </a:prstGeom>
          <a:noFill/>
          <a:ln/>
        </p:spPr>
        <p:txBody>
          <a:bodyPr wrap="square" lIns="0" tIns="0" rIns="0" bIns="0" rtlCol="0" anchor="ctr"/>
          <a:lstStyle/>
          <a:p>
            <a:pPr indent="0" marL="0">
              <a:buNone/>
            </a:pPr>
            <a:r>
              <a:rPr lang="en-US" sz="1050" b="1" spc="160" kern="0" dirty="0">
                <a:solidFill>
                  <a:srgbClr val="6B7A90"/>
                </a:solidFill>
                <a:latin typeface="Calibri" pitchFamily="34" charset="0"/>
                <a:ea typeface="Calibri" pitchFamily="34" charset="-122"/>
                <a:cs typeface="Calibri" pitchFamily="34" charset="-120"/>
              </a:rPr>
              <a:t>NEXT STEPS</a:t>
            </a:r>
            <a:endParaRPr lang="en-US" sz="1050" dirty="0"/>
          </a:p>
        </p:txBody>
      </p:sp>
      <p:sp>
        <p:nvSpPr>
          <p:cNvPr id="3" name="Text 1"/>
          <p:cNvSpPr txBox="1"/>
          <p:nvPr/>
        </p:nvSpPr>
        <p:spPr>
          <a:xfrm>
            <a:off x="329184" y="512064"/>
            <a:ext cx="11219688" cy="658368"/>
          </a:xfrm>
          <a:prstGeom prst="rect">
            <a:avLst/>
          </a:prstGeom>
          <a:noFill/>
          <a:ln/>
        </p:spPr>
        <p:txBody>
          <a:bodyPr wrap="square" lIns="0" tIns="0" rIns="0" bIns="0" rtlCol="0" anchor="ctr"/>
          <a:lstStyle/>
          <a:p>
            <a:pPr indent="0" marL="0">
              <a:buNone/>
            </a:pPr>
            <a:r>
              <a:rPr lang="en-US" sz="3200" b="1" dirty="0">
                <a:solidFill>
                  <a:srgbClr val="44546A"/>
                </a:solidFill>
                <a:latin typeface="Cambria" pitchFamily="34" charset="0"/>
                <a:ea typeface="Cambria" pitchFamily="34" charset="-122"/>
                <a:cs typeface="Cambria" pitchFamily="34" charset="-120"/>
              </a:rPr>
              <a:t>From sources to a confirmed requirement set</a:t>
            </a:r>
            <a:endParaRPr lang="en-US" sz="3200" dirty="0"/>
          </a:p>
        </p:txBody>
      </p:sp>
      <p:sp>
        <p:nvSpPr>
          <p:cNvPr id="4" name="Shape 2"/>
          <p:cNvSpPr/>
          <p:nvPr/>
        </p:nvSpPr>
        <p:spPr>
          <a:xfrm>
            <a:off x="548640" y="1481328"/>
            <a:ext cx="11091672" cy="859536"/>
          </a:xfrm>
          <a:prstGeom prst="roundRect">
            <a:avLst>
              <a:gd name="adj" fmla="val 6383"/>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5" name="Shape 3"/>
          <p:cNvSpPr/>
          <p:nvPr/>
        </p:nvSpPr>
        <p:spPr>
          <a:xfrm>
            <a:off x="841248" y="1737360"/>
            <a:ext cx="347472" cy="347472"/>
          </a:xfrm>
          <a:prstGeom prst="ellipse">
            <a:avLst/>
          </a:prstGeom>
          <a:solidFill>
            <a:srgbClr val="1E2761"/>
          </a:solidFill>
          <a:ln/>
        </p:spPr>
      </p:sp>
      <p:sp>
        <p:nvSpPr>
          <p:cNvPr id="6" name="Text 4"/>
          <p:cNvSpPr txBox="1"/>
          <p:nvPr/>
        </p:nvSpPr>
        <p:spPr>
          <a:xfrm>
            <a:off x="841248" y="173736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1389888" y="1481328"/>
            <a:ext cx="3977640" cy="859536"/>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RAC reviews the two MVP dashboards</a:t>
            </a:r>
            <a:endParaRPr lang="en-US" sz="1300" dirty="0"/>
          </a:p>
        </p:txBody>
      </p:sp>
      <p:sp>
        <p:nvSpPr>
          <p:cNvPr id="8" name="Text 6"/>
          <p:cNvSpPr txBox="1"/>
          <p:nvPr/>
        </p:nvSpPr>
        <p:spPr>
          <a:xfrm>
            <a:off x="5486400" y="1481328"/>
            <a:ext cx="5897880" cy="859536"/>
          </a:xfrm>
          <a:prstGeom prst="rect">
            <a:avLst/>
          </a:prstGeom>
          <a:noFill/>
          <a:ln/>
        </p:spPr>
        <p:txBody>
          <a:bodyPr wrap="square" lIns="0" tIns="0" rIns="0" bIns="0" rtlCol="0" anchor="ctr"/>
          <a:lstStyle/>
          <a:p>
            <a:pPr indent="0" marL="0">
              <a:buNone/>
            </a:pPr>
            <a:r>
              <a:rPr lang="en-US" sz="1100" dirty="0">
                <a:solidFill>
                  <a:srgbClr val="333F50"/>
                </a:solidFill>
                <a:latin typeface="Calibri" pitchFamily="34" charset="0"/>
                <a:ea typeface="Calibri" pitchFamily="34" charset="-122"/>
                <a:cs typeface="Calibri" pitchFamily="34" charset="-120"/>
              </a:rPr>
              <a:t>The review pack lists every item with its source and what it costs to maintain. Comments go in the two response columns.</a:t>
            </a:r>
            <a:endParaRPr lang="en-US" sz="1100" dirty="0"/>
          </a:p>
        </p:txBody>
      </p:sp>
      <p:sp>
        <p:nvSpPr>
          <p:cNvPr id="9" name="Shape 7"/>
          <p:cNvSpPr/>
          <p:nvPr/>
        </p:nvSpPr>
        <p:spPr>
          <a:xfrm>
            <a:off x="548640" y="2414016"/>
            <a:ext cx="11091672" cy="859536"/>
          </a:xfrm>
          <a:prstGeom prst="roundRect">
            <a:avLst>
              <a:gd name="adj" fmla="val 6383"/>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10" name="Shape 8"/>
          <p:cNvSpPr/>
          <p:nvPr/>
        </p:nvSpPr>
        <p:spPr>
          <a:xfrm>
            <a:off x="841248" y="2670048"/>
            <a:ext cx="347472" cy="347472"/>
          </a:xfrm>
          <a:prstGeom prst="ellipse">
            <a:avLst/>
          </a:prstGeom>
          <a:solidFill>
            <a:srgbClr val="1E2761"/>
          </a:solidFill>
          <a:ln/>
        </p:spPr>
      </p:sp>
      <p:sp>
        <p:nvSpPr>
          <p:cNvPr id="11" name="Text 9"/>
          <p:cNvSpPr txBox="1"/>
          <p:nvPr/>
        </p:nvSpPr>
        <p:spPr>
          <a:xfrm>
            <a:off x="841248" y="267004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txBox="1"/>
          <p:nvPr/>
        </p:nvSpPr>
        <p:spPr>
          <a:xfrm>
            <a:off x="1389888" y="2414016"/>
            <a:ext cx="3977640" cy="859536"/>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RAC settles the terminology</a:t>
            </a:r>
            <a:endParaRPr lang="en-US" sz="1300" dirty="0"/>
          </a:p>
        </p:txBody>
      </p:sp>
      <p:sp>
        <p:nvSpPr>
          <p:cNvPr id="13" name="Text 11"/>
          <p:cNvSpPr txBox="1"/>
          <p:nvPr/>
        </p:nvSpPr>
        <p:spPr>
          <a:xfrm>
            <a:off x="5486400" y="2414016"/>
            <a:ext cx="5897880" cy="859536"/>
          </a:xfrm>
          <a:prstGeom prst="rect">
            <a:avLst/>
          </a:prstGeom>
          <a:noFill/>
          <a:ln/>
        </p:spPr>
        <p:txBody>
          <a:bodyPr wrap="square" lIns="0" tIns="0" rIns="0" bIns="0" rtlCol="0" anchor="ctr"/>
          <a:lstStyle/>
          <a:p>
            <a:pPr indent="0" marL="0">
              <a:buNone/>
            </a:pPr>
            <a:r>
              <a:rPr lang="en-US" sz="1100" dirty="0">
                <a:solidFill>
                  <a:srgbClr val="333F50"/>
                </a:solidFill>
                <a:latin typeface="Calibri" pitchFamily="34" charset="0"/>
                <a:ea typeface="Calibri" pitchFamily="34" charset="-122"/>
                <a:cs typeface="Calibri" pitchFamily="34" charset="-120"/>
              </a:rPr>
              <a:t>The eight terms on the previous slide. Each one decides what a figure counts.</a:t>
            </a:r>
            <a:endParaRPr lang="en-US" sz="1100" dirty="0"/>
          </a:p>
        </p:txBody>
      </p:sp>
      <p:sp>
        <p:nvSpPr>
          <p:cNvPr id="14" name="Shape 12"/>
          <p:cNvSpPr/>
          <p:nvPr/>
        </p:nvSpPr>
        <p:spPr>
          <a:xfrm>
            <a:off x="548640" y="3346704"/>
            <a:ext cx="11091672" cy="859536"/>
          </a:xfrm>
          <a:prstGeom prst="roundRect">
            <a:avLst>
              <a:gd name="adj" fmla="val 6383"/>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15" name="Shape 13"/>
          <p:cNvSpPr/>
          <p:nvPr/>
        </p:nvSpPr>
        <p:spPr>
          <a:xfrm>
            <a:off x="841248" y="3602736"/>
            <a:ext cx="347472" cy="347472"/>
          </a:xfrm>
          <a:prstGeom prst="ellipse">
            <a:avLst/>
          </a:prstGeom>
          <a:solidFill>
            <a:srgbClr val="1E2761"/>
          </a:solidFill>
          <a:ln/>
        </p:spPr>
      </p:sp>
      <p:sp>
        <p:nvSpPr>
          <p:cNvPr id="16" name="Text 14"/>
          <p:cNvSpPr txBox="1"/>
          <p:nvPr/>
        </p:nvSpPr>
        <p:spPr>
          <a:xfrm>
            <a:off x="841248" y="3602736"/>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txBox="1"/>
          <p:nvPr/>
        </p:nvSpPr>
        <p:spPr>
          <a:xfrm>
            <a:off x="1389888" y="3346704"/>
            <a:ext cx="3977640" cy="859536"/>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ITD confirms the lookup file</a:t>
            </a:r>
            <a:endParaRPr lang="en-US" sz="1300" dirty="0"/>
          </a:p>
        </p:txBody>
      </p:sp>
      <p:sp>
        <p:nvSpPr>
          <p:cNvPr id="18" name="Text 16"/>
          <p:cNvSpPr txBox="1"/>
          <p:nvPr/>
        </p:nvSpPr>
        <p:spPr>
          <a:xfrm>
            <a:off x="5486400" y="3346704"/>
            <a:ext cx="5897880" cy="859536"/>
          </a:xfrm>
          <a:prstGeom prst="rect">
            <a:avLst/>
          </a:prstGeom>
          <a:noFill/>
          <a:ln/>
        </p:spPr>
        <p:txBody>
          <a:bodyPr wrap="square" lIns="0" tIns="0" rIns="0" bIns="0" rtlCol="0" anchor="ctr"/>
          <a:lstStyle/>
          <a:p>
            <a:pPr indent="0" marL="0">
              <a:buNone/>
            </a:pPr>
            <a:r>
              <a:rPr lang="en-US" sz="1100" dirty="0">
                <a:solidFill>
                  <a:srgbClr val="333F50"/>
                </a:solidFill>
                <a:latin typeface="Calibri" pitchFamily="34" charset="0"/>
                <a:ea typeface="Calibri" pitchFamily="34" charset="-122"/>
                <a:cs typeface="Calibri" pitchFamily="34" charset="-120"/>
              </a:rPr>
              <a:t>Extend it to the full estate, add the site identifier, and agree where it lives and who maintains it.</a:t>
            </a:r>
            <a:endParaRPr lang="en-US" sz="1100" dirty="0"/>
          </a:p>
        </p:txBody>
      </p:sp>
      <p:sp>
        <p:nvSpPr>
          <p:cNvPr id="19" name="Shape 17"/>
          <p:cNvSpPr/>
          <p:nvPr/>
        </p:nvSpPr>
        <p:spPr>
          <a:xfrm>
            <a:off x="548640" y="4279392"/>
            <a:ext cx="11091672" cy="859536"/>
          </a:xfrm>
          <a:prstGeom prst="roundRect">
            <a:avLst>
              <a:gd name="adj" fmla="val 6383"/>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20" name="Shape 18"/>
          <p:cNvSpPr/>
          <p:nvPr/>
        </p:nvSpPr>
        <p:spPr>
          <a:xfrm>
            <a:off x="841248" y="4535424"/>
            <a:ext cx="347472" cy="347472"/>
          </a:xfrm>
          <a:prstGeom prst="ellipse">
            <a:avLst/>
          </a:prstGeom>
          <a:solidFill>
            <a:srgbClr val="1E2761"/>
          </a:solidFill>
          <a:ln/>
        </p:spPr>
      </p:sp>
      <p:sp>
        <p:nvSpPr>
          <p:cNvPr id="21" name="Text 19"/>
          <p:cNvSpPr txBox="1"/>
          <p:nvPr/>
        </p:nvSpPr>
        <p:spPr>
          <a:xfrm>
            <a:off x="841248" y="453542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txBox="1"/>
          <p:nvPr/>
        </p:nvSpPr>
        <p:spPr>
          <a:xfrm>
            <a:off x="1389888" y="4279392"/>
            <a:ext cx="3977640" cy="859536"/>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We match requirements to sources</a:t>
            </a:r>
            <a:endParaRPr lang="en-US" sz="1300" dirty="0"/>
          </a:p>
        </p:txBody>
      </p:sp>
      <p:sp>
        <p:nvSpPr>
          <p:cNvPr id="23" name="Text 21"/>
          <p:cNvSpPr txBox="1"/>
          <p:nvPr/>
        </p:nvSpPr>
        <p:spPr>
          <a:xfrm>
            <a:off x="5486400" y="4279392"/>
            <a:ext cx="5897880" cy="859536"/>
          </a:xfrm>
          <a:prstGeom prst="rect">
            <a:avLst/>
          </a:prstGeom>
          <a:noFill/>
          <a:ln/>
        </p:spPr>
        <p:txBody>
          <a:bodyPr wrap="square" lIns="0" tIns="0" rIns="0" bIns="0" rtlCol="0" anchor="ctr"/>
          <a:lstStyle/>
          <a:p>
            <a:pPr indent="0" marL="0">
              <a:buNone/>
            </a:pPr>
            <a:r>
              <a:rPr lang="en-US" sz="1100" dirty="0">
                <a:solidFill>
                  <a:srgbClr val="333F50"/>
                </a:solidFill>
                <a:latin typeface="Calibri" pitchFamily="34" charset="0"/>
                <a:ea typeface="Calibri" pitchFamily="34" charset="-122"/>
                <a:cs typeface="Calibri" pitchFamily="34" charset="-120"/>
              </a:rPr>
              <a:t>Every item is marked available, needs a definition, or has no source.</a:t>
            </a:r>
            <a:endParaRPr lang="en-US" sz="1100" dirty="0"/>
          </a:p>
        </p:txBody>
      </p:sp>
      <p:sp>
        <p:nvSpPr>
          <p:cNvPr id="24" name="Shape 22"/>
          <p:cNvSpPr/>
          <p:nvPr/>
        </p:nvSpPr>
        <p:spPr>
          <a:xfrm>
            <a:off x="548640" y="5212080"/>
            <a:ext cx="11091672" cy="859536"/>
          </a:xfrm>
          <a:prstGeom prst="roundRect">
            <a:avLst>
              <a:gd name="adj" fmla="val 6383"/>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25" name="Shape 23"/>
          <p:cNvSpPr/>
          <p:nvPr/>
        </p:nvSpPr>
        <p:spPr>
          <a:xfrm>
            <a:off x="841248" y="5468112"/>
            <a:ext cx="347472" cy="347472"/>
          </a:xfrm>
          <a:prstGeom prst="ellipse">
            <a:avLst/>
          </a:prstGeom>
          <a:solidFill>
            <a:srgbClr val="1E2761"/>
          </a:solidFill>
          <a:ln/>
        </p:spPr>
      </p:sp>
      <p:sp>
        <p:nvSpPr>
          <p:cNvPr id="26" name="Text 24"/>
          <p:cNvSpPr txBox="1"/>
          <p:nvPr/>
        </p:nvSpPr>
        <p:spPr>
          <a:xfrm>
            <a:off x="841248" y="546811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7" name="Text 25"/>
          <p:cNvSpPr txBox="1"/>
          <p:nvPr/>
        </p:nvSpPr>
        <p:spPr>
          <a:xfrm>
            <a:off x="1389888" y="5212080"/>
            <a:ext cx="3977640" cy="859536"/>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The team decides on what remains</a:t>
            </a:r>
            <a:endParaRPr lang="en-US" sz="1300" dirty="0"/>
          </a:p>
        </p:txBody>
      </p:sp>
      <p:sp>
        <p:nvSpPr>
          <p:cNvPr id="28" name="Text 26"/>
          <p:cNvSpPr txBox="1"/>
          <p:nvPr/>
        </p:nvSpPr>
        <p:spPr>
          <a:xfrm>
            <a:off x="5486400" y="5212080"/>
            <a:ext cx="5897880" cy="859536"/>
          </a:xfrm>
          <a:prstGeom prst="rect">
            <a:avLst/>
          </a:prstGeom>
          <a:noFill/>
          <a:ln/>
        </p:spPr>
        <p:txBody>
          <a:bodyPr wrap="square" lIns="0" tIns="0" rIns="0" bIns="0" rtlCol="0" anchor="ctr"/>
          <a:lstStyle/>
          <a:p>
            <a:pPr indent="0" marL="0">
              <a:buNone/>
            </a:pPr>
            <a:r>
              <a:rPr lang="en-US" sz="1100" dirty="0">
                <a:solidFill>
                  <a:srgbClr val="333F50"/>
                </a:solidFill>
                <a:latin typeface="Calibri" pitchFamily="34" charset="0"/>
                <a:ea typeface="Calibri" pitchFamily="34" charset="-122"/>
                <a:cs typeface="Calibri" pitchFamily="34" charset="-120"/>
              </a:rPr>
              <a:t>Where no source can be provided, we agree together whether the item is dropped or deferred.</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329184" y="274320"/>
            <a:ext cx="11219688" cy="219456"/>
          </a:xfrm>
          <a:prstGeom prst="rect">
            <a:avLst/>
          </a:prstGeom>
          <a:noFill/>
          <a:ln/>
        </p:spPr>
        <p:txBody>
          <a:bodyPr wrap="square" lIns="0" tIns="0" rIns="0" bIns="0" rtlCol="0" anchor="ctr"/>
          <a:lstStyle/>
          <a:p>
            <a:pPr indent="0" marL="0">
              <a:buNone/>
            </a:pPr>
            <a:r>
              <a:rPr lang="en-US" sz="1050" b="1" spc="160" kern="0" dirty="0">
                <a:solidFill>
                  <a:srgbClr val="6B7A90"/>
                </a:solidFill>
                <a:latin typeface="Calibri" pitchFamily="34" charset="0"/>
                <a:ea typeface="Calibri" pitchFamily="34" charset="-122"/>
                <a:cs typeface="Calibri" pitchFamily="34" charset="-120"/>
              </a:rPr>
              <a:t>OPEN ITEMS</a:t>
            </a:r>
            <a:endParaRPr lang="en-US" sz="1050" dirty="0"/>
          </a:p>
        </p:txBody>
      </p:sp>
      <p:sp>
        <p:nvSpPr>
          <p:cNvPr id="3" name="Text 1"/>
          <p:cNvSpPr txBox="1"/>
          <p:nvPr/>
        </p:nvSpPr>
        <p:spPr>
          <a:xfrm>
            <a:off x="329184" y="512064"/>
            <a:ext cx="11219688" cy="658368"/>
          </a:xfrm>
          <a:prstGeom prst="rect">
            <a:avLst/>
          </a:prstGeom>
          <a:noFill/>
          <a:ln/>
        </p:spPr>
        <p:txBody>
          <a:bodyPr wrap="square" lIns="0" tIns="0" rIns="0" bIns="0" rtlCol="0" anchor="ctr"/>
          <a:lstStyle/>
          <a:p>
            <a:pPr indent="0" marL="0">
              <a:buNone/>
            </a:pPr>
            <a:r>
              <a:rPr lang="en-US" sz="3200" b="1" dirty="0">
                <a:solidFill>
                  <a:srgbClr val="44546A"/>
                </a:solidFill>
                <a:latin typeface="Cambria" pitchFamily="34" charset="0"/>
                <a:ea typeface="Cambria" pitchFamily="34" charset="-122"/>
                <a:cs typeface="Cambria" pitchFamily="34" charset="-120"/>
              </a:rPr>
              <a:t>Decisions needed to move forward</a:t>
            </a:r>
            <a:endParaRPr lang="en-US" sz="3200" dirty="0"/>
          </a:p>
        </p:txBody>
      </p:sp>
      <p:sp>
        <p:nvSpPr>
          <p:cNvPr id="4" name="Shape 2"/>
          <p:cNvSpPr/>
          <p:nvPr/>
        </p:nvSpPr>
        <p:spPr>
          <a:xfrm>
            <a:off x="548640" y="1481328"/>
            <a:ext cx="11091672" cy="1298448"/>
          </a:xfrm>
          <a:prstGeom prst="roundRect">
            <a:avLst>
              <a:gd name="adj" fmla="val 4225"/>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5" name="Shape 3"/>
          <p:cNvSpPr/>
          <p:nvPr/>
        </p:nvSpPr>
        <p:spPr>
          <a:xfrm>
            <a:off x="868680" y="1700784"/>
            <a:ext cx="365760" cy="365760"/>
          </a:xfrm>
          <a:prstGeom prst="ellipse">
            <a:avLst/>
          </a:prstGeom>
          <a:solidFill>
            <a:srgbClr val="1E2761"/>
          </a:solidFill>
          <a:ln/>
        </p:spPr>
      </p:sp>
      <p:sp>
        <p:nvSpPr>
          <p:cNvPr id="6" name="Text 4"/>
          <p:cNvSpPr txBox="1"/>
          <p:nvPr/>
        </p:nvSpPr>
        <p:spPr>
          <a:xfrm>
            <a:off x="868680" y="170078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1463040" y="1645920"/>
            <a:ext cx="9692640" cy="310896"/>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Consensus on the MVP scope</a:t>
            </a:r>
            <a:endParaRPr lang="en-US" sz="1400" dirty="0"/>
          </a:p>
        </p:txBody>
      </p:sp>
      <p:sp>
        <p:nvSpPr>
          <p:cNvPr id="8" name="Text 6"/>
          <p:cNvSpPr txBox="1"/>
          <p:nvPr/>
        </p:nvSpPr>
        <p:spPr>
          <a:xfrm>
            <a:off x="1463040" y="1984248"/>
            <a:ext cx="9692640" cy="420624"/>
          </a:xfrm>
          <a:prstGeom prst="rect">
            <a:avLst/>
          </a:prstGeom>
          <a:noFill/>
          <a:ln/>
        </p:spPr>
        <p:txBody>
          <a:bodyPr wrap="square" lIns="0" tIns="0" rIns="0" bIns="0" rtlCol="0" anchor="ctr"/>
          <a:lstStyle/>
          <a:p>
            <a:pPr indent="0" marL="0">
              <a:buNone/>
            </a:pPr>
            <a:r>
              <a:rPr lang="en-US" sz="1150" dirty="0">
                <a:solidFill>
                  <a:srgbClr val="333F50"/>
                </a:solidFill>
                <a:latin typeface="Calibri" pitchFamily="34" charset="0"/>
                <a:ea typeface="Calibri" pitchFamily="34" charset="-122"/>
                <a:cs typeface="Calibri" pitchFamily="34" charset="-120"/>
              </a:rPr>
              <a:t>Two dashboards this release with the other four parked in scope, or all six in one release?</a:t>
            </a:r>
            <a:endParaRPr lang="en-US" sz="1150" dirty="0"/>
          </a:p>
        </p:txBody>
      </p:sp>
      <p:sp>
        <p:nvSpPr>
          <p:cNvPr id="9" name="Text 7"/>
          <p:cNvSpPr txBox="1"/>
          <p:nvPr/>
        </p:nvSpPr>
        <p:spPr>
          <a:xfrm>
            <a:off x="1463040" y="2414016"/>
            <a:ext cx="9692640" cy="237744"/>
          </a:xfrm>
          <a:prstGeom prst="rect">
            <a:avLst/>
          </a:prstGeom>
          <a:noFill/>
          <a:ln/>
        </p:spPr>
        <p:txBody>
          <a:bodyPr wrap="square" lIns="0" tIns="0" rIns="0" bIns="0" rtlCol="0" anchor="ctr"/>
          <a:lstStyle/>
          <a:p>
            <a:pPr indent="0" marL="0">
              <a:buNone/>
            </a:pPr>
            <a:r>
              <a:rPr lang="en-US" sz="1050" b="1" dirty="0">
                <a:solidFill>
                  <a:srgbClr val="6B7A90"/>
                </a:solidFill>
                <a:latin typeface="Calibri" pitchFamily="34" charset="0"/>
                <a:ea typeface="Calibri" pitchFamily="34" charset="-122"/>
                <a:cs typeface="Calibri" pitchFamily="34" charset="-120"/>
              </a:rPr>
              <a:t>Owner: RAC and the wider team</a:t>
            </a:r>
            <a:endParaRPr lang="en-US" sz="1050" dirty="0"/>
          </a:p>
        </p:txBody>
      </p:sp>
      <p:sp>
        <p:nvSpPr>
          <p:cNvPr id="10" name="Shape 8"/>
          <p:cNvSpPr/>
          <p:nvPr/>
        </p:nvSpPr>
        <p:spPr>
          <a:xfrm>
            <a:off x="548640" y="2871216"/>
            <a:ext cx="11091672" cy="1298448"/>
          </a:xfrm>
          <a:prstGeom prst="roundRect">
            <a:avLst>
              <a:gd name="adj" fmla="val 4225"/>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11" name="Shape 9"/>
          <p:cNvSpPr/>
          <p:nvPr/>
        </p:nvSpPr>
        <p:spPr>
          <a:xfrm>
            <a:off x="868680" y="3090672"/>
            <a:ext cx="365760" cy="365760"/>
          </a:xfrm>
          <a:prstGeom prst="ellipse">
            <a:avLst/>
          </a:prstGeom>
          <a:solidFill>
            <a:srgbClr val="1E2761"/>
          </a:solidFill>
          <a:ln/>
        </p:spPr>
      </p:sp>
      <p:sp>
        <p:nvSpPr>
          <p:cNvPr id="12" name="Text 10"/>
          <p:cNvSpPr txBox="1"/>
          <p:nvPr/>
        </p:nvSpPr>
        <p:spPr>
          <a:xfrm>
            <a:off x="868680" y="309067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txBox="1"/>
          <p:nvPr/>
        </p:nvSpPr>
        <p:spPr>
          <a:xfrm>
            <a:off x="1463040" y="3035808"/>
            <a:ext cx="9692640" cy="310896"/>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Where the source data lives, and who maintains it</a:t>
            </a:r>
            <a:endParaRPr lang="en-US" sz="1400" dirty="0"/>
          </a:p>
        </p:txBody>
      </p:sp>
      <p:sp>
        <p:nvSpPr>
          <p:cNvPr id="14" name="Text 12"/>
          <p:cNvSpPr txBox="1"/>
          <p:nvPr/>
        </p:nvSpPr>
        <p:spPr>
          <a:xfrm>
            <a:off x="1463040" y="3374136"/>
            <a:ext cx="9692640" cy="420624"/>
          </a:xfrm>
          <a:prstGeom prst="rect">
            <a:avLst/>
          </a:prstGeom>
          <a:noFill/>
          <a:ln/>
        </p:spPr>
        <p:txBody>
          <a:bodyPr wrap="square" lIns="0" tIns="0" rIns="0" bIns="0" rtlCol="0" anchor="ctr"/>
          <a:lstStyle/>
          <a:p>
            <a:pPr indent="0" marL="0">
              <a:buNone/>
            </a:pPr>
            <a:r>
              <a:rPr lang="en-US" sz="1150" dirty="0">
                <a:solidFill>
                  <a:srgbClr val="333F50"/>
                </a:solidFill>
                <a:latin typeface="Calibri" pitchFamily="34" charset="0"/>
                <a:ea typeface="Calibri" pitchFamily="34" charset="-122"/>
                <a:cs typeface="Calibri" pitchFamily="34" charset="-120"/>
              </a:rPr>
              <a:t>The proposal is to move the lookup file and the file plan into the EDRMS database, with an admin page so RAC can maintain them.</a:t>
            </a:r>
            <a:endParaRPr lang="en-US" sz="1150" dirty="0"/>
          </a:p>
        </p:txBody>
      </p:sp>
      <p:sp>
        <p:nvSpPr>
          <p:cNvPr id="15" name="Text 13"/>
          <p:cNvSpPr txBox="1"/>
          <p:nvPr/>
        </p:nvSpPr>
        <p:spPr>
          <a:xfrm>
            <a:off x="1463040" y="3803904"/>
            <a:ext cx="9692640" cy="237744"/>
          </a:xfrm>
          <a:prstGeom prst="rect">
            <a:avLst/>
          </a:prstGeom>
          <a:noFill/>
          <a:ln/>
        </p:spPr>
        <p:txBody>
          <a:bodyPr wrap="square" lIns="0" tIns="0" rIns="0" bIns="0" rtlCol="0" anchor="ctr"/>
          <a:lstStyle/>
          <a:p>
            <a:pPr indent="0" marL="0">
              <a:buNone/>
            </a:pPr>
            <a:r>
              <a:rPr lang="en-US" sz="1050" b="1" dirty="0">
                <a:solidFill>
                  <a:srgbClr val="6B7A90"/>
                </a:solidFill>
                <a:latin typeface="Calibri" pitchFamily="34" charset="0"/>
                <a:ea typeface="Calibri" pitchFamily="34" charset="-122"/>
                <a:cs typeface="Calibri" pitchFamily="34" charset="-120"/>
              </a:rPr>
              <a:t>Owner: ITD to build, RAC to own</a:t>
            </a:r>
            <a:endParaRPr lang="en-US" sz="1050" dirty="0"/>
          </a:p>
        </p:txBody>
      </p:sp>
      <p:sp>
        <p:nvSpPr>
          <p:cNvPr id="16" name="Shape 14"/>
          <p:cNvSpPr/>
          <p:nvPr/>
        </p:nvSpPr>
        <p:spPr>
          <a:xfrm>
            <a:off x="548640" y="4261104"/>
            <a:ext cx="11091672" cy="1298448"/>
          </a:xfrm>
          <a:prstGeom prst="roundRect">
            <a:avLst>
              <a:gd name="adj" fmla="val 4225"/>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17" name="Shape 15"/>
          <p:cNvSpPr/>
          <p:nvPr/>
        </p:nvSpPr>
        <p:spPr>
          <a:xfrm>
            <a:off x="868680" y="4480560"/>
            <a:ext cx="365760" cy="365760"/>
          </a:xfrm>
          <a:prstGeom prst="ellipse">
            <a:avLst/>
          </a:prstGeom>
          <a:solidFill>
            <a:srgbClr val="1E2761"/>
          </a:solidFill>
          <a:ln/>
        </p:spPr>
      </p:sp>
      <p:sp>
        <p:nvSpPr>
          <p:cNvPr id="18" name="Text 16"/>
          <p:cNvSpPr txBox="1"/>
          <p:nvPr/>
        </p:nvSpPr>
        <p:spPr>
          <a:xfrm>
            <a:off x="868680" y="448056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txBox="1"/>
          <p:nvPr/>
        </p:nvSpPr>
        <p:spPr>
          <a:xfrm>
            <a:off x="1463040" y="4425696"/>
            <a:ext cx="9692640" cy="310896"/>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The terminology</a:t>
            </a:r>
            <a:endParaRPr lang="en-US" sz="1400" dirty="0"/>
          </a:p>
        </p:txBody>
      </p:sp>
      <p:sp>
        <p:nvSpPr>
          <p:cNvPr id="20" name="Text 18"/>
          <p:cNvSpPr txBox="1"/>
          <p:nvPr/>
        </p:nvSpPr>
        <p:spPr>
          <a:xfrm>
            <a:off x="1463040" y="4764024"/>
            <a:ext cx="9692640" cy="420624"/>
          </a:xfrm>
          <a:prstGeom prst="rect">
            <a:avLst/>
          </a:prstGeom>
          <a:noFill/>
          <a:ln/>
        </p:spPr>
        <p:txBody>
          <a:bodyPr wrap="square" lIns="0" tIns="0" rIns="0" bIns="0" rtlCol="0" anchor="ctr"/>
          <a:lstStyle/>
          <a:p>
            <a:pPr indent="0" marL="0">
              <a:buNone/>
            </a:pPr>
            <a:r>
              <a:rPr lang="en-US" sz="1150" dirty="0">
                <a:solidFill>
                  <a:srgbClr val="333F50"/>
                </a:solidFill>
                <a:latin typeface="Calibri" pitchFamily="34" charset="0"/>
                <a:ea typeface="Calibri" pitchFamily="34" charset="-122"/>
                <a:cs typeface="Calibri" pitchFamily="34" charset="-120"/>
              </a:rPr>
              <a:t>Eight terms, each of which changes what a figure counts.</a:t>
            </a:r>
            <a:endParaRPr lang="en-US" sz="1150" dirty="0"/>
          </a:p>
        </p:txBody>
      </p:sp>
      <p:sp>
        <p:nvSpPr>
          <p:cNvPr id="21" name="Text 19"/>
          <p:cNvSpPr txBox="1"/>
          <p:nvPr/>
        </p:nvSpPr>
        <p:spPr>
          <a:xfrm>
            <a:off x="1463040" y="5193792"/>
            <a:ext cx="9692640" cy="237744"/>
          </a:xfrm>
          <a:prstGeom prst="rect">
            <a:avLst/>
          </a:prstGeom>
          <a:noFill/>
          <a:ln/>
        </p:spPr>
        <p:txBody>
          <a:bodyPr wrap="square" lIns="0" tIns="0" rIns="0" bIns="0" rtlCol="0" anchor="ctr"/>
          <a:lstStyle/>
          <a:p>
            <a:pPr indent="0" marL="0">
              <a:buNone/>
            </a:pPr>
            <a:r>
              <a:rPr lang="en-US" sz="1050" b="1" dirty="0">
                <a:solidFill>
                  <a:srgbClr val="6B7A90"/>
                </a:solidFill>
                <a:latin typeface="Calibri" pitchFamily="34" charset="0"/>
                <a:ea typeface="Calibri" pitchFamily="34" charset="-122"/>
                <a:cs typeface="Calibri" pitchFamily="34" charset="-120"/>
              </a:rPr>
              <a:t>Owner: RAC</a:t>
            </a:r>
            <a:endParaRPr lang="en-US" sz="1050" dirty="0"/>
          </a:p>
        </p:txBody>
      </p:sp>
      <p:sp>
        <p:nvSpPr>
          <p:cNvPr id="22" name="Text 20"/>
          <p:cNvSpPr txBox="1"/>
          <p:nvPr/>
        </p:nvSpPr>
        <p:spPr>
          <a:xfrm>
            <a:off x="548640" y="5897880"/>
            <a:ext cx="11091672" cy="292608"/>
          </a:xfrm>
          <a:prstGeom prst="rect">
            <a:avLst/>
          </a:prstGeom>
          <a:noFill/>
          <a:ln/>
        </p:spPr>
        <p:txBody>
          <a:bodyPr wrap="square" lIns="0" tIns="0" rIns="0" bIns="0" rtlCol="0" anchor="ctr"/>
          <a:lstStyle/>
          <a:p>
            <a:pPr indent="0" marL="0">
              <a:buNone/>
            </a:pPr>
            <a:r>
              <a:rPr lang="en-US" sz="1200" i="1" dirty="0">
                <a:solidFill>
                  <a:srgbClr val="6B7A90"/>
                </a:solidFill>
                <a:latin typeface="Calibri" pitchFamily="34" charset="0"/>
                <a:ea typeface="Calibri" pitchFamily="34" charset="-122"/>
                <a:cs typeface="Calibri" pitchFamily="34" charset="-120"/>
              </a:rPr>
              <a:t>Until the first two are settled, the MVP scope is a proposal rather than a plan.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RAC Reporting Suite: MVP Proposal and Next Steps</dc:title>
  <dc:subject>PptxGenJS Presentation</dc:subject>
  <dc:creator>EDRMS Utilization Report</dc:creator>
  <cp:lastModifiedBy>EDRMS Utilization Report</cp:lastModifiedBy>
  <cp:revision>1</cp:revision>
  <dcterms:created xsi:type="dcterms:W3CDTF">2026-08-31T06:19:49Z</dcterms:created>
  <dcterms:modified xsi:type="dcterms:W3CDTF">2026-08-31T06:19:49Z</dcterms:modified>
</cp:coreProperties>
</file>