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slides/slide10.xml" ContentType="application/vnd.openxmlformats-officedocument.presentationml.slide+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openxmlformats.org/officeDocument/2006/relationships/custom-properties" Target="docProps/custom.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14"/>
  </p:notesMasterIdLst>
  <p:sldIdLst>
    <p:sldId id="273" r:id="rId5"/>
    <p:sldId id="298" r:id="rId6"/>
    <p:sldId id="304" r:id="rId7"/>
    <p:sldId id="319" r:id="rId20"/>
    <p:sldId id="308" r:id="rId8"/>
    <p:sldId id="310" r:id="rId9"/>
    <p:sldId id="312" r:id="rId10"/>
    <p:sldId id="314" r:id="rId11"/>
    <p:sldId id="316" r:id="rId12"/>
    <p:sldId id="318" r:id="rId13"/>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authors.xml><?xml version="1.0" encoding="utf-8"?>
<p188:authorLst xmlns:a="http://schemas.openxmlformats.org/drawingml/2006/main" xmlns:r="http://schemas.openxmlformats.org/officeDocument/2006/relationships" xmlns:p188="http://schemas.microsoft.com/office/powerpoint/2018/8/main">
  <p188:author id="{099E9E49-8E37-67AE-334A-E386AB45A267}" name="Leah Bancale" initials="LB" userId="S::lbancale.contractor@adb.org::41cb66bb-1d78-450e-ade4-0d15abfbc251"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B60706"/>
    <a:srgbClr val="92400E"/>
    <a:srgbClr val="F5F6F8"/>
    <a:srgbClr val="1568A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178" autoAdjust="0"/>
  </p:normalViewPr>
  <p:slideViewPr>
    <p:cSldViewPr snapToGrid="0">
      <p:cViewPr>
        <p:scale>
          <a:sx n="125" d="100"/>
          <a:sy n="125" d="100"/>
        </p:scale>
        <p:origin x="-24" y="444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tableStyles" Target="tableStyle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presProps" Target="presProps.xml"/><Relationship Id="rId10" Type="http://schemas.openxmlformats.org/officeDocument/2006/relationships/slide" Target="slides/slide6.xml"/><Relationship Id="rId19" Type="http://schemas.microsoft.com/office/2018/10/relationships/authors" Target="author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notesMaster" Target="notesMasters/notesMaster1.xml"/>  <Relationship Id="rId20" Type="http://schemas.openxmlformats.org/officeDocument/2006/relationships/slide" Target="slides/slide10.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377865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G"/>
          </a:p>
        </p:txBody>
      </p:sp>
      <p:sp>
        <p:nvSpPr>
          <p:cNvPr id="4" name="Slide Number Placeholder 3"/>
          <p:cNvSpPr>
            <a:spLocks noGrp="1"/>
          </p:cNvSpPr>
          <p:nvPr>
            <p:ph type="sldNum" sz="quarter" idx="5"/>
          </p:nvPr>
        </p:nvSpPr>
        <p:spPr/>
        <p:txBody>
          <a:bodyPr/>
          <a:lstStyle/>
          <a:p>
            <a:fld id="{E4416E09-8B40-4ED1-86B7-C94735C58CEB}" type="slidenum">
              <a:rPr lang="en-US" smtClean="0"/>
              <a:t>1</a:t>
            </a:fld>
            <a:endParaRPr lang="en-US"/>
          </a:p>
        </p:txBody>
      </p:sp>
    </p:spTree>
    <p:extLst>
      <p:ext uri="{BB962C8B-B14F-4D97-AF65-F5344CB8AC3E}">
        <p14:creationId xmlns:p14="http://schemas.microsoft.com/office/powerpoint/2010/main" val="269025678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7BA729-BEC3-FA04-6D55-0F93E0FB78F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1493D8D-C471-C974-2D76-E18EFD2F1C8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08B9CD2-8A70-3F5F-F1B5-6DE49FFC7F7C}"/>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706FEEC0-54CD-166B-2087-50E69090AD44}"/>
              </a:ext>
            </a:extLst>
          </p:cNvPr>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2037084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FD0994-1845-05C3-E670-3B5C5AA1954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B1A7FFF-1A26-418B-92B6-EBA5A780873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0073194-2401-3CA7-1B3E-E88A9FB0FF75}"/>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C2A0AA05-9BD8-451F-A00E-7CB0EC9ED6A0}"/>
              </a:ext>
            </a:extLst>
          </p:cNvPr>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383075686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27356C-FF58-7B93-7817-74190D89DD5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F67060C-F50E-5A5F-F79D-7E0BEBCB270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4C33372-488E-2DD9-5CAF-FC61964B3442}"/>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30EB774A-34B2-79E8-9C73-7AC16C136E1F}"/>
              </a:ext>
            </a:extLst>
          </p:cNvPr>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29252887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7E604A-68BB-6A28-E54C-1D6C3BA1518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244D1E-4BAD-1087-0B2F-FED2AEEBEC0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9C4F20B-2D5A-F50D-C9C8-1AEE4FA94FF0}"/>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DD6C345C-EA71-97EE-3CE7-C1B32814899E}"/>
              </a:ext>
            </a:extLst>
          </p:cNvPr>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80112484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365433-D3D4-0CF8-EDF7-5287C71DDBA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4645248-24FB-9FF1-72C9-B63F9D12534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0E1EC05-5DAE-1A07-BF25-C34725210DCD}"/>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A27FCC91-CA45-1509-3F0F-73E2EC44D397}"/>
              </a:ext>
            </a:extLst>
          </p:cNvPr>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397306928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39BAA6-1C29-2F91-2E8C-968FB503A14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DCCC374-57DD-FB5E-16A0-10C6FD12FB2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9C9F68D-6E10-9E92-CFD6-997990668722}"/>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BE8D0D5B-29BB-D98D-A1FB-0408505B5B52}"/>
              </a:ext>
            </a:extLst>
          </p:cNvPr>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5721500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3.png"/><Relationship Id="rId4"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3" Type="http://schemas.microsoft.com/office/2007/relationships/hdphoto" Target="../media/hdphoto2.wdp"/><Relationship Id="rId7" Type="http://schemas.microsoft.com/office/2007/relationships/hdphoto" Target="../media/hdphoto3.wdp"/><Relationship Id="rId2" Type="http://schemas.openxmlformats.org/officeDocument/2006/relationships/image" Target="../media/image4.png"/><Relationship Id="rId1" Type="http://schemas.openxmlformats.org/officeDocument/2006/relationships/slideMaster" Target="../slideMasters/slideMaster1.xml"/><Relationship Id="rId6" Type="http://schemas.openxmlformats.org/officeDocument/2006/relationships/image" Target="../media/image6.png"/><Relationship Id="rId5" Type="http://schemas.openxmlformats.org/officeDocument/2006/relationships/image" Target="../media/image3.png"/><Relationship Id="rId4" Type="http://schemas.openxmlformats.org/officeDocument/2006/relationships/image" Target="../media/image5.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8" name="Picture 7" descr="A yellow and blue wavy lines&#10;&#10;Description automatically generated">
            <a:extLst>
              <a:ext uri="{FF2B5EF4-FFF2-40B4-BE49-F238E27FC236}">
                <a16:creationId xmlns:a16="http://schemas.microsoft.com/office/drawing/2014/main" id="{C0B37FD3-2E43-3CB4-83E1-EEC2F7D0E1CF}"/>
              </a:ext>
            </a:extLst>
          </p:cNvPr>
          <p:cNvPicPr>
            <a:picLocks noChangeAspect="1"/>
          </p:cNvPicPr>
          <p:nvPr userDrawn="1"/>
        </p:nvPicPr>
        <p:blipFill>
          <a:blip r:embed="rId2">
            <a:extLst>
              <a:ext uri="{BEBA8EAE-BF5A-486C-A8C5-ECC9F3942E4B}">
                <a14:imgProps xmlns:a14="http://schemas.microsoft.com/office/drawing/2010/main">
                  <a14:imgLayer r:embed="rId3">
                    <a14:imgEffect>
                      <a14:brightnessContrast contrast="-20000"/>
                    </a14:imgEffect>
                  </a14:imgLayer>
                </a14:imgProps>
              </a:ext>
              <a:ext uri="{28A0092B-C50C-407E-A947-70E740481C1C}">
                <a14:useLocalDpi xmlns:a14="http://schemas.microsoft.com/office/drawing/2010/main"/>
              </a:ext>
            </a:extLst>
          </a:blip>
          <a:stretch>
            <a:fillRect/>
          </a:stretch>
        </p:blipFill>
        <p:spPr>
          <a:xfrm>
            <a:off x="1" y="0"/>
            <a:ext cx="9143999" cy="5143500"/>
          </a:xfrm>
          <a:prstGeom prst="rect">
            <a:avLst/>
          </a:prstGeom>
        </p:spPr>
      </p:pic>
      <p:sp>
        <p:nvSpPr>
          <p:cNvPr id="2" name="Title 1">
            <a:extLst>
              <a:ext uri="{FF2B5EF4-FFF2-40B4-BE49-F238E27FC236}">
                <a16:creationId xmlns:a16="http://schemas.microsoft.com/office/drawing/2014/main" id="{7118875C-F4E2-FA32-A18E-102993D4E40A}"/>
              </a:ext>
            </a:extLst>
          </p:cNvPr>
          <p:cNvSpPr>
            <a:spLocks noGrp="1"/>
          </p:cNvSpPr>
          <p:nvPr>
            <p:ph type="ctrTitle"/>
          </p:nvPr>
        </p:nvSpPr>
        <p:spPr>
          <a:xfrm>
            <a:off x="229945" y="1930223"/>
            <a:ext cx="8285405" cy="1790700"/>
          </a:xfrm>
        </p:spPr>
        <p:txBody>
          <a:bodyPr anchor="b"/>
          <a:lstStyle>
            <a:lvl1pPr algn="l">
              <a:defRPr sz="4500" b="1">
                <a:solidFill>
                  <a:schemeClr val="bg1"/>
                </a:solidFill>
              </a:defRPr>
            </a:lvl1pPr>
          </a:lstStyle>
          <a:p>
            <a:r>
              <a:rPr lang="en-US"/>
              <a:t>Click to edit Master title style</a:t>
            </a:r>
            <a:endParaRPr lang="en-PH"/>
          </a:p>
        </p:txBody>
      </p:sp>
      <p:sp>
        <p:nvSpPr>
          <p:cNvPr id="3" name="Subtitle 2">
            <a:extLst>
              <a:ext uri="{FF2B5EF4-FFF2-40B4-BE49-F238E27FC236}">
                <a16:creationId xmlns:a16="http://schemas.microsoft.com/office/drawing/2014/main" id="{EE12FBC6-9031-44CB-301F-04016C7A1CBB}"/>
              </a:ext>
            </a:extLst>
          </p:cNvPr>
          <p:cNvSpPr>
            <a:spLocks noGrp="1"/>
          </p:cNvSpPr>
          <p:nvPr>
            <p:ph type="subTitle" idx="1"/>
          </p:nvPr>
        </p:nvSpPr>
        <p:spPr>
          <a:xfrm>
            <a:off x="229945" y="3761014"/>
            <a:ext cx="8285405" cy="735010"/>
          </a:xfrm>
        </p:spPr>
        <p:txBody>
          <a:bodyPr/>
          <a:lstStyle>
            <a:lvl1pPr marL="0" indent="0" algn="l">
              <a:buNone/>
              <a:defRPr sz="1800">
                <a:solidFill>
                  <a:schemeClr val="bg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PH"/>
          </a:p>
        </p:txBody>
      </p:sp>
      <p:sp>
        <p:nvSpPr>
          <p:cNvPr id="6" name="Slide Number Placeholder 5">
            <a:extLst>
              <a:ext uri="{FF2B5EF4-FFF2-40B4-BE49-F238E27FC236}">
                <a16:creationId xmlns:a16="http://schemas.microsoft.com/office/drawing/2014/main" id="{9AF23F22-202B-22C5-B9EA-75BED8861297}"/>
              </a:ext>
            </a:extLst>
          </p:cNvPr>
          <p:cNvSpPr>
            <a:spLocks noGrp="1"/>
          </p:cNvSpPr>
          <p:nvPr>
            <p:ph type="sldNum" sz="quarter" idx="12"/>
          </p:nvPr>
        </p:nvSpPr>
        <p:spPr>
          <a:xfrm>
            <a:off x="6457949" y="4767263"/>
            <a:ext cx="2057400" cy="273844"/>
          </a:xfrm>
        </p:spPr>
        <p:txBody>
          <a:bodyPr/>
          <a:lstStyle>
            <a:lvl1pPr>
              <a:defRPr b="1">
                <a:solidFill>
                  <a:schemeClr val="bg1"/>
                </a:solidFill>
              </a:defRPr>
            </a:lvl1pPr>
          </a:lstStyle>
          <a:p>
            <a:fld id="{B0B62103-952B-40C5-BACA-0A1B9F9E1991}" type="slidenum">
              <a:rPr lang="en-PH" smtClean="0"/>
              <a:pPr/>
              <a:t>‹#›</a:t>
            </a:fld>
            <a:endParaRPr lang="en-PH"/>
          </a:p>
        </p:txBody>
      </p:sp>
      <p:sp>
        <p:nvSpPr>
          <p:cNvPr id="9" name="Rectangle 8">
            <a:extLst>
              <a:ext uri="{FF2B5EF4-FFF2-40B4-BE49-F238E27FC236}">
                <a16:creationId xmlns:a16="http://schemas.microsoft.com/office/drawing/2014/main" id="{F19A9BAB-EB88-2DD9-82D9-904B108017BF}"/>
              </a:ext>
            </a:extLst>
          </p:cNvPr>
          <p:cNvSpPr/>
          <p:nvPr userDrawn="1"/>
        </p:nvSpPr>
        <p:spPr>
          <a:xfrm>
            <a:off x="123042" y="2530859"/>
            <a:ext cx="34289" cy="119006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sz="1350"/>
          </a:p>
        </p:txBody>
      </p:sp>
      <p:pic>
        <p:nvPicPr>
          <p:cNvPr id="11" name="Picture 10">
            <a:extLst>
              <a:ext uri="{FF2B5EF4-FFF2-40B4-BE49-F238E27FC236}">
                <a16:creationId xmlns:a16="http://schemas.microsoft.com/office/drawing/2014/main" id="{E2DF671D-3EF5-6E85-6EB3-0D04558FB4CF}"/>
              </a:ext>
            </a:extLst>
          </p:cNvPr>
          <p:cNvPicPr>
            <a:picLocks noChangeAspect="1"/>
          </p:cNvPicPr>
          <p:nvPr userDrawn="1"/>
        </p:nvPicPr>
        <p:blipFill>
          <a:blip r:embed="rId4">
            <a:extLst>
              <a:ext uri="{28A0092B-C50C-407E-A947-70E740481C1C}">
                <a14:useLocalDpi xmlns:a14="http://schemas.microsoft.com/office/drawing/2010/main" val="0"/>
              </a:ext>
            </a:extLst>
          </a:blip>
          <a:srcRect/>
          <a:stretch/>
        </p:blipFill>
        <p:spPr>
          <a:xfrm>
            <a:off x="12772" y="4345380"/>
            <a:ext cx="3190318" cy="780114"/>
          </a:xfrm>
          <a:prstGeom prst="rect">
            <a:avLst/>
          </a:prstGeom>
        </p:spPr>
      </p:pic>
      <p:pic>
        <p:nvPicPr>
          <p:cNvPr id="5" name="Picture 4" descr="A blue and white logo&#10;&#10;Description automatically generated">
            <a:extLst>
              <a:ext uri="{FF2B5EF4-FFF2-40B4-BE49-F238E27FC236}">
                <a16:creationId xmlns:a16="http://schemas.microsoft.com/office/drawing/2014/main" id="{852FBE8F-B070-8109-B023-E060794B8B5C}"/>
              </a:ext>
            </a:extLst>
          </p:cNvPr>
          <p:cNvPicPr>
            <a:picLocks noChangeAspect="1"/>
          </p:cNvPicPr>
          <p:nvPr userDrawn="1"/>
        </p:nvPicPr>
        <p:blipFill>
          <a:blip r:embed="rId5" cstate="screen">
            <a:extLst>
              <a:ext uri="{28A0092B-C50C-407E-A947-70E740481C1C}">
                <a14:useLocalDpi xmlns:a14="http://schemas.microsoft.com/office/drawing/2010/main"/>
              </a:ext>
            </a:extLst>
          </a:blip>
          <a:stretch>
            <a:fillRect/>
          </a:stretch>
        </p:blipFill>
        <p:spPr>
          <a:xfrm>
            <a:off x="8586864" y="4586993"/>
            <a:ext cx="465538" cy="465538"/>
          </a:xfrm>
          <a:prstGeom prst="rect">
            <a:avLst/>
          </a:prstGeom>
        </p:spPr>
      </p:pic>
    </p:spTree>
    <p:extLst>
      <p:ext uri="{BB962C8B-B14F-4D97-AF65-F5344CB8AC3E}">
        <p14:creationId xmlns:p14="http://schemas.microsoft.com/office/powerpoint/2010/main" val="935790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7" name="Picture 6" descr="A yellow and black background&#10;&#10;Description automatically generated">
            <a:extLst>
              <a:ext uri="{FF2B5EF4-FFF2-40B4-BE49-F238E27FC236}">
                <a16:creationId xmlns:a16="http://schemas.microsoft.com/office/drawing/2014/main" id="{D98C54E4-BBD9-B9A8-144E-B0B8FB8E9DE4}"/>
              </a:ext>
            </a:extLst>
          </p:cNvPr>
          <p:cNvPicPr>
            <a:picLocks noChangeAspect="1"/>
          </p:cNvPicPr>
          <p:nvPr userDrawn="1"/>
        </p:nvPicPr>
        <p:blipFill rotWithShape="1">
          <a:blip r:embed="rId2" cstate="screen">
            <a:extLst>
              <a:ext uri="{BEBA8EAE-BF5A-486C-A8C5-ECC9F3942E4B}">
                <a14:imgProps xmlns:a14="http://schemas.microsoft.com/office/drawing/2010/main">
                  <a14:imgLayer r:embed="rId3">
                    <a14:imgEffect>
                      <a14:brightnessContrast contrast="-20000"/>
                    </a14:imgEffect>
                  </a14:imgLayer>
                </a14:imgProps>
              </a:ext>
              <a:ext uri="{28A0092B-C50C-407E-A947-70E740481C1C}">
                <a14:useLocalDpi xmlns:a14="http://schemas.microsoft.com/office/drawing/2010/main"/>
              </a:ext>
            </a:extLst>
          </a:blip>
          <a:srcRect r="34111"/>
          <a:stretch/>
        </p:blipFill>
        <p:spPr>
          <a:xfrm>
            <a:off x="5978978" y="4293031"/>
            <a:ext cx="3165022" cy="893031"/>
          </a:xfrm>
          <a:prstGeom prst="rect">
            <a:avLst/>
          </a:prstGeom>
        </p:spPr>
      </p:pic>
      <p:sp>
        <p:nvSpPr>
          <p:cNvPr id="2" name="Title 1">
            <a:extLst>
              <a:ext uri="{FF2B5EF4-FFF2-40B4-BE49-F238E27FC236}">
                <a16:creationId xmlns:a16="http://schemas.microsoft.com/office/drawing/2014/main" id="{D600BD2A-E58A-12B7-BFDE-DEFA70545B20}"/>
              </a:ext>
            </a:extLst>
          </p:cNvPr>
          <p:cNvSpPr>
            <a:spLocks noGrp="1"/>
          </p:cNvSpPr>
          <p:nvPr>
            <p:ph type="title"/>
          </p:nvPr>
        </p:nvSpPr>
        <p:spPr>
          <a:xfrm>
            <a:off x="255814" y="273844"/>
            <a:ext cx="8281307" cy="994172"/>
          </a:xfrm>
        </p:spPr>
        <p:txBody>
          <a:bodyPr>
            <a:normAutofit/>
          </a:bodyPr>
          <a:lstStyle>
            <a:lvl1pPr>
              <a:defRPr sz="2700" b="1">
                <a:solidFill>
                  <a:schemeClr val="tx2"/>
                </a:solidFill>
              </a:defRPr>
            </a:lvl1pPr>
          </a:lstStyle>
          <a:p>
            <a:r>
              <a:rPr lang="en-US"/>
              <a:t>Click to edit Master title style</a:t>
            </a:r>
            <a:endParaRPr lang="en-PH"/>
          </a:p>
        </p:txBody>
      </p:sp>
      <p:sp>
        <p:nvSpPr>
          <p:cNvPr id="3" name="Content Placeholder 2">
            <a:extLst>
              <a:ext uri="{FF2B5EF4-FFF2-40B4-BE49-F238E27FC236}">
                <a16:creationId xmlns:a16="http://schemas.microsoft.com/office/drawing/2014/main" id="{A7A4558B-5F9B-1B2A-F0DE-2EFB049E62D1}"/>
              </a:ext>
            </a:extLst>
          </p:cNvPr>
          <p:cNvSpPr>
            <a:spLocks noGrp="1"/>
          </p:cNvSpPr>
          <p:nvPr>
            <p:ph idx="1"/>
          </p:nvPr>
        </p:nvSpPr>
        <p:spPr>
          <a:xfrm>
            <a:off x="255814" y="1369219"/>
            <a:ext cx="8281307" cy="3104810"/>
          </a:xfrm>
        </p:spPr>
        <p:txBody>
          <a:bodyPr/>
          <a:lstStyle>
            <a:lvl1pPr>
              <a:lnSpc>
                <a:spcPct val="100000"/>
              </a:lnSpc>
              <a:defRPr sz="1500">
                <a:latin typeface="Segoe UI" panose="020B0502040204020203" pitchFamily="34" charset="0"/>
                <a:cs typeface="Segoe UI" panose="020B0502040204020203" pitchFamily="34" charset="0"/>
              </a:defRPr>
            </a:lvl1pPr>
            <a:lvl2pPr>
              <a:lnSpc>
                <a:spcPct val="100000"/>
              </a:lnSpc>
              <a:defRPr sz="1500">
                <a:latin typeface="Segoe UI" panose="020B0502040204020203" pitchFamily="34" charset="0"/>
                <a:cs typeface="Segoe UI" panose="020B0502040204020203" pitchFamily="34" charset="0"/>
              </a:defRPr>
            </a:lvl2pPr>
            <a:lvl3pPr>
              <a:lnSpc>
                <a:spcPct val="100000"/>
              </a:lnSpc>
              <a:defRPr sz="1350">
                <a:latin typeface="Segoe UI" panose="020B0502040204020203" pitchFamily="34" charset="0"/>
                <a:cs typeface="Segoe UI" panose="020B0502040204020203" pitchFamily="34" charset="0"/>
              </a:defRPr>
            </a:lvl3pPr>
            <a:lvl4pPr>
              <a:lnSpc>
                <a:spcPct val="100000"/>
              </a:lnSpc>
              <a:defRPr>
                <a:latin typeface="Segoe UI" panose="020B0502040204020203" pitchFamily="34" charset="0"/>
                <a:cs typeface="Segoe UI" panose="020B0502040204020203" pitchFamily="34" charset="0"/>
              </a:defRPr>
            </a:lvl4pPr>
            <a:lvl5pPr>
              <a:lnSpc>
                <a:spcPct val="100000"/>
              </a:lnSpc>
              <a:defRPr>
                <a:latin typeface="Segoe UI" panose="020B0502040204020203" pitchFamily="34" charset="0"/>
                <a:cs typeface="Segoe UI" panose="020B050204020402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6" name="Slide Number Placeholder 5">
            <a:extLst>
              <a:ext uri="{FF2B5EF4-FFF2-40B4-BE49-F238E27FC236}">
                <a16:creationId xmlns:a16="http://schemas.microsoft.com/office/drawing/2014/main" id="{50E0ED74-28F0-4005-7C6F-12FACC50E63B}"/>
              </a:ext>
            </a:extLst>
          </p:cNvPr>
          <p:cNvSpPr>
            <a:spLocks noGrp="1"/>
          </p:cNvSpPr>
          <p:nvPr>
            <p:ph type="sldNum" sz="quarter" idx="12"/>
          </p:nvPr>
        </p:nvSpPr>
        <p:spPr/>
        <p:txBody>
          <a:bodyPr/>
          <a:lstStyle>
            <a:lvl1pPr>
              <a:defRPr b="1">
                <a:solidFill>
                  <a:schemeClr val="bg1"/>
                </a:solidFill>
              </a:defRPr>
            </a:lvl1pPr>
          </a:lstStyle>
          <a:p>
            <a:fld id="{B0B62103-952B-40C5-BACA-0A1B9F9E1991}" type="slidenum">
              <a:rPr lang="en-PH" smtClean="0"/>
              <a:pPr/>
              <a:t>‹#›</a:t>
            </a:fld>
            <a:endParaRPr lang="en-PH"/>
          </a:p>
        </p:txBody>
      </p:sp>
      <p:pic>
        <p:nvPicPr>
          <p:cNvPr id="9" name="Picture 8">
            <a:extLst>
              <a:ext uri="{FF2B5EF4-FFF2-40B4-BE49-F238E27FC236}">
                <a16:creationId xmlns:a16="http://schemas.microsoft.com/office/drawing/2014/main" id="{CBB40F2E-1D1D-55B1-29BF-87CFD40B6A5F}"/>
              </a:ext>
            </a:extLst>
          </p:cNvPr>
          <p:cNvPicPr>
            <a:picLocks noChangeAspect="1"/>
          </p:cNvPicPr>
          <p:nvPr userDrawn="1"/>
        </p:nvPicPr>
        <p:blipFill>
          <a:blip r:embed="rId4">
            <a:extLst>
              <a:ext uri="{28A0092B-C50C-407E-A947-70E740481C1C}">
                <a14:useLocalDpi xmlns:a14="http://schemas.microsoft.com/office/drawing/2010/main" val="0"/>
              </a:ext>
            </a:extLst>
          </a:blip>
          <a:srcRect/>
          <a:stretch/>
        </p:blipFill>
        <p:spPr>
          <a:xfrm>
            <a:off x="1" y="4351707"/>
            <a:ext cx="3218259" cy="786947"/>
          </a:xfrm>
          <a:prstGeom prst="rect">
            <a:avLst/>
          </a:prstGeom>
        </p:spPr>
      </p:pic>
      <p:pic>
        <p:nvPicPr>
          <p:cNvPr id="4" name="Picture 3" descr="A blue and white logo&#10;&#10;Description automatically generated">
            <a:extLst>
              <a:ext uri="{FF2B5EF4-FFF2-40B4-BE49-F238E27FC236}">
                <a16:creationId xmlns:a16="http://schemas.microsoft.com/office/drawing/2014/main" id="{A0CD0736-EB50-330A-55B9-C8741580A362}"/>
              </a:ext>
            </a:extLst>
          </p:cNvPr>
          <p:cNvPicPr>
            <a:picLocks noChangeAspect="1"/>
          </p:cNvPicPr>
          <p:nvPr userDrawn="1"/>
        </p:nvPicPr>
        <p:blipFill>
          <a:blip r:embed="rId5" cstate="screen">
            <a:extLst>
              <a:ext uri="{28A0092B-C50C-407E-A947-70E740481C1C}">
                <a14:useLocalDpi xmlns:a14="http://schemas.microsoft.com/office/drawing/2010/main"/>
              </a:ext>
            </a:extLst>
          </a:blip>
          <a:stretch>
            <a:fillRect/>
          </a:stretch>
        </p:blipFill>
        <p:spPr>
          <a:xfrm>
            <a:off x="8586864" y="4586993"/>
            <a:ext cx="465538" cy="465538"/>
          </a:xfrm>
          <a:prstGeom prst="rect">
            <a:avLst/>
          </a:prstGeom>
        </p:spPr>
      </p:pic>
      <p:pic>
        <p:nvPicPr>
          <p:cNvPr id="5" name="Picture 4" descr="A green and blue gradient&#10;&#10;Description automatically generated">
            <a:extLst>
              <a:ext uri="{FF2B5EF4-FFF2-40B4-BE49-F238E27FC236}">
                <a16:creationId xmlns:a16="http://schemas.microsoft.com/office/drawing/2014/main" id="{2C7E166D-ECFA-286E-2CE6-033F5000AECC}"/>
              </a:ext>
            </a:extLst>
          </p:cNvPr>
          <p:cNvPicPr>
            <a:picLocks noChangeAspect="1"/>
          </p:cNvPicPr>
          <p:nvPr userDrawn="1"/>
        </p:nvPicPr>
        <p:blipFill rotWithShape="1">
          <a:blip r:embed="rId6" cstate="screen">
            <a:extLst>
              <a:ext uri="{BEBA8EAE-BF5A-486C-A8C5-ECC9F3942E4B}">
                <a14:imgProps xmlns:a14="http://schemas.microsoft.com/office/drawing/2010/main">
                  <a14:imgLayer r:embed="rId7">
                    <a14:imgEffect>
                      <a14:brightnessContrast contrast="-20000"/>
                    </a14:imgEffect>
                  </a14:imgLayer>
                </a14:imgProps>
              </a:ext>
              <a:ext uri="{28A0092B-C50C-407E-A947-70E740481C1C}">
                <a14:useLocalDpi xmlns:a14="http://schemas.microsoft.com/office/drawing/2010/main"/>
              </a:ext>
            </a:extLst>
          </a:blip>
          <a:srcRect/>
          <a:stretch/>
        </p:blipFill>
        <p:spPr>
          <a:xfrm>
            <a:off x="5091124" y="-5944"/>
            <a:ext cx="4052876" cy="1274106"/>
          </a:xfrm>
          <a:prstGeom prst="rect">
            <a:avLst/>
          </a:prstGeom>
        </p:spPr>
      </p:pic>
    </p:spTree>
    <p:extLst>
      <p:ext uri="{BB962C8B-B14F-4D97-AF65-F5344CB8AC3E}">
        <p14:creationId xmlns:p14="http://schemas.microsoft.com/office/powerpoint/2010/main" val="2436682531"/>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F4C2120-DF8B-03EB-5E9D-019C7BA01073}"/>
              </a:ext>
            </a:extLst>
          </p:cNvPr>
          <p:cNvSpPr txBox="1"/>
          <p:nvPr>
            <p:extLst>
              <p:ext uri="{1162E1C5-73C7-4A58-AE30-91384D911F3F}">
                <p184:classification xmlns:p184="http://schemas.microsoft.com/office/powerpoint/2018/4/main" val="ftr"/>
              </p:ext>
            </p:extLst>
          </p:nvPr>
        </p:nvSpPr>
        <p:spPr>
          <a:xfrm>
            <a:off x="1700213" y="4958080"/>
            <a:ext cx="5764212" cy="121920"/>
          </a:xfrm>
          <a:prstGeom prst="rect">
            <a:avLst/>
          </a:prstGeom>
        </p:spPr>
        <p:txBody>
          <a:bodyPr horzOverflow="overflow" lIns="0" tIns="0" rIns="0" bIns="0">
            <a:spAutoFit/>
          </a:bodyPr>
          <a:lstStyle/>
          <a:p>
            <a:pPr algn="l"/>
            <a:r>
              <a:rPr lang="en-US" sz="800">
                <a:solidFill>
                  <a:srgbClr val="000000">
                    <a:alpha val="50000"/>
                  </a:srgbClr>
                </a:solidFill>
                <a:latin typeface="Aptos" panose="020B0004020202020204" pitchFamily="34" charset="0"/>
              </a:rPr>
              <a:t>INTERNAL. This information is accessible to ADB Management and Staff. It may be shared outside ADB with appropriate permission.</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8" Type="http://schemas.openxmlformats.org/officeDocument/2006/relationships/image" Target="../media/image12.svg"/><Relationship Id="rId3" Type="http://schemas.openxmlformats.org/officeDocument/2006/relationships/image" Target="../media/image7.svg"/><Relationship Id="rId7" Type="http://schemas.openxmlformats.org/officeDocument/2006/relationships/image" Target="../media/image11.svg"/><Relationship Id="rId2" Type="http://schemas.openxmlformats.org/officeDocument/2006/relationships/notesSlide" Target="../notesSlides/notesSlide2.xml"/><Relationship Id="rId1" Type="http://schemas.openxmlformats.org/officeDocument/2006/relationships/slideLayout" Target="../slideLayouts/slideLayout3.xml"/><Relationship Id="rId6" Type="http://schemas.openxmlformats.org/officeDocument/2006/relationships/image" Target="../media/image10.svg"/><Relationship Id="rId5" Type="http://schemas.openxmlformats.org/officeDocument/2006/relationships/image" Target="../media/image9.svg"/><Relationship Id="rId4" Type="http://schemas.openxmlformats.org/officeDocument/2006/relationships/image" Target="../media/image8.svg"/><Relationship Id="rId9" Type="http://schemas.openxmlformats.org/officeDocument/2006/relationships/image" Target="../media/image13.svg"/></Relationships>
</file>

<file path=ppt/slides/_rels/slide3.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notesSlide" Target="../notesSlides/notesSlide3.xml"/><Relationship Id="rId1" Type="http://schemas.openxmlformats.org/officeDocument/2006/relationships/slideLayout" Target="../slideLayouts/slideLayout3.xml"/><Relationship Id="rId5" Type="http://schemas.openxmlformats.org/officeDocument/2006/relationships/image" Target="../media/image16.svg"/><Relationship Id="rId4" Type="http://schemas.openxmlformats.org/officeDocument/2006/relationships/image" Target="../media/image15.sv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21A76651-B3B5-21F1-CC98-98819F36D734}"/>
              </a:ext>
            </a:extLst>
          </p:cNvPr>
          <p:cNvSpPr>
            <a:spLocks noGrp="1"/>
          </p:cNvSpPr>
          <p:nvPr>
            <p:ph type="ctrTitle"/>
          </p:nvPr>
        </p:nvSpPr>
        <p:spPr/>
        <p:txBody>
          <a:bodyPr lIns="91440" tIns="45720" rIns="91440" bIns="45720" anchor="b">
            <a:norm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r>
              <a:rPr lang="en-US" sz="2850">
                <a:solidFill>
                  <a:schemeClr val="bg1"/>
                </a:solidFill>
                <a:latin typeface="Segoe UI Bold"/>
                <a:cs typeface="Segoe UI Bold"/>
              </a:rPr>
              <a:t>EDRMS Utilization Report</a:t>
            </a:r>
            <a:endParaRPr lang="en-US">
              <a:solidFill>
                <a:schemeClr val="bg1"/>
              </a:solidFill>
              <a:ea typeface="Calibri"/>
              <a:cs typeface="Calibri"/>
            </a:endParaRPr>
          </a:p>
        </p:txBody>
      </p:sp>
      <p:sp>
        <p:nvSpPr>
          <p:cNvPr id="3" name="Subtitle 2">
            <a:extLst>
              <a:ext uri="{FF2B5EF4-FFF2-40B4-BE49-F238E27FC236}">
                <a16:creationId xmlns:a16="http://schemas.microsoft.com/office/drawing/2014/main" id="{FA0FF230-BDAA-521C-33FC-57FE5F9254EE}"/>
              </a:ext>
            </a:extLst>
          </p:cNvPr>
          <p:cNvSpPr>
            <a:spLocks noGrp="1"/>
          </p:cNvSpPr>
          <p:nvPr>
            <p:ph type="subTitle" idx="1"/>
          </p:nvPr>
        </p:nvSpPr>
        <p:spPr/>
        <p:txBody>
          <a:bodyPr vert="horz" lIns="68580" tIns="34290" rIns="68580" bIns="34290" rtlCol="0" anchor="t">
            <a:norm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r>
              <a:rPr lang="en-PH" dirty="0">
                <a:solidFill>
                  <a:schemeClr val="bg1"/>
                </a:solidFill>
                <a:cs typeface="Segoe UI"/>
              </a:rPr>
              <a:t>August 2026</a:t>
            </a:r>
            <a:endParaRPr lang="en-PH" dirty="0">
              <a:solidFill>
                <a:schemeClr val="bg1"/>
              </a:solidFill>
              <a:ea typeface="Calibri"/>
              <a:cs typeface="Segoe UI"/>
            </a:endParaRPr>
          </a:p>
        </p:txBody>
      </p:sp>
      <p:sp>
        <p:nvSpPr>
          <p:cNvPr id="10" name="Text 1">
            <a:extLst>
              <a:ext uri="{FF2B5EF4-FFF2-40B4-BE49-F238E27FC236}">
                <a16:creationId xmlns:a16="http://schemas.microsoft.com/office/drawing/2014/main" id="{D16B05C2-64A2-81BA-BB74-7CA424E577D1}"/>
              </a:ext>
            </a:extLst>
          </p:cNvPr>
          <p:cNvSpPr/>
          <p:nvPr/>
        </p:nvSpPr>
        <p:spPr>
          <a:xfrm>
            <a:off x="232518" y="2714354"/>
            <a:ext cx="7543800" cy="480060"/>
          </a:xfrm>
          <a:prstGeom prst="rect">
            <a:avLst/>
          </a:prstGeom>
          <a:noFill/>
          <a:ln/>
        </p:spPr>
        <p:txBody>
          <a:bodyPr wrap="square" lIns="0" tIns="0" rIns="0" bIns="0" rtlCol="0" anchor="ct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r>
              <a:rPr lang="en-US" sz="2250" dirty="0">
                <a:solidFill>
                  <a:srgbClr val="FFFFFF"/>
                </a:solidFill>
                <a:latin typeface="Segoe UI"/>
                <a:cs typeface="Segoe UI"/>
              </a:rPr>
              <a:t>Reconfirmation Workshop (R2026.4)</a:t>
            </a:r>
          </a:p>
        </p:txBody>
      </p:sp>
    </p:spTree>
    <p:extLst>
      <p:ext uri="{BB962C8B-B14F-4D97-AF65-F5344CB8AC3E}">
        <p14:creationId xmlns:p14="http://schemas.microsoft.com/office/powerpoint/2010/main" val="189502561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name="Slide 3">
    <p:bg>
      <p:bgPr>
        <a:solidFill>
          <a:srgbClr val="F1F5FA"/>
        </a:solidFill>
        <a:effectLst/>
      </p:bgPr>
    </p:bg>
    <p:spTree>
      <p:nvGrpSpPr>
        <p:cNvPr id="1" name=""/>
        <p:cNvGrpSpPr/>
        <p:nvPr/>
      </p:nvGrpSpPr>
      <p:grpSpPr>
        <a:xfrm>
          <a:off x="0" y="0"/>
          <a:ext cx="0" cy="0"/>
          <a:chOff x="0" y="0"/>
          <a:chExt cx="0" cy="0"/>
        </a:xfrm>
      </p:grpSpPr>
      <p:sp>
        <p:nvSpPr>
          <p:cNvPr id="218" name="Card 7"/>
          <p:cNvSpPr/>
          <p:nvPr/>
        </p:nvSpPr>
        <p:spPr>
          <a:xfrm>
            <a:off x="4673600" y="2171700"/>
            <a:ext cx="4165600" cy="1803400"/>
          </a:xfrm>
          <a:prstGeom prst="roundRect">
            <a:avLst>
              <a:gd name="adj" fmla="val 10000"/>
            </a:avLst>
          </a:prstGeom>
          <a:solidFill>
            <a:schemeClr val="accent2">
              <a:lumMod val="20000"/>
              <a:lumOff val="80000"/>
            </a:schemeClr>
          </a:solidFill>
          <a:ln w="12700">
            <a:solidFill>
              <a:srgbClr val="E1E8ED"/>
            </a:solidFill>
          </a:ln>
        </p:spPr>
        <p:txBody>
          <a:bodyPr/>
          <a:lstStyle/>
          <a:p>
            <a:endParaRPr lang="en-US"/>
          </a:p>
        </p:txBody>
      </p:sp>
      <p:sp>
        <p:nvSpPr>
          <p:cNvPr id="3" name="Card 3">
            <a:extLst>
              <a:ext uri="{FF2B5EF4-FFF2-40B4-BE49-F238E27FC236}">
                <a16:creationId xmlns:a16="http://schemas.microsoft.com/office/drawing/2014/main" id="{0C296876-C4ED-38E7-8A6B-084D48047EB6}"/>
              </a:ext>
            </a:extLst>
          </p:cNvPr>
          <p:cNvSpPr/>
          <p:nvPr/>
        </p:nvSpPr>
        <p:spPr>
          <a:xfrm>
            <a:off x="304800" y="3606800"/>
            <a:ext cx="4165600" cy="863600"/>
          </a:xfrm>
          <a:prstGeom prst="roundRect">
            <a:avLst>
              <a:gd name="adj" fmla="val 10000"/>
            </a:avLst>
          </a:prstGeom>
          <a:solidFill>
            <a:srgbClr val="FFFFFF"/>
          </a:solidFill>
          <a:ln w="12700">
            <a:solidFill>
              <a:srgbClr val="E1E8ED"/>
            </a:solidFill>
          </a:ln>
        </p:spPr>
        <p:txBody>
          <a:bodyPr/>
          <a:lstStyle/>
          <a:p>
            <a:endParaRPr lang="en-US"/>
          </a:p>
        </p:txBody>
      </p:sp>
      <p:sp>
        <p:nvSpPr>
          <p:cNvPr id="4" name="Text 2"/>
          <p:cNvSpPr/>
          <p:nvPr/>
        </p:nvSpPr>
        <p:spPr>
          <a:xfrm>
            <a:off x="244493" y="36794"/>
            <a:ext cx="8412480" cy="493776"/>
          </a:xfrm>
          <a:prstGeom prst="rect">
            <a:avLst/>
          </a:prstGeom>
          <a:noFill/>
          <a:ln/>
        </p:spPr>
        <p:txBody>
          <a:bodyPr wrap="square" lIns="0" tIns="0" rIns="0" bIns="0" rtlCol="0" anchor="ctr"/>
          <a:lstStyle/>
          <a:p>
            <a:pPr marL="0" indent="0">
              <a:buNone/>
            </a:pPr>
            <a:r>
              <a:rPr lang="en-US" sz="2700" b="1">
                <a:solidFill>
                  <a:schemeClr val="tx2">
                    <a:lumMod val="76000"/>
                  </a:schemeClr>
                </a:solidFill>
                <a:latin typeface="Cambria"/>
                <a:ea typeface="Cambria"/>
              </a:rPr>
              <a:t>Agenda</a:t>
            </a:r>
            <a:endParaRPr lang="en-US"/>
          </a:p>
        </p:txBody>
      </p:sp>
      <p:sp>
        <p:nvSpPr>
          <p:cNvPr id="200" name="Card 1"/>
          <p:cNvSpPr/>
          <p:nvPr/>
        </p:nvSpPr>
        <p:spPr>
          <a:xfrm>
            <a:off x="304800" y="635000"/>
            <a:ext cx="4165600" cy="863600"/>
          </a:xfrm>
          <a:prstGeom prst="roundRect">
            <a:avLst>
              <a:gd name="adj" fmla="val 10000"/>
            </a:avLst>
          </a:prstGeom>
          <a:solidFill>
            <a:srgbClr val="F0F5FA"/>
          </a:solidFill>
          <a:ln w="12700">
            <a:solidFill>
              <a:srgbClr val="D6E2EC"/>
            </a:solidFill>
          </a:ln>
        </p:spPr>
        <p:txBody>
          <a:bodyPr/>
          <a:lstStyle/>
          <a:p>
            <a:endParaRPr lang="en-US"/>
          </a:p>
        </p:txBody>
      </p:sp>
      <p:sp>
        <p:nvSpPr>
          <p:cNvPr id="201" name="Dot 1"/>
          <p:cNvSpPr/>
          <p:nvPr/>
        </p:nvSpPr>
        <p:spPr>
          <a:xfrm>
            <a:off x="482600" y="812800"/>
            <a:ext cx="508000" cy="508000"/>
          </a:xfrm>
          <a:prstGeom prst="ellipse">
            <a:avLst/>
          </a:prstGeom>
          <a:solidFill>
            <a:srgbClr val="003A70"/>
          </a:solidFill>
          <a:ln>
            <a:noFill/>
          </a:ln>
        </p:spPr>
        <p:txBody>
          <a:bodyPr/>
          <a:lstStyle/>
          <a:p>
            <a:endParaRPr lang="en-US"/>
          </a:p>
        </p:txBody>
      </p:sp>
      <p:sp>
        <p:nvSpPr>
          <p:cNvPr id="202" name="Label 1"/>
          <p:cNvSpPr txBox="1"/>
          <p:nvPr/>
        </p:nvSpPr>
        <p:spPr>
          <a:xfrm>
            <a:off x="1168400" y="736600"/>
            <a:ext cx="3124200" cy="660400"/>
          </a:xfrm>
          <a:prstGeom prst="rect">
            <a:avLst/>
          </a:prstGeom>
          <a:noFill/>
        </p:spPr>
        <p:txBody>
          <a:bodyPr wrap="square" lIns="0" tIns="0" rIns="0" bIns="0" anchor="ctr">
            <a:normAutofit/>
          </a:bodyPr>
          <a:lstStyle/>
          <a:p>
            <a:pPr marL="0" indent="0" algn="l">
              <a:spcAft>
                <a:spcPts val="200"/>
              </a:spcAft>
              <a:buNone/>
            </a:pPr>
            <a:r>
              <a:rPr lang="en-US" sz="1500" b="1" dirty="0">
                <a:solidFill>
                  <a:srgbClr val="1F3346"/>
                </a:solidFill>
                <a:latin typeface="Cambria"/>
              </a:rPr>
              <a:t>Introduction &amp; File Overview</a:t>
            </a:r>
          </a:p>
        </p:txBody>
      </p:sp>
      <p:sp>
        <p:nvSpPr>
          <p:cNvPr id="203" name="Card 2"/>
          <p:cNvSpPr/>
          <p:nvPr/>
        </p:nvSpPr>
        <p:spPr>
          <a:xfrm>
            <a:off x="304800" y="1625600"/>
            <a:ext cx="4165600" cy="863600"/>
          </a:xfrm>
          <a:prstGeom prst="roundRect">
            <a:avLst>
              <a:gd name="adj" fmla="val 10000"/>
            </a:avLst>
          </a:prstGeom>
          <a:solidFill>
            <a:srgbClr val="FFFFFF"/>
          </a:solidFill>
          <a:ln w="12700">
            <a:solidFill>
              <a:srgbClr val="E1E8ED"/>
            </a:solidFill>
          </a:ln>
        </p:spPr>
        <p:txBody>
          <a:bodyPr/>
          <a:lstStyle/>
          <a:p>
            <a:endParaRPr lang="en-US"/>
          </a:p>
        </p:txBody>
      </p:sp>
      <p:sp>
        <p:nvSpPr>
          <p:cNvPr id="204" name="Dot 2"/>
          <p:cNvSpPr/>
          <p:nvPr/>
        </p:nvSpPr>
        <p:spPr>
          <a:xfrm>
            <a:off x="482600" y="1803400"/>
            <a:ext cx="508000" cy="508000"/>
          </a:xfrm>
          <a:prstGeom prst="ellipse">
            <a:avLst/>
          </a:prstGeom>
          <a:solidFill>
            <a:srgbClr val="0072BC"/>
          </a:solidFill>
          <a:ln>
            <a:noFill/>
          </a:ln>
        </p:spPr>
        <p:txBody>
          <a:bodyPr/>
          <a:lstStyle/>
          <a:p>
            <a:endParaRPr lang="en-US"/>
          </a:p>
        </p:txBody>
      </p:sp>
      <p:sp>
        <p:nvSpPr>
          <p:cNvPr id="205" name="Label 2"/>
          <p:cNvSpPr txBox="1"/>
          <p:nvPr/>
        </p:nvSpPr>
        <p:spPr>
          <a:xfrm>
            <a:off x="1168400" y="1727200"/>
            <a:ext cx="3124200" cy="660400"/>
          </a:xfrm>
          <a:prstGeom prst="rect">
            <a:avLst/>
          </a:prstGeom>
          <a:noFill/>
        </p:spPr>
        <p:txBody>
          <a:bodyPr wrap="square" lIns="0" tIns="0" rIns="0" bIns="0" anchor="ctr">
            <a:normAutofit/>
          </a:bodyPr>
          <a:lstStyle/>
          <a:p>
            <a:pPr marL="0" indent="0" algn="l">
              <a:spcAft>
                <a:spcPts val="200"/>
              </a:spcAft>
              <a:buNone/>
            </a:pPr>
            <a:r>
              <a:rPr lang="en-US" sz="1500" b="1" dirty="0">
                <a:solidFill>
                  <a:srgbClr val="1F3346"/>
                </a:solidFill>
                <a:latin typeface="Cambria"/>
              </a:rPr>
              <a:t>Bank-wide Oversight</a:t>
            </a:r>
          </a:p>
        </p:txBody>
      </p:sp>
      <p:sp>
        <p:nvSpPr>
          <p:cNvPr id="206" name="Card 3"/>
          <p:cNvSpPr/>
          <p:nvPr/>
        </p:nvSpPr>
        <p:spPr>
          <a:xfrm>
            <a:off x="304800" y="2616200"/>
            <a:ext cx="4165600" cy="863600"/>
          </a:xfrm>
          <a:prstGeom prst="roundRect">
            <a:avLst>
              <a:gd name="adj" fmla="val 10000"/>
            </a:avLst>
          </a:prstGeom>
          <a:solidFill>
            <a:srgbClr val="FFFFFF"/>
          </a:solidFill>
          <a:ln w="12700">
            <a:solidFill>
              <a:srgbClr val="E1E8ED"/>
            </a:solidFill>
          </a:ln>
        </p:spPr>
        <p:txBody>
          <a:bodyPr/>
          <a:lstStyle/>
          <a:p>
            <a:endParaRPr lang="en-US"/>
          </a:p>
        </p:txBody>
      </p:sp>
      <p:sp>
        <p:nvSpPr>
          <p:cNvPr id="207" name="Dot 3"/>
          <p:cNvSpPr/>
          <p:nvPr/>
        </p:nvSpPr>
        <p:spPr>
          <a:xfrm>
            <a:off x="482600" y="2794000"/>
            <a:ext cx="508000" cy="508000"/>
          </a:xfrm>
          <a:prstGeom prst="ellipse">
            <a:avLst/>
          </a:prstGeom>
          <a:solidFill>
            <a:srgbClr val="17A2B8"/>
          </a:solidFill>
          <a:ln>
            <a:noFill/>
          </a:ln>
        </p:spPr>
        <p:txBody>
          <a:bodyPr/>
          <a:lstStyle/>
          <a:p>
            <a:endParaRPr lang="en-US"/>
          </a:p>
        </p:txBody>
      </p:sp>
      <p:sp>
        <p:nvSpPr>
          <p:cNvPr id="208" name="Label 3"/>
          <p:cNvSpPr txBox="1"/>
          <p:nvPr/>
        </p:nvSpPr>
        <p:spPr>
          <a:xfrm>
            <a:off x="1168400" y="2705100"/>
            <a:ext cx="3124200" cy="660400"/>
          </a:xfrm>
          <a:prstGeom prst="rect">
            <a:avLst/>
          </a:prstGeom>
          <a:noFill/>
        </p:spPr>
        <p:txBody>
          <a:bodyPr wrap="square" lIns="0" tIns="0" rIns="0" bIns="0" anchor="ctr">
            <a:normAutofit/>
          </a:bodyPr>
          <a:lstStyle/>
          <a:p>
            <a:pPr marL="0" indent="0" algn="l">
              <a:spcAft>
                <a:spcPts val="200"/>
              </a:spcAft>
              <a:buNone/>
            </a:pPr>
            <a:r>
              <a:rPr lang="en-US" sz="1500" b="1" dirty="0">
                <a:solidFill>
                  <a:srgbClr val="1F3346"/>
                </a:solidFill>
                <a:latin typeface="Cambria"/>
              </a:rPr>
              <a:t>Department Insights</a:t>
            </a:r>
          </a:p>
        </p:txBody>
      </p:sp>
      <p:sp>
        <p:nvSpPr>
          <p:cNvPr id="210" name="Dot 4"/>
          <p:cNvSpPr/>
          <p:nvPr/>
        </p:nvSpPr>
        <p:spPr>
          <a:xfrm>
            <a:off x="482600" y="3784600"/>
            <a:ext cx="508000" cy="508000"/>
          </a:xfrm>
          <a:prstGeom prst="ellipse">
            <a:avLst/>
          </a:prstGeom>
          <a:solidFill>
            <a:srgbClr val="FF6B35"/>
          </a:solidFill>
          <a:ln>
            <a:noFill/>
          </a:ln>
        </p:spPr>
        <p:txBody>
          <a:bodyPr/>
          <a:lstStyle/>
          <a:p>
            <a:endParaRPr lang="en-US"/>
          </a:p>
        </p:txBody>
      </p:sp>
      <p:sp>
        <p:nvSpPr>
          <p:cNvPr id="211" name="Label 4"/>
          <p:cNvSpPr txBox="1"/>
          <p:nvPr/>
        </p:nvSpPr>
        <p:spPr>
          <a:xfrm>
            <a:off x="1168400" y="3708400"/>
            <a:ext cx="3124200" cy="660400"/>
          </a:xfrm>
          <a:prstGeom prst="rect">
            <a:avLst/>
          </a:prstGeom>
          <a:noFill/>
        </p:spPr>
        <p:txBody>
          <a:bodyPr wrap="square" lIns="0" tIns="0" rIns="0" bIns="0" anchor="ctr">
            <a:normAutofit/>
          </a:bodyPr>
          <a:lstStyle/>
          <a:p>
            <a:pPr marL="0" indent="0" algn="l">
              <a:spcAft>
                <a:spcPts val="200"/>
              </a:spcAft>
              <a:buNone/>
            </a:pPr>
            <a:r>
              <a:rPr lang="en-US" sz="1500" b="1" dirty="0">
                <a:solidFill>
                  <a:srgbClr val="1F3346"/>
                </a:solidFill>
                <a:latin typeface="Cambria"/>
              </a:rPr>
              <a:t>Project Insights</a:t>
            </a:r>
          </a:p>
        </p:txBody>
      </p:sp>
      <p:sp>
        <p:nvSpPr>
          <p:cNvPr id="212" name="Card 5"/>
          <p:cNvSpPr/>
          <p:nvPr/>
        </p:nvSpPr>
        <p:spPr>
          <a:xfrm>
            <a:off x="4673600" y="1130300"/>
            <a:ext cx="4165600" cy="863600"/>
          </a:xfrm>
          <a:prstGeom prst="roundRect">
            <a:avLst>
              <a:gd name="adj" fmla="val 10000"/>
            </a:avLst>
          </a:prstGeom>
          <a:solidFill>
            <a:srgbClr val="FFFFFF"/>
          </a:solidFill>
          <a:ln w="12700">
            <a:solidFill>
              <a:srgbClr val="E1E8ED"/>
            </a:solidFill>
          </a:ln>
        </p:spPr>
        <p:txBody>
          <a:bodyPr/>
          <a:lstStyle/>
          <a:p>
            <a:endParaRPr lang="en-US"/>
          </a:p>
        </p:txBody>
      </p:sp>
      <p:sp>
        <p:nvSpPr>
          <p:cNvPr id="213" name="Dot 5"/>
          <p:cNvSpPr/>
          <p:nvPr/>
        </p:nvSpPr>
        <p:spPr>
          <a:xfrm>
            <a:off x="4851400" y="1308100"/>
            <a:ext cx="508000" cy="508000"/>
          </a:xfrm>
          <a:prstGeom prst="ellipse">
            <a:avLst/>
          </a:prstGeom>
          <a:solidFill>
            <a:srgbClr val="28A745"/>
          </a:solidFill>
          <a:ln>
            <a:noFill/>
          </a:ln>
        </p:spPr>
        <p:txBody>
          <a:bodyPr/>
          <a:lstStyle/>
          <a:p>
            <a:endParaRPr lang="en-US"/>
          </a:p>
        </p:txBody>
      </p:sp>
      <p:sp>
        <p:nvSpPr>
          <p:cNvPr id="214" name="Label 5"/>
          <p:cNvSpPr txBox="1"/>
          <p:nvPr/>
        </p:nvSpPr>
        <p:spPr>
          <a:xfrm>
            <a:off x="5537200" y="1231900"/>
            <a:ext cx="3124200" cy="660400"/>
          </a:xfrm>
          <a:prstGeom prst="rect">
            <a:avLst/>
          </a:prstGeom>
          <a:noFill/>
        </p:spPr>
        <p:txBody>
          <a:bodyPr wrap="square" lIns="0" tIns="0" rIns="0" bIns="0" anchor="ctr">
            <a:normAutofit/>
          </a:bodyPr>
          <a:lstStyle/>
          <a:p>
            <a:pPr marL="0" indent="0" algn="l">
              <a:spcAft>
                <a:spcPts val="200"/>
              </a:spcAft>
              <a:buNone/>
            </a:pPr>
            <a:r>
              <a:rPr lang="en-US" sz="1500" b="1" dirty="0">
                <a:solidFill>
                  <a:srgbClr val="1F3346"/>
                </a:solidFill>
                <a:latin typeface="Cambria"/>
              </a:rPr>
              <a:t>Institutional File Plan</a:t>
            </a:r>
          </a:p>
        </p:txBody>
      </p:sp>
      <p:sp>
        <p:nvSpPr>
          <p:cNvPr id="216" name="Dot 6"/>
          <p:cNvSpPr/>
          <p:nvPr/>
        </p:nvSpPr>
        <p:spPr>
          <a:xfrm>
            <a:off x="4851400" y="2298700"/>
            <a:ext cx="508000" cy="508000"/>
          </a:xfrm>
          <a:prstGeom prst="ellipse">
            <a:avLst/>
          </a:prstGeom>
          <a:solidFill>
            <a:srgbClr val="6F42C1"/>
          </a:solidFill>
          <a:ln>
            <a:noFill/>
          </a:ln>
        </p:spPr>
        <p:txBody>
          <a:bodyPr/>
          <a:lstStyle/>
          <a:p>
            <a:endParaRPr lang="en-US"/>
          </a:p>
        </p:txBody>
      </p:sp>
      <p:sp>
        <p:nvSpPr>
          <p:cNvPr id="217" name="Label 6"/>
          <p:cNvSpPr txBox="1"/>
          <p:nvPr/>
        </p:nvSpPr>
        <p:spPr>
          <a:xfrm>
            <a:off x="5537200" y="2222500"/>
            <a:ext cx="3124200" cy="660400"/>
          </a:xfrm>
          <a:prstGeom prst="rect">
            <a:avLst/>
          </a:prstGeom>
          <a:noFill/>
        </p:spPr>
        <p:txBody>
          <a:bodyPr wrap="square" lIns="0" tIns="0" rIns="0" bIns="0" anchor="ctr">
            <a:normAutofit/>
          </a:bodyPr>
          <a:lstStyle/>
          <a:p>
            <a:pPr marL="0" indent="0" algn="l">
              <a:spcAft>
                <a:spcPts val="200"/>
              </a:spcAft>
              <a:buNone/>
            </a:pPr>
            <a:r>
              <a:rPr lang="en-US" sz="1500" b="1" dirty="0">
                <a:solidFill>
                  <a:srgbClr val="1F3346"/>
                </a:solidFill>
                <a:latin typeface="Cambria"/>
              </a:rPr>
              <a:t>Retention and Disposal</a:t>
            </a:r>
          </a:p>
        </p:txBody>
      </p:sp>
      <p:sp>
        <p:nvSpPr>
          <p:cNvPr id="219" name="Dot 7"/>
          <p:cNvSpPr/>
          <p:nvPr/>
        </p:nvSpPr>
        <p:spPr>
          <a:xfrm>
            <a:off x="4851400" y="3289300"/>
            <a:ext cx="508000" cy="508000"/>
          </a:xfrm>
          <a:prstGeom prst="ellipse">
            <a:avLst/>
          </a:prstGeom>
          <a:solidFill>
            <a:srgbClr val="721C24"/>
          </a:solidFill>
          <a:ln>
            <a:noFill/>
          </a:ln>
        </p:spPr>
        <p:txBody>
          <a:bodyPr/>
          <a:lstStyle/>
          <a:p>
            <a:endParaRPr lang="en-US"/>
          </a:p>
        </p:txBody>
      </p:sp>
      <p:sp>
        <p:nvSpPr>
          <p:cNvPr id="220" name="Label 7"/>
          <p:cNvSpPr txBox="1"/>
          <p:nvPr/>
        </p:nvSpPr>
        <p:spPr>
          <a:xfrm>
            <a:off x="5537200" y="3213100"/>
            <a:ext cx="3124200" cy="660400"/>
          </a:xfrm>
          <a:prstGeom prst="rect">
            <a:avLst/>
          </a:prstGeom>
          <a:noFill/>
        </p:spPr>
        <p:txBody>
          <a:bodyPr wrap="square" lIns="0" tIns="0" rIns="0" bIns="0" anchor="ctr">
            <a:normAutofit/>
          </a:bodyPr>
          <a:lstStyle/>
          <a:p>
            <a:pPr marL="0" indent="0" algn="l">
              <a:spcAft>
                <a:spcPts val="200"/>
              </a:spcAft>
              <a:buNone/>
            </a:pPr>
            <a:r>
              <a:rPr lang="en-US" sz="1500" b="1" dirty="0">
                <a:solidFill>
                  <a:srgbClr val="1F3346"/>
                </a:solidFill>
                <a:latin typeface="Cambria"/>
              </a:rPr>
              <a:t>Records and Archive Holdings</a:t>
            </a:r>
          </a:p>
        </p:txBody>
      </p:sp>
      <p:pic>
        <p:nvPicPr>
          <p:cNvPr id="221" name="Graphic 221" descr="File overview"/>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84200" y="914400"/>
            <a:ext cx="304800" cy="304800"/>
          </a:xfrm>
          <a:prstGeom prst="rect">
            <a:avLst/>
          </a:prstGeom>
        </p:spPr>
      </p:pic>
      <p:pic>
        <p:nvPicPr>
          <p:cNvPr id="222" name="Graphic 222" descr="Bank-wide oversight"/>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84200" y="1905000"/>
            <a:ext cx="304800" cy="304800"/>
          </a:xfrm>
          <a:prstGeom prst="rect">
            <a:avLst/>
          </a:prstGeom>
        </p:spPr>
      </p:pic>
      <p:pic>
        <p:nvPicPr>
          <p:cNvPr id="223" name="Graphic 223" descr="Department insights"/>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84200" y="2895600"/>
            <a:ext cx="304800" cy="304800"/>
          </a:xfrm>
          <a:prstGeom prst="rect">
            <a:avLst/>
          </a:prstGeom>
        </p:spPr>
      </p:pic>
      <p:pic>
        <p:nvPicPr>
          <p:cNvPr id="224" name="Graphic 224" descr="Project insights"/>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584200" y="3886200"/>
            <a:ext cx="304800" cy="304800"/>
          </a:xfrm>
          <a:prstGeom prst="rect">
            <a:avLst/>
          </a:prstGeom>
        </p:spPr>
      </p:pic>
      <p:pic>
        <p:nvPicPr>
          <p:cNvPr id="225" name="Graphic 225" descr="Institutional file plan"/>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4953000" y="1409700"/>
            <a:ext cx="304800" cy="304800"/>
          </a:xfrm>
          <a:prstGeom prst="rect">
            <a:avLst/>
          </a:prstGeom>
        </p:spPr>
      </p:pic>
      <p:pic>
        <p:nvPicPr>
          <p:cNvPr id="226" name="Graphic 226" descr="Retention and disposal"/>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4953000" y="2400300"/>
            <a:ext cx="304800" cy="304800"/>
          </a:xfrm>
          <a:prstGeom prst="rect">
            <a:avLst/>
          </a:prstGeom>
        </p:spPr>
      </p:pic>
      <p:pic>
        <p:nvPicPr>
          <p:cNvPr id="227" name="Graphic 227" descr="Records and archive holdings"/>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4953000" y="3390900"/>
            <a:ext cx="304800" cy="304800"/>
          </a:xfrm>
          <a:prstGeom prst="rect">
            <a:avLst/>
          </a:prstGeom>
        </p:spPr>
      </p:pic>
    </p:spTree>
    <p:extLst>
      <p:ext uri="{BB962C8B-B14F-4D97-AF65-F5344CB8AC3E}">
        <p14:creationId xmlns:p14="http://schemas.microsoft.com/office/powerpoint/2010/main" val="20141960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36" name="Shape 9">
            <a:extLst>
              <a:ext uri="{FF2B5EF4-FFF2-40B4-BE49-F238E27FC236}">
                <a16:creationId xmlns:a16="http://schemas.microsoft.com/office/drawing/2014/main" id="{0DBF04C0-E18B-43E2-8F60-57442E606C7B}"/>
              </a:ext>
            </a:extLst>
          </p:cNvPr>
          <p:cNvSpPr/>
          <p:nvPr/>
        </p:nvSpPr>
        <p:spPr>
          <a:xfrm>
            <a:off x="-8958" y="3646176"/>
            <a:ext cx="9152958" cy="834499"/>
          </a:xfrm>
          <a:prstGeom prst="roundRect">
            <a:avLst>
              <a:gd name="adj" fmla="val 5882"/>
            </a:avLst>
          </a:prstGeom>
          <a:solidFill>
            <a:srgbClr val="D1FAE5"/>
          </a:solidFill>
          <a:ln w="11430">
            <a:solidFill>
              <a:srgbClr val="6EE7B7"/>
            </a:solidFill>
            <a:prstDash val="solid"/>
          </a:ln>
        </p:spPr>
        <p:txBody>
          <a:bodyPr/>
          <a:lstStyle/>
          <a:p>
            <a:endParaRPr lang="en-PH"/>
          </a:p>
        </p:txBody>
      </p:sp>
      <p:sp>
        <p:nvSpPr>
          <p:cNvPr id="4" name="Text 2"/>
          <p:cNvSpPr/>
          <p:nvPr/>
        </p:nvSpPr>
        <p:spPr>
          <a:xfrm>
            <a:off x="198186" y="93986"/>
            <a:ext cx="8412480" cy="493776"/>
          </a:xfrm>
          <a:prstGeom prst="rect">
            <a:avLst/>
          </a:prstGeom>
          <a:noFill/>
          <a:ln/>
        </p:spPr>
        <p:txBody>
          <a:bodyPr wrap="square" lIns="0" tIns="0" rIns="0" bIns="0" rtlCol="0" anchor="ctr"/>
          <a:lstStyle/>
          <a:p>
            <a:pPr marL="0" indent="0">
              <a:buNone/>
            </a:pPr>
            <a:r>
              <a:rPr lang="en-US" sz="2700" b="1" dirty="0">
                <a:solidFill>
                  <a:schemeClr val="tx2">
                    <a:lumMod val="76000"/>
                  </a:schemeClr>
                </a:solidFill>
                <a:latin typeface="Cambria"/>
                <a:ea typeface="Cambria"/>
                <a:cs typeface="Cambria" pitchFamily="34" charset="-120"/>
              </a:rPr>
              <a:t>Introduction &amp; File Overview</a:t>
            </a:r>
            <a:endParaRPr lang="en-US" sz="2700" dirty="0">
              <a:solidFill>
                <a:schemeClr val="tx2">
                  <a:lumMod val="76000"/>
                </a:schemeClr>
              </a:solidFill>
              <a:latin typeface="Cambria"/>
              <a:ea typeface="Cambria"/>
              <a:cs typeface="Calibri"/>
            </a:endParaRPr>
          </a:p>
        </p:txBody>
      </p:sp>
      <p:sp>
        <p:nvSpPr>
          <p:cNvPr id="16" name="Text 47">
            <a:extLst>
              <a:ext uri="{FF2B5EF4-FFF2-40B4-BE49-F238E27FC236}">
                <a16:creationId xmlns:a16="http://schemas.microsoft.com/office/drawing/2014/main" id="{AD7FDED3-552C-991E-5075-1CE456E19947}"/>
              </a:ext>
            </a:extLst>
          </p:cNvPr>
          <p:cNvSpPr/>
          <p:nvPr/>
        </p:nvSpPr>
        <p:spPr>
          <a:xfrm>
            <a:off x="288465" y="3723161"/>
            <a:ext cx="3149498" cy="274320"/>
          </a:xfrm>
          <a:prstGeom prst="rect">
            <a:avLst/>
          </a:prstGeom>
          <a:noFill/>
          <a:ln/>
        </p:spPr>
        <p:txBody>
          <a:bodyPr wrap="square" rtlCol="0" anchor="ctr"/>
          <a:lstStyle/>
          <a:p>
            <a:pPr marL="0" indent="0">
              <a:buNone/>
            </a:pPr>
            <a:r>
              <a:rPr lang="en-US" sz="1200" b="1" dirty="0">
                <a:solidFill>
                  <a:srgbClr val="003D5B"/>
                </a:solidFill>
                <a:latin typeface="Calibri" pitchFamily="34" charset="0"/>
                <a:ea typeface="Calibri" pitchFamily="34" charset="-122"/>
                <a:cs typeface="Calibri" pitchFamily="34" charset="-120"/>
              </a:rPr>
              <a:t>Confirm</a:t>
            </a:r>
            <a:endParaRPr lang="en-US" sz="1200" dirty="0"/>
          </a:p>
        </p:txBody>
      </p:sp>
      <p:sp>
        <p:nvSpPr>
          <p:cNvPr id="18" name="Text 48">
            <a:extLst>
              <a:ext uri="{FF2B5EF4-FFF2-40B4-BE49-F238E27FC236}">
                <a16:creationId xmlns:a16="http://schemas.microsoft.com/office/drawing/2014/main" id="{94D78A1F-D925-4776-0BE8-DDB3ABC0E842}"/>
              </a:ext>
            </a:extLst>
          </p:cNvPr>
          <p:cNvSpPr/>
          <p:nvPr/>
        </p:nvSpPr>
        <p:spPr>
          <a:xfrm>
            <a:off x="288465" y="4015769"/>
            <a:ext cx="3131210" cy="548640"/>
          </a:xfrm>
          <a:prstGeom prst="rect">
            <a:avLst/>
          </a:prstGeom>
          <a:noFill/>
          <a:ln/>
        </p:spPr>
        <p:txBody>
          <a:bodyPr wrap="square" rtlCol="0" anchor="t"/>
          <a:lstStyle/>
          <a:p>
            <a:pPr marL="0" indent="0">
              <a:buNone/>
            </a:pPr>
            <a:r>
              <a:rPr lang="en-US" sz="1000" dirty="0">
                <a:solidFill>
                  <a:srgbClr val="333333"/>
                </a:solidFill>
                <a:latin typeface="Calibri" pitchFamily="34" charset="0"/>
                <a:ea typeface="Calibri" pitchFamily="34" charset="-122"/>
                <a:cs typeface="Calibri" pitchFamily="34" charset="-120"/>
              </a:rPr>
              <a:t>Approve correct designs to lock them.</a:t>
            </a:r>
          </a:p>
        </p:txBody>
      </p:sp>
      <p:sp>
        <p:nvSpPr>
          <p:cNvPr id="26" name="Text 51">
            <a:extLst>
              <a:ext uri="{FF2B5EF4-FFF2-40B4-BE49-F238E27FC236}">
                <a16:creationId xmlns:a16="http://schemas.microsoft.com/office/drawing/2014/main" id="{593F457E-7841-0F30-4848-6098D59D6BA4}"/>
              </a:ext>
            </a:extLst>
          </p:cNvPr>
          <p:cNvSpPr/>
          <p:nvPr/>
        </p:nvSpPr>
        <p:spPr>
          <a:xfrm>
            <a:off x="3589082" y="3738301"/>
            <a:ext cx="3149498" cy="274320"/>
          </a:xfrm>
          <a:prstGeom prst="rect">
            <a:avLst/>
          </a:prstGeom>
          <a:noFill/>
          <a:ln/>
        </p:spPr>
        <p:txBody>
          <a:bodyPr wrap="square" rtlCol="0" anchor="ctr"/>
          <a:lstStyle/>
          <a:p>
            <a:pPr marL="0" indent="0">
              <a:buNone/>
            </a:pPr>
            <a:r>
              <a:rPr lang="en-US" sz="1200" b="1" dirty="0">
                <a:solidFill>
                  <a:srgbClr val="003D5B"/>
                </a:solidFill>
                <a:latin typeface="Calibri" pitchFamily="34" charset="0"/>
                <a:ea typeface="Calibri" pitchFamily="34" charset="-122"/>
                <a:cs typeface="Calibri" pitchFamily="34" charset="-120"/>
              </a:rPr>
              <a:t>Change</a:t>
            </a:r>
            <a:endParaRPr lang="en-US" sz="1200" dirty="0"/>
          </a:p>
        </p:txBody>
      </p:sp>
      <p:sp>
        <p:nvSpPr>
          <p:cNvPr id="28" name="Text 52">
            <a:extLst>
              <a:ext uri="{FF2B5EF4-FFF2-40B4-BE49-F238E27FC236}">
                <a16:creationId xmlns:a16="http://schemas.microsoft.com/office/drawing/2014/main" id="{45CFAA6B-3EDE-31AB-7DEC-EFFACBF57BAA}"/>
              </a:ext>
            </a:extLst>
          </p:cNvPr>
          <p:cNvSpPr/>
          <p:nvPr/>
        </p:nvSpPr>
        <p:spPr>
          <a:xfrm>
            <a:off x="3589082" y="4030909"/>
            <a:ext cx="3131210" cy="548640"/>
          </a:xfrm>
          <a:prstGeom prst="rect">
            <a:avLst/>
          </a:prstGeom>
          <a:noFill/>
          <a:ln/>
        </p:spPr>
        <p:txBody>
          <a:bodyPr wrap="square" rtlCol="0" anchor="t"/>
          <a:lstStyle/>
          <a:p>
            <a:pPr marL="0" indent="0">
              <a:buNone/>
            </a:pPr>
            <a:r>
              <a:rPr lang="en-US" sz="1000" dirty="0">
                <a:solidFill>
                  <a:srgbClr val="333333"/>
                </a:solidFill>
                <a:latin typeface="Calibri" pitchFamily="34" charset="0"/>
                <a:ea typeface="Calibri" pitchFamily="34" charset="-122"/>
                <a:cs typeface="Calibri" pitchFamily="34" charset="-120"/>
              </a:rPr>
              <a:t>Mark up any mockup. Layout, wording, and grouping stay open.</a:t>
            </a:r>
          </a:p>
        </p:txBody>
      </p:sp>
      <p:sp>
        <p:nvSpPr>
          <p:cNvPr id="32" name="Text 55">
            <a:extLst>
              <a:ext uri="{FF2B5EF4-FFF2-40B4-BE49-F238E27FC236}">
                <a16:creationId xmlns:a16="http://schemas.microsoft.com/office/drawing/2014/main" id="{5733D952-09D8-F404-417D-225A2C5830A2}"/>
              </a:ext>
            </a:extLst>
          </p:cNvPr>
          <p:cNvSpPr/>
          <p:nvPr/>
        </p:nvSpPr>
        <p:spPr>
          <a:xfrm>
            <a:off x="6756868" y="3739439"/>
            <a:ext cx="3149498" cy="274320"/>
          </a:xfrm>
          <a:prstGeom prst="rect">
            <a:avLst/>
          </a:prstGeom>
          <a:noFill/>
          <a:ln/>
        </p:spPr>
        <p:txBody>
          <a:bodyPr wrap="square" rtlCol="0" anchor="ctr"/>
          <a:lstStyle/>
          <a:p>
            <a:pPr marL="0" indent="0">
              <a:buNone/>
            </a:pPr>
            <a:r>
              <a:rPr lang="en-US" sz="1200" b="1" dirty="0">
                <a:solidFill>
                  <a:srgbClr val="003D5B"/>
                </a:solidFill>
                <a:latin typeface="Calibri" pitchFamily="34" charset="0"/>
                <a:ea typeface="Calibri" pitchFamily="34" charset="-122"/>
                <a:cs typeface="Calibri" pitchFamily="34" charset="-120"/>
              </a:rPr>
              <a:t>Add</a:t>
            </a:r>
            <a:endParaRPr lang="en-US" sz="1200" dirty="0"/>
          </a:p>
        </p:txBody>
      </p:sp>
      <p:sp>
        <p:nvSpPr>
          <p:cNvPr id="34" name="Text 56">
            <a:extLst>
              <a:ext uri="{FF2B5EF4-FFF2-40B4-BE49-F238E27FC236}">
                <a16:creationId xmlns:a16="http://schemas.microsoft.com/office/drawing/2014/main" id="{A36FEA28-0BB7-4F83-A41F-8F82235D5A5D}"/>
              </a:ext>
            </a:extLst>
          </p:cNvPr>
          <p:cNvSpPr/>
          <p:nvPr/>
        </p:nvSpPr>
        <p:spPr>
          <a:xfrm>
            <a:off x="6756868" y="4032047"/>
            <a:ext cx="2272832" cy="548640"/>
          </a:xfrm>
          <a:prstGeom prst="rect">
            <a:avLst/>
          </a:prstGeom>
          <a:noFill/>
          <a:ln/>
        </p:spPr>
        <p:txBody>
          <a:bodyPr wrap="square" rtlCol="0" anchor="t"/>
          <a:lstStyle/>
          <a:p>
            <a:pPr marL="0" indent="0">
              <a:buNone/>
            </a:pPr>
            <a:r>
              <a:rPr lang="en-US" sz="1000" dirty="0">
                <a:solidFill>
                  <a:srgbClr val="333333"/>
                </a:solidFill>
                <a:latin typeface="Calibri" pitchFamily="34" charset="0"/>
                <a:ea typeface="Calibri" pitchFamily="34" charset="-122"/>
                <a:cs typeface="Calibri" pitchFamily="34" charset="-120"/>
              </a:rPr>
              <a:t>Flag anything missing. We confirm feasibility before committing.</a:t>
            </a:r>
          </a:p>
        </p:txBody>
      </p:sp>
      <p:sp>
        <p:nvSpPr>
          <p:cNvPr id="38" name="Text 44">
            <a:extLst>
              <a:ext uri="{FF2B5EF4-FFF2-40B4-BE49-F238E27FC236}">
                <a16:creationId xmlns:a16="http://schemas.microsoft.com/office/drawing/2014/main" id="{9D255077-BBD8-56BC-4180-DEDFA8CF0D63}"/>
              </a:ext>
            </a:extLst>
          </p:cNvPr>
          <p:cNvSpPr/>
          <p:nvPr/>
        </p:nvSpPr>
        <p:spPr>
          <a:xfrm>
            <a:off x="508888" y="3442976"/>
            <a:ext cx="6350000" cy="203200"/>
          </a:xfrm>
          <a:prstGeom prst="rect">
            <a:avLst/>
          </a:prstGeom>
          <a:noFill/>
          <a:ln/>
        </p:spPr>
        <p:txBody>
          <a:bodyPr wrap="square" rtlCol="0" anchor="ctr"/>
          <a:lstStyle/>
          <a:p>
            <a:pPr marL="0" indent="0">
              <a:buNone/>
            </a:pPr>
            <a:r>
              <a:rPr lang="en-US" sz="1200" b="1" kern="0" spc="140" dirty="0">
                <a:solidFill>
                  <a:srgbClr val="009B8A"/>
                </a:solidFill>
                <a:latin typeface="Calibri" pitchFamily="34" charset="0"/>
                <a:ea typeface="Calibri" pitchFamily="34" charset="-122"/>
                <a:cs typeface="Calibri" pitchFamily="34" charset="-120"/>
              </a:rPr>
              <a:t>WHAT WE NEED FROM YOU</a:t>
            </a:r>
          </a:p>
        </p:txBody>
      </p:sp>
      <p:sp>
        <p:nvSpPr>
          <p:cNvPr id="40" name="Shape 45">
            <a:extLst>
              <a:ext uri="{FF2B5EF4-FFF2-40B4-BE49-F238E27FC236}">
                <a16:creationId xmlns:a16="http://schemas.microsoft.com/office/drawing/2014/main" id="{46BC66C1-73ED-21C8-6B97-ED3AA15C58FE}"/>
              </a:ext>
            </a:extLst>
          </p:cNvPr>
          <p:cNvSpPr/>
          <p:nvPr/>
        </p:nvSpPr>
        <p:spPr>
          <a:xfrm>
            <a:off x="65201" y="3730129"/>
            <a:ext cx="256032" cy="256032"/>
          </a:xfrm>
          <a:prstGeom prst="ellipse">
            <a:avLst/>
          </a:prstGeom>
          <a:solidFill>
            <a:srgbClr val="009B8A"/>
          </a:solidFill>
          <a:ln/>
        </p:spPr>
        <p:txBody>
          <a:bodyPr/>
          <a:lstStyle/>
          <a:p>
            <a:endParaRPr lang="en-PH"/>
          </a:p>
        </p:txBody>
      </p:sp>
      <p:sp>
        <p:nvSpPr>
          <p:cNvPr id="42" name="Text 46">
            <a:extLst>
              <a:ext uri="{FF2B5EF4-FFF2-40B4-BE49-F238E27FC236}">
                <a16:creationId xmlns:a16="http://schemas.microsoft.com/office/drawing/2014/main" id="{1C85CDF2-3EC8-FDB8-01F7-0DC4DA00B358}"/>
              </a:ext>
            </a:extLst>
          </p:cNvPr>
          <p:cNvSpPr/>
          <p:nvPr/>
        </p:nvSpPr>
        <p:spPr>
          <a:xfrm>
            <a:off x="65201" y="3748417"/>
            <a:ext cx="256032" cy="219456"/>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46" name="Shape 49">
            <a:extLst>
              <a:ext uri="{FF2B5EF4-FFF2-40B4-BE49-F238E27FC236}">
                <a16:creationId xmlns:a16="http://schemas.microsoft.com/office/drawing/2014/main" id="{8661AFA4-AE6F-9EFF-B6AA-15C28592F58C}"/>
              </a:ext>
            </a:extLst>
          </p:cNvPr>
          <p:cNvSpPr/>
          <p:nvPr/>
        </p:nvSpPr>
        <p:spPr>
          <a:xfrm>
            <a:off x="3309947" y="3748583"/>
            <a:ext cx="256032" cy="256032"/>
          </a:xfrm>
          <a:prstGeom prst="ellipse">
            <a:avLst/>
          </a:prstGeom>
          <a:solidFill>
            <a:srgbClr val="009B8A"/>
          </a:solidFill>
          <a:ln/>
        </p:spPr>
        <p:txBody>
          <a:bodyPr/>
          <a:lstStyle/>
          <a:p>
            <a:endParaRPr lang="en-PH"/>
          </a:p>
        </p:txBody>
      </p:sp>
      <p:sp>
        <p:nvSpPr>
          <p:cNvPr id="48" name="Text 50">
            <a:extLst>
              <a:ext uri="{FF2B5EF4-FFF2-40B4-BE49-F238E27FC236}">
                <a16:creationId xmlns:a16="http://schemas.microsoft.com/office/drawing/2014/main" id="{78126EEE-BC03-0196-1AF4-4D6540A55FE7}"/>
              </a:ext>
            </a:extLst>
          </p:cNvPr>
          <p:cNvSpPr/>
          <p:nvPr/>
        </p:nvSpPr>
        <p:spPr>
          <a:xfrm>
            <a:off x="3309947" y="3766871"/>
            <a:ext cx="256032" cy="219456"/>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50" name="Shape 53">
            <a:extLst>
              <a:ext uri="{FF2B5EF4-FFF2-40B4-BE49-F238E27FC236}">
                <a16:creationId xmlns:a16="http://schemas.microsoft.com/office/drawing/2014/main" id="{A06854A9-7769-1434-49A1-3B73669ADB27}"/>
              </a:ext>
            </a:extLst>
          </p:cNvPr>
          <p:cNvSpPr/>
          <p:nvPr/>
        </p:nvSpPr>
        <p:spPr>
          <a:xfrm>
            <a:off x="6500836" y="3759737"/>
            <a:ext cx="256032" cy="256032"/>
          </a:xfrm>
          <a:prstGeom prst="ellipse">
            <a:avLst/>
          </a:prstGeom>
          <a:solidFill>
            <a:srgbClr val="009B8A"/>
          </a:solidFill>
          <a:ln/>
        </p:spPr>
        <p:txBody>
          <a:bodyPr/>
          <a:lstStyle/>
          <a:p>
            <a:endParaRPr lang="en-PH"/>
          </a:p>
        </p:txBody>
      </p:sp>
      <p:sp>
        <p:nvSpPr>
          <p:cNvPr id="52" name="Text 54">
            <a:extLst>
              <a:ext uri="{FF2B5EF4-FFF2-40B4-BE49-F238E27FC236}">
                <a16:creationId xmlns:a16="http://schemas.microsoft.com/office/drawing/2014/main" id="{D9515F8B-E54A-5B9E-6D0D-3D9A68161233}"/>
              </a:ext>
            </a:extLst>
          </p:cNvPr>
          <p:cNvSpPr/>
          <p:nvPr/>
        </p:nvSpPr>
        <p:spPr>
          <a:xfrm>
            <a:off x="6500836" y="3778025"/>
            <a:ext cx="256032" cy="219456"/>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90" name="Shape 25">
            <a:extLst>
              <a:ext uri="{FF2B5EF4-FFF2-40B4-BE49-F238E27FC236}">
                <a16:creationId xmlns:a16="http://schemas.microsoft.com/office/drawing/2014/main" id="{FFC99351-2B26-EF32-8C57-363A8550D1E9}"/>
              </a:ext>
            </a:extLst>
          </p:cNvPr>
          <p:cNvSpPr/>
          <p:nvPr/>
        </p:nvSpPr>
        <p:spPr>
          <a:xfrm>
            <a:off x="304800" y="1984248"/>
            <a:ext cx="8320811" cy="1269952"/>
          </a:xfrm>
          <a:prstGeom prst="rect">
            <a:avLst/>
          </a:prstGeom>
          <a:solidFill>
            <a:srgbClr val="F4F7F8"/>
          </a:solidFill>
          <a:ln w="12700">
            <a:solidFill>
              <a:srgbClr val="D8DEE1"/>
            </a:solidFill>
            <a:prstDash val="solid"/>
          </a:ln>
        </p:spPr>
        <p:txBody>
          <a:bodyPr/>
          <a:lstStyle/>
          <a:p>
            <a:endParaRPr lang="en-PH" sz="1000"/>
          </a:p>
        </p:txBody>
      </p:sp>
      <p:sp>
        <p:nvSpPr>
          <p:cNvPr id="92" name="Text 26">
            <a:extLst>
              <a:ext uri="{FF2B5EF4-FFF2-40B4-BE49-F238E27FC236}">
                <a16:creationId xmlns:a16="http://schemas.microsoft.com/office/drawing/2014/main" id="{EA5298CA-7DB6-5F41-957B-69D56C106B7C}"/>
              </a:ext>
            </a:extLst>
          </p:cNvPr>
          <p:cNvSpPr/>
          <p:nvPr/>
        </p:nvSpPr>
        <p:spPr>
          <a:xfrm>
            <a:off x="496823" y="2085848"/>
            <a:ext cx="3429000" cy="178308"/>
          </a:xfrm>
          <a:prstGeom prst="rect">
            <a:avLst/>
          </a:prstGeom>
          <a:noFill/>
          <a:ln/>
        </p:spPr>
        <p:txBody>
          <a:bodyPr wrap="square" rtlCol="0" anchor="ctr"/>
          <a:lstStyle/>
          <a:p>
            <a:pPr marL="0" indent="0">
              <a:buNone/>
            </a:pPr>
            <a:r>
              <a:rPr lang="en-US" sz="1200" b="1" kern="0" spc="105" dirty="0">
                <a:solidFill>
                  <a:srgbClr val="003D5B"/>
                </a:solidFill>
                <a:latin typeface="Calibri" pitchFamily="34" charset="0"/>
                <a:ea typeface="Calibri" pitchFamily="34" charset="-122"/>
                <a:cs typeface="Calibri" pitchFamily="34" charset="-120"/>
              </a:rPr>
              <a:t>WHAT THE HIGHLIGHTED ROWS MEAN</a:t>
            </a:r>
          </a:p>
        </p:txBody>
      </p:sp>
      <p:sp>
        <p:nvSpPr>
          <p:cNvPr id="94" name="Shape 28">
            <a:extLst>
              <a:ext uri="{FF2B5EF4-FFF2-40B4-BE49-F238E27FC236}">
                <a16:creationId xmlns:a16="http://schemas.microsoft.com/office/drawing/2014/main" id="{046ECE91-57AB-F768-878A-9F248B3055F7}"/>
              </a:ext>
            </a:extLst>
          </p:cNvPr>
          <p:cNvSpPr/>
          <p:nvPr/>
        </p:nvSpPr>
        <p:spPr>
          <a:xfrm>
            <a:off x="510539" y="2327148"/>
            <a:ext cx="452628" cy="246888"/>
          </a:xfrm>
          <a:prstGeom prst="rect">
            <a:avLst/>
          </a:prstGeom>
          <a:solidFill>
            <a:srgbClr val="FFFFFF"/>
          </a:solidFill>
          <a:ln w="12700">
            <a:solidFill>
              <a:srgbClr val="C9D2D7"/>
            </a:solidFill>
            <a:prstDash val="solid"/>
          </a:ln>
        </p:spPr>
        <p:txBody>
          <a:bodyPr/>
          <a:lstStyle/>
          <a:p>
            <a:endParaRPr lang="en-PH" sz="1350"/>
          </a:p>
        </p:txBody>
      </p:sp>
      <p:sp>
        <p:nvSpPr>
          <p:cNvPr id="96" name="Text 29">
            <a:extLst>
              <a:ext uri="{FF2B5EF4-FFF2-40B4-BE49-F238E27FC236}">
                <a16:creationId xmlns:a16="http://schemas.microsoft.com/office/drawing/2014/main" id="{E50CB96A-52CA-977C-290F-B76F42708C94}"/>
              </a:ext>
            </a:extLst>
          </p:cNvPr>
          <p:cNvSpPr/>
          <p:nvPr/>
        </p:nvSpPr>
        <p:spPr>
          <a:xfrm>
            <a:off x="1045463" y="2327148"/>
            <a:ext cx="651510" cy="205740"/>
          </a:xfrm>
          <a:prstGeom prst="rect">
            <a:avLst/>
          </a:prstGeom>
          <a:noFill/>
          <a:ln/>
        </p:spPr>
        <p:txBody>
          <a:bodyPr wrap="square" rtlCol="0" anchor="ctr"/>
          <a:lstStyle/>
          <a:p>
            <a:r>
              <a:rPr lang="en-US" sz="1000" b="1" dirty="0">
                <a:solidFill>
                  <a:srgbClr val="003D5B"/>
                </a:solidFill>
                <a:latin typeface="Calibri" pitchFamily="34" charset="0"/>
                <a:ea typeface="Calibri" pitchFamily="34" charset="-122"/>
                <a:cs typeface="Calibri" pitchFamily="34" charset="-120"/>
              </a:rPr>
              <a:t>No fill</a:t>
            </a:r>
            <a:endParaRPr lang="en-US" sz="1000" dirty="0"/>
          </a:p>
        </p:txBody>
      </p:sp>
      <p:sp>
        <p:nvSpPr>
          <p:cNvPr id="98" name="Text 30">
            <a:extLst>
              <a:ext uri="{FF2B5EF4-FFF2-40B4-BE49-F238E27FC236}">
                <a16:creationId xmlns:a16="http://schemas.microsoft.com/office/drawing/2014/main" id="{B0342C46-CF14-14A3-E2E0-BC35FF117C42}"/>
              </a:ext>
            </a:extLst>
          </p:cNvPr>
          <p:cNvSpPr/>
          <p:nvPr/>
        </p:nvSpPr>
        <p:spPr>
          <a:xfrm>
            <a:off x="1744979" y="2327148"/>
            <a:ext cx="3086100" cy="205740"/>
          </a:xfrm>
          <a:prstGeom prst="rect">
            <a:avLst/>
          </a:prstGeom>
          <a:noFill/>
          <a:ln/>
        </p:spPr>
        <p:txBody>
          <a:bodyPr wrap="square" rtlCol="0" anchor="ctr"/>
          <a:lstStyle/>
          <a:p>
            <a:pPr marL="0" indent="0">
              <a:buNone/>
            </a:pPr>
            <a:r>
              <a:rPr lang="en-US" sz="1000" dirty="0">
                <a:solidFill>
                  <a:srgbClr val="333333"/>
                </a:solidFill>
                <a:latin typeface="Calibri" pitchFamily="34" charset="0"/>
                <a:ea typeface="Calibri" pitchFamily="34" charset="-122"/>
                <a:cs typeface="Calibri" pitchFamily="34" charset="-120"/>
              </a:rPr>
              <a:t>Built as requested.</a:t>
            </a:r>
          </a:p>
        </p:txBody>
      </p:sp>
      <p:sp>
        <p:nvSpPr>
          <p:cNvPr id="102" name="Shape 32">
            <a:extLst>
              <a:ext uri="{FF2B5EF4-FFF2-40B4-BE49-F238E27FC236}">
                <a16:creationId xmlns:a16="http://schemas.microsoft.com/office/drawing/2014/main" id="{7B4A5185-3C24-7BE6-2FBC-CB8678967F01}"/>
              </a:ext>
            </a:extLst>
          </p:cNvPr>
          <p:cNvSpPr/>
          <p:nvPr/>
        </p:nvSpPr>
        <p:spPr>
          <a:xfrm>
            <a:off x="510539" y="2799032"/>
            <a:ext cx="452628" cy="246888"/>
          </a:xfrm>
          <a:prstGeom prst="rect">
            <a:avLst/>
          </a:prstGeom>
          <a:solidFill>
            <a:srgbClr val="DBEEF4"/>
          </a:solidFill>
          <a:ln w="12700">
            <a:solidFill>
              <a:srgbClr val="8FBFD4"/>
            </a:solidFill>
            <a:prstDash val="solid"/>
          </a:ln>
        </p:spPr>
        <p:txBody>
          <a:bodyPr/>
          <a:lstStyle/>
          <a:p>
            <a:endParaRPr lang="en-PH" sz="1350"/>
          </a:p>
        </p:txBody>
      </p:sp>
      <p:sp>
        <p:nvSpPr>
          <p:cNvPr id="104" name="Text 33">
            <a:extLst>
              <a:ext uri="{FF2B5EF4-FFF2-40B4-BE49-F238E27FC236}">
                <a16:creationId xmlns:a16="http://schemas.microsoft.com/office/drawing/2014/main" id="{A951D42C-F3CD-4297-C0CE-9B4741B138F2}"/>
              </a:ext>
            </a:extLst>
          </p:cNvPr>
          <p:cNvSpPr/>
          <p:nvPr/>
        </p:nvSpPr>
        <p:spPr>
          <a:xfrm>
            <a:off x="1045463" y="2799032"/>
            <a:ext cx="651510" cy="205740"/>
          </a:xfrm>
          <a:prstGeom prst="rect">
            <a:avLst/>
          </a:prstGeom>
          <a:noFill/>
          <a:ln/>
        </p:spPr>
        <p:txBody>
          <a:bodyPr wrap="square" rtlCol="0" anchor="ctr"/>
          <a:lstStyle/>
          <a:p>
            <a:r>
              <a:rPr lang="en-US" sz="1000" b="1" dirty="0">
                <a:solidFill>
                  <a:srgbClr val="003D5B"/>
                </a:solidFill>
                <a:latin typeface="Calibri" pitchFamily="34" charset="0"/>
                <a:ea typeface="Calibri" pitchFamily="34" charset="-122"/>
                <a:cs typeface="Calibri" pitchFamily="34" charset="-120"/>
              </a:rPr>
              <a:t>Blue</a:t>
            </a:r>
            <a:endParaRPr lang="en-US" sz="1000" dirty="0"/>
          </a:p>
        </p:txBody>
      </p:sp>
      <p:sp>
        <p:nvSpPr>
          <p:cNvPr id="106" name="Text 34">
            <a:extLst>
              <a:ext uri="{FF2B5EF4-FFF2-40B4-BE49-F238E27FC236}">
                <a16:creationId xmlns:a16="http://schemas.microsoft.com/office/drawing/2014/main" id="{5CA08D4E-7A10-60B7-6051-E9023429D1FC}"/>
              </a:ext>
            </a:extLst>
          </p:cNvPr>
          <p:cNvSpPr/>
          <p:nvPr/>
        </p:nvSpPr>
        <p:spPr>
          <a:xfrm>
            <a:off x="1744979" y="2799032"/>
            <a:ext cx="3086100" cy="205740"/>
          </a:xfrm>
          <a:prstGeom prst="rect">
            <a:avLst/>
          </a:prstGeom>
          <a:noFill/>
          <a:ln/>
        </p:spPr>
        <p:txBody>
          <a:bodyPr wrap="square" rtlCol="0" anchor="ctr"/>
          <a:lstStyle/>
          <a:p>
            <a:pPr marL="0" indent="0">
              <a:buNone/>
            </a:pPr>
            <a:r>
              <a:rPr lang="en-US" sz="1000" dirty="0">
                <a:solidFill>
                  <a:srgbClr val="333333"/>
                </a:solidFill>
                <a:latin typeface="Calibri" pitchFamily="34" charset="0"/>
                <a:ea typeface="Calibri" pitchFamily="34" charset="-122"/>
                <a:cs typeface="Calibri" pitchFamily="34" charset="-120"/>
              </a:rPr>
              <a:t>Built with an improved measure.</a:t>
            </a:r>
          </a:p>
        </p:txBody>
      </p:sp>
      <p:sp>
        <p:nvSpPr>
          <p:cNvPr id="110" name="Shape 36">
            <a:extLst>
              <a:ext uri="{FF2B5EF4-FFF2-40B4-BE49-F238E27FC236}">
                <a16:creationId xmlns:a16="http://schemas.microsoft.com/office/drawing/2014/main" id="{82FD6E52-2FB3-539E-D4A6-73198E869874}"/>
              </a:ext>
            </a:extLst>
          </p:cNvPr>
          <p:cNvSpPr/>
          <p:nvPr/>
        </p:nvSpPr>
        <p:spPr>
          <a:xfrm>
            <a:off x="4378451" y="2295847"/>
            <a:ext cx="452628" cy="246888"/>
          </a:xfrm>
          <a:prstGeom prst="rect">
            <a:avLst/>
          </a:prstGeom>
          <a:solidFill>
            <a:srgbClr val="FFF3E0"/>
          </a:solidFill>
          <a:ln w="12700">
            <a:solidFill>
              <a:srgbClr val="E3B778"/>
            </a:solidFill>
            <a:prstDash val="solid"/>
          </a:ln>
        </p:spPr>
        <p:txBody>
          <a:bodyPr/>
          <a:lstStyle/>
          <a:p>
            <a:endParaRPr lang="en-PH" sz="1350"/>
          </a:p>
        </p:txBody>
      </p:sp>
      <p:sp>
        <p:nvSpPr>
          <p:cNvPr id="112" name="Text 37">
            <a:extLst>
              <a:ext uri="{FF2B5EF4-FFF2-40B4-BE49-F238E27FC236}">
                <a16:creationId xmlns:a16="http://schemas.microsoft.com/office/drawing/2014/main" id="{A5C7F8AC-0B04-1EF0-AE85-6575D3339B1D}"/>
              </a:ext>
            </a:extLst>
          </p:cNvPr>
          <p:cNvSpPr/>
          <p:nvPr/>
        </p:nvSpPr>
        <p:spPr>
          <a:xfrm>
            <a:off x="4888001" y="2322021"/>
            <a:ext cx="651510" cy="205740"/>
          </a:xfrm>
          <a:prstGeom prst="rect">
            <a:avLst/>
          </a:prstGeom>
          <a:noFill/>
          <a:ln/>
        </p:spPr>
        <p:txBody>
          <a:bodyPr wrap="square" rtlCol="0" anchor="ctr"/>
          <a:lstStyle/>
          <a:p>
            <a:r>
              <a:rPr lang="en-US" sz="1000" b="1" dirty="0">
                <a:solidFill>
                  <a:srgbClr val="003D5B"/>
                </a:solidFill>
                <a:latin typeface="Calibri" pitchFamily="34" charset="0"/>
                <a:ea typeface="Calibri" pitchFamily="34" charset="-122"/>
                <a:cs typeface="Calibri" pitchFamily="34" charset="-120"/>
              </a:rPr>
              <a:t>Amber</a:t>
            </a:r>
            <a:endParaRPr lang="en-US" sz="1000" dirty="0"/>
          </a:p>
        </p:txBody>
      </p:sp>
      <p:sp>
        <p:nvSpPr>
          <p:cNvPr id="114" name="Text 38">
            <a:extLst>
              <a:ext uri="{FF2B5EF4-FFF2-40B4-BE49-F238E27FC236}">
                <a16:creationId xmlns:a16="http://schemas.microsoft.com/office/drawing/2014/main" id="{CFF0D268-95DB-6E9C-D4C5-D4D9094C912D}"/>
              </a:ext>
            </a:extLst>
          </p:cNvPr>
          <p:cNvSpPr/>
          <p:nvPr/>
        </p:nvSpPr>
        <p:spPr>
          <a:xfrm>
            <a:off x="5587517" y="2322021"/>
            <a:ext cx="3086100" cy="205740"/>
          </a:xfrm>
          <a:prstGeom prst="rect">
            <a:avLst/>
          </a:prstGeom>
          <a:noFill/>
          <a:ln/>
        </p:spPr>
        <p:txBody>
          <a:bodyPr wrap="square" rtlCol="0" anchor="ctr"/>
          <a:lstStyle/>
          <a:p>
            <a:pPr marL="0" indent="0">
              <a:buNone/>
            </a:pPr>
            <a:r>
              <a:rPr lang="en-US" sz="1000" dirty="0">
                <a:solidFill>
                  <a:srgbClr val="333333"/>
                </a:solidFill>
                <a:latin typeface="Calibri" pitchFamily="34" charset="0"/>
                <a:ea typeface="Calibri" pitchFamily="34" charset="-122"/>
                <a:cs typeface="Calibri" pitchFamily="34" charset="-120"/>
              </a:rPr>
              <a:t>Built, pending your review.</a:t>
            </a:r>
          </a:p>
        </p:txBody>
      </p:sp>
      <p:sp>
        <p:nvSpPr>
          <p:cNvPr id="118" name="Shape 40">
            <a:extLst>
              <a:ext uri="{FF2B5EF4-FFF2-40B4-BE49-F238E27FC236}">
                <a16:creationId xmlns:a16="http://schemas.microsoft.com/office/drawing/2014/main" id="{DACDB210-C727-CC57-F791-12C195D303DF}"/>
              </a:ext>
            </a:extLst>
          </p:cNvPr>
          <p:cNvSpPr/>
          <p:nvPr/>
        </p:nvSpPr>
        <p:spPr>
          <a:xfrm>
            <a:off x="4378451" y="2799033"/>
            <a:ext cx="452628" cy="246888"/>
          </a:xfrm>
          <a:prstGeom prst="rect">
            <a:avLst/>
          </a:prstGeom>
          <a:solidFill>
            <a:srgbClr val="FCE4E4"/>
          </a:solidFill>
          <a:ln w="12700">
            <a:solidFill>
              <a:srgbClr val="E0A6A6"/>
            </a:solidFill>
            <a:prstDash val="solid"/>
          </a:ln>
        </p:spPr>
        <p:txBody>
          <a:bodyPr/>
          <a:lstStyle/>
          <a:p>
            <a:endParaRPr lang="en-PH" sz="1350"/>
          </a:p>
        </p:txBody>
      </p:sp>
      <p:sp>
        <p:nvSpPr>
          <p:cNvPr id="120" name="Text 41">
            <a:extLst>
              <a:ext uri="{FF2B5EF4-FFF2-40B4-BE49-F238E27FC236}">
                <a16:creationId xmlns:a16="http://schemas.microsoft.com/office/drawing/2014/main" id="{A16EF4D1-98E9-8CDD-77BB-6059A4F88B26}"/>
              </a:ext>
            </a:extLst>
          </p:cNvPr>
          <p:cNvSpPr/>
          <p:nvPr/>
        </p:nvSpPr>
        <p:spPr>
          <a:xfrm>
            <a:off x="4888001" y="2799795"/>
            <a:ext cx="651510" cy="205740"/>
          </a:xfrm>
          <a:prstGeom prst="rect">
            <a:avLst/>
          </a:prstGeom>
          <a:noFill/>
          <a:ln/>
        </p:spPr>
        <p:txBody>
          <a:bodyPr wrap="square" rtlCol="0" anchor="ctr"/>
          <a:lstStyle/>
          <a:p>
            <a:r>
              <a:rPr lang="en-US" sz="1000" b="1" dirty="0">
                <a:solidFill>
                  <a:srgbClr val="003D5B"/>
                </a:solidFill>
                <a:latin typeface="Calibri" pitchFamily="34" charset="0"/>
                <a:ea typeface="Calibri" pitchFamily="34" charset="-122"/>
                <a:cs typeface="Calibri" pitchFamily="34" charset="-120"/>
              </a:rPr>
              <a:t>Red</a:t>
            </a:r>
            <a:endParaRPr lang="en-US" sz="1000" dirty="0"/>
          </a:p>
        </p:txBody>
      </p:sp>
      <p:sp>
        <p:nvSpPr>
          <p:cNvPr id="122" name="Text 42">
            <a:extLst>
              <a:ext uri="{FF2B5EF4-FFF2-40B4-BE49-F238E27FC236}">
                <a16:creationId xmlns:a16="http://schemas.microsoft.com/office/drawing/2014/main" id="{BEC0764C-7EB5-8268-FE6F-DE5C834F21FB}"/>
              </a:ext>
            </a:extLst>
          </p:cNvPr>
          <p:cNvSpPr/>
          <p:nvPr/>
        </p:nvSpPr>
        <p:spPr>
          <a:xfrm>
            <a:off x="5587517" y="2799795"/>
            <a:ext cx="3086100" cy="205740"/>
          </a:xfrm>
          <a:prstGeom prst="rect">
            <a:avLst/>
          </a:prstGeom>
          <a:noFill/>
          <a:ln/>
        </p:spPr>
        <p:txBody>
          <a:bodyPr wrap="square" rtlCol="0" anchor="ctr"/>
          <a:lstStyle/>
          <a:p>
            <a:pPr marL="0" indent="0">
              <a:buNone/>
            </a:pPr>
            <a:r>
              <a:rPr lang="en-US" sz="1000" dirty="0">
                <a:solidFill>
                  <a:srgbClr val="333333"/>
                </a:solidFill>
                <a:latin typeface="Calibri" pitchFamily="34" charset="0"/>
                <a:ea typeface="Calibri" pitchFamily="34" charset="-122"/>
                <a:cs typeface="Calibri" pitchFamily="34" charset="-120"/>
              </a:rPr>
              <a:t>Not built. Need to identify the source.</a:t>
            </a:r>
          </a:p>
        </p:txBody>
      </p:sp>
      <p:sp>
        <p:nvSpPr>
          <p:cNvPr id="144" name="Shape 16">
            <a:extLst>
              <a:ext uri="{FF2B5EF4-FFF2-40B4-BE49-F238E27FC236}">
                <a16:creationId xmlns:a16="http://schemas.microsoft.com/office/drawing/2014/main" id="{A9865676-63BB-8CEE-F75A-698EAB81B6FA}"/>
              </a:ext>
            </a:extLst>
          </p:cNvPr>
          <p:cNvSpPr/>
          <p:nvPr/>
        </p:nvSpPr>
        <p:spPr>
          <a:xfrm>
            <a:off x="411480" y="1110996"/>
            <a:ext cx="2636444" cy="34290"/>
          </a:xfrm>
          <a:prstGeom prst="rect">
            <a:avLst/>
          </a:prstGeom>
          <a:solidFill>
            <a:srgbClr val="009B8A"/>
          </a:solidFill>
          <a:ln/>
        </p:spPr>
        <p:txBody>
          <a:bodyPr/>
          <a:lstStyle/>
          <a:p>
            <a:endParaRPr lang="en-PH" sz="1350"/>
          </a:p>
        </p:txBody>
      </p:sp>
      <p:sp>
        <p:nvSpPr>
          <p:cNvPr id="146" name="Text 17">
            <a:extLst>
              <a:ext uri="{FF2B5EF4-FFF2-40B4-BE49-F238E27FC236}">
                <a16:creationId xmlns:a16="http://schemas.microsoft.com/office/drawing/2014/main" id="{2F420213-0AB9-E376-799D-D765D5E690FB}"/>
              </a:ext>
            </a:extLst>
          </p:cNvPr>
          <p:cNvSpPr/>
          <p:nvPr/>
        </p:nvSpPr>
        <p:spPr>
          <a:xfrm>
            <a:off x="736600" y="1168400"/>
            <a:ext cx="2311400" cy="205740"/>
          </a:xfrm>
          <a:prstGeom prst="rect">
            <a:avLst/>
          </a:prstGeom>
          <a:noFill/>
          <a:ln/>
        </p:spPr>
        <p:txBody>
          <a:bodyPr wrap="square" rtlCol="0" anchor="ctr"/>
          <a:lstStyle/>
          <a:p>
            <a:pPr marL="0" indent="0">
              <a:buNone/>
            </a:pPr>
            <a:r>
              <a:rPr lang="en-US" sz="1200" b="1" dirty="0">
                <a:solidFill>
                  <a:srgbClr val="003D5B"/>
                </a:solidFill>
                <a:latin typeface="Calibri" pitchFamily="34" charset="0"/>
                <a:ea typeface="Calibri" pitchFamily="34" charset="-122"/>
                <a:cs typeface="Calibri" pitchFamily="34" charset="-120"/>
              </a:rPr>
              <a:t>One row per requirement</a:t>
            </a:r>
          </a:p>
        </p:txBody>
      </p:sp>
      <p:sp>
        <p:nvSpPr>
          <p:cNvPr id="148" name="Text 18">
            <a:extLst>
              <a:ext uri="{FF2B5EF4-FFF2-40B4-BE49-F238E27FC236}">
                <a16:creationId xmlns:a16="http://schemas.microsoft.com/office/drawing/2014/main" id="{E8390ADA-819D-B9B9-B485-CEC0690A49F0}"/>
              </a:ext>
            </a:extLst>
          </p:cNvPr>
          <p:cNvSpPr/>
          <p:nvPr/>
        </p:nvSpPr>
        <p:spPr>
          <a:xfrm>
            <a:off x="411480" y="1453896"/>
            <a:ext cx="2636444" cy="493776"/>
          </a:xfrm>
          <a:prstGeom prst="rect">
            <a:avLst/>
          </a:prstGeom>
          <a:noFill/>
          <a:ln/>
        </p:spPr>
        <p:txBody>
          <a:bodyPr wrap="square" rtlCol="0" anchor="t"/>
          <a:lstStyle/>
          <a:p>
            <a:pPr marL="0" indent="0">
              <a:buNone/>
            </a:pPr>
            <a:r>
              <a:rPr lang="en-US" sz="1000" dirty="0">
                <a:solidFill>
                  <a:srgbClr val="333333"/>
                </a:solidFill>
                <a:latin typeface="Calibri" pitchFamily="34" charset="0"/>
                <a:ea typeface="Calibri" pitchFamily="34" charset="-122"/>
                <a:cs typeface="Calibri" pitchFamily="34" charset="-120"/>
              </a:rPr>
              <a:t>All Utilization Report fields consolidated in one requirements file.</a:t>
            </a:r>
          </a:p>
        </p:txBody>
      </p:sp>
      <p:sp>
        <p:nvSpPr>
          <p:cNvPr id="150" name="Shape 19">
            <a:extLst>
              <a:ext uri="{FF2B5EF4-FFF2-40B4-BE49-F238E27FC236}">
                <a16:creationId xmlns:a16="http://schemas.microsoft.com/office/drawing/2014/main" id="{C30565ED-B4A1-3027-0BB6-64A6EA4B60F4}"/>
              </a:ext>
            </a:extLst>
          </p:cNvPr>
          <p:cNvSpPr/>
          <p:nvPr/>
        </p:nvSpPr>
        <p:spPr>
          <a:xfrm>
            <a:off x="3253663" y="1110996"/>
            <a:ext cx="2636444" cy="34290"/>
          </a:xfrm>
          <a:prstGeom prst="rect">
            <a:avLst/>
          </a:prstGeom>
          <a:solidFill>
            <a:srgbClr val="009B8A"/>
          </a:solidFill>
          <a:ln/>
        </p:spPr>
        <p:txBody>
          <a:bodyPr/>
          <a:lstStyle/>
          <a:p>
            <a:endParaRPr lang="en-PH" sz="1350"/>
          </a:p>
        </p:txBody>
      </p:sp>
      <p:sp>
        <p:nvSpPr>
          <p:cNvPr id="152" name="Text 20">
            <a:extLst>
              <a:ext uri="{FF2B5EF4-FFF2-40B4-BE49-F238E27FC236}">
                <a16:creationId xmlns:a16="http://schemas.microsoft.com/office/drawing/2014/main" id="{25655A67-AE7E-446F-7A65-BB0519AE05A7}"/>
              </a:ext>
            </a:extLst>
          </p:cNvPr>
          <p:cNvSpPr/>
          <p:nvPr/>
        </p:nvSpPr>
        <p:spPr>
          <a:xfrm>
            <a:off x="3581400" y="1168400"/>
            <a:ext cx="2311400" cy="205740"/>
          </a:xfrm>
          <a:prstGeom prst="rect">
            <a:avLst/>
          </a:prstGeom>
          <a:noFill/>
          <a:ln/>
        </p:spPr>
        <p:txBody>
          <a:bodyPr wrap="square" rtlCol="0" anchor="ctr"/>
          <a:lstStyle/>
          <a:p>
            <a:pPr marL="0" indent="0">
              <a:buNone/>
            </a:pPr>
            <a:r>
              <a:rPr lang="en-US" sz="1200" b="1" dirty="0">
                <a:solidFill>
                  <a:srgbClr val="003D5B"/>
                </a:solidFill>
                <a:latin typeface="Calibri" pitchFamily="34" charset="0"/>
                <a:ea typeface="Calibri" pitchFamily="34" charset="-122"/>
                <a:cs typeface="Calibri" pitchFamily="34" charset="-120"/>
              </a:rPr>
              <a:t>Mockups beside each row</a:t>
            </a:r>
          </a:p>
        </p:txBody>
      </p:sp>
      <p:sp>
        <p:nvSpPr>
          <p:cNvPr id="154" name="Text 21">
            <a:extLst>
              <a:ext uri="{FF2B5EF4-FFF2-40B4-BE49-F238E27FC236}">
                <a16:creationId xmlns:a16="http://schemas.microsoft.com/office/drawing/2014/main" id="{AC9F654C-12D5-69E7-8731-B26DC4F16576}"/>
              </a:ext>
            </a:extLst>
          </p:cNvPr>
          <p:cNvSpPr/>
          <p:nvPr/>
        </p:nvSpPr>
        <p:spPr>
          <a:xfrm>
            <a:off x="3253663" y="1453896"/>
            <a:ext cx="2636444" cy="493776"/>
          </a:xfrm>
          <a:prstGeom prst="rect">
            <a:avLst/>
          </a:prstGeom>
          <a:noFill/>
          <a:ln/>
        </p:spPr>
        <p:txBody>
          <a:bodyPr wrap="square" rtlCol="0" anchor="t"/>
          <a:lstStyle/>
          <a:p>
            <a:pPr marL="0" indent="0">
              <a:buNone/>
            </a:pPr>
            <a:r>
              <a:rPr lang="en-US" sz="1000" dirty="0">
                <a:solidFill>
                  <a:srgbClr val="333333"/>
                </a:solidFill>
                <a:latin typeface="Calibri" pitchFamily="34" charset="0"/>
                <a:ea typeface="Calibri" pitchFamily="34" charset="-122"/>
                <a:cs typeface="Calibri" pitchFamily="34" charset="-120"/>
              </a:rPr>
              <a:t>Each section linked to the screen where it appears.</a:t>
            </a:r>
          </a:p>
        </p:txBody>
      </p:sp>
      <p:sp>
        <p:nvSpPr>
          <p:cNvPr id="156" name="Shape 22">
            <a:extLst>
              <a:ext uri="{FF2B5EF4-FFF2-40B4-BE49-F238E27FC236}">
                <a16:creationId xmlns:a16="http://schemas.microsoft.com/office/drawing/2014/main" id="{ADE7C406-E8A7-7F3E-34BD-3C2391397E46}"/>
              </a:ext>
            </a:extLst>
          </p:cNvPr>
          <p:cNvSpPr/>
          <p:nvPr/>
        </p:nvSpPr>
        <p:spPr>
          <a:xfrm>
            <a:off x="6095848" y="1110996"/>
            <a:ext cx="2636444" cy="34290"/>
          </a:xfrm>
          <a:prstGeom prst="rect">
            <a:avLst/>
          </a:prstGeom>
          <a:solidFill>
            <a:srgbClr val="009B8A"/>
          </a:solidFill>
          <a:ln/>
        </p:spPr>
        <p:txBody>
          <a:bodyPr/>
          <a:lstStyle/>
          <a:p>
            <a:endParaRPr lang="en-PH" sz="1350"/>
          </a:p>
        </p:txBody>
      </p:sp>
      <p:sp>
        <p:nvSpPr>
          <p:cNvPr id="158" name="Text 23">
            <a:extLst>
              <a:ext uri="{FF2B5EF4-FFF2-40B4-BE49-F238E27FC236}">
                <a16:creationId xmlns:a16="http://schemas.microsoft.com/office/drawing/2014/main" id="{885E609E-BFC1-8A6D-E87B-E9FD09CC3AEB}"/>
              </a:ext>
            </a:extLst>
          </p:cNvPr>
          <p:cNvSpPr/>
          <p:nvPr/>
        </p:nvSpPr>
        <p:spPr>
          <a:xfrm>
            <a:off x="6426200" y="1168400"/>
            <a:ext cx="2311400" cy="205740"/>
          </a:xfrm>
          <a:prstGeom prst="rect">
            <a:avLst/>
          </a:prstGeom>
          <a:noFill/>
          <a:ln/>
        </p:spPr>
        <p:txBody>
          <a:bodyPr wrap="square" rtlCol="0" anchor="ctr"/>
          <a:lstStyle/>
          <a:p>
            <a:pPr marL="0" indent="0">
              <a:buNone/>
            </a:pPr>
            <a:r>
              <a:rPr lang="en-US" sz="1200" b="1" dirty="0">
                <a:solidFill>
                  <a:srgbClr val="003D5B"/>
                </a:solidFill>
                <a:latin typeface="Calibri" pitchFamily="34" charset="0"/>
                <a:ea typeface="Calibri" pitchFamily="34" charset="-122"/>
                <a:cs typeface="Calibri" pitchFamily="34" charset="-120"/>
              </a:rPr>
              <a:t>Sourcing assessment</a:t>
            </a:r>
          </a:p>
        </p:txBody>
      </p:sp>
      <p:sp>
        <p:nvSpPr>
          <p:cNvPr id="160" name="Text 24">
            <a:extLst>
              <a:ext uri="{FF2B5EF4-FFF2-40B4-BE49-F238E27FC236}">
                <a16:creationId xmlns:a16="http://schemas.microsoft.com/office/drawing/2014/main" id="{D1BC0C53-8BDE-EE19-E363-3C82C3B43674}"/>
              </a:ext>
            </a:extLst>
          </p:cNvPr>
          <p:cNvSpPr/>
          <p:nvPr/>
        </p:nvSpPr>
        <p:spPr>
          <a:xfrm>
            <a:off x="6095848" y="1453896"/>
            <a:ext cx="2636444" cy="493776"/>
          </a:xfrm>
          <a:prstGeom prst="rect">
            <a:avLst/>
          </a:prstGeom>
          <a:noFill/>
          <a:ln/>
        </p:spPr>
        <p:txBody>
          <a:bodyPr wrap="square" rtlCol="0" anchor="t"/>
          <a:lstStyle/>
          <a:p>
            <a:pPr marL="0" indent="0">
              <a:buNone/>
            </a:pPr>
            <a:r>
              <a:rPr lang="en-US" sz="1000" dirty="0">
                <a:solidFill>
                  <a:srgbClr val="333333"/>
                </a:solidFill>
                <a:latin typeface="Calibri" pitchFamily="34" charset="0"/>
                <a:ea typeface="Calibri" pitchFamily="34" charset="-122"/>
                <a:cs typeface="Calibri" pitchFamily="34" charset="-120"/>
              </a:rPr>
              <a:t>For unbuilt items, the file states what delivery requires.</a:t>
            </a:r>
          </a:p>
        </p:txBody>
      </p:sp>
      <p:sp>
        <p:nvSpPr>
          <p:cNvPr id="180" name="Text 13">
            <a:extLst>
              <a:ext uri="{FF2B5EF4-FFF2-40B4-BE49-F238E27FC236}">
                <a16:creationId xmlns:a16="http://schemas.microsoft.com/office/drawing/2014/main" id="{74DF2570-62A1-C7AD-0973-D37E9DAD025C}"/>
              </a:ext>
            </a:extLst>
          </p:cNvPr>
          <p:cNvSpPr/>
          <p:nvPr/>
        </p:nvSpPr>
        <p:spPr>
          <a:xfrm>
            <a:off x="193217" y="704805"/>
            <a:ext cx="8320811" cy="342900"/>
          </a:xfrm>
          <a:prstGeom prst="rect">
            <a:avLst/>
          </a:prstGeom>
          <a:noFill/>
          <a:ln/>
        </p:spPr>
        <p:txBody>
          <a:bodyPr wrap="square" rtlCol="0" anchor="ctr"/>
          <a:lstStyle/>
          <a:p>
            <a:r>
              <a:rPr lang="en-US" sz="2000" b="1" dirty="0">
                <a:solidFill>
                  <a:srgbClr val="003D5B"/>
                </a:solidFill>
                <a:latin typeface="Cambria" pitchFamily="34" charset="0"/>
                <a:ea typeface="Cambria" pitchFamily="34" charset="-122"/>
                <a:cs typeface="Cambria" pitchFamily="34" charset="-120"/>
              </a:rPr>
              <a:t>The Gap Checker: Requirements File</a:t>
            </a:r>
            <a:endParaRPr lang="en-US" sz="2000" dirty="0"/>
          </a:p>
        </p:txBody>
      </p:sp>
      <p:pic>
        <p:nvPicPr>
          <p:cNvPr id="181" name="Graphic 181" descr="Requirements list"/>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06400" y="1168400"/>
            <a:ext cx="228600" cy="228600"/>
          </a:xfrm>
          <a:prstGeom prst="rect">
            <a:avLst/>
          </a:prstGeom>
        </p:spPr>
      </p:pic>
      <p:pic>
        <p:nvPicPr>
          <p:cNvPr id="182" name="Graphic 182" descr="Mockup screen"/>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251200" y="1168400"/>
            <a:ext cx="228600" cy="228600"/>
          </a:xfrm>
          <a:prstGeom prst="rect">
            <a:avLst/>
          </a:prstGeom>
        </p:spPr>
      </p:pic>
      <p:pic>
        <p:nvPicPr>
          <p:cNvPr id="183" name="Graphic 183" descr="Sourcing assessment"/>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096000" y="1168400"/>
            <a:ext cx="228600" cy="228600"/>
          </a:xfrm>
          <a:prstGeom prst="rect">
            <a:avLst/>
          </a:prstGeom>
        </p:spPr>
      </p:pic>
    </p:spTree>
    <p:extLst>
      <p:ext uri="{BB962C8B-B14F-4D97-AF65-F5344CB8AC3E}">
        <p14:creationId xmlns:p14="http://schemas.microsoft.com/office/powerpoint/2010/main" val="385334078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1" name="Title"/>
          <p:cNvSpPr/>
          <p:nvPr/>
        </p:nvSpPr>
        <p:spPr>
          <a:xfrm>
            <a:off x="201168" y="91440"/>
            <a:ext cx="8412480" cy="493776"/>
          </a:xfrm>
          <a:prstGeom prst="rect">
            <a:avLst/>
          </a:prstGeom>
          <a:noFill/>
          <a:ln/>
        </p:spPr>
        <p:txBody>
          <a:bodyPr wrap="square" rtlCol="0" anchor="ctr">
            <a:normAutofit lnSpcReduction="10000"/>
          </a:bodyPr>
          <a:lstStyle/>
          <a:p>
            <a:pPr marL="0" indent="0" algn="l">
              <a:buNone/>
            </a:pPr>
            <a:r>
              <a:rPr lang="en-US" sz="2700" b="1" kern="0" dirty="0">
                <a:solidFill>
                  <a:srgbClr val="003D5B"/>
                </a:solidFill>
                <a:latin typeface="Calibri" pitchFamily="34" charset="0"/>
                <a:ea typeface="Calibri" pitchFamily="34" charset="-122"/>
                <a:cs typeface="Calibri" pitchFamily="34" charset="-120"/>
              </a:rPr>
              <a:t>Bank Wide Oversight</a:t>
            </a:r>
          </a:p>
        </p:txBody>
      </p:sp>
      <p:sp>
        <p:nvSpPr>
          <p:cNvPr id="1002" name="Subtitle"/>
          <p:cNvSpPr/>
          <p:nvPr/>
        </p:nvSpPr>
        <p:spPr>
          <a:xfrm>
            <a:off x="192024" y="640080"/>
            <a:ext cx="8412480" cy="310896"/>
          </a:xfrm>
          <a:prstGeom prst="rect">
            <a:avLst/>
          </a:prstGeom>
          <a:noFill/>
          <a:ln/>
        </p:spPr>
        <p:txBody>
          <a:bodyPr wrap="square" rtlCol="0" anchor="ctr">
            <a:normAutofit/>
          </a:bodyPr>
          <a:lstStyle/>
          <a:p>
            <a:pPr marL="0" indent="0" algn="l">
              <a:buNone/>
            </a:pPr>
            <a:r>
              <a:rPr lang="en-US" sz="1400" b="0" kern="0" dirty="0">
                <a:solidFill>
                  <a:srgbClr val="009B8A"/>
                </a:solidFill>
                <a:latin typeface="Calibri" pitchFamily="34" charset="0"/>
                <a:ea typeface="Calibri" pitchFamily="34" charset="-122"/>
                <a:cs typeface="Calibri" pitchFamily="34" charset="-120"/>
              </a:rPr>
              <a:t>One page answering how EDRMS is being used across the whole of ADB.</a:t>
            </a:r>
          </a:p>
        </p:txBody>
      </p:sp>
      <p:sp>
        <p:nvSpPr>
          <p:cNvPr id="1003" name="Rule"/>
          <p:cNvSpPr/>
          <p:nvPr/>
        </p:nvSpPr>
        <p:spPr>
          <a:xfrm>
            <a:off x="411480" y="1097280"/>
            <a:ext cx="2578608" cy="36576"/>
          </a:xfrm>
          <a:prstGeom prst="rect">
            <a:avLst/>
          </a:prstGeom>
          <a:solidFill>
            <a:srgbClr val="009B8A"/>
          </a:solidFill>
          <a:ln/>
        </p:spPr>
        <p:txBody>
          <a:bodyPr/>
          <a:lstStyle/>
          <a:p>
            <a:endParaRPr lang="en-PH" sz="1000"/>
          </a:p>
        </p:txBody>
      </p:sp>
      <p:sp>
        <p:nvSpPr>
          <p:cNvPr id="1004" name="Text"/>
          <p:cNvSpPr/>
          <p:nvPr/>
        </p:nvSpPr>
        <p:spPr>
          <a:xfrm>
            <a:off x="411480" y="1152144"/>
            <a:ext cx="2578608" cy="210312"/>
          </a:xfrm>
          <a:prstGeom prst="rect">
            <a:avLst/>
          </a:prstGeom>
          <a:noFill/>
          <a:ln/>
        </p:spPr>
        <p:txBody>
          <a:bodyPr wrap="square" rtlCol="0" anchor="ctr">
            <a:normAutofit fontScale="77500" lnSpcReduction="20000"/>
          </a:bodyPr>
          <a:lstStyle/>
          <a:p>
            <a:pPr marL="0" indent="0" algn="l">
              <a:buNone/>
            </a:pPr>
            <a:r>
              <a:rPr lang="en-US" sz="1200" b="1" kern="0" dirty="0">
                <a:solidFill>
                  <a:srgbClr val="003D5B"/>
                </a:solidFill>
                <a:latin typeface="Calibri" pitchFamily="34" charset="0"/>
                <a:ea typeface="Calibri" pitchFamily="34" charset="-122"/>
                <a:cs typeface="Calibri" pitchFamily="34" charset="-120"/>
              </a:rPr>
              <a:t>The single view</a:t>
            </a:r>
          </a:p>
        </p:txBody>
      </p:sp>
      <p:sp>
        <p:nvSpPr>
          <p:cNvPr id="1005" name="Text"/>
          <p:cNvSpPr/>
          <p:nvPr/>
        </p:nvSpPr>
        <p:spPr>
          <a:xfrm>
            <a:off x="411480" y="1435607"/>
            <a:ext cx="2578608" cy="786384"/>
          </a:xfrm>
          <a:prstGeom prst="rect">
            <a:avLst/>
          </a:prstGeom>
          <a:noFill/>
          <a:ln/>
        </p:spPr>
        <p:txBody>
          <a:bodyPr wrap="square" rtlCol="0" anchor="t">
            <a:normAutofit/>
          </a:bodyPr>
          <a:lstStyle/>
          <a:p>
            <a:pPr marL="0" indent="0" algn="l">
              <a:lnSpc>
                <a:spcPct val="92000"/>
              </a:lnSpc>
              <a:buNone/>
            </a:pPr>
            <a:r>
              <a:rPr lang="en-US" sz="1000" b="0" kern="0" dirty="0">
                <a:solidFill>
                  <a:srgbClr val="333333"/>
                </a:solidFill>
                <a:latin typeface="Calibri" pitchFamily="34" charset="0"/>
                <a:ea typeface="Calibri" pitchFamily="34" charset="-122"/>
                <a:cs typeface="Calibri" pitchFamily="34" charset="-120"/>
              </a:rPr>
              <a:t>Every measure rolled up to bank level, so adoption and compliance can be read without opening a department.</a:t>
            </a:r>
          </a:p>
        </p:txBody>
      </p:sp>
      <p:sp>
        <p:nvSpPr>
          <p:cNvPr id="1006" name="Rule"/>
          <p:cNvSpPr/>
          <p:nvPr/>
        </p:nvSpPr>
        <p:spPr>
          <a:xfrm>
            <a:off x="3282696" y="1097280"/>
            <a:ext cx="2578608" cy="36576"/>
          </a:xfrm>
          <a:prstGeom prst="rect">
            <a:avLst/>
          </a:prstGeom>
          <a:solidFill>
            <a:srgbClr val="009B8A"/>
          </a:solidFill>
          <a:ln/>
        </p:spPr>
        <p:txBody>
          <a:bodyPr/>
          <a:lstStyle/>
          <a:p>
            <a:endParaRPr lang="en-PH" sz="1000"/>
          </a:p>
        </p:txBody>
      </p:sp>
      <p:sp>
        <p:nvSpPr>
          <p:cNvPr id="1007" name="Text"/>
          <p:cNvSpPr/>
          <p:nvPr/>
        </p:nvSpPr>
        <p:spPr>
          <a:xfrm>
            <a:off x="3282696" y="1152144"/>
            <a:ext cx="2578608" cy="210312"/>
          </a:xfrm>
          <a:prstGeom prst="rect">
            <a:avLst/>
          </a:prstGeom>
          <a:noFill/>
          <a:ln/>
        </p:spPr>
        <p:txBody>
          <a:bodyPr wrap="square" rtlCol="0" anchor="ctr">
            <a:normAutofit fontScale="77500" lnSpcReduction="20000"/>
          </a:bodyPr>
          <a:lstStyle/>
          <a:p>
            <a:pPr marL="0" indent="0" algn="l">
              <a:buNone/>
            </a:pPr>
            <a:r>
              <a:rPr lang="en-US" sz="1200" b="1" kern="0" dirty="0">
                <a:solidFill>
                  <a:srgbClr val="003D5B"/>
                </a:solidFill>
                <a:latin typeface="Calibri" pitchFamily="34" charset="0"/>
                <a:ea typeface="Calibri" pitchFamily="34" charset="-122"/>
                <a:cs typeface="Calibri" pitchFamily="34" charset="-120"/>
              </a:rPr>
              <a:t>The starting point</a:t>
            </a:r>
          </a:p>
        </p:txBody>
      </p:sp>
      <p:sp>
        <p:nvSpPr>
          <p:cNvPr id="1008" name="Text"/>
          <p:cNvSpPr/>
          <p:nvPr/>
        </p:nvSpPr>
        <p:spPr>
          <a:xfrm>
            <a:off x="3282696" y="1435607"/>
            <a:ext cx="2578608" cy="786384"/>
          </a:xfrm>
          <a:prstGeom prst="rect">
            <a:avLst/>
          </a:prstGeom>
          <a:noFill/>
          <a:ln/>
        </p:spPr>
        <p:txBody>
          <a:bodyPr wrap="square" rtlCol="0" anchor="t">
            <a:normAutofit/>
          </a:bodyPr>
          <a:lstStyle/>
          <a:p>
            <a:pPr marL="0" indent="0" algn="l">
              <a:lnSpc>
                <a:spcPct val="92000"/>
              </a:lnSpc>
              <a:buNone/>
            </a:pPr>
            <a:r>
              <a:rPr lang="en-US" sz="1000" b="0" kern="0" dirty="0">
                <a:solidFill>
                  <a:srgbClr val="333333"/>
                </a:solidFill>
                <a:latin typeface="Calibri" pitchFamily="34" charset="0"/>
                <a:ea typeface="Calibri" pitchFamily="34" charset="-122"/>
                <a:cs typeface="Calibri" pitchFamily="34" charset="-120"/>
              </a:rPr>
              <a:t>This is the page an executive opens first. Everything else in the report drills down from what is shown here.</a:t>
            </a:r>
          </a:p>
        </p:txBody>
      </p:sp>
      <p:sp>
        <p:nvSpPr>
          <p:cNvPr id="1012" name="Text"/>
          <p:cNvSpPr/>
          <p:nvPr/>
        </p:nvSpPr>
        <p:spPr>
          <a:xfrm>
            <a:off x="411480" y="2231136"/>
            <a:ext cx="4572000" cy="201168"/>
          </a:xfrm>
          <a:prstGeom prst="rect">
            <a:avLst/>
          </a:prstGeom>
          <a:noFill/>
          <a:ln/>
        </p:spPr>
        <p:txBody>
          <a:bodyPr wrap="square" rtlCol="0" anchor="ctr">
            <a:normAutofit fontScale="70000" lnSpcReduction="20000"/>
          </a:bodyPr>
          <a:lstStyle/>
          <a:p>
            <a:pPr marL="0" indent="0" algn="l">
              <a:buNone/>
            </a:pPr>
            <a:r>
              <a:rPr lang="en-US" sz="1200" b="1" kern="0" spc="105" dirty="0">
                <a:solidFill>
                  <a:srgbClr val="003D5B"/>
                </a:solidFill>
                <a:latin typeface="Calibri" pitchFamily="34" charset="0"/>
                <a:ea typeface="Calibri" pitchFamily="34" charset="-122"/>
                <a:cs typeface="Calibri" pitchFamily="34" charset="-120"/>
              </a:rPr>
              <a:t>WHAT YOU WILL SEE ON THE PAGE</a:t>
            </a:r>
          </a:p>
        </p:txBody>
      </p:sp>
      <p:sp>
        <p:nvSpPr>
          <p:cNvPr id="1013" name="Panel"/>
          <p:cNvSpPr/>
          <p:nvPr/>
        </p:nvSpPr>
        <p:spPr>
          <a:xfrm>
            <a:off x="411480" y="2487168"/>
            <a:ext cx="8321040" cy="2084831"/>
          </a:xfrm>
          <a:prstGeom prst="rect">
            <a:avLst/>
          </a:prstGeom>
          <a:solidFill>
            <a:srgbClr val="F4F7F8"/>
          </a:solidFill>
          <a:ln w="12700">
            <a:solidFill>
              <a:srgbClr val="D8DEE1"/>
            </a:solidFill>
            <a:prstDash val="solid"/>
          </a:ln>
        </p:spPr>
        <p:txBody>
          <a:bodyPr/>
          <a:lstStyle/>
          <a:p>
            <a:endParaRPr lang="en-PH" sz="1000"/>
          </a:p>
        </p:txBody>
      </p:sp>
      <p:sp>
        <p:nvSpPr>
          <p:cNvPr id="1014" name="Rule"/>
          <p:cNvSpPr/>
          <p:nvPr/>
        </p:nvSpPr>
        <p:spPr>
          <a:xfrm>
            <a:off x="612648" y="2688336"/>
            <a:ext cx="1655063" cy="32004"/>
          </a:xfrm>
          <a:prstGeom prst="rect">
            <a:avLst/>
          </a:prstGeom>
          <a:solidFill>
            <a:srgbClr val="009B8A"/>
          </a:solidFill>
          <a:ln/>
        </p:spPr>
        <p:txBody>
          <a:bodyPr/>
          <a:lstStyle/>
          <a:p>
            <a:endParaRPr lang="en-PH" sz="1000"/>
          </a:p>
        </p:txBody>
      </p:sp>
      <p:sp>
        <p:nvSpPr>
          <p:cNvPr id="1015" name="Text"/>
          <p:cNvSpPr/>
          <p:nvPr/>
        </p:nvSpPr>
        <p:spPr>
          <a:xfrm>
            <a:off x="612648" y="2761488"/>
            <a:ext cx="1655063" cy="219456"/>
          </a:xfrm>
          <a:prstGeom prst="rect">
            <a:avLst/>
          </a:prstGeom>
          <a:noFill/>
          <a:ln/>
        </p:spPr>
        <p:txBody>
          <a:bodyPr wrap="square" rtlCol="0" anchor="ctr">
            <a:normAutofit fontScale="92500" lnSpcReduction="20000"/>
          </a:bodyPr>
          <a:lstStyle/>
          <a:p>
            <a:pPr marL="0" indent="0" algn="l">
              <a:buNone/>
            </a:pPr>
            <a:r>
              <a:rPr lang="en-US" sz="1050" b="1" kern="0" dirty="0">
                <a:solidFill>
                  <a:srgbClr val="003D5B"/>
                </a:solidFill>
                <a:latin typeface="Calibri" pitchFamily="34" charset="0"/>
                <a:ea typeface="Calibri" pitchFamily="34" charset="-122"/>
                <a:cs typeface="Calibri" pitchFamily="34" charset="-120"/>
              </a:rPr>
              <a:t>Users and activity</a:t>
            </a:r>
          </a:p>
        </p:txBody>
      </p:sp>
      <p:sp>
        <p:nvSpPr>
          <p:cNvPr id="1016" name="Bullet"/>
          <p:cNvSpPr/>
          <p:nvPr/>
        </p:nvSpPr>
        <p:spPr>
          <a:xfrm>
            <a:off x="612648" y="3118103"/>
            <a:ext cx="50292" cy="50292"/>
          </a:xfrm>
          <a:prstGeom prst="rect">
            <a:avLst/>
          </a:prstGeom>
          <a:solidFill>
            <a:srgbClr val="009B8A"/>
          </a:solidFill>
          <a:ln/>
        </p:spPr>
        <p:txBody>
          <a:bodyPr/>
          <a:lstStyle/>
          <a:p>
            <a:endParaRPr lang="en-PH" sz="1000"/>
          </a:p>
        </p:txBody>
      </p:sp>
      <p:sp>
        <p:nvSpPr>
          <p:cNvPr id="1017" name="Text"/>
          <p:cNvSpPr/>
          <p:nvPr/>
        </p:nvSpPr>
        <p:spPr>
          <a:xfrm>
            <a:off x="758952" y="3054096"/>
            <a:ext cx="1545336" cy="201168"/>
          </a:xfrm>
          <a:prstGeom prst="rect">
            <a:avLst/>
          </a:prstGeom>
          <a:noFill/>
          <a:ln/>
        </p:spPr>
        <p:txBody>
          <a:bodyPr wrap="square" rtlCol="0" anchor="ctr">
            <a:normAutofit fontScale="77500" lnSpcReduction="20000"/>
          </a:bodyPr>
          <a:lstStyle/>
          <a:p>
            <a:pPr marL="0" indent="0" algn="l">
              <a:buNone/>
            </a:pPr>
            <a:r>
              <a:rPr lang="en-US" sz="900" b="0" kern="0" dirty="0">
                <a:solidFill>
                  <a:srgbClr val="333333"/>
                </a:solidFill>
                <a:latin typeface="Calibri" pitchFamily="34" charset="0"/>
                <a:ea typeface="Calibri" pitchFamily="34" charset="-122"/>
                <a:cs typeface="Calibri" pitchFamily="34" charset="-120"/>
              </a:rPr>
              <a:t>EDRMS users with recorded activity</a:t>
            </a:r>
          </a:p>
        </p:txBody>
      </p:sp>
      <p:sp>
        <p:nvSpPr>
          <p:cNvPr id="1018" name="Bullet"/>
          <p:cNvSpPr/>
          <p:nvPr/>
        </p:nvSpPr>
        <p:spPr>
          <a:xfrm>
            <a:off x="612648" y="3392423"/>
            <a:ext cx="50292" cy="50292"/>
          </a:xfrm>
          <a:prstGeom prst="rect">
            <a:avLst/>
          </a:prstGeom>
          <a:solidFill>
            <a:srgbClr val="009B8A"/>
          </a:solidFill>
          <a:ln/>
        </p:spPr>
        <p:txBody>
          <a:bodyPr/>
          <a:lstStyle/>
          <a:p>
            <a:endParaRPr lang="en-PH" sz="1000"/>
          </a:p>
        </p:txBody>
      </p:sp>
      <p:sp>
        <p:nvSpPr>
          <p:cNvPr id="1019" name="Text"/>
          <p:cNvSpPr/>
          <p:nvPr/>
        </p:nvSpPr>
        <p:spPr>
          <a:xfrm>
            <a:off x="758952" y="3328415"/>
            <a:ext cx="1545336" cy="201168"/>
          </a:xfrm>
          <a:prstGeom prst="rect">
            <a:avLst/>
          </a:prstGeom>
          <a:noFill/>
          <a:ln/>
        </p:spPr>
        <p:txBody>
          <a:bodyPr wrap="square" rtlCol="0" anchor="ctr">
            <a:normAutofit fontScale="92500" lnSpcReduction="10000"/>
          </a:bodyPr>
          <a:lstStyle/>
          <a:p>
            <a:pPr marL="0" indent="0" algn="l">
              <a:buNone/>
            </a:pPr>
            <a:r>
              <a:rPr lang="en-US" sz="900" b="0" kern="0" dirty="0">
                <a:solidFill>
                  <a:srgbClr val="333333"/>
                </a:solidFill>
                <a:latin typeface="Calibri" pitchFamily="34" charset="0"/>
                <a:ea typeface="Calibri" pitchFamily="34" charset="-122"/>
                <a:cs typeface="Calibri" pitchFamily="34" charset="-120"/>
              </a:rPr>
              <a:t>Sites with no access in 90 days</a:t>
            </a:r>
          </a:p>
        </p:txBody>
      </p:sp>
      <p:sp>
        <p:nvSpPr>
          <p:cNvPr id="1020" name="Bullet"/>
          <p:cNvSpPr/>
          <p:nvPr/>
        </p:nvSpPr>
        <p:spPr>
          <a:xfrm>
            <a:off x="612648" y="3666744"/>
            <a:ext cx="50292" cy="50292"/>
          </a:xfrm>
          <a:prstGeom prst="rect">
            <a:avLst/>
          </a:prstGeom>
          <a:solidFill>
            <a:srgbClr val="009B8A"/>
          </a:solidFill>
          <a:ln/>
        </p:spPr>
        <p:txBody>
          <a:bodyPr/>
          <a:lstStyle/>
          <a:p>
            <a:endParaRPr lang="en-PH" sz="1000"/>
          </a:p>
        </p:txBody>
      </p:sp>
      <p:sp>
        <p:nvSpPr>
          <p:cNvPr id="1021" name="Text"/>
          <p:cNvSpPr/>
          <p:nvPr/>
        </p:nvSpPr>
        <p:spPr>
          <a:xfrm>
            <a:off x="758952" y="3602735"/>
            <a:ext cx="1545336" cy="201168"/>
          </a:xfrm>
          <a:prstGeom prst="rect">
            <a:avLst/>
          </a:prstGeom>
          <a:noFill/>
          <a:ln/>
        </p:spPr>
        <p:txBody>
          <a:bodyPr wrap="square" rtlCol="0" anchor="ctr">
            <a:normAutofit fontScale="70000" lnSpcReduction="20000"/>
          </a:bodyPr>
          <a:lstStyle/>
          <a:p>
            <a:pPr marL="0" indent="0" algn="l">
              <a:buNone/>
            </a:pPr>
            <a:r>
              <a:rPr lang="en-US" sz="900" b="0" kern="0" dirty="0">
                <a:solidFill>
                  <a:srgbClr val="333333"/>
                </a:solidFill>
                <a:latin typeface="Calibri" pitchFamily="34" charset="0"/>
                <a:ea typeface="Calibri" pitchFamily="34" charset="-122"/>
                <a:cs typeface="Calibri" pitchFamily="34" charset="-120"/>
              </a:rPr>
              <a:t>Departments, offices and RMs covered</a:t>
            </a:r>
          </a:p>
        </p:txBody>
      </p:sp>
      <p:sp>
        <p:nvSpPr>
          <p:cNvPr id="1022" name="Rule"/>
          <p:cNvSpPr/>
          <p:nvPr/>
        </p:nvSpPr>
        <p:spPr>
          <a:xfrm>
            <a:off x="2578608" y="2688336"/>
            <a:ext cx="1655063" cy="32004"/>
          </a:xfrm>
          <a:prstGeom prst="rect">
            <a:avLst/>
          </a:prstGeom>
          <a:solidFill>
            <a:srgbClr val="009B8A"/>
          </a:solidFill>
          <a:ln/>
        </p:spPr>
        <p:txBody>
          <a:bodyPr/>
          <a:lstStyle/>
          <a:p>
            <a:endParaRPr lang="en-PH" sz="1000"/>
          </a:p>
        </p:txBody>
      </p:sp>
      <p:sp>
        <p:nvSpPr>
          <p:cNvPr id="1023" name="Text"/>
          <p:cNvSpPr/>
          <p:nvPr/>
        </p:nvSpPr>
        <p:spPr>
          <a:xfrm>
            <a:off x="2578608" y="2761488"/>
            <a:ext cx="1655063" cy="219456"/>
          </a:xfrm>
          <a:prstGeom prst="rect">
            <a:avLst/>
          </a:prstGeom>
          <a:noFill/>
          <a:ln/>
        </p:spPr>
        <p:txBody>
          <a:bodyPr wrap="square" rtlCol="0" anchor="ctr">
            <a:normAutofit fontScale="92500" lnSpcReduction="20000"/>
          </a:bodyPr>
          <a:lstStyle/>
          <a:p>
            <a:pPr marL="0" indent="0" algn="l">
              <a:buNone/>
            </a:pPr>
            <a:r>
              <a:rPr lang="en-US" sz="1050" b="1" kern="0" dirty="0">
                <a:solidFill>
                  <a:srgbClr val="003D5B"/>
                </a:solidFill>
                <a:latin typeface="Calibri" pitchFamily="34" charset="0"/>
                <a:ea typeface="Calibri" pitchFamily="34" charset="-122"/>
                <a:cs typeface="Calibri" pitchFamily="34" charset="-120"/>
              </a:rPr>
              <a:t>Records declared</a:t>
            </a:r>
          </a:p>
        </p:txBody>
      </p:sp>
      <p:sp>
        <p:nvSpPr>
          <p:cNvPr id="1024" name="Bullet"/>
          <p:cNvSpPr/>
          <p:nvPr/>
        </p:nvSpPr>
        <p:spPr>
          <a:xfrm>
            <a:off x="2578608" y="3118103"/>
            <a:ext cx="50292" cy="50292"/>
          </a:xfrm>
          <a:prstGeom prst="rect">
            <a:avLst/>
          </a:prstGeom>
          <a:solidFill>
            <a:srgbClr val="009B8A"/>
          </a:solidFill>
          <a:ln/>
        </p:spPr>
        <p:txBody>
          <a:bodyPr/>
          <a:lstStyle/>
          <a:p>
            <a:endParaRPr lang="en-PH" sz="1000"/>
          </a:p>
        </p:txBody>
      </p:sp>
      <p:sp>
        <p:nvSpPr>
          <p:cNvPr id="1025" name="Text"/>
          <p:cNvSpPr/>
          <p:nvPr/>
        </p:nvSpPr>
        <p:spPr>
          <a:xfrm>
            <a:off x="2724912" y="3054096"/>
            <a:ext cx="1545336" cy="201168"/>
          </a:xfrm>
          <a:prstGeom prst="rect">
            <a:avLst/>
          </a:prstGeom>
          <a:noFill/>
          <a:ln/>
        </p:spPr>
        <p:txBody>
          <a:bodyPr wrap="square" rtlCol="0" anchor="ctr">
            <a:normAutofit fontScale="92500" lnSpcReduction="10000"/>
          </a:bodyPr>
          <a:lstStyle/>
          <a:p>
            <a:pPr marL="0" indent="0" algn="l">
              <a:buNone/>
            </a:pPr>
            <a:r>
              <a:rPr lang="en-US" sz="900" b="0" kern="0" dirty="0">
                <a:solidFill>
                  <a:srgbClr val="333333"/>
                </a:solidFill>
                <a:latin typeface="Calibri" pitchFamily="34" charset="0"/>
                <a:ea typeface="Calibri" pitchFamily="34" charset="-122"/>
                <a:cs typeface="Calibri" pitchFamily="34" charset="-120"/>
              </a:rPr>
              <a:t>Records declared</a:t>
            </a:r>
          </a:p>
        </p:txBody>
      </p:sp>
      <p:sp>
        <p:nvSpPr>
          <p:cNvPr id="1026" name="Bullet"/>
          <p:cNvSpPr/>
          <p:nvPr/>
        </p:nvSpPr>
        <p:spPr>
          <a:xfrm>
            <a:off x="2578608" y="3392423"/>
            <a:ext cx="50292" cy="50292"/>
          </a:xfrm>
          <a:prstGeom prst="rect">
            <a:avLst/>
          </a:prstGeom>
          <a:solidFill>
            <a:srgbClr val="009B8A"/>
          </a:solidFill>
          <a:ln/>
        </p:spPr>
        <p:txBody>
          <a:bodyPr/>
          <a:lstStyle/>
          <a:p>
            <a:endParaRPr lang="en-PH" sz="1000"/>
          </a:p>
        </p:txBody>
      </p:sp>
      <p:sp>
        <p:nvSpPr>
          <p:cNvPr id="1027" name="Text"/>
          <p:cNvSpPr/>
          <p:nvPr/>
        </p:nvSpPr>
        <p:spPr>
          <a:xfrm>
            <a:off x="2724912" y="3328415"/>
            <a:ext cx="1545336" cy="201168"/>
          </a:xfrm>
          <a:prstGeom prst="rect">
            <a:avLst/>
          </a:prstGeom>
          <a:noFill/>
          <a:ln/>
        </p:spPr>
        <p:txBody>
          <a:bodyPr wrap="square" rtlCol="0" anchor="ctr">
            <a:normAutofit fontScale="92500" lnSpcReduction="10000"/>
          </a:bodyPr>
          <a:lstStyle/>
          <a:p>
            <a:pPr marL="0" indent="0" algn="l">
              <a:buNone/>
            </a:pPr>
            <a:r>
              <a:rPr lang="en-US" sz="900" b="0" kern="0" dirty="0">
                <a:solidFill>
                  <a:srgbClr val="333333"/>
                </a:solidFill>
                <a:latin typeface="Calibri" pitchFamily="34" charset="0"/>
                <a:ea typeface="Calibri" pitchFamily="34" charset="-122"/>
                <a:cs typeface="Calibri" pitchFamily="34" charset="-120"/>
              </a:rPr>
              <a:t>People who declared a record</a:t>
            </a:r>
          </a:p>
        </p:txBody>
      </p:sp>
      <p:sp>
        <p:nvSpPr>
          <p:cNvPr id="1028" name="Bullet"/>
          <p:cNvSpPr/>
          <p:nvPr/>
        </p:nvSpPr>
        <p:spPr>
          <a:xfrm>
            <a:off x="2578608" y="3666744"/>
            <a:ext cx="50292" cy="50292"/>
          </a:xfrm>
          <a:prstGeom prst="rect">
            <a:avLst/>
          </a:prstGeom>
          <a:solidFill>
            <a:srgbClr val="009B8A"/>
          </a:solidFill>
          <a:ln/>
        </p:spPr>
        <p:txBody>
          <a:bodyPr/>
          <a:lstStyle/>
          <a:p>
            <a:endParaRPr lang="en-PH" sz="1000"/>
          </a:p>
        </p:txBody>
      </p:sp>
      <p:sp>
        <p:nvSpPr>
          <p:cNvPr id="1029" name="Text"/>
          <p:cNvSpPr/>
          <p:nvPr/>
        </p:nvSpPr>
        <p:spPr>
          <a:xfrm>
            <a:off x="2724912" y="3602735"/>
            <a:ext cx="1545336" cy="201168"/>
          </a:xfrm>
          <a:prstGeom prst="rect">
            <a:avLst/>
          </a:prstGeom>
          <a:noFill/>
          <a:ln/>
        </p:spPr>
        <p:txBody>
          <a:bodyPr wrap="square" rtlCol="0" anchor="ctr">
            <a:normAutofit fontScale="70000" lnSpcReduction="20000"/>
          </a:bodyPr>
          <a:lstStyle/>
          <a:p>
            <a:pPr marL="0" indent="0" algn="l">
              <a:buNone/>
            </a:pPr>
            <a:r>
              <a:rPr lang="en-US" sz="900" b="0" kern="0" dirty="0">
                <a:solidFill>
                  <a:srgbClr val="333333"/>
                </a:solidFill>
                <a:latin typeface="Calibri" pitchFamily="34" charset="0"/>
                <a:ea typeface="Calibri" pitchFamily="34" charset="-122"/>
                <a:cs typeface="Calibri" pitchFamily="34" charset="-120"/>
              </a:rPr>
              <a:t>Share of documents declared as records</a:t>
            </a:r>
          </a:p>
        </p:txBody>
      </p:sp>
      <p:sp>
        <p:nvSpPr>
          <p:cNvPr id="1030" name="Rule"/>
          <p:cNvSpPr/>
          <p:nvPr/>
        </p:nvSpPr>
        <p:spPr>
          <a:xfrm>
            <a:off x="4544568" y="2688336"/>
            <a:ext cx="1655063" cy="32004"/>
          </a:xfrm>
          <a:prstGeom prst="rect">
            <a:avLst/>
          </a:prstGeom>
          <a:solidFill>
            <a:srgbClr val="009B8A"/>
          </a:solidFill>
          <a:ln/>
        </p:spPr>
        <p:txBody>
          <a:bodyPr/>
          <a:lstStyle/>
          <a:p>
            <a:endParaRPr lang="en-PH" sz="1000"/>
          </a:p>
        </p:txBody>
      </p:sp>
      <p:sp>
        <p:nvSpPr>
          <p:cNvPr id="1031" name="Text"/>
          <p:cNvSpPr/>
          <p:nvPr/>
        </p:nvSpPr>
        <p:spPr>
          <a:xfrm>
            <a:off x="4544568" y="2761488"/>
            <a:ext cx="1655063" cy="219456"/>
          </a:xfrm>
          <a:prstGeom prst="rect">
            <a:avLst/>
          </a:prstGeom>
          <a:noFill/>
          <a:ln/>
        </p:spPr>
        <p:txBody>
          <a:bodyPr wrap="square" rtlCol="0" anchor="ctr">
            <a:normAutofit fontScale="92500" lnSpcReduction="20000"/>
          </a:bodyPr>
          <a:lstStyle/>
          <a:p>
            <a:pPr marL="0" indent="0" algn="l">
              <a:buNone/>
            </a:pPr>
            <a:r>
              <a:rPr lang="en-US" sz="1050" b="1" kern="0" dirty="0">
                <a:solidFill>
                  <a:srgbClr val="003D5B"/>
                </a:solidFill>
                <a:latin typeface="Calibri" pitchFamily="34" charset="0"/>
                <a:ea typeface="Calibri" pitchFamily="34" charset="-122"/>
                <a:cs typeface="Calibri" pitchFamily="34" charset="-120"/>
              </a:rPr>
              <a:t>Physical counterparts</a:t>
            </a:r>
          </a:p>
        </p:txBody>
      </p:sp>
      <p:sp>
        <p:nvSpPr>
          <p:cNvPr id="1032" name="Bullet"/>
          <p:cNvSpPr/>
          <p:nvPr/>
        </p:nvSpPr>
        <p:spPr>
          <a:xfrm>
            <a:off x="4544568" y="3118103"/>
            <a:ext cx="50292" cy="50292"/>
          </a:xfrm>
          <a:prstGeom prst="rect">
            <a:avLst/>
          </a:prstGeom>
          <a:solidFill>
            <a:srgbClr val="009B8A"/>
          </a:solidFill>
          <a:ln/>
        </p:spPr>
        <p:txBody>
          <a:bodyPr/>
          <a:lstStyle/>
          <a:p>
            <a:endParaRPr lang="en-PH" sz="1000"/>
          </a:p>
        </p:txBody>
      </p:sp>
      <p:sp>
        <p:nvSpPr>
          <p:cNvPr id="1033" name="Text"/>
          <p:cNvSpPr/>
          <p:nvPr/>
        </p:nvSpPr>
        <p:spPr>
          <a:xfrm>
            <a:off x="4690872" y="3054096"/>
            <a:ext cx="1545336" cy="201168"/>
          </a:xfrm>
          <a:prstGeom prst="rect">
            <a:avLst/>
          </a:prstGeom>
          <a:noFill/>
          <a:ln/>
        </p:spPr>
        <p:txBody>
          <a:bodyPr wrap="square" rtlCol="0" anchor="ctr">
            <a:normAutofit fontScale="92500" lnSpcReduction="10000"/>
          </a:bodyPr>
          <a:lstStyle/>
          <a:p>
            <a:pPr marL="0" indent="0" algn="l">
              <a:buNone/>
            </a:pPr>
            <a:r>
              <a:rPr lang="en-US" sz="900" b="0" kern="0" dirty="0">
                <a:solidFill>
                  <a:srgbClr val="333333"/>
                </a:solidFill>
                <a:latin typeface="Calibri" pitchFamily="34" charset="0"/>
                <a:ea typeface="Calibri" pitchFamily="34" charset="-122"/>
                <a:cs typeface="Calibri" pitchFamily="34" charset="-120"/>
              </a:rPr>
              <a:t>Physical counterparts recorded</a:t>
            </a:r>
          </a:p>
        </p:txBody>
      </p:sp>
      <p:sp>
        <p:nvSpPr>
          <p:cNvPr id="1034" name="Bullet"/>
          <p:cNvSpPr/>
          <p:nvPr/>
        </p:nvSpPr>
        <p:spPr>
          <a:xfrm>
            <a:off x="4544568" y="3392423"/>
            <a:ext cx="50292" cy="50292"/>
          </a:xfrm>
          <a:prstGeom prst="rect">
            <a:avLst/>
          </a:prstGeom>
          <a:solidFill>
            <a:srgbClr val="009B8A"/>
          </a:solidFill>
          <a:ln/>
        </p:spPr>
        <p:txBody>
          <a:bodyPr/>
          <a:lstStyle/>
          <a:p>
            <a:endParaRPr lang="en-PH" sz="1000"/>
          </a:p>
        </p:txBody>
      </p:sp>
      <p:sp>
        <p:nvSpPr>
          <p:cNvPr id="1035" name="Text"/>
          <p:cNvSpPr/>
          <p:nvPr/>
        </p:nvSpPr>
        <p:spPr>
          <a:xfrm>
            <a:off x="4690872" y="3328415"/>
            <a:ext cx="1545336" cy="201168"/>
          </a:xfrm>
          <a:prstGeom prst="rect">
            <a:avLst/>
          </a:prstGeom>
          <a:noFill/>
          <a:ln/>
        </p:spPr>
        <p:txBody>
          <a:bodyPr wrap="square" rtlCol="0" anchor="ctr">
            <a:normAutofit fontScale="77500" lnSpcReduction="20000"/>
          </a:bodyPr>
          <a:lstStyle/>
          <a:p>
            <a:pPr marL="0" indent="0" algn="l">
              <a:buNone/>
            </a:pPr>
            <a:r>
              <a:rPr lang="en-US" sz="900" b="0" kern="0" dirty="0">
                <a:solidFill>
                  <a:srgbClr val="333333"/>
                </a:solidFill>
                <a:latin typeface="Calibri" pitchFamily="34" charset="0"/>
                <a:ea typeface="Calibri" pitchFamily="34" charset="-122"/>
                <a:cs typeface="Calibri" pitchFamily="34" charset="-120"/>
              </a:rPr>
              <a:t>Share of records with a counterpart</a:t>
            </a:r>
          </a:p>
        </p:txBody>
      </p:sp>
      <p:sp>
        <p:nvSpPr>
          <p:cNvPr id="1036" name="Rule"/>
          <p:cNvSpPr/>
          <p:nvPr/>
        </p:nvSpPr>
        <p:spPr>
          <a:xfrm>
            <a:off x="6510527" y="2688336"/>
            <a:ext cx="1655063" cy="32004"/>
          </a:xfrm>
          <a:prstGeom prst="rect">
            <a:avLst/>
          </a:prstGeom>
          <a:solidFill>
            <a:srgbClr val="009B8A"/>
          </a:solidFill>
          <a:ln/>
        </p:spPr>
        <p:txBody>
          <a:bodyPr/>
          <a:lstStyle/>
          <a:p>
            <a:endParaRPr lang="en-PH" sz="1000"/>
          </a:p>
        </p:txBody>
      </p:sp>
      <p:sp>
        <p:nvSpPr>
          <p:cNvPr id="1037" name="Text"/>
          <p:cNvSpPr/>
          <p:nvPr/>
        </p:nvSpPr>
        <p:spPr>
          <a:xfrm>
            <a:off x="6510527" y="2761488"/>
            <a:ext cx="1655063" cy="219456"/>
          </a:xfrm>
          <a:prstGeom prst="rect">
            <a:avLst/>
          </a:prstGeom>
          <a:noFill/>
          <a:ln/>
        </p:spPr>
        <p:txBody>
          <a:bodyPr wrap="square" rtlCol="0" anchor="ctr">
            <a:normAutofit fontScale="92500" lnSpcReduction="20000"/>
          </a:bodyPr>
          <a:lstStyle/>
          <a:p>
            <a:pPr marL="0" indent="0" algn="l">
              <a:buNone/>
            </a:pPr>
            <a:r>
              <a:rPr lang="en-US" sz="1050" b="1" kern="0" dirty="0">
                <a:solidFill>
                  <a:srgbClr val="003D5B"/>
                </a:solidFill>
                <a:latin typeface="Calibri" pitchFamily="34" charset="0"/>
                <a:ea typeface="Calibri" pitchFamily="34" charset="-122"/>
                <a:cs typeface="Calibri" pitchFamily="34" charset="-120"/>
              </a:rPr>
              <a:t>Retention position</a:t>
            </a:r>
          </a:p>
        </p:txBody>
      </p:sp>
      <p:sp>
        <p:nvSpPr>
          <p:cNvPr id="1038" name="Bullet"/>
          <p:cNvSpPr/>
          <p:nvPr/>
        </p:nvSpPr>
        <p:spPr>
          <a:xfrm>
            <a:off x="6510527" y="3118103"/>
            <a:ext cx="50292" cy="50292"/>
          </a:xfrm>
          <a:prstGeom prst="rect">
            <a:avLst/>
          </a:prstGeom>
          <a:solidFill>
            <a:srgbClr val="009B8A"/>
          </a:solidFill>
          <a:ln/>
        </p:spPr>
        <p:txBody>
          <a:bodyPr/>
          <a:lstStyle/>
          <a:p>
            <a:endParaRPr lang="en-PH" sz="1000"/>
          </a:p>
        </p:txBody>
      </p:sp>
      <p:sp>
        <p:nvSpPr>
          <p:cNvPr id="1039" name="Text"/>
          <p:cNvSpPr/>
          <p:nvPr/>
        </p:nvSpPr>
        <p:spPr>
          <a:xfrm>
            <a:off x="6656831" y="3054096"/>
            <a:ext cx="1545336" cy="201168"/>
          </a:xfrm>
          <a:prstGeom prst="rect">
            <a:avLst/>
          </a:prstGeom>
          <a:noFill/>
          <a:ln/>
        </p:spPr>
        <p:txBody>
          <a:bodyPr wrap="square" rtlCol="0" anchor="ctr">
            <a:normAutofit fontScale="77500" lnSpcReduction="20000"/>
          </a:bodyPr>
          <a:lstStyle/>
          <a:p>
            <a:pPr marL="0" indent="0" algn="l">
              <a:buNone/>
            </a:pPr>
            <a:r>
              <a:rPr lang="en-US" sz="900" b="0" kern="0" dirty="0">
                <a:solidFill>
                  <a:srgbClr val="333333"/>
                </a:solidFill>
                <a:latin typeface="Calibri" pitchFamily="34" charset="0"/>
                <a:ea typeface="Calibri" pitchFamily="34" charset="-122"/>
                <a:cs typeface="Calibri" pitchFamily="34" charset="-120"/>
              </a:rPr>
              <a:t>Records due within 30 and 90 days</a:t>
            </a:r>
          </a:p>
        </p:txBody>
      </p:sp>
      <p:sp>
        <p:nvSpPr>
          <p:cNvPr id="1040" name="Bullet"/>
          <p:cNvSpPr/>
          <p:nvPr/>
        </p:nvSpPr>
        <p:spPr>
          <a:xfrm>
            <a:off x="6510527" y="3392423"/>
            <a:ext cx="50292" cy="50292"/>
          </a:xfrm>
          <a:prstGeom prst="rect">
            <a:avLst/>
          </a:prstGeom>
          <a:solidFill>
            <a:srgbClr val="009B8A"/>
          </a:solidFill>
          <a:ln/>
        </p:spPr>
        <p:txBody>
          <a:bodyPr/>
          <a:lstStyle/>
          <a:p>
            <a:endParaRPr lang="en-PH" sz="1000"/>
          </a:p>
        </p:txBody>
      </p:sp>
      <p:sp>
        <p:nvSpPr>
          <p:cNvPr id="1041" name="Text"/>
          <p:cNvSpPr/>
          <p:nvPr/>
        </p:nvSpPr>
        <p:spPr>
          <a:xfrm>
            <a:off x="6656831" y="3328415"/>
            <a:ext cx="1545336" cy="201168"/>
          </a:xfrm>
          <a:prstGeom prst="rect">
            <a:avLst/>
          </a:prstGeom>
          <a:noFill/>
          <a:ln/>
        </p:spPr>
        <p:txBody>
          <a:bodyPr wrap="square" rtlCol="0" anchor="ctr">
            <a:normAutofit fontScale="92500" lnSpcReduction="10000"/>
          </a:bodyPr>
          <a:lstStyle/>
          <a:p>
            <a:pPr marL="0" indent="0" algn="l">
              <a:buNone/>
            </a:pPr>
            <a:r>
              <a:rPr lang="en-US" sz="900" b="0" kern="0" dirty="0">
                <a:solidFill>
                  <a:srgbClr val="333333"/>
                </a:solidFill>
                <a:latin typeface="Calibri" pitchFamily="34" charset="0"/>
                <a:ea typeface="Calibri" pitchFamily="34" charset="-122"/>
                <a:cs typeface="Calibri" pitchFamily="34" charset="-120"/>
              </a:rPr>
              <a:t>Records due within 12 months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1" name="Title"/>
          <p:cNvSpPr/>
          <p:nvPr/>
        </p:nvSpPr>
        <p:spPr>
          <a:xfrm>
            <a:off x="201168" y="91440"/>
            <a:ext cx="8412480" cy="493776"/>
          </a:xfrm>
          <a:prstGeom prst="rect">
            <a:avLst/>
          </a:prstGeom>
          <a:noFill/>
          <a:ln/>
        </p:spPr>
        <p:txBody>
          <a:bodyPr wrap="square" rtlCol="0" anchor="ctr">
            <a:normAutofit lnSpcReduction="10000"/>
          </a:bodyPr>
          <a:lstStyle/>
          <a:p>
            <a:pPr marL="0" indent="0" algn="l">
              <a:buNone/>
            </a:pPr>
            <a:r>
              <a:rPr lang="en-US" sz="2700" b="1" kern="0" dirty="0">
                <a:solidFill>
                  <a:srgbClr val="003D5B"/>
                </a:solidFill>
                <a:latin typeface="Calibri" pitchFamily="34" charset="0"/>
                <a:ea typeface="Calibri" pitchFamily="34" charset="-122"/>
                <a:cs typeface="Calibri" pitchFamily="34" charset="-120"/>
              </a:rPr>
              <a:t>Department Insights</a:t>
            </a:r>
          </a:p>
        </p:txBody>
      </p:sp>
      <p:sp>
        <p:nvSpPr>
          <p:cNvPr id="1002" name="Subtitle"/>
          <p:cNvSpPr/>
          <p:nvPr/>
        </p:nvSpPr>
        <p:spPr>
          <a:xfrm>
            <a:off x="192024" y="640080"/>
            <a:ext cx="8412480" cy="310896"/>
          </a:xfrm>
          <a:prstGeom prst="rect">
            <a:avLst/>
          </a:prstGeom>
          <a:noFill/>
          <a:ln/>
        </p:spPr>
        <p:txBody>
          <a:bodyPr wrap="square" rtlCol="0" anchor="ctr">
            <a:normAutofit/>
          </a:bodyPr>
          <a:lstStyle/>
          <a:p>
            <a:pPr marL="0" indent="0" algn="l">
              <a:buNone/>
            </a:pPr>
            <a:r>
              <a:rPr lang="en-US" sz="1400" b="0" kern="0" dirty="0">
                <a:solidFill>
                  <a:srgbClr val="009B8A"/>
                </a:solidFill>
                <a:latin typeface="Calibri" pitchFamily="34" charset="0"/>
                <a:ea typeface="Calibri" pitchFamily="34" charset="-122"/>
                <a:cs typeface="Calibri" pitchFamily="34" charset="-120"/>
              </a:rPr>
              <a:t>The same measures as Bank-wide, cut by department, office and Records Management unit.</a:t>
            </a:r>
          </a:p>
        </p:txBody>
      </p:sp>
      <p:sp>
        <p:nvSpPr>
          <p:cNvPr id="1003" name="Rule"/>
          <p:cNvSpPr/>
          <p:nvPr/>
        </p:nvSpPr>
        <p:spPr>
          <a:xfrm>
            <a:off x="411480" y="1097280"/>
            <a:ext cx="2578608" cy="36576"/>
          </a:xfrm>
          <a:prstGeom prst="rect">
            <a:avLst/>
          </a:prstGeom>
          <a:solidFill>
            <a:srgbClr val="009B8A"/>
          </a:solidFill>
          <a:ln/>
        </p:spPr>
        <p:txBody>
          <a:bodyPr/>
          <a:lstStyle/>
          <a:p>
            <a:endParaRPr lang="en-PH" sz="1000"/>
          </a:p>
        </p:txBody>
      </p:sp>
      <p:sp>
        <p:nvSpPr>
          <p:cNvPr id="1004" name="Text"/>
          <p:cNvSpPr/>
          <p:nvPr/>
        </p:nvSpPr>
        <p:spPr>
          <a:xfrm>
            <a:off x="411480" y="1152144"/>
            <a:ext cx="2578608" cy="210312"/>
          </a:xfrm>
          <a:prstGeom prst="rect">
            <a:avLst/>
          </a:prstGeom>
          <a:noFill/>
          <a:ln/>
        </p:spPr>
        <p:txBody>
          <a:bodyPr wrap="square" rtlCol="0" anchor="ctr">
            <a:normAutofit fontScale="77500" lnSpcReduction="20000"/>
          </a:bodyPr>
          <a:lstStyle/>
          <a:p>
            <a:pPr marL="0" indent="0" algn="l">
              <a:buNone/>
            </a:pPr>
            <a:r>
              <a:rPr lang="en-US" sz="1200" b="1" kern="0" dirty="0">
                <a:solidFill>
                  <a:srgbClr val="003D5B"/>
                </a:solidFill>
                <a:latin typeface="Calibri" pitchFamily="34" charset="0"/>
                <a:ea typeface="Calibri" pitchFamily="34" charset="-122"/>
                <a:cs typeface="Calibri" pitchFamily="34" charset="-120"/>
              </a:rPr>
              <a:t>Compare like with like</a:t>
            </a:r>
          </a:p>
        </p:txBody>
      </p:sp>
      <p:sp>
        <p:nvSpPr>
          <p:cNvPr id="1005" name="Text"/>
          <p:cNvSpPr/>
          <p:nvPr/>
        </p:nvSpPr>
        <p:spPr>
          <a:xfrm>
            <a:off x="411480" y="1435607"/>
            <a:ext cx="2578608" cy="786384"/>
          </a:xfrm>
          <a:prstGeom prst="rect">
            <a:avLst/>
          </a:prstGeom>
          <a:noFill/>
          <a:ln/>
        </p:spPr>
        <p:txBody>
          <a:bodyPr wrap="square" rtlCol="0" anchor="t">
            <a:normAutofit/>
          </a:bodyPr>
          <a:lstStyle/>
          <a:p>
            <a:pPr marL="0" indent="0" algn="l">
              <a:lnSpc>
                <a:spcPct val="92000"/>
              </a:lnSpc>
              <a:buNone/>
            </a:pPr>
            <a:r>
              <a:rPr lang="en-US" sz="1000" b="0" kern="0" dirty="0">
                <a:solidFill>
                  <a:srgbClr val="333333"/>
                </a:solidFill>
                <a:latin typeface="Calibri" pitchFamily="34" charset="0"/>
                <a:ea typeface="Calibri" pitchFamily="34" charset="-122"/>
                <a:cs typeface="Calibri" pitchFamily="34" charset="-120"/>
              </a:rPr>
              <a:t>Departments side by side on the same measures, so a strong or weak performer is visible without a separate report.</a:t>
            </a:r>
          </a:p>
        </p:txBody>
      </p:sp>
      <p:sp>
        <p:nvSpPr>
          <p:cNvPr id="1009" name="Rule"/>
          <p:cNvSpPr/>
          <p:nvPr/>
        </p:nvSpPr>
        <p:spPr>
          <a:xfrm>
            <a:off x="3584122" y="1097280"/>
            <a:ext cx="2578608" cy="36576"/>
          </a:xfrm>
          <a:prstGeom prst="rect">
            <a:avLst/>
          </a:prstGeom>
          <a:solidFill>
            <a:srgbClr val="009B8A"/>
          </a:solidFill>
          <a:ln/>
        </p:spPr>
        <p:txBody>
          <a:bodyPr/>
          <a:lstStyle/>
          <a:p>
            <a:endParaRPr lang="en-PH" sz="1000"/>
          </a:p>
        </p:txBody>
      </p:sp>
      <p:sp>
        <p:nvSpPr>
          <p:cNvPr id="1010" name="Text"/>
          <p:cNvSpPr/>
          <p:nvPr/>
        </p:nvSpPr>
        <p:spPr>
          <a:xfrm>
            <a:off x="3584122" y="1152144"/>
            <a:ext cx="2578608" cy="210312"/>
          </a:xfrm>
          <a:prstGeom prst="rect">
            <a:avLst/>
          </a:prstGeom>
          <a:noFill/>
          <a:ln/>
        </p:spPr>
        <p:txBody>
          <a:bodyPr wrap="square" rtlCol="0" anchor="ctr">
            <a:normAutofit fontScale="77500" lnSpcReduction="20000"/>
          </a:bodyPr>
          <a:lstStyle/>
          <a:p>
            <a:pPr marL="0" indent="0" algn="l">
              <a:buNone/>
            </a:pPr>
            <a:r>
              <a:rPr lang="en-US" sz="1200" b="1" kern="0" dirty="0">
                <a:solidFill>
                  <a:srgbClr val="003D5B"/>
                </a:solidFill>
                <a:latin typeface="Calibri" pitchFamily="34" charset="0"/>
                <a:ea typeface="Calibri" pitchFamily="34" charset="-122"/>
                <a:cs typeface="Calibri" pitchFamily="34" charset="-120"/>
              </a:rPr>
              <a:t>The working page</a:t>
            </a:r>
          </a:p>
        </p:txBody>
      </p:sp>
      <p:sp>
        <p:nvSpPr>
          <p:cNvPr id="1011" name="Text"/>
          <p:cNvSpPr/>
          <p:nvPr/>
        </p:nvSpPr>
        <p:spPr>
          <a:xfrm>
            <a:off x="3584122" y="1435607"/>
            <a:ext cx="2578608" cy="786384"/>
          </a:xfrm>
          <a:prstGeom prst="rect">
            <a:avLst/>
          </a:prstGeom>
          <a:noFill/>
          <a:ln/>
        </p:spPr>
        <p:txBody>
          <a:bodyPr wrap="square" rtlCol="0" anchor="t">
            <a:normAutofit/>
          </a:bodyPr>
          <a:lstStyle/>
          <a:p>
            <a:pPr marL="0" indent="0" algn="l">
              <a:lnSpc>
                <a:spcPct val="92000"/>
              </a:lnSpc>
              <a:buNone/>
            </a:pPr>
            <a:r>
              <a:rPr lang="en-US" sz="1000" b="0" kern="0" dirty="0">
                <a:solidFill>
                  <a:srgbClr val="333333"/>
                </a:solidFill>
                <a:latin typeface="Calibri" pitchFamily="34" charset="0"/>
                <a:ea typeface="Calibri" pitchFamily="34" charset="-122"/>
                <a:cs typeface="Calibri" pitchFamily="34" charset="-120"/>
              </a:rPr>
              <a:t>This is where a Records Officer spends their time. It is the largest and most detailed page in the report.</a:t>
            </a:r>
          </a:p>
        </p:txBody>
      </p:sp>
      <p:sp>
        <p:nvSpPr>
          <p:cNvPr id="1012" name="Text"/>
          <p:cNvSpPr/>
          <p:nvPr/>
        </p:nvSpPr>
        <p:spPr>
          <a:xfrm>
            <a:off x="411480" y="2231136"/>
            <a:ext cx="4572000" cy="201168"/>
          </a:xfrm>
          <a:prstGeom prst="rect">
            <a:avLst/>
          </a:prstGeom>
          <a:noFill/>
          <a:ln/>
        </p:spPr>
        <p:txBody>
          <a:bodyPr wrap="square" rtlCol="0" anchor="ctr">
            <a:normAutofit fontScale="70000" lnSpcReduction="20000"/>
          </a:bodyPr>
          <a:lstStyle/>
          <a:p>
            <a:pPr marL="0" indent="0" algn="l">
              <a:buNone/>
            </a:pPr>
            <a:r>
              <a:rPr lang="en-US" sz="1200" b="1" kern="0" spc="105" dirty="0">
                <a:solidFill>
                  <a:srgbClr val="003D5B"/>
                </a:solidFill>
                <a:latin typeface="Calibri" pitchFamily="34" charset="0"/>
                <a:ea typeface="Calibri" pitchFamily="34" charset="-122"/>
                <a:cs typeface="Calibri" pitchFamily="34" charset="-120"/>
              </a:rPr>
              <a:t>WHAT YOU WILL SEE ON THE PAGE</a:t>
            </a:r>
          </a:p>
        </p:txBody>
      </p:sp>
      <p:sp>
        <p:nvSpPr>
          <p:cNvPr id="1013" name="Panel"/>
          <p:cNvSpPr/>
          <p:nvPr/>
        </p:nvSpPr>
        <p:spPr>
          <a:xfrm>
            <a:off x="411480" y="2487168"/>
            <a:ext cx="8321040" cy="2084831"/>
          </a:xfrm>
          <a:prstGeom prst="rect">
            <a:avLst/>
          </a:prstGeom>
          <a:solidFill>
            <a:srgbClr val="F4F7F8"/>
          </a:solidFill>
          <a:ln w="12700">
            <a:solidFill>
              <a:srgbClr val="D8DEE1"/>
            </a:solidFill>
            <a:prstDash val="solid"/>
          </a:ln>
        </p:spPr>
        <p:txBody>
          <a:bodyPr/>
          <a:lstStyle/>
          <a:p>
            <a:endParaRPr lang="en-PH" sz="1000"/>
          </a:p>
        </p:txBody>
      </p:sp>
      <p:sp>
        <p:nvSpPr>
          <p:cNvPr id="1014" name="Rule"/>
          <p:cNvSpPr/>
          <p:nvPr/>
        </p:nvSpPr>
        <p:spPr>
          <a:xfrm>
            <a:off x="612648" y="2688336"/>
            <a:ext cx="1655063" cy="32004"/>
          </a:xfrm>
          <a:prstGeom prst="rect">
            <a:avLst/>
          </a:prstGeom>
          <a:solidFill>
            <a:srgbClr val="009B8A"/>
          </a:solidFill>
          <a:ln/>
        </p:spPr>
        <p:txBody>
          <a:bodyPr/>
          <a:lstStyle/>
          <a:p>
            <a:endParaRPr lang="en-PH" sz="1000"/>
          </a:p>
        </p:txBody>
      </p:sp>
      <p:sp>
        <p:nvSpPr>
          <p:cNvPr id="1015" name="Text"/>
          <p:cNvSpPr/>
          <p:nvPr/>
        </p:nvSpPr>
        <p:spPr>
          <a:xfrm>
            <a:off x="612648" y="2761488"/>
            <a:ext cx="1655063" cy="219456"/>
          </a:xfrm>
          <a:prstGeom prst="rect">
            <a:avLst/>
          </a:prstGeom>
          <a:noFill/>
          <a:ln/>
        </p:spPr>
        <p:txBody>
          <a:bodyPr wrap="square" rtlCol="0" anchor="ctr">
            <a:normAutofit fontScale="92500" lnSpcReduction="20000"/>
          </a:bodyPr>
          <a:lstStyle/>
          <a:p>
            <a:pPr marL="0" indent="0" algn="l">
              <a:buNone/>
            </a:pPr>
            <a:r>
              <a:rPr lang="en-US" sz="1050" b="1" kern="0" dirty="0">
                <a:solidFill>
                  <a:srgbClr val="003D5B"/>
                </a:solidFill>
                <a:latin typeface="Calibri" pitchFamily="34" charset="0"/>
                <a:ea typeface="Calibri" pitchFamily="34" charset="-122"/>
                <a:cs typeface="Calibri" pitchFamily="34" charset="-120"/>
              </a:rPr>
              <a:t>Profile</a:t>
            </a:r>
          </a:p>
        </p:txBody>
      </p:sp>
      <p:sp>
        <p:nvSpPr>
          <p:cNvPr id="1016" name="Bullet"/>
          <p:cNvSpPr/>
          <p:nvPr/>
        </p:nvSpPr>
        <p:spPr>
          <a:xfrm>
            <a:off x="612648" y="3118103"/>
            <a:ext cx="50292" cy="50292"/>
          </a:xfrm>
          <a:prstGeom prst="rect">
            <a:avLst/>
          </a:prstGeom>
          <a:solidFill>
            <a:srgbClr val="009B8A"/>
          </a:solidFill>
          <a:ln/>
        </p:spPr>
        <p:txBody>
          <a:bodyPr/>
          <a:lstStyle/>
          <a:p>
            <a:endParaRPr lang="en-PH" sz="1000"/>
          </a:p>
        </p:txBody>
      </p:sp>
      <p:sp>
        <p:nvSpPr>
          <p:cNvPr id="1017" name="Text"/>
          <p:cNvSpPr/>
          <p:nvPr/>
        </p:nvSpPr>
        <p:spPr>
          <a:xfrm>
            <a:off x="758952" y="3054096"/>
            <a:ext cx="1545336" cy="201168"/>
          </a:xfrm>
          <a:prstGeom prst="rect">
            <a:avLst/>
          </a:prstGeom>
          <a:noFill/>
          <a:ln/>
        </p:spPr>
        <p:txBody>
          <a:bodyPr wrap="square" rtlCol="0" anchor="ctr">
            <a:normAutofit fontScale="92500" lnSpcReduction="10000"/>
          </a:bodyPr>
          <a:lstStyle/>
          <a:p>
            <a:pPr marL="0" indent="0" algn="l">
              <a:buNone/>
            </a:pPr>
            <a:r>
              <a:rPr lang="en-US" sz="900" b="0" kern="0" dirty="0">
                <a:solidFill>
                  <a:srgbClr val="333333"/>
                </a:solidFill>
                <a:latin typeface="Calibri" pitchFamily="34" charset="0"/>
                <a:ea typeface="Calibri" pitchFamily="34" charset="-122"/>
                <a:cs typeface="Calibri" pitchFamily="34" charset="-120"/>
              </a:rPr>
              <a:t>EDRMS compliant sites created</a:t>
            </a:r>
          </a:p>
        </p:txBody>
      </p:sp>
      <p:sp>
        <p:nvSpPr>
          <p:cNvPr id="1018" name="Bullet"/>
          <p:cNvSpPr/>
          <p:nvPr/>
        </p:nvSpPr>
        <p:spPr>
          <a:xfrm>
            <a:off x="612648" y="3392423"/>
            <a:ext cx="50292" cy="50292"/>
          </a:xfrm>
          <a:prstGeom prst="rect">
            <a:avLst/>
          </a:prstGeom>
          <a:solidFill>
            <a:srgbClr val="009B8A"/>
          </a:solidFill>
          <a:ln/>
        </p:spPr>
        <p:txBody>
          <a:bodyPr/>
          <a:lstStyle/>
          <a:p>
            <a:endParaRPr lang="en-PH" sz="1000"/>
          </a:p>
        </p:txBody>
      </p:sp>
      <p:sp>
        <p:nvSpPr>
          <p:cNvPr id="1019" name="Text"/>
          <p:cNvSpPr/>
          <p:nvPr/>
        </p:nvSpPr>
        <p:spPr>
          <a:xfrm>
            <a:off x="758952" y="3328415"/>
            <a:ext cx="1545336" cy="201168"/>
          </a:xfrm>
          <a:prstGeom prst="rect">
            <a:avLst/>
          </a:prstGeom>
          <a:noFill/>
          <a:ln/>
        </p:spPr>
        <p:txBody>
          <a:bodyPr wrap="square" rtlCol="0" anchor="ctr">
            <a:normAutofit fontScale="92500" lnSpcReduction="10000"/>
          </a:bodyPr>
          <a:lstStyle/>
          <a:p>
            <a:pPr marL="0" indent="0" algn="l">
              <a:buNone/>
            </a:pPr>
            <a:r>
              <a:rPr lang="en-US" sz="900" b="0" kern="0" dirty="0">
                <a:solidFill>
                  <a:srgbClr val="333333"/>
                </a:solidFill>
                <a:latin typeface="Calibri" pitchFamily="34" charset="0"/>
                <a:ea typeface="Calibri" pitchFamily="34" charset="-122"/>
                <a:cs typeface="Calibri" pitchFamily="34" charset="-120"/>
              </a:rPr>
              <a:t>Users with recorded activity</a:t>
            </a:r>
          </a:p>
        </p:txBody>
      </p:sp>
      <p:sp>
        <p:nvSpPr>
          <p:cNvPr id="1020" name="Bullet"/>
          <p:cNvSpPr/>
          <p:nvPr/>
        </p:nvSpPr>
        <p:spPr>
          <a:xfrm>
            <a:off x="612648" y="3666744"/>
            <a:ext cx="50292" cy="50292"/>
          </a:xfrm>
          <a:prstGeom prst="rect">
            <a:avLst/>
          </a:prstGeom>
          <a:solidFill>
            <a:srgbClr val="009B8A"/>
          </a:solidFill>
          <a:ln/>
        </p:spPr>
        <p:txBody>
          <a:bodyPr/>
          <a:lstStyle/>
          <a:p>
            <a:endParaRPr lang="en-PH" sz="1000"/>
          </a:p>
        </p:txBody>
      </p:sp>
      <p:sp>
        <p:nvSpPr>
          <p:cNvPr id="1021" name="Text"/>
          <p:cNvSpPr/>
          <p:nvPr/>
        </p:nvSpPr>
        <p:spPr>
          <a:xfrm>
            <a:off x="758952" y="3602735"/>
            <a:ext cx="1545336" cy="201168"/>
          </a:xfrm>
          <a:prstGeom prst="rect">
            <a:avLst/>
          </a:prstGeom>
          <a:noFill/>
          <a:ln/>
        </p:spPr>
        <p:txBody>
          <a:bodyPr wrap="square" rtlCol="0" anchor="ctr">
            <a:normAutofit fontScale="92500" lnSpcReduction="10000"/>
          </a:bodyPr>
          <a:lstStyle/>
          <a:p>
            <a:pPr marL="0" indent="0" algn="l">
              <a:buNone/>
            </a:pPr>
            <a:r>
              <a:rPr lang="en-US" sz="900" b="0" kern="0" dirty="0">
                <a:solidFill>
                  <a:srgbClr val="333333"/>
                </a:solidFill>
                <a:latin typeface="Calibri" pitchFamily="34" charset="0"/>
                <a:ea typeface="Calibri" pitchFamily="34" charset="-122"/>
                <a:cs typeface="Calibri" pitchFamily="34" charset="-120"/>
              </a:rPr>
              <a:t>Site visits</a:t>
            </a:r>
          </a:p>
        </p:txBody>
      </p:sp>
      <p:sp>
        <p:nvSpPr>
          <p:cNvPr id="1022" name="Rule"/>
          <p:cNvSpPr/>
          <p:nvPr/>
        </p:nvSpPr>
        <p:spPr>
          <a:xfrm>
            <a:off x="2578608" y="2688336"/>
            <a:ext cx="1655063" cy="32004"/>
          </a:xfrm>
          <a:prstGeom prst="rect">
            <a:avLst/>
          </a:prstGeom>
          <a:solidFill>
            <a:srgbClr val="009B8A"/>
          </a:solidFill>
          <a:ln/>
        </p:spPr>
        <p:txBody>
          <a:bodyPr/>
          <a:lstStyle/>
          <a:p>
            <a:endParaRPr lang="en-PH" sz="1000"/>
          </a:p>
        </p:txBody>
      </p:sp>
      <p:sp>
        <p:nvSpPr>
          <p:cNvPr id="1023" name="Text"/>
          <p:cNvSpPr/>
          <p:nvPr/>
        </p:nvSpPr>
        <p:spPr>
          <a:xfrm>
            <a:off x="2578608" y="2761488"/>
            <a:ext cx="1655063" cy="219456"/>
          </a:xfrm>
          <a:prstGeom prst="rect">
            <a:avLst/>
          </a:prstGeom>
          <a:noFill/>
          <a:ln/>
        </p:spPr>
        <p:txBody>
          <a:bodyPr wrap="square" rtlCol="0" anchor="ctr">
            <a:normAutofit fontScale="92500" lnSpcReduction="20000"/>
          </a:bodyPr>
          <a:lstStyle/>
          <a:p>
            <a:pPr marL="0" indent="0" algn="l">
              <a:buNone/>
            </a:pPr>
            <a:r>
              <a:rPr lang="en-US" sz="1050" b="1" kern="0" dirty="0">
                <a:solidFill>
                  <a:srgbClr val="003D5B"/>
                </a:solidFill>
                <a:latin typeface="Calibri" pitchFamily="34" charset="0"/>
                <a:ea typeface="Calibri" pitchFamily="34" charset="-122"/>
                <a:cs typeface="Calibri" pitchFamily="34" charset="-120"/>
              </a:rPr>
              <a:t>Content</a:t>
            </a:r>
          </a:p>
        </p:txBody>
      </p:sp>
      <p:sp>
        <p:nvSpPr>
          <p:cNvPr id="1024" name="Bullet"/>
          <p:cNvSpPr/>
          <p:nvPr/>
        </p:nvSpPr>
        <p:spPr>
          <a:xfrm>
            <a:off x="2578608" y="3118103"/>
            <a:ext cx="50292" cy="50292"/>
          </a:xfrm>
          <a:prstGeom prst="rect">
            <a:avLst/>
          </a:prstGeom>
          <a:solidFill>
            <a:srgbClr val="009B8A"/>
          </a:solidFill>
          <a:ln/>
        </p:spPr>
        <p:txBody>
          <a:bodyPr/>
          <a:lstStyle/>
          <a:p>
            <a:endParaRPr lang="en-PH" sz="1000"/>
          </a:p>
        </p:txBody>
      </p:sp>
      <p:sp>
        <p:nvSpPr>
          <p:cNvPr id="1025" name="Text"/>
          <p:cNvSpPr/>
          <p:nvPr/>
        </p:nvSpPr>
        <p:spPr>
          <a:xfrm>
            <a:off x="2724912" y="3054096"/>
            <a:ext cx="1545336" cy="201168"/>
          </a:xfrm>
          <a:prstGeom prst="rect">
            <a:avLst/>
          </a:prstGeom>
          <a:noFill/>
          <a:ln/>
        </p:spPr>
        <p:txBody>
          <a:bodyPr wrap="square" rtlCol="0" anchor="ctr">
            <a:normAutofit fontScale="92500" lnSpcReduction="10000"/>
          </a:bodyPr>
          <a:lstStyle/>
          <a:p>
            <a:pPr marL="0" indent="0" algn="l">
              <a:buNone/>
            </a:pPr>
            <a:r>
              <a:rPr lang="en-US" sz="900" b="0" kern="0" dirty="0">
                <a:solidFill>
                  <a:srgbClr val="333333"/>
                </a:solidFill>
                <a:latin typeface="Calibri" pitchFamily="34" charset="0"/>
                <a:ea typeface="Calibri" pitchFamily="34" charset="-122"/>
                <a:cs typeface="Calibri" pitchFamily="34" charset="-120"/>
              </a:rPr>
              <a:t>Total documents</a:t>
            </a:r>
          </a:p>
        </p:txBody>
      </p:sp>
      <p:sp>
        <p:nvSpPr>
          <p:cNvPr id="1026" name="Bullet"/>
          <p:cNvSpPr/>
          <p:nvPr/>
        </p:nvSpPr>
        <p:spPr>
          <a:xfrm>
            <a:off x="2578608" y="3392423"/>
            <a:ext cx="50292" cy="50292"/>
          </a:xfrm>
          <a:prstGeom prst="rect">
            <a:avLst/>
          </a:prstGeom>
          <a:solidFill>
            <a:srgbClr val="009B8A"/>
          </a:solidFill>
          <a:ln/>
        </p:spPr>
        <p:txBody>
          <a:bodyPr/>
          <a:lstStyle/>
          <a:p>
            <a:endParaRPr lang="en-PH" sz="1000"/>
          </a:p>
        </p:txBody>
      </p:sp>
      <p:sp>
        <p:nvSpPr>
          <p:cNvPr id="1027" name="Text"/>
          <p:cNvSpPr/>
          <p:nvPr/>
        </p:nvSpPr>
        <p:spPr>
          <a:xfrm>
            <a:off x="2724912" y="3328415"/>
            <a:ext cx="1545336" cy="201168"/>
          </a:xfrm>
          <a:prstGeom prst="rect">
            <a:avLst/>
          </a:prstGeom>
          <a:noFill/>
          <a:ln/>
        </p:spPr>
        <p:txBody>
          <a:bodyPr wrap="square" rtlCol="0" anchor="ctr">
            <a:normAutofit fontScale="92500" lnSpcReduction="10000"/>
          </a:bodyPr>
          <a:lstStyle/>
          <a:p>
            <a:pPr marL="0" indent="0" algn="l">
              <a:buNone/>
            </a:pPr>
            <a:r>
              <a:rPr lang="en-US" sz="900" b="0" kern="0" dirty="0">
                <a:solidFill>
                  <a:srgbClr val="333333"/>
                </a:solidFill>
                <a:latin typeface="Calibri" pitchFamily="34" charset="0"/>
                <a:ea typeface="Calibri" pitchFamily="34" charset="-122"/>
                <a:cs typeface="Calibri" pitchFamily="34" charset="-120"/>
              </a:rPr>
              <a:t>Total documents size</a:t>
            </a:r>
          </a:p>
        </p:txBody>
      </p:sp>
      <p:sp>
        <p:nvSpPr>
          <p:cNvPr id="1028" name="Bullet"/>
          <p:cNvSpPr/>
          <p:nvPr/>
        </p:nvSpPr>
        <p:spPr>
          <a:xfrm>
            <a:off x="2578608" y="3666744"/>
            <a:ext cx="50292" cy="50292"/>
          </a:xfrm>
          <a:prstGeom prst="rect">
            <a:avLst/>
          </a:prstGeom>
          <a:solidFill>
            <a:srgbClr val="009B8A"/>
          </a:solidFill>
          <a:ln/>
        </p:spPr>
        <p:txBody>
          <a:bodyPr/>
          <a:lstStyle/>
          <a:p>
            <a:endParaRPr lang="en-PH" sz="1000"/>
          </a:p>
        </p:txBody>
      </p:sp>
      <p:sp>
        <p:nvSpPr>
          <p:cNvPr id="1029" name="Text"/>
          <p:cNvSpPr/>
          <p:nvPr/>
        </p:nvSpPr>
        <p:spPr>
          <a:xfrm>
            <a:off x="2724912" y="3602735"/>
            <a:ext cx="1545336" cy="201168"/>
          </a:xfrm>
          <a:prstGeom prst="rect">
            <a:avLst/>
          </a:prstGeom>
          <a:noFill/>
          <a:ln/>
        </p:spPr>
        <p:txBody>
          <a:bodyPr wrap="square" rtlCol="0" anchor="ctr">
            <a:normAutofit fontScale="70000" lnSpcReduction="20000"/>
          </a:bodyPr>
          <a:lstStyle/>
          <a:p>
            <a:pPr marL="0" indent="0" algn="l">
              <a:buNone/>
            </a:pPr>
            <a:r>
              <a:rPr lang="en-US" sz="900" b="0" kern="0" dirty="0">
                <a:solidFill>
                  <a:srgbClr val="333333"/>
                </a:solidFill>
                <a:latin typeface="Calibri" pitchFamily="34" charset="0"/>
                <a:ea typeface="Calibri" pitchFamily="34" charset="-122"/>
                <a:cs typeface="Calibri" pitchFamily="34" charset="-120"/>
              </a:rPr>
              <a:t>Records declared and who declared them</a:t>
            </a:r>
          </a:p>
        </p:txBody>
      </p:sp>
      <p:sp>
        <p:nvSpPr>
          <p:cNvPr id="1030" name="Rule"/>
          <p:cNvSpPr/>
          <p:nvPr/>
        </p:nvSpPr>
        <p:spPr>
          <a:xfrm>
            <a:off x="4544568" y="2688336"/>
            <a:ext cx="1655063" cy="32004"/>
          </a:xfrm>
          <a:prstGeom prst="rect">
            <a:avLst/>
          </a:prstGeom>
          <a:solidFill>
            <a:srgbClr val="009B8A"/>
          </a:solidFill>
          <a:ln/>
        </p:spPr>
        <p:txBody>
          <a:bodyPr/>
          <a:lstStyle/>
          <a:p>
            <a:endParaRPr lang="en-PH" sz="1000"/>
          </a:p>
        </p:txBody>
      </p:sp>
      <p:sp>
        <p:nvSpPr>
          <p:cNvPr id="1031" name="Text"/>
          <p:cNvSpPr/>
          <p:nvPr/>
        </p:nvSpPr>
        <p:spPr>
          <a:xfrm>
            <a:off x="4544568" y="2761488"/>
            <a:ext cx="1655063" cy="219456"/>
          </a:xfrm>
          <a:prstGeom prst="rect">
            <a:avLst/>
          </a:prstGeom>
          <a:noFill/>
          <a:ln/>
        </p:spPr>
        <p:txBody>
          <a:bodyPr wrap="square" rtlCol="0" anchor="ctr">
            <a:normAutofit fontScale="92500" lnSpcReduction="20000"/>
          </a:bodyPr>
          <a:lstStyle/>
          <a:p>
            <a:pPr marL="0" indent="0" algn="l">
              <a:buNone/>
            </a:pPr>
            <a:r>
              <a:rPr lang="en-US" sz="1050" b="1" kern="0" dirty="0">
                <a:solidFill>
                  <a:srgbClr val="003D5B"/>
                </a:solidFill>
                <a:latin typeface="Calibri" pitchFamily="34" charset="0"/>
                <a:ea typeface="Calibri" pitchFamily="34" charset="-122"/>
                <a:cs typeface="Calibri" pitchFamily="34" charset="-120"/>
              </a:rPr>
              <a:t>Engagement</a:t>
            </a:r>
          </a:p>
        </p:txBody>
      </p:sp>
      <p:sp>
        <p:nvSpPr>
          <p:cNvPr id="1032" name="Bullet"/>
          <p:cNvSpPr/>
          <p:nvPr/>
        </p:nvSpPr>
        <p:spPr>
          <a:xfrm>
            <a:off x="4544568" y="3118103"/>
            <a:ext cx="50292" cy="50292"/>
          </a:xfrm>
          <a:prstGeom prst="rect">
            <a:avLst/>
          </a:prstGeom>
          <a:solidFill>
            <a:srgbClr val="009B8A"/>
          </a:solidFill>
          <a:ln/>
        </p:spPr>
        <p:txBody>
          <a:bodyPr/>
          <a:lstStyle/>
          <a:p>
            <a:endParaRPr lang="en-PH" sz="1000"/>
          </a:p>
        </p:txBody>
      </p:sp>
      <p:sp>
        <p:nvSpPr>
          <p:cNvPr id="1033" name="Text"/>
          <p:cNvSpPr/>
          <p:nvPr/>
        </p:nvSpPr>
        <p:spPr>
          <a:xfrm>
            <a:off x="4690872" y="3054096"/>
            <a:ext cx="1545336" cy="201168"/>
          </a:xfrm>
          <a:prstGeom prst="rect">
            <a:avLst/>
          </a:prstGeom>
          <a:noFill/>
          <a:ln/>
        </p:spPr>
        <p:txBody>
          <a:bodyPr wrap="square" rtlCol="0" anchor="ctr">
            <a:normAutofit fontScale="70000" lnSpcReduction="20000"/>
          </a:bodyPr>
          <a:lstStyle/>
          <a:p>
            <a:pPr marL="0" indent="0" algn="l">
              <a:buNone/>
            </a:pPr>
            <a:r>
              <a:rPr lang="en-US" sz="900" b="0" kern="0" dirty="0">
                <a:solidFill>
                  <a:srgbClr val="333333"/>
                </a:solidFill>
                <a:latin typeface="Calibri" pitchFamily="34" charset="0"/>
                <a:ea typeface="Calibri" pitchFamily="34" charset="-122"/>
                <a:cs typeface="Calibri" pitchFamily="34" charset="-120"/>
              </a:rPr>
              <a:t>Sites with no declared record in 180 days</a:t>
            </a:r>
          </a:p>
        </p:txBody>
      </p:sp>
      <p:sp>
        <p:nvSpPr>
          <p:cNvPr id="1034" name="Bullet"/>
          <p:cNvSpPr/>
          <p:nvPr/>
        </p:nvSpPr>
        <p:spPr>
          <a:xfrm>
            <a:off x="4544568" y="3392423"/>
            <a:ext cx="50292" cy="50292"/>
          </a:xfrm>
          <a:prstGeom prst="rect">
            <a:avLst/>
          </a:prstGeom>
          <a:solidFill>
            <a:srgbClr val="009B8A"/>
          </a:solidFill>
          <a:ln/>
        </p:spPr>
        <p:txBody>
          <a:bodyPr/>
          <a:lstStyle/>
          <a:p>
            <a:endParaRPr lang="en-PH" sz="1000"/>
          </a:p>
        </p:txBody>
      </p:sp>
      <p:sp>
        <p:nvSpPr>
          <p:cNvPr id="1035" name="Text"/>
          <p:cNvSpPr/>
          <p:nvPr/>
        </p:nvSpPr>
        <p:spPr>
          <a:xfrm>
            <a:off x="4690872" y="3328415"/>
            <a:ext cx="1545336" cy="201168"/>
          </a:xfrm>
          <a:prstGeom prst="rect">
            <a:avLst/>
          </a:prstGeom>
          <a:noFill/>
          <a:ln/>
        </p:spPr>
        <p:txBody>
          <a:bodyPr wrap="square" rtlCol="0" anchor="ctr">
            <a:normAutofit fontScale="92500" lnSpcReduction="10000"/>
          </a:bodyPr>
          <a:lstStyle/>
          <a:p>
            <a:pPr marL="0" indent="0" algn="l">
              <a:buNone/>
            </a:pPr>
            <a:r>
              <a:rPr lang="en-US" sz="900" b="0" kern="0" dirty="0">
                <a:solidFill>
                  <a:srgbClr val="333333"/>
                </a:solidFill>
                <a:latin typeface="Calibri" pitchFamily="34" charset="0"/>
                <a:ea typeface="Calibri" pitchFamily="34" charset="-122"/>
                <a:cs typeface="Calibri" pitchFamily="34" charset="-120"/>
              </a:rPr>
              <a:t>Access activity per site</a:t>
            </a:r>
          </a:p>
        </p:txBody>
      </p:sp>
      <p:sp>
        <p:nvSpPr>
          <p:cNvPr id="1036" name="Rule"/>
          <p:cNvSpPr/>
          <p:nvPr/>
        </p:nvSpPr>
        <p:spPr>
          <a:xfrm>
            <a:off x="6510527" y="2688336"/>
            <a:ext cx="1655063" cy="32004"/>
          </a:xfrm>
          <a:prstGeom prst="rect">
            <a:avLst/>
          </a:prstGeom>
          <a:solidFill>
            <a:srgbClr val="009B8A"/>
          </a:solidFill>
          <a:ln/>
        </p:spPr>
        <p:txBody>
          <a:bodyPr/>
          <a:lstStyle/>
          <a:p>
            <a:endParaRPr lang="en-PH" sz="1000"/>
          </a:p>
        </p:txBody>
      </p:sp>
      <p:sp>
        <p:nvSpPr>
          <p:cNvPr id="1037" name="Text"/>
          <p:cNvSpPr/>
          <p:nvPr/>
        </p:nvSpPr>
        <p:spPr>
          <a:xfrm>
            <a:off x="6510527" y="2761488"/>
            <a:ext cx="1655063" cy="219456"/>
          </a:xfrm>
          <a:prstGeom prst="rect">
            <a:avLst/>
          </a:prstGeom>
          <a:noFill/>
          <a:ln/>
        </p:spPr>
        <p:txBody>
          <a:bodyPr wrap="square" rtlCol="0" anchor="ctr">
            <a:normAutofit fontScale="92500" lnSpcReduction="20000"/>
          </a:bodyPr>
          <a:lstStyle/>
          <a:p>
            <a:pPr marL="0" indent="0" algn="l">
              <a:buNone/>
            </a:pPr>
            <a:r>
              <a:rPr lang="en-US" sz="1050" b="1" kern="0" dirty="0">
                <a:solidFill>
                  <a:srgbClr val="003D5B"/>
                </a:solidFill>
                <a:latin typeface="Calibri" pitchFamily="34" charset="0"/>
                <a:ea typeface="Calibri" pitchFamily="34" charset="-122"/>
                <a:cs typeface="Calibri" pitchFamily="34" charset="-120"/>
              </a:rPr>
              <a:t>Retention position</a:t>
            </a:r>
          </a:p>
        </p:txBody>
      </p:sp>
      <p:sp>
        <p:nvSpPr>
          <p:cNvPr id="1038" name="Bullet"/>
          <p:cNvSpPr/>
          <p:nvPr/>
        </p:nvSpPr>
        <p:spPr>
          <a:xfrm>
            <a:off x="6510527" y="3118103"/>
            <a:ext cx="50292" cy="50292"/>
          </a:xfrm>
          <a:prstGeom prst="rect">
            <a:avLst/>
          </a:prstGeom>
          <a:solidFill>
            <a:srgbClr val="009B8A"/>
          </a:solidFill>
          <a:ln/>
        </p:spPr>
        <p:txBody>
          <a:bodyPr/>
          <a:lstStyle/>
          <a:p>
            <a:endParaRPr lang="en-PH" sz="1000"/>
          </a:p>
        </p:txBody>
      </p:sp>
      <p:sp>
        <p:nvSpPr>
          <p:cNvPr id="1039" name="Text"/>
          <p:cNvSpPr/>
          <p:nvPr/>
        </p:nvSpPr>
        <p:spPr>
          <a:xfrm>
            <a:off x="6656831" y="3054096"/>
            <a:ext cx="1545336" cy="201168"/>
          </a:xfrm>
          <a:prstGeom prst="rect">
            <a:avLst/>
          </a:prstGeom>
          <a:noFill/>
          <a:ln/>
        </p:spPr>
        <p:txBody>
          <a:bodyPr wrap="square" rtlCol="0" anchor="ctr">
            <a:normAutofit fontScale="92500" lnSpcReduction="10000"/>
          </a:bodyPr>
          <a:lstStyle/>
          <a:p>
            <a:pPr marL="0" indent="0" algn="l">
              <a:buNone/>
            </a:pPr>
            <a:r>
              <a:rPr lang="en-US" sz="900" b="0" kern="0" dirty="0">
                <a:solidFill>
                  <a:srgbClr val="333333"/>
                </a:solidFill>
                <a:latin typeface="Calibri" pitchFamily="34" charset="0"/>
                <a:ea typeface="Calibri" pitchFamily="34" charset="-122"/>
                <a:cs typeface="Calibri" pitchFamily="34" charset="-120"/>
              </a:rPr>
              <a:t>Due within 3, 6 and 12 months</a:t>
            </a:r>
          </a:p>
        </p:txBody>
      </p:sp>
      <p:sp>
        <p:nvSpPr>
          <p:cNvPr id="1040" name="Bullet"/>
          <p:cNvSpPr/>
          <p:nvPr/>
        </p:nvSpPr>
        <p:spPr>
          <a:xfrm>
            <a:off x="6510527" y="3392423"/>
            <a:ext cx="50292" cy="50292"/>
          </a:xfrm>
          <a:prstGeom prst="rect">
            <a:avLst/>
          </a:prstGeom>
          <a:solidFill>
            <a:srgbClr val="009B8A"/>
          </a:solidFill>
          <a:ln/>
        </p:spPr>
        <p:txBody>
          <a:bodyPr/>
          <a:lstStyle/>
          <a:p>
            <a:endParaRPr lang="en-PH" sz="1000"/>
          </a:p>
        </p:txBody>
      </p:sp>
      <p:sp>
        <p:nvSpPr>
          <p:cNvPr id="1041" name="Text"/>
          <p:cNvSpPr/>
          <p:nvPr/>
        </p:nvSpPr>
        <p:spPr>
          <a:xfrm>
            <a:off x="6656831" y="3328415"/>
            <a:ext cx="1545336" cy="201168"/>
          </a:xfrm>
          <a:prstGeom prst="rect">
            <a:avLst/>
          </a:prstGeom>
          <a:noFill/>
          <a:ln/>
        </p:spPr>
        <p:txBody>
          <a:bodyPr wrap="square" rtlCol="0" anchor="ctr">
            <a:normAutofit fontScale="77500" lnSpcReduction="20000"/>
          </a:bodyPr>
          <a:lstStyle/>
          <a:p>
            <a:pPr marL="0" indent="0" algn="l">
              <a:buNone/>
            </a:pPr>
            <a:r>
              <a:rPr lang="en-US" sz="900" b="0" kern="0" dirty="0">
                <a:solidFill>
                  <a:srgbClr val="333333"/>
                </a:solidFill>
                <a:latin typeface="Calibri" pitchFamily="34" charset="0"/>
                <a:ea typeface="Calibri" pitchFamily="34" charset="-122"/>
                <a:cs typeface="Calibri" pitchFamily="34" charset="-120"/>
              </a:rPr>
              <a:t>Records with a physical counterpart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1" name="Title"/>
          <p:cNvSpPr/>
          <p:nvPr/>
        </p:nvSpPr>
        <p:spPr>
          <a:xfrm>
            <a:off x="201168" y="91440"/>
            <a:ext cx="8412480" cy="493776"/>
          </a:xfrm>
          <a:prstGeom prst="rect">
            <a:avLst/>
          </a:prstGeom>
          <a:noFill/>
          <a:ln/>
        </p:spPr>
        <p:txBody>
          <a:bodyPr wrap="square" rtlCol="0" anchor="ctr">
            <a:normAutofit lnSpcReduction="10000"/>
          </a:bodyPr>
          <a:lstStyle/>
          <a:p>
            <a:pPr marL="0" indent="0" algn="l">
              <a:buNone/>
            </a:pPr>
            <a:r>
              <a:rPr lang="en-US" sz="2700" b="1" kern="0" dirty="0">
                <a:solidFill>
                  <a:srgbClr val="003D5B"/>
                </a:solidFill>
                <a:latin typeface="Calibri" pitchFamily="34" charset="0"/>
                <a:ea typeface="Calibri" pitchFamily="34" charset="-122"/>
                <a:cs typeface="Calibri" pitchFamily="34" charset="-120"/>
              </a:rPr>
              <a:t>Project Insights</a:t>
            </a:r>
          </a:p>
        </p:txBody>
      </p:sp>
      <p:sp>
        <p:nvSpPr>
          <p:cNvPr id="1002" name="Subtitle"/>
          <p:cNvSpPr/>
          <p:nvPr/>
        </p:nvSpPr>
        <p:spPr>
          <a:xfrm>
            <a:off x="192024" y="640080"/>
            <a:ext cx="8412480" cy="310896"/>
          </a:xfrm>
          <a:prstGeom prst="rect">
            <a:avLst/>
          </a:prstGeom>
          <a:noFill/>
          <a:ln/>
        </p:spPr>
        <p:txBody>
          <a:bodyPr wrap="square" rtlCol="0" anchor="ctr">
            <a:normAutofit/>
          </a:bodyPr>
          <a:lstStyle/>
          <a:p>
            <a:pPr marL="0" indent="0" algn="l">
              <a:buNone/>
            </a:pPr>
            <a:r>
              <a:rPr lang="en-US" sz="1400" b="0" kern="0" dirty="0">
                <a:solidFill>
                  <a:srgbClr val="009B8A"/>
                </a:solidFill>
                <a:latin typeface="Calibri" pitchFamily="34" charset="0"/>
                <a:ea typeface="Calibri" pitchFamily="34" charset="-122"/>
                <a:cs typeface="Calibri" pitchFamily="34" charset="-120"/>
              </a:rPr>
              <a:t>Project attributes set against the EDRMS activity of the sites that belong to them.</a:t>
            </a:r>
          </a:p>
        </p:txBody>
      </p:sp>
      <p:sp>
        <p:nvSpPr>
          <p:cNvPr id="1003" name="Rule"/>
          <p:cNvSpPr/>
          <p:nvPr/>
        </p:nvSpPr>
        <p:spPr>
          <a:xfrm>
            <a:off x="411480" y="1097280"/>
            <a:ext cx="2578608" cy="36576"/>
          </a:xfrm>
          <a:prstGeom prst="rect">
            <a:avLst/>
          </a:prstGeom>
          <a:solidFill>
            <a:srgbClr val="009B8A"/>
          </a:solidFill>
          <a:ln/>
        </p:spPr>
        <p:txBody>
          <a:bodyPr/>
          <a:lstStyle/>
          <a:p>
            <a:endParaRPr lang="en-PH" sz="1000"/>
          </a:p>
        </p:txBody>
      </p:sp>
      <p:sp>
        <p:nvSpPr>
          <p:cNvPr id="1004" name="Text"/>
          <p:cNvSpPr/>
          <p:nvPr/>
        </p:nvSpPr>
        <p:spPr>
          <a:xfrm>
            <a:off x="411480" y="1152144"/>
            <a:ext cx="2578608" cy="210312"/>
          </a:xfrm>
          <a:prstGeom prst="rect">
            <a:avLst/>
          </a:prstGeom>
          <a:noFill/>
          <a:ln/>
        </p:spPr>
        <p:txBody>
          <a:bodyPr wrap="square" rtlCol="0" anchor="ctr">
            <a:normAutofit fontScale="77500" lnSpcReduction="20000"/>
          </a:bodyPr>
          <a:lstStyle/>
          <a:p>
            <a:pPr marL="0" indent="0" algn="l">
              <a:buNone/>
            </a:pPr>
            <a:r>
              <a:rPr lang="en-US" sz="1200" b="1" kern="0" dirty="0">
                <a:solidFill>
                  <a:srgbClr val="003D5B"/>
                </a:solidFill>
                <a:latin typeface="Calibri" pitchFamily="34" charset="0"/>
                <a:ea typeface="Calibri" pitchFamily="34" charset="-122"/>
                <a:cs typeface="Calibri" pitchFamily="34" charset="-120"/>
              </a:rPr>
              <a:t>Activity in project terms</a:t>
            </a:r>
          </a:p>
        </p:txBody>
      </p:sp>
      <p:sp>
        <p:nvSpPr>
          <p:cNvPr id="1005" name="Text"/>
          <p:cNvSpPr/>
          <p:nvPr/>
        </p:nvSpPr>
        <p:spPr>
          <a:xfrm>
            <a:off x="411480" y="1435607"/>
            <a:ext cx="2578608" cy="786384"/>
          </a:xfrm>
          <a:prstGeom prst="rect">
            <a:avLst/>
          </a:prstGeom>
          <a:noFill/>
          <a:ln/>
        </p:spPr>
        <p:txBody>
          <a:bodyPr wrap="square" rtlCol="0" anchor="t">
            <a:normAutofit/>
          </a:bodyPr>
          <a:lstStyle/>
          <a:p>
            <a:pPr marL="0" indent="0" algn="l">
              <a:lnSpc>
                <a:spcPct val="92000"/>
              </a:lnSpc>
              <a:buNone/>
            </a:pPr>
            <a:r>
              <a:rPr lang="en-US" sz="1000" b="0" kern="0" dirty="0">
                <a:solidFill>
                  <a:srgbClr val="333333"/>
                </a:solidFill>
                <a:latin typeface="Calibri" pitchFamily="34" charset="0"/>
                <a:ea typeface="Calibri" pitchFamily="34" charset="-122"/>
                <a:cs typeface="Calibri" pitchFamily="34" charset="-120"/>
              </a:rPr>
              <a:t>The same EDRMS activity, grouped the way the business thinks — by project rather than by department.</a:t>
            </a:r>
          </a:p>
        </p:txBody>
      </p:sp>
      <p:sp>
        <p:nvSpPr>
          <p:cNvPr id="1006" name="Rule"/>
          <p:cNvSpPr/>
          <p:nvPr/>
        </p:nvSpPr>
        <p:spPr>
          <a:xfrm>
            <a:off x="3282696" y="1097280"/>
            <a:ext cx="2578608" cy="36576"/>
          </a:xfrm>
          <a:prstGeom prst="rect">
            <a:avLst/>
          </a:prstGeom>
          <a:solidFill>
            <a:srgbClr val="009B8A"/>
          </a:solidFill>
          <a:ln/>
        </p:spPr>
        <p:txBody>
          <a:bodyPr/>
          <a:lstStyle/>
          <a:p>
            <a:endParaRPr lang="en-PH" sz="1000"/>
          </a:p>
        </p:txBody>
      </p:sp>
      <p:sp>
        <p:nvSpPr>
          <p:cNvPr id="1007" name="Text"/>
          <p:cNvSpPr/>
          <p:nvPr/>
        </p:nvSpPr>
        <p:spPr>
          <a:xfrm>
            <a:off x="3282696" y="1152144"/>
            <a:ext cx="2578608" cy="210312"/>
          </a:xfrm>
          <a:prstGeom prst="rect">
            <a:avLst/>
          </a:prstGeom>
          <a:noFill/>
          <a:ln/>
        </p:spPr>
        <p:txBody>
          <a:bodyPr wrap="square" rtlCol="0" anchor="ctr">
            <a:normAutofit fontScale="77500" lnSpcReduction="20000"/>
          </a:bodyPr>
          <a:lstStyle/>
          <a:p>
            <a:pPr marL="0" indent="0" algn="l">
              <a:buNone/>
            </a:pPr>
            <a:r>
              <a:rPr lang="en-US" sz="1200" b="1" kern="0" dirty="0">
                <a:solidFill>
                  <a:srgbClr val="003D5B"/>
                </a:solidFill>
                <a:latin typeface="Calibri" pitchFamily="34" charset="0"/>
                <a:ea typeface="Calibri" pitchFamily="34" charset="-122"/>
                <a:cs typeface="Calibri" pitchFamily="34" charset="-120"/>
              </a:rPr>
              <a:t>Built and ready</a:t>
            </a:r>
          </a:p>
        </p:txBody>
      </p:sp>
      <p:sp>
        <p:nvSpPr>
          <p:cNvPr id="1008" name="Text"/>
          <p:cNvSpPr/>
          <p:nvPr/>
        </p:nvSpPr>
        <p:spPr>
          <a:xfrm>
            <a:off x="3282696" y="1435607"/>
            <a:ext cx="2578608" cy="786384"/>
          </a:xfrm>
          <a:prstGeom prst="rect">
            <a:avLst/>
          </a:prstGeom>
          <a:noFill/>
          <a:ln/>
        </p:spPr>
        <p:txBody>
          <a:bodyPr wrap="square" rtlCol="0" anchor="t">
            <a:normAutofit/>
          </a:bodyPr>
          <a:lstStyle/>
          <a:p>
            <a:pPr marL="0" indent="0" algn="l">
              <a:lnSpc>
                <a:spcPct val="92000"/>
              </a:lnSpc>
              <a:buNone/>
            </a:pPr>
            <a:r>
              <a:rPr lang="en-US" sz="1000" b="0" kern="0" dirty="0">
                <a:solidFill>
                  <a:srgbClr val="333333"/>
                </a:solidFill>
                <a:latin typeface="Calibri" pitchFamily="34" charset="0"/>
                <a:ea typeface="Calibri" pitchFamily="34" charset="-122"/>
                <a:cs typeface="Calibri" pitchFamily="34" charset="-120"/>
              </a:rPr>
              <a:t>Every field and tile on this page is built in the prototype. You can see exactly how it will look and behave.</a:t>
            </a:r>
          </a:p>
        </p:txBody>
      </p:sp>
      <p:sp>
        <p:nvSpPr>
          <p:cNvPr id="1009" name="Rule"/>
          <p:cNvSpPr/>
          <p:nvPr/>
        </p:nvSpPr>
        <p:spPr>
          <a:xfrm>
            <a:off x="6153912" y="1097280"/>
            <a:ext cx="2578608" cy="36576"/>
          </a:xfrm>
          <a:prstGeom prst="rect">
            <a:avLst/>
          </a:prstGeom>
          <a:solidFill>
            <a:srgbClr val="009B8A"/>
          </a:solidFill>
          <a:ln/>
        </p:spPr>
        <p:txBody>
          <a:bodyPr/>
          <a:lstStyle/>
          <a:p>
            <a:endParaRPr lang="en-PH" sz="1000"/>
          </a:p>
        </p:txBody>
      </p:sp>
      <p:sp>
        <p:nvSpPr>
          <p:cNvPr id="1010" name="Text"/>
          <p:cNvSpPr/>
          <p:nvPr/>
        </p:nvSpPr>
        <p:spPr>
          <a:xfrm>
            <a:off x="6153912" y="1152144"/>
            <a:ext cx="2578608" cy="210312"/>
          </a:xfrm>
          <a:prstGeom prst="rect">
            <a:avLst/>
          </a:prstGeom>
          <a:noFill/>
          <a:ln/>
        </p:spPr>
        <p:txBody>
          <a:bodyPr wrap="square" rtlCol="0" anchor="ctr">
            <a:normAutofit fontScale="77500" lnSpcReduction="20000"/>
          </a:bodyPr>
          <a:lstStyle/>
          <a:p>
            <a:pPr marL="0" indent="0" algn="l">
              <a:buNone/>
            </a:pPr>
            <a:r>
              <a:rPr lang="en-US" sz="1200" b="1" kern="0" dirty="0">
                <a:solidFill>
                  <a:srgbClr val="003D5B"/>
                </a:solidFill>
                <a:latin typeface="Calibri" pitchFamily="34" charset="0"/>
                <a:ea typeface="Calibri" pitchFamily="34" charset="-122"/>
                <a:cs typeface="Calibri" pitchFamily="34" charset="-120"/>
              </a:rPr>
              <a:t>Waiting on a source</a:t>
            </a:r>
          </a:p>
        </p:txBody>
      </p:sp>
      <p:sp>
        <p:nvSpPr>
          <p:cNvPr id="1011" name="Text"/>
          <p:cNvSpPr/>
          <p:nvPr/>
        </p:nvSpPr>
        <p:spPr>
          <a:xfrm>
            <a:off x="6153912" y="1435607"/>
            <a:ext cx="2578608" cy="786384"/>
          </a:xfrm>
          <a:prstGeom prst="rect">
            <a:avLst/>
          </a:prstGeom>
          <a:noFill/>
          <a:ln/>
        </p:spPr>
        <p:txBody>
          <a:bodyPr wrap="square" rtlCol="0" anchor="t">
            <a:normAutofit/>
          </a:bodyPr>
          <a:lstStyle/>
          <a:p>
            <a:pPr marL="0" indent="0" algn="l">
              <a:lnSpc>
                <a:spcPct val="92000"/>
              </a:lnSpc>
              <a:buNone/>
            </a:pPr>
            <a:r>
              <a:rPr lang="en-US" sz="1000" b="0" kern="0" dirty="0">
                <a:solidFill>
                  <a:srgbClr val="333333"/>
                </a:solidFill>
                <a:latin typeface="Calibri" pitchFamily="34" charset="0"/>
                <a:ea typeface="Calibri" pitchFamily="34" charset="-122"/>
                <a:cs typeface="Calibri" pitchFamily="34" charset="-120"/>
              </a:rPr>
              <a:t>What it does not yet have is a confirmed system to read project attributes from. That is the whole of the ask.</a:t>
            </a:r>
          </a:p>
        </p:txBody>
      </p:sp>
      <p:sp>
        <p:nvSpPr>
          <p:cNvPr id="1012" name="Text"/>
          <p:cNvSpPr/>
          <p:nvPr/>
        </p:nvSpPr>
        <p:spPr>
          <a:xfrm>
            <a:off x="411480" y="2231136"/>
            <a:ext cx="4572000" cy="201168"/>
          </a:xfrm>
          <a:prstGeom prst="rect">
            <a:avLst/>
          </a:prstGeom>
          <a:noFill/>
          <a:ln/>
        </p:spPr>
        <p:txBody>
          <a:bodyPr wrap="square" rtlCol="0" anchor="ctr">
            <a:normAutofit fontScale="70000" lnSpcReduction="20000"/>
          </a:bodyPr>
          <a:lstStyle/>
          <a:p>
            <a:pPr marL="0" indent="0" algn="l">
              <a:buNone/>
            </a:pPr>
            <a:r>
              <a:rPr lang="en-US" sz="1200" b="1" kern="0" spc="105" dirty="0">
                <a:solidFill>
                  <a:srgbClr val="003D5B"/>
                </a:solidFill>
                <a:latin typeface="Calibri" pitchFamily="34" charset="0"/>
                <a:ea typeface="Calibri" pitchFamily="34" charset="-122"/>
                <a:cs typeface="Calibri" pitchFamily="34" charset="-120"/>
              </a:rPr>
              <a:t>WHAT YOU WILL SEE ON THE PAGE</a:t>
            </a:r>
          </a:p>
        </p:txBody>
      </p:sp>
      <p:sp>
        <p:nvSpPr>
          <p:cNvPr id="1013" name="Panel"/>
          <p:cNvSpPr/>
          <p:nvPr/>
        </p:nvSpPr>
        <p:spPr>
          <a:xfrm>
            <a:off x="411480" y="2487168"/>
            <a:ext cx="8321040" cy="2084831"/>
          </a:xfrm>
          <a:prstGeom prst="rect">
            <a:avLst/>
          </a:prstGeom>
          <a:solidFill>
            <a:srgbClr val="F4F7F8"/>
          </a:solidFill>
          <a:ln w="12700">
            <a:solidFill>
              <a:srgbClr val="D8DEE1"/>
            </a:solidFill>
            <a:prstDash val="solid"/>
          </a:ln>
        </p:spPr>
        <p:txBody>
          <a:bodyPr/>
          <a:lstStyle/>
          <a:p>
            <a:endParaRPr lang="en-PH" sz="1000"/>
          </a:p>
        </p:txBody>
      </p:sp>
      <p:sp>
        <p:nvSpPr>
          <p:cNvPr id="1014" name="Rule"/>
          <p:cNvSpPr/>
          <p:nvPr/>
        </p:nvSpPr>
        <p:spPr>
          <a:xfrm>
            <a:off x="612648" y="2688336"/>
            <a:ext cx="1655063" cy="32004"/>
          </a:xfrm>
          <a:prstGeom prst="rect">
            <a:avLst/>
          </a:prstGeom>
          <a:solidFill>
            <a:srgbClr val="009B8A"/>
          </a:solidFill>
          <a:ln/>
        </p:spPr>
        <p:txBody>
          <a:bodyPr/>
          <a:lstStyle/>
          <a:p>
            <a:endParaRPr lang="en-PH" sz="1000"/>
          </a:p>
        </p:txBody>
      </p:sp>
      <p:sp>
        <p:nvSpPr>
          <p:cNvPr id="1015" name="Text"/>
          <p:cNvSpPr/>
          <p:nvPr/>
        </p:nvSpPr>
        <p:spPr>
          <a:xfrm>
            <a:off x="612648" y="2761488"/>
            <a:ext cx="1655063" cy="219456"/>
          </a:xfrm>
          <a:prstGeom prst="rect">
            <a:avLst/>
          </a:prstGeom>
          <a:noFill/>
          <a:ln/>
        </p:spPr>
        <p:txBody>
          <a:bodyPr wrap="square" rtlCol="0" anchor="ctr">
            <a:normAutofit fontScale="92500" lnSpcReduction="20000"/>
          </a:bodyPr>
          <a:lstStyle/>
          <a:p>
            <a:pPr marL="0" indent="0" algn="l">
              <a:buNone/>
            </a:pPr>
            <a:r>
              <a:rPr lang="en-US" sz="1050" b="1" kern="0" dirty="0">
                <a:solidFill>
                  <a:srgbClr val="003D5B"/>
                </a:solidFill>
                <a:latin typeface="Calibri" pitchFamily="34" charset="0"/>
                <a:ea typeface="Calibri" pitchFamily="34" charset="-122"/>
                <a:cs typeface="Calibri" pitchFamily="34" charset="-120"/>
              </a:rPr>
              <a:t>Project profile</a:t>
            </a:r>
          </a:p>
        </p:txBody>
      </p:sp>
      <p:sp>
        <p:nvSpPr>
          <p:cNvPr id="1016" name="Bullet"/>
          <p:cNvSpPr/>
          <p:nvPr/>
        </p:nvSpPr>
        <p:spPr>
          <a:xfrm>
            <a:off x="612648" y="3118103"/>
            <a:ext cx="50292" cy="50292"/>
          </a:xfrm>
          <a:prstGeom prst="rect">
            <a:avLst/>
          </a:prstGeom>
          <a:solidFill>
            <a:srgbClr val="009B8A"/>
          </a:solidFill>
          <a:ln/>
        </p:spPr>
        <p:txBody>
          <a:bodyPr/>
          <a:lstStyle/>
          <a:p>
            <a:endParaRPr lang="en-PH" sz="1000"/>
          </a:p>
        </p:txBody>
      </p:sp>
      <p:sp>
        <p:nvSpPr>
          <p:cNvPr id="1017" name="Text"/>
          <p:cNvSpPr/>
          <p:nvPr/>
        </p:nvSpPr>
        <p:spPr>
          <a:xfrm>
            <a:off x="758952" y="3054096"/>
            <a:ext cx="1545336" cy="201168"/>
          </a:xfrm>
          <a:prstGeom prst="rect">
            <a:avLst/>
          </a:prstGeom>
          <a:noFill/>
          <a:ln/>
        </p:spPr>
        <p:txBody>
          <a:bodyPr wrap="square" rtlCol="0" anchor="ctr">
            <a:normAutofit fontScale="92500" lnSpcReduction="10000"/>
          </a:bodyPr>
          <a:lstStyle/>
          <a:p>
            <a:pPr marL="0" indent="0" algn="l">
              <a:buNone/>
            </a:pPr>
            <a:r>
              <a:rPr lang="en-US" sz="900" b="0" kern="0" dirty="0">
                <a:solidFill>
                  <a:srgbClr val="333333"/>
                </a:solidFill>
                <a:latin typeface="Calibri" pitchFamily="34" charset="0"/>
                <a:ea typeface="Calibri" pitchFamily="34" charset="-122"/>
                <a:cs typeface="Calibri" pitchFamily="34" charset="-120"/>
              </a:rPr>
              <a:t>Facility type</a:t>
            </a:r>
          </a:p>
        </p:txBody>
      </p:sp>
      <p:sp>
        <p:nvSpPr>
          <p:cNvPr id="1018" name="Bullet"/>
          <p:cNvSpPr/>
          <p:nvPr/>
        </p:nvSpPr>
        <p:spPr>
          <a:xfrm>
            <a:off x="612648" y="3392423"/>
            <a:ext cx="50292" cy="50292"/>
          </a:xfrm>
          <a:prstGeom prst="rect">
            <a:avLst/>
          </a:prstGeom>
          <a:solidFill>
            <a:srgbClr val="009B8A"/>
          </a:solidFill>
          <a:ln/>
        </p:spPr>
        <p:txBody>
          <a:bodyPr/>
          <a:lstStyle/>
          <a:p>
            <a:endParaRPr lang="en-PH" sz="1000"/>
          </a:p>
        </p:txBody>
      </p:sp>
      <p:sp>
        <p:nvSpPr>
          <p:cNvPr id="1019" name="Text"/>
          <p:cNvSpPr/>
          <p:nvPr/>
        </p:nvSpPr>
        <p:spPr>
          <a:xfrm>
            <a:off x="758952" y="3328415"/>
            <a:ext cx="1545336" cy="201168"/>
          </a:xfrm>
          <a:prstGeom prst="rect">
            <a:avLst/>
          </a:prstGeom>
          <a:noFill/>
          <a:ln/>
        </p:spPr>
        <p:txBody>
          <a:bodyPr wrap="square" rtlCol="0" anchor="ctr">
            <a:normAutofit fontScale="92500" lnSpcReduction="10000"/>
          </a:bodyPr>
          <a:lstStyle/>
          <a:p>
            <a:pPr marL="0" indent="0" algn="l">
              <a:buNone/>
            </a:pPr>
            <a:r>
              <a:rPr lang="en-US" sz="900" b="0" kern="0" dirty="0">
                <a:solidFill>
                  <a:srgbClr val="333333"/>
                </a:solidFill>
                <a:latin typeface="Calibri" pitchFamily="34" charset="0"/>
                <a:ea typeface="Calibri" pitchFamily="34" charset="-122"/>
                <a:cs typeface="Calibri" pitchFamily="34" charset="-120"/>
              </a:rPr>
              <a:t>Modality</a:t>
            </a:r>
          </a:p>
        </p:txBody>
      </p:sp>
      <p:sp>
        <p:nvSpPr>
          <p:cNvPr id="1020" name="Bullet"/>
          <p:cNvSpPr/>
          <p:nvPr/>
        </p:nvSpPr>
        <p:spPr>
          <a:xfrm>
            <a:off x="612648" y="3666744"/>
            <a:ext cx="50292" cy="50292"/>
          </a:xfrm>
          <a:prstGeom prst="rect">
            <a:avLst/>
          </a:prstGeom>
          <a:solidFill>
            <a:srgbClr val="009B8A"/>
          </a:solidFill>
          <a:ln/>
        </p:spPr>
        <p:txBody>
          <a:bodyPr/>
          <a:lstStyle/>
          <a:p>
            <a:endParaRPr lang="en-PH" sz="1000"/>
          </a:p>
        </p:txBody>
      </p:sp>
      <p:sp>
        <p:nvSpPr>
          <p:cNvPr id="1021" name="Text"/>
          <p:cNvSpPr/>
          <p:nvPr/>
        </p:nvSpPr>
        <p:spPr>
          <a:xfrm>
            <a:off x="758952" y="3602735"/>
            <a:ext cx="1545336" cy="201168"/>
          </a:xfrm>
          <a:prstGeom prst="rect">
            <a:avLst/>
          </a:prstGeom>
          <a:noFill/>
          <a:ln/>
        </p:spPr>
        <p:txBody>
          <a:bodyPr wrap="square" rtlCol="0" anchor="ctr">
            <a:normAutofit fontScale="92500" lnSpcReduction="10000"/>
          </a:bodyPr>
          <a:lstStyle/>
          <a:p>
            <a:pPr marL="0" indent="0" algn="l">
              <a:buNone/>
            </a:pPr>
            <a:r>
              <a:rPr lang="en-US" sz="900" b="0" kern="0" dirty="0">
                <a:solidFill>
                  <a:srgbClr val="333333"/>
                </a:solidFill>
                <a:latin typeface="Calibri" pitchFamily="34" charset="0"/>
                <a:ea typeface="Calibri" pitchFamily="34" charset="-122"/>
                <a:cs typeface="Calibri" pitchFamily="34" charset="-120"/>
              </a:rPr>
              <a:t>Country</a:t>
            </a:r>
          </a:p>
        </p:txBody>
      </p:sp>
      <p:sp>
        <p:nvSpPr>
          <p:cNvPr id="1022" name="Rule"/>
          <p:cNvSpPr/>
          <p:nvPr/>
        </p:nvSpPr>
        <p:spPr>
          <a:xfrm>
            <a:off x="2578608" y="2688336"/>
            <a:ext cx="1655063" cy="32004"/>
          </a:xfrm>
          <a:prstGeom prst="rect">
            <a:avLst/>
          </a:prstGeom>
          <a:solidFill>
            <a:srgbClr val="009B8A"/>
          </a:solidFill>
          <a:ln/>
        </p:spPr>
        <p:txBody>
          <a:bodyPr/>
          <a:lstStyle/>
          <a:p>
            <a:endParaRPr lang="en-PH" sz="1000"/>
          </a:p>
        </p:txBody>
      </p:sp>
      <p:sp>
        <p:nvSpPr>
          <p:cNvPr id="1023" name="Text"/>
          <p:cNvSpPr/>
          <p:nvPr/>
        </p:nvSpPr>
        <p:spPr>
          <a:xfrm>
            <a:off x="2578608" y="2761488"/>
            <a:ext cx="1655063" cy="219456"/>
          </a:xfrm>
          <a:prstGeom prst="rect">
            <a:avLst/>
          </a:prstGeom>
          <a:noFill/>
          <a:ln/>
        </p:spPr>
        <p:txBody>
          <a:bodyPr wrap="square" rtlCol="0" anchor="ctr">
            <a:normAutofit fontScale="92500" lnSpcReduction="20000"/>
          </a:bodyPr>
          <a:lstStyle/>
          <a:p>
            <a:pPr marL="0" indent="0" algn="l">
              <a:buNone/>
            </a:pPr>
            <a:r>
              <a:rPr lang="en-US" sz="1050" b="1" kern="0" dirty="0">
                <a:solidFill>
                  <a:srgbClr val="003D5B"/>
                </a:solidFill>
                <a:latin typeface="Calibri" pitchFamily="34" charset="0"/>
                <a:ea typeface="Calibri" pitchFamily="34" charset="-122"/>
                <a:cs typeface="Calibri" pitchFamily="34" charset="-120"/>
              </a:rPr>
              <a:t>Project status</a:t>
            </a:r>
          </a:p>
        </p:txBody>
      </p:sp>
      <p:sp>
        <p:nvSpPr>
          <p:cNvPr id="1024" name="Bullet"/>
          <p:cNvSpPr/>
          <p:nvPr/>
        </p:nvSpPr>
        <p:spPr>
          <a:xfrm>
            <a:off x="2578608" y="3118103"/>
            <a:ext cx="50292" cy="50292"/>
          </a:xfrm>
          <a:prstGeom prst="rect">
            <a:avLst/>
          </a:prstGeom>
          <a:solidFill>
            <a:srgbClr val="009B8A"/>
          </a:solidFill>
          <a:ln/>
        </p:spPr>
        <p:txBody>
          <a:bodyPr/>
          <a:lstStyle/>
          <a:p>
            <a:endParaRPr lang="en-PH" sz="1000"/>
          </a:p>
        </p:txBody>
      </p:sp>
      <p:sp>
        <p:nvSpPr>
          <p:cNvPr id="1025" name="Text"/>
          <p:cNvSpPr/>
          <p:nvPr/>
        </p:nvSpPr>
        <p:spPr>
          <a:xfrm>
            <a:off x="2724912" y="3054096"/>
            <a:ext cx="1545336" cy="201168"/>
          </a:xfrm>
          <a:prstGeom prst="rect">
            <a:avLst/>
          </a:prstGeom>
          <a:noFill/>
          <a:ln/>
        </p:spPr>
        <p:txBody>
          <a:bodyPr wrap="square" rtlCol="0" anchor="ctr">
            <a:normAutofit fontScale="92500" lnSpcReduction="10000"/>
          </a:bodyPr>
          <a:lstStyle/>
          <a:p>
            <a:pPr marL="0" indent="0" algn="l">
              <a:buNone/>
            </a:pPr>
            <a:r>
              <a:rPr lang="en-US" sz="900" b="0" kern="0" dirty="0">
                <a:solidFill>
                  <a:srgbClr val="333333"/>
                </a:solidFill>
                <a:latin typeface="Calibri" pitchFamily="34" charset="0"/>
                <a:ea typeface="Calibri" pitchFamily="34" charset="-122"/>
                <a:cs typeface="Calibri" pitchFamily="34" charset="-120"/>
              </a:rPr>
              <a:t>Status</a:t>
            </a:r>
          </a:p>
        </p:txBody>
      </p:sp>
      <p:sp>
        <p:nvSpPr>
          <p:cNvPr id="1026" name="Bullet"/>
          <p:cNvSpPr/>
          <p:nvPr/>
        </p:nvSpPr>
        <p:spPr>
          <a:xfrm>
            <a:off x="2578608" y="3392423"/>
            <a:ext cx="50292" cy="50292"/>
          </a:xfrm>
          <a:prstGeom prst="rect">
            <a:avLst/>
          </a:prstGeom>
          <a:solidFill>
            <a:srgbClr val="009B8A"/>
          </a:solidFill>
          <a:ln/>
        </p:spPr>
        <p:txBody>
          <a:bodyPr/>
          <a:lstStyle/>
          <a:p>
            <a:endParaRPr lang="en-PH" sz="1000"/>
          </a:p>
        </p:txBody>
      </p:sp>
      <p:sp>
        <p:nvSpPr>
          <p:cNvPr id="1027" name="Text"/>
          <p:cNvSpPr/>
          <p:nvPr/>
        </p:nvSpPr>
        <p:spPr>
          <a:xfrm>
            <a:off x="2724912" y="3328415"/>
            <a:ext cx="1545336" cy="201168"/>
          </a:xfrm>
          <a:prstGeom prst="rect">
            <a:avLst/>
          </a:prstGeom>
          <a:noFill/>
          <a:ln/>
        </p:spPr>
        <p:txBody>
          <a:bodyPr wrap="square" rtlCol="0" anchor="ctr">
            <a:normAutofit fontScale="92500" lnSpcReduction="10000"/>
          </a:bodyPr>
          <a:lstStyle/>
          <a:p>
            <a:pPr marL="0" indent="0" algn="l">
              <a:buNone/>
            </a:pPr>
            <a:r>
              <a:rPr lang="en-US" sz="900" b="0" kern="0" dirty="0">
                <a:solidFill>
                  <a:srgbClr val="333333"/>
                </a:solidFill>
                <a:latin typeface="Calibri" pitchFamily="34" charset="0"/>
                <a:ea typeface="Calibri" pitchFamily="34" charset="-122"/>
                <a:cs typeface="Calibri" pitchFamily="34" charset="-120"/>
              </a:rPr>
              <a:t>Effectivity date</a:t>
            </a:r>
          </a:p>
        </p:txBody>
      </p:sp>
      <p:sp>
        <p:nvSpPr>
          <p:cNvPr id="1028" name="Bullet"/>
          <p:cNvSpPr/>
          <p:nvPr/>
        </p:nvSpPr>
        <p:spPr>
          <a:xfrm>
            <a:off x="2578608" y="3666744"/>
            <a:ext cx="50292" cy="50292"/>
          </a:xfrm>
          <a:prstGeom prst="rect">
            <a:avLst/>
          </a:prstGeom>
          <a:solidFill>
            <a:srgbClr val="009B8A"/>
          </a:solidFill>
          <a:ln/>
        </p:spPr>
        <p:txBody>
          <a:bodyPr/>
          <a:lstStyle/>
          <a:p>
            <a:endParaRPr lang="en-PH" sz="1000"/>
          </a:p>
        </p:txBody>
      </p:sp>
      <p:sp>
        <p:nvSpPr>
          <p:cNvPr id="1029" name="Text"/>
          <p:cNvSpPr/>
          <p:nvPr/>
        </p:nvSpPr>
        <p:spPr>
          <a:xfrm>
            <a:off x="2724912" y="3602735"/>
            <a:ext cx="1545336" cy="201168"/>
          </a:xfrm>
          <a:prstGeom prst="rect">
            <a:avLst/>
          </a:prstGeom>
          <a:noFill/>
          <a:ln/>
        </p:spPr>
        <p:txBody>
          <a:bodyPr wrap="square" rtlCol="0" anchor="ctr">
            <a:normAutofit fontScale="92500" lnSpcReduction="10000"/>
          </a:bodyPr>
          <a:lstStyle/>
          <a:p>
            <a:pPr marL="0" indent="0" algn="l">
              <a:buNone/>
            </a:pPr>
            <a:r>
              <a:rPr lang="en-US" sz="900" b="0" kern="0" dirty="0">
                <a:solidFill>
                  <a:srgbClr val="333333"/>
                </a:solidFill>
                <a:latin typeface="Calibri" pitchFamily="34" charset="0"/>
                <a:ea typeface="Calibri" pitchFamily="34" charset="-122"/>
                <a:cs typeface="Calibri" pitchFamily="34" charset="-120"/>
              </a:rPr>
              <a:t>Closing date</a:t>
            </a:r>
          </a:p>
        </p:txBody>
      </p:sp>
      <p:sp>
        <p:nvSpPr>
          <p:cNvPr id="1030" name="Rule"/>
          <p:cNvSpPr/>
          <p:nvPr/>
        </p:nvSpPr>
        <p:spPr>
          <a:xfrm>
            <a:off x="4544568" y="2688336"/>
            <a:ext cx="1655063" cy="32004"/>
          </a:xfrm>
          <a:prstGeom prst="rect">
            <a:avLst/>
          </a:prstGeom>
          <a:solidFill>
            <a:srgbClr val="009B8A"/>
          </a:solidFill>
          <a:ln/>
        </p:spPr>
        <p:txBody>
          <a:bodyPr/>
          <a:lstStyle/>
          <a:p>
            <a:endParaRPr lang="en-PH" sz="1000"/>
          </a:p>
        </p:txBody>
      </p:sp>
      <p:sp>
        <p:nvSpPr>
          <p:cNvPr id="1031" name="Text"/>
          <p:cNvSpPr/>
          <p:nvPr/>
        </p:nvSpPr>
        <p:spPr>
          <a:xfrm>
            <a:off x="4544568" y="2761488"/>
            <a:ext cx="1655063" cy="219456"/>
          </a:xfrm>
          <a:prstGeom prst="rect">
            <a:avLst/>
          </a:prstGeom>
          <a:noFill/>
          <a:ln/>
        </p:spPr>
        <p:txBody>
          <a:bodyPr wrap="square" rtlCol="0" anchor="ctr">
            <a:normAutofit fontScale="92500" lnSpcReduction="20000"/>
          </a:bodyPr>
          <a:lstStyle/>
          <a:p>
            <a:pPr marL="0" indent="0" algn="l">
              <a:buNone/>
            </a:pPr>
            <a:r>
              <a:rPr lang="en-US" sz="1050" b="1" kern="0" dirty="0">
                <a:solidFill>
                  <a:srgbClr val="003D5B"/>
                </a:solidFill>
                <a:latin typeface="Calibri" pitchFamily="34" charset="0"/>
                <a:ea typeface="Calibri" pitchFamily="34" charset="-122"/>
                <a:cs typeface="Calibri" pitchFamily="34" charset="-120"/>
              </a:rPr>
              <a:t>Linked activity</a:t>
            </a:r>
          </a:p>
        </p:txBody>
      </p:sp>
      <p:sp>
        <p:nvSpPr>
          <p:cNvPr id="1032" name="Bullet"/>
          <p:cNvSpPr/>
          <p:nvPr/>
        </p:nvSpPr>
        <p:spPr>
          <a:xfrm>
            <a:off x="4544568" y="3118103"/>
            <a:ext cx="50292" cy="50292"/>
          </a:xfrm>
          <a:prstGeom prst="rect">
            <a:avLst/>
          </a:prstGeom>
          <a:solidFill>
            <a:srgbClr val="009B8A"/>
          </a:solidFill>
          <a:ln/>
        </p:spPr>
        <p:txBody>
          <a:bodyPr/>
          <a:lstStyle/>
          <a:p>
            <a:endParaRPr lang="en-PH" sz="1000"/>
          </a:p>
        </p:txBody>
      </p:sp>
      <p:sp>
        <p:nvSpPr>
          <p:cNvPr id="1033" name="Text"/>
          <p:cNvSpPr/>
          <p:nvPr/>
        </p:nvSpPr>
        <p:spPr>
          <a:xfrm>
            <a:off x="4690872" y="3054096"/>
            <a:ext cx="1545336" cy="201168"/>
          </a:xfrm>
          <a:prstGeom prst="rect">
            <a:avLst/>
          </a:prstGeom>
          <a:noFill/>
          <a:ln/>
        </p:spPr>
        <p:txBody>
          <a:bodyPr wrap="square" rtlCol="0" anchor="ctr">
            <a:normAutofit fontScale="92500" lnSpcReduction="10000"/>
          </a:bodyPr>
          <a:lstStyle/>
          <a:p>
            <a:pPr marL="0" indent="0" algn="l">
              <a:buNone/>
            </a:pPr>
            <a:r>
              <a:rPr lang="en-US" sz="900" b="0" kern="0" dirty="0">
                <a:solidFill>
                  <a:srgbClr val="333333"/>
                </a:solidFill>
                <a:latin typeface="Calibri" pitchFamily="34" charset="0"/>
                <a:ea typeface="Calibri" pitchFamily="34" charset="-122"/>
                <a:cs typeface="Calibri" pitchFamily="34" charset="-120"/>
              </a:rPr>
              <a:t>Records declared for this project</a:t>
            </a:r>
          </a:p>
        </p:txBody>
      </p:sp>
      <p:sp>
        <p:nvSpPr>
          <p:cNvPr id="1034" name="Bullet"/>
          <p:cNvSpPr/>
          <p:nvPr/>
        </p:nvSpPr>
        <p:spPr>
          <a:xfrm>
            <a:off x="4544568" y="3392423"/>
            <a:ext cx="50292" cy="50292"/>
          </a:xfrm>
          <a:prstGeom prst="rect">
            <a:avLst/>
          </a:prstGeom>
          <a:solidFill>
            <a:srgbClr val="009B8A"/>
          </a:solidFill>
          <a:ln/>
        </p:spPr>
        <p:txBody>
          <a:bodyPr/>
          <a:lstStyle/>
          <a:p>
            <a:endParaRPr lang="en-PH" sz="1000"/>
          </a:p>
        </p:txBody>
      </p:sp>
      <p:sp>
        <p:nvSpPr>
          <p:cNvPr id="1035" name="Text"/>
          <p:cNvSpPr/>
          <p:nvPr/>
        </p:nvSpPr>
        <p:spPr>
          <a:xfrm>
            <a:off x="4690872" y="3328415"/>
            <a:ext cx="1545336" cy="201168"/>
          </a:xfrm>
          <a:prstGeom prst="rect">
            <a:avLst/>
          </a:prstGeom>
          <a:noFill/>
          <a:ln/>
        </p:spPr>
        <p:txBody>
          <a:bodyPr wrap="square" rtlCol="0" anchor="ctr">
            <a:normAutofit fontScale="92500" lnSpcReduction="10000"/>
          </a:bodyPr>
          <a:lstStyle/>
          <a:p>
            <a:pPr marL="0" indent="0" algn="l">
              <a:buNone/>
            </a:pPr>
            <a:r>
              <a:rPr lang="en-US" sz="900" b="0" kern="0" dirty="0">
                <a:solidFill>
                  <a:srgbClr val="333333"/>
                </a:solidFill>
                <a:latin typeface="Calibri" pitchFamily="34" charset="0"/>
                <a:ea typeface="Calibri" pitchFamily="34" charset="-122"/>
                <a:cs typeface="Calibri" pitchFamily="34" charset="-120"/>
              </a:rPr>
              <a:t>Sites belonging to the project</a:t>
            </a:r>
          </a:p>
        </p:txBody>
      </p:sp>
      <p:sp>
        <p:nvSpPr>
          <p:cNvPr id="1036" name="Rule"/>
          <p:cNvSpPr/>
          <p:nvPr/>
        </p:nvSpPr>
        <p:spPr>
          <a:xfrm>
            <a:off x="6510527" y="2688336"/>
            <a:ext cx="1655063" cy="32004"/>
          </a:xfrm>
          <a:prstGeom prst="rect">
            <a:avLst/>
          </a:prstGeom>
          <a:solidFill>
            <a:srgbClr val="009B8A"/>
          </a:solidFill>
          <a:ln/>
        </p:spPr>
        <p:txBody>
          <a:bodyPr/>
          <a:lstStyle/>
          <a:p>
            <a:endParaRPr lang="en-PH" sz="1000"/>
          </a:p>
        </p:txBody>
      </p:sp>
      <p:sp>
        <p:nvSpPr>
          <p:cNvPr id="1037" name="Text"/>
          <p:cNvSpPr/>
          <p:nvPr/>
        </p:nvSpPr>
        <p:spPr>
          <a:xfrm>
            <a:off x="6510527" y="2761488"/>
            <a:ext cx="1655063" cy="219456"/>
          </a:xfrm>
          <a:prstGeom prst="rect">
            <a:avLst/>
          </a:prstGeom>
          <a:noFill/>
          <a:ln/>
        </p:spPr>
        <p:txBody>
          <a:bodyPr wrap="square" rtlCol="0" anchor="ctr">
            <a:normAutofit fontScale="92500" lnSpcReduction="20000"/>
          </a:bodyPr>
          <a:lstStyle/>
          <a:p>
            <a:pPr marL="0" indent="0" algn="l">
              <a:buNone/>
            </a:pPr>
            <a:r>
              <a:rPr lang="en-US" sz="1050" b="1" kern="0" dirty="0">
                <a:solidFill>
                  <a:srgbClr val="003D5B"/>
                </a:solidFill>
                <a:latin typeface="Calibri" pitchFamily="34" charset="0"/>
                <a:ea typeface="Calibri" pitchFamily="34" charset="-122"/>
                <a:cs typeface="Calibri" pitchFamily="34" charset="-120"/>
              </a:rPr>
              <a:t>Drill-through</a:t>
            </a:r>
          </a:p>
        </p:txBody>
      </p:sp>
      <p:sp>
        <p:nvSpPr>
          <p:cNvPr id="1038" name="Bullet"/>
          <p:cNvSpPr/>
          <p:nvPr/>
        </p:nvSpPr>
        <p:spPr>
          <a:xfrm>
            <a:off x="6510527" y="3118103"/>
            <a:ext cx="50292" cy="50292"/>
          </a:xfrm>
          <a:prstGeom prst="rect">
            <a:avLst/>
          </a:prstGeom>
          <a:solidFill>
            <a:srgbClr val="009B8A"/>
          </a:solidFill>
          <a:ln/>
        </p:spPr>
        <p:txBody>
          <a:bodyPr/>
          <a:lstStyle/>
          <a:p>
            <a:endParaRPr lang="en-PH" sz="1000"/>
          </a:p>
        </p:txBody>
      </p:sp>
      <p:sp>
        <p:nvSpPr>
          <p:cNvPr id="1039" name="Text"/>
          <p:cNvSpPr/>
          <p:nvPr/>
        </p:nvSpPr>
        <p:spPr>
          <a:xfrm>
            <a:off x="6656831" y="3054096"/>
            <a:ext cx="1545336" cy="201168"/>
          </a:xfrm>
          <a:prstGeom prst="rect">
            <a:avLst/>
          </a:prstGeom>
          <a:noFill/>
          <a:ln/>
        </p:spPr>
        <p:txBody>
          <a:bodyPr wrap="square" rtlCol="0" anchor="ctr">
            <a:normAutofit fontScale="92500" lnSpcReduction="10000"/>
          </a:bodyPr>
          <a:lstStyle/>
          <a:p>
            <a:pPr marL="0" indent="0" algn="l">
              <a:buNone/>
            </a:pPr>
            <a:r>
              <a:rPr lang="en-US" sz="900" b="0" kern="0" dirty="0">
                <a:solidFill>
                  <a:srgbClr val="333333"/>
                </a:solidFill>
                <a:latin typeface="Calibri" pitchFamily="34" charset="0"/>
                <a:ea typeface="Calibri" pitchFamily="34" charset="-122"/>
                <a:cs typeface="Calibri" pitchFamily="34" charset="-120"/>
              </a:rPr>
              <a:t>From project to its sites</a:t>
            </a:r>
          </a:p>
        </p:txBody>
      </p:sp>
      <p:sp>
        <p:nvSpPr>
          <p:cNvPr id="1040" name="Bullet"/>
          <p:cNvSpPr/>
          <p:nvPr/>
        </p:nvSpPr>
        <p:spPr>
          <a:xfrm>
            <a:off x="6510527" y="3392423"/>
            <a:ext cx="50292" cy="50292"/>
          </a:xfrm>
          <a:prstGeom prst="rect">
            <a:avLst/>
          </a:prstGeom>
          <a:solidFill>
            <a:srgbClr val="009B8A"/>
          </a:solidFill>
          <a:ln/>
        </p:spPr>
        <p:txBody>
          <a:bodyPr/>
          <a:lstStyle/>
          <a:p>
            <a:endParaRPr lang="en-PH" sz="1000"/>
          </a:p>
        </p:txBody>
      </p:sp>
      <p:sp>
        <p:nvSpPr>
          <p:cNvPr id="1041" name="Text"/>
          <p:cNvSpPr/>
          <p:nvPr/>
        </p:nvSpPr>
        <p:spPr>
          <a:xfrm>
            <a:off x="6656831" y="3328415"/>
            <a:ext cx="1545336" cy="201168"/>
          </a:xfrm>
          <a:prstGeom prst="rect">
            <a:avLst/>
          </a:prstGeom>
          <a:noFill/>
          <a:ln/>
        </p:spPr>
        <p:txBody>
          <a:bodyPr wrap="square" rtlCol="0" anchor="ctr">
            <a:normAutofit fontScale="92500" lnSpcReduction="10000"/>
          </a:bodyPr>
          <a:lstStyle/>
          <a:p>
            <a:pPr marL="0" indent="0" algn="l">
              <a:buNone/>
            </a:pPr>
            <a:r>
              <a:rPr lang="en-US" sz="900" b="0" kern="0" dirty="0">
                <a:solidFill>
                  <a:srgbClr val="333333"/>
                </a:solidFill>
                <a:latin typeface="Calibri" pitchFamily="34" charset="0"/>
                <a:ea typeface="Calibri" pitchFamily="34" charset="-122"/>
                <a:cs typeface="Calibri" pitchFamily="34" charset="-120"/>
              </a:rPr>
              <a:t>From a site to its libraries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1" name="Title"/>
          <p:cNvSpPr/>
          <p:nvPr/>
        </p:nvSpPr>
        <p:spPr>
          <a:xfrm>
            <a:off x="201168" y="91440"/>
            <a:ext cx="8412480" cy="493776"/>
          </a:xfrm>
          <a:prstGeom prst="rect">
            <a:avLst/>
          </a:prstGeom>
          <a:noFill/>
          <a:ln/>
        </p:spPr>
        <p:txBody>
          <a:bodyPr wrap="square" rtlCol="0" anchor="ctr">
            <a:normAutofit lnSpcReduction="10000"/>
          </a:bodyPr>
          <a:lstStyle/>
          <a:p>
            <a:pPr marL="0" indent="0" algn="l">
              <a:buNone/>
            </a:pPr>
            <a:r>
              <a:rPr lang="en-US" sz="2700" b="1" kern="0" dirty="0">
                <a:solidFill>
                  <a:srgbClr val="003D5B"/>
                </a:solidFill>
                <a:latin typeface="Calibri" pitchFamily="34" charset="0"/>
                <a:ea typeface="Calibri" pitchFamily="34" charset="-122"/>
                <a:cs typeface="Calibri" pitchFamily="34" charset="-120"/>
              </a:rPr>
              <a:t>Institutional File Plan</a:t>
            </a:r>
          </a:p>
        </p:txBody>
      </p:sp>
      <p:sp>
        <p:nvSpPr>
          <p:cNvPr id="1062" name="Subtitle"/>
          <p:cNvSpPr/>
          <p:nvPr/>
        </p:nvSpPr>
        <p:spPr>
          <a:xfrm>
            <a:off x="192024" y="640080"/>
            <a:ext cx="8412480" cy="310896"/>
          </a:xfrm>
          <a:prstGeom prst="rect">
            <a:avLst/>
          </a:prstGeom>
          <a:noFill/>
          <a:ln/>
        </p:spPr>
        <p:txBody>
          <a:bodyPr wrap="square" rtlCol="0" anchor="ctr">
            <a:normAutofit/>
          </a:bodyPr>
          <a:lstStyle/>
          <a:p>
            <a:pPr marL="0" indent="0" algn="l">
              <a:buNone/>
            </a:pPr>
            <a:r>
              <a:rPr lang="en-US" sz="1400" b="0" kern="0" dirty="0">
                <a:solidFill>
                  <a:srgbClr val="009B8A"/>
                </a:solidFill>
                <a:latin typeface="Calibri" pitchFamily="34" charset="0"/>
                <a:ea typeface="Calibri" pitchFamily="34" charset="-122"/>
                <a:cs typeface="Calibri" pitchFamily="34" charset="-120"/>
              </a:rPr>
              <a:t>The retention class hierarchy, and how records sit against it.</a:t>
            </a:r>
          </a:p>
        </p:txBody>
      </p:sp>
      <p:sp>
        <p:nvSpPr>
          <p:cNvPr id="1063" name="Rule"/>
          <p:cNvSpPr/>
          <p:nvPr/>
        </p:nvSpPr>
        <p:spPr>
          <a:xfrm>
            <a:off x="411480" y="1097280"/>
            <a:ext cx="2578608" cy="36576"/>
          </a:xfrm>
          <a:prstGeom prst="rect">
            <a:avLst/>
          </a:prstGeom>
          <a:solidFill>
            <a:srgbClr val="009B8A"/>
          </a:solidFill>
          <a:ln/>
        </p:spPr>
        <p:txBody>
          <a:bodyPr/>
          <a:lstStyle/>
          <a:p>
            <a:endParaRPr lang="en-PH" sz="1000"/>
          </a:p>
        </p:txBody>
      </p:sp>
      <p:sp>
        <p:nvSpPr>
          <p:cNvPr id="1064" name="Text"/>
          <p:cNvSpPr/>
          <p:nvPr/>
        </p:nvSpPr>
        <p:spPr>
          <a:xfrm>
            <a:off x="411480" y="1152144"/>
            <a:ext cx="2578608" cy="210312"/>
          </a:xfrm>
          <a:prstGeom prst="rect">
            <a:avLst/>
          </a:prstGeom>
          <a:noFill/>
          <a:ln/>
        </p:spPr>
        <p:txBody>
          <a:bodyPr wrap="square" rtlCol="0" anchor="ctr">
            <a:normAutofit fontScale="77500" lnSpcReduction="20000"/>
          </a:bodyPr>
          <a:lstStyle/>
          <a:p>
            <a:pPr marL="0" indent="0" algn="l">
              <a:buNone/>
            </a:pPr>
            <a:r>
              <a:rPr lang="en-US" sz="1200" b="1" kern="0" dirty="0">
                <a:solidFill>
                  <a:srgbClr val="003D5B"/>
                </a:solidFill>
                <a:latin typeface="Calibri" pitchFamily="34" charset="0"/>
                <a:ea typeface="Calibri" pitchFamily="34" charset="-122"/>
                <a:cs typeface="Calibri" pitchFamily="34" charset="-120"/>
              </a:rPr>
              <a:t>The reference page</a:t>
            </a:r>
          </a:p>
        </p:txBody>
      </p:sp>
      <p:sp>
        <p:nvSpPr>
          <p:cNvPr id="1065" name="Text"/>
          <p:cNvSpPr/>
          <p:nvPr/>
        </p:nvSpPr>
        <p:spPr>
          <a:xfrm>
            <a:off x="411480" y="1435607"/>
            <a:ext cx="2578608" cy="786384"/>
          </a:xfrm>
          <a:prstGeom prst="rect">
            <a:avLst/>
          </a:prstGeom>
          <a:noFill/>
          <a:ln/>
        </p:spPr>
        <p:txBody>
          <a:bodyPr wrap="square" rtlCol="0" anchor="t">
            <a:normAutofit/>
          </a:bodyPr>
          <a:lstStyle/>
          <a:p>
            <a:pPr marL="0" indent="0" algn="l">
              <a:lnSpc>
                <a:spcPct val="92000"/>
              </a:lnSpc>
              <a:buNone/>
            </a:pPr>
            <a:r>
              <a:rPr lang="en-US" sz="1000" b="0" kern="0" dirty="0">
                <a:solidFill>
                  <a:srgbClr val="333333"/>
                </a:solidFill>
                <a:latin typeface="Calibri" pitchFamily="34" charset="0"/>
                <a:ea typeface="Calibri" pitchFamily="34" charset="-122"/>
                <a:cs typeface="Calibri" pitchFamily="34" charset="-120"/>
              </a:rPr>
              <a:t>The agreed structure of the file plan, shown as it exists in the term store rather than as a document.</a:t>
            </a:r>
          </a:p>
        </p:txBody>
      </p:sp>
      <p:sp>
        <p:nvSpPr>
          <p:cNvPr id="1066" name="Rule"/>
          <p:cNvSpPr/>
          <p:nvPr/>
        </p:nvSpPr>
        <p:spPr>
          <a:xfrm>
            <a:off x="3282696" y="1097280"/>
            <a:ext cx="2578608" cy="36576"/>
          </a:xfrm>
          <a:prstGeom prst="rect">
            <a:avLst/>
          </a:prstGeom>
          <a:solidFill>
            <a:srgbClr val="009B8A"/>
          </a:solidFill>
          <a:ln/>
        </p:spPr>
        <p:txBody>
          <a:bodyPr/>
          <a:lstStyle/>
          <a:p>
            <a:endParaRPr lang="en-PH" sz="1000"/>
          </a:p>
        </p:txBody>
      </p:sp>
      <p:sp>
        <p:nvSpPr>
          <p:cNvPr id="1067" name="Text"/>
          <p:cNvSpPr/>
          <p:nvPr/>
        </p:nvSpPr>
        <p:spPr>
          <a:xfrm>
            <a:off x="3282696" y="1152144"/>
            <a:ext cx="2578608" cy="210312"/>
          </a:xfrm>
          <a:prstGeom prst="rect">
            <a:avLst/>
          </a:prstGeom>
          <a:noFill/>
          <a:ln/>
        </p:spPr>
        <p:txBody>
          <a:bodyPr wrap="square" rtlCol="0" anchor="ctr">
            <a:normAutofit fontScale="77500" lnSpcReduction="20000"/>
          </a:bodyPr>
          <a:lstStyle/>
          <a:p>
            <a:pPr marL="0" indent="0" algn="l">
              <a:buNone/>
            </a:pPr>
            <a:r>
              <a:rPr lang="en-US" sz="1200" b="1" kern="0" dirty="0">
                <a:solidFill>
                  <a:srgbClr val="003D5B"/>
                </a:solidFill>
                <a:latin typeface="Calibri" pitchFamily="34" charset="0"/>
                <a:ea typeface="Calibri" pitchFamily="34" charset="-122"/>
                <a:cs typeface="Calibri" pitchFamily="34" charset="-120"/>
              </a:rPr>
              <a:t>Coverage at a glance</a:t>
            </a:r>
          </a:p>
        </p:txBody>
      </p:sp>
      <p:sp>
        <p:nvSpPr>
          <p:cNvPr id="1068" name="Text"/>
          <p:cNvSpPr/>
          <p:nvPr/>
        </p:nvSpPr>
        <p:spPr>
          <a:xfrm>
            <a:off x="3282696" y="1435607"/>
            <a:ext cx="2578608" cy="786384"/>
          </a:xfrm>
          <a:prstGeom prst="rect">
            <a:avLst/>
          </a:prstGeom>
          <a:noFill/>
          <a:ln/>
        </p:spPr>
        <p:txBody>
          <a:bodyPr wrap="square" rtlCol="0" anchor="t">
            <a:normAutofit/>
          </a:bodyPr>
          <a:lstStyle/>
          <a:p>
            <a:pPr marL="0" indent="0" algn="l">
              <a:lnSpc>
                <a:spcPct val="92000"/>
              </a:lnSpc>
              <a:buNone/>
            </a:pPr>
            <a:r>
              <a:rPr lang="en-US" sz="1000" b="0" kern="0" dirty="0">
                <a:solidFill>
                  <a:srgbClr val="333333"/>
                </a:solidFill>
                <a:latin typeface="Calibri" pitchFamily="34" charset="0"/>
                <a:ea typeface="Calibri" pitchFamily="34" charset="-122"/>
                <a:cs typeface="Calibri" pitchFamily="34" charset="-120"/>
              </a:rPr>
              <a:t>How much of what has been declared actually maps onto the plan, and where the plan is not being used.</a:t>
            </a:r>
          </a:p>
        </p:txBody>
      </p:sp>
      <p:sp>
        <p:nvSpPr>
          <p:cNvPr id="1069" name="Rule"/>
          <p:cNvSpPr/>
          <p:nvPr/>
        </p:nvSpPr>
        <p:spPr>
          <a:xfrm>
            <a:off x="6153912" y="1097280"/>
            <a:ext cx="2578608" cy="36576"/>
          </a:xfrm>
          <a:prstGeom prst="rect">
            <a:avLst/>
          </a:prstGeom>
          <a:solidFill>
            <a:srgbClr val="009B8A"/>
          </a:solidFill>
          <a:ln/>
        </p:spPr>
        <p:txBody>
          <a:bodyPr/>
          <a:lstStyle/>
          <a:p>
            <a:endParaRPr lang="en-PH" sz="1000"/>
          </a:p>
        </p:txBody>
      </p:sp>
      <p:sp>
        <p:nvSpPr>
          <p:cNvPr id="1070" name="Text"/>
          <p:cNvSpPr/>
          <p:nvPr/>
        </p:nvSpPr>
        <p:spPr>
          <a:xfrm>
            <a:off x="6153912" y="1152144"/>
            <a:ext cx="2578608" cy="210312"/>
          </a:xfrm>
          <a:prstGeom prst="rect">
            <a:avLst/>
          </a:prstGeom>
          <a:noFill/>
          <a:ln/>
        </p:spPr>
        <p:txBody>
          <a:bodyPr wrap="square" rtlCol="0" anchor="ctr">
            <a:normAutofit fontScale="77500" lnSpcReduction="20000"/>
          </a:bodyPr>
          <a:lstStyle/>
          <a:p>
            <a:pPr marL="0" indent="0" algn="l">
              <a:buNone/>
            </a:pPr>
            <a:r>
              <a:rPr lang="en-US" sz="1200" b="1" kern="0" dirty="0">
                <a:solidFill>
                  <a:srgbClr val="003D5B"/>
                </a:solidFill>
                <a:latin typeface="Calibri" pitchFamily="34" charset="0"/>
                <a:ea typeface="Calibri" pitchFamily="34" charset="-122"/>
                <a:cs typeface="Calibri" pitchFamily="34" charset="-120"/>
              </a:rPr>
              <a:t>Complete as drawn</a:t>
            </a:r>
          </a:p>
        </p:txBody>
      </p:sp>
      <p:sp>
        <p:nvSpPr>
          <p:cNvPr id="1071" name="Text"/>
          <p:cNvSpPr/>
          <p:nvPr/>
        </p:nvSpPr>
        <p:spPr>
          <a:xfrm>
            <a:off x="6153912" y="1435607"/>
            <a:ext cx="2578608" cy="786384"/>
          </a:xfrm>
          <a:prstGeom prst="rect">
            <a:avLst/>
          </a:prstGeom>
          <a:noFill/>
          <a:ln/>
        </p:spPr>
        <p:txBody>
          <a:bodyPr wrap="square" rtlCol="0" anchor="t">
            <a:normAutofit/>
          </a:bodyPr>
          <a:lstStyle/>
          <a:p>
            <a:pPr marL="0" indent="0" algn="l">
              <a:lnSpc>
                <a:spcPct val="92000"/>
              </a:lnSpc>
              <a:buNone/>
            </a:pPr>
            <a:r>
              <a:rPr lang="en-US" sz="1000" b="0" kern="0" dirty="0">
                <a:solidFill>
                  <a:srgbClr val="333333"/>
                </a:solidFill>
                <a:latin typeface="Calibri" pitchFamily="34" charset="0"/>
                <a:ea typeface="Calibri" pitchFamily="34" charset="-122"/>
                <a:cs typeface="Calibri" pitchFamily="34" charset="-120"/>
              </a:rPr>
              <a:t>This page is built end to end. What we need from you here is confirmation rather than new information.</a:t>
            </a:r>
          </a:p>
        </p:txBody>
      </p:sp>
      <p:sp>
        <p:nvSpPr>
          <p:cNvPr id="1072" name="Text"/>
          <p:cNvSpPr/>
          <p:nvPr/>
        </p:nvSpPr>
        <p:spPr>
          <a:xfrm>
            <a:off x="411480" y="2231136"/>
            <a:ext cx="4572000" cy="201168"/>
          </a:xfrm>
          <a:prstGeom prst="rect">
            <a:avLst/>
          </a:prstGeom>
          <a:noFill/>
          <a:ln/>
        </p:spPr>
        <p:txBody>
          <a:bodyPr wrap="square" rtlCol="0" anchor="ctr">
            <a:normAutofit fontScale="70000" lnSpcReduction="20000"/>
          </a:bodyPr>
          <a:lstStyle/>
          <a:p>
            <a:pPr marL="0" indent="0" algn="l">
              <a:buNone/>
            </a:pPr>
            <a:r>
              <a:rPr lang="en-US" sz="1200" b="1" kern="0" spc="105" dirty="0">
                <a:solidFill>
                  <a:srgbClr val="003D5B"/>
                </a:solidFill>
                <a:latin typeface="Calibri" pitchFamily="34" charset="0"/>
                <a:ea typeface="Calibri" pitchFamily="34" charset="-122"/>
                <a:cs typeface="Calibri" pitchFamily="34" charset="-120"/>
              </a:rPr>
              <a:t>WHAT YOU WILL SEE ON THE PAGE</a:t>
            </a:r>
          </a:p>
        </p:txBody>
      </p:sp>
      <p:sp>
        <p:nvSpPr>
          <p:cNvPr id="1073" name="Panel"/>
          <p:cNvSpPr/>
          <p:nvPr/>
        </p:nvSpPr>
        <p:spPr>
          <a:xfrm>
            <a:off x="411480" y="2487168"/>
            <a:ext cx="8321040" cy="2084831"/>
          </a:xfrm>
          <a:prstGeom prst="rect">
            <a:avLst/>
          </a:prstGeom>
          <a:solidFill>
            <a:srgbClr val="F4F7F8"/>
          </a:solidFill>
          <a:ln w="12700">
            <a:solidFill>
              <a:srgbClr val="D8DEE1"/>
            </a:solidFill>
            <a:prstDash val="solid"/>
          </a:ln>
        </p:spPr>
        <p:txBody>
          <a:bodyPr/>
          <a:lstStyle/>
          <a:p>
            <a:endParaRPr lang="en-PH" sz="1000"/>
          </a:p>
        </p:txBody>
      </p:sp>
      <p:sp>
        <p:nvSpPr>
          <p:cNvPr id="1074" name="Rule"/>
          <p:cNvSpPr/>
          <p:nvPr/>
        </p:nvSpPr>
        <p:spPr>
          <a:xfrm>
            <a:off x="612648" y="2688336"/>
            <a:ext cx="1655063" cy="32004"/>
          </a:xfrm>
          <a:prstGeom prst="rect">
            <a:avLst/>
          </a:prstGeom>
          <a:solidFill>
            <a:srgbClr val="009B8A"/>
          </a:solidFill>
          <a:ln/>
        </p:spPr>
        <p:txBody>
          <a:bodyPr/>
          <a:lstStyle/>
          <a:p>
            <a:endParaRPr lang="en-PH" sz="1000"/>
          </a:p>
        </p:txBody>
      </p:sp>
      <p:sp>
        <p:nvSpPr>
          <p:cNvPr id="1075" name="Text"/>
          <p:cNvSpPr/>
          <p:nvPr/>
        </p:nvSpPr>
        <p:spPr>
          <a:xfrm>
            <a:off x="612648" y="2761488"/>
            <a:ext cx="1655063" cy="219456"/>
          </a:xfrm>
          <a:prstGeom prst="rect">
            <a:avLst/>
          </a:prstGeom>
          <a:noFill/>
          <a:ln/>
        </p:spPr>
        <p:txBody>
          <a:bodyPr wrap="square" rtlCol="0" anchor="ctr">
            <a:normAutofit fontScale="92500" lnSpcReduction="20000"/>
          </a:bodyPr>
          <a:lstStyle/>
          <a:p>
            <a:pPr marL="0" indent="0" algn="l">
              <a:buNone/>
            </a:pPr>
            <a:r>
              <a:rPr lang="en-US" sz="1050" b="1" kern="0" dirty="0">
                <a:solidFill>
                  <a:srgbClr val="003D5B"/>
                </a:solidFill>
                <a:latin typeface="Calibri" pitchFamily="34" charset="0"/>
                <a:ea typeface="Calibri" pitchFamily="34" charset="-122"/>
                <a:cs typeface="Calibri" pitchFamily="34" charset="-120"/>
              </a:rPr>
              <a:t>The hierarchy</a:t>
            </a:r>
          </a:p>
        </p:txBody>
      </p:sp>
      <p:sp>
        <p:nvSpPr>
          <p:cNvPr id="1076" name="Bullet"/>
          <p:cNvSpPr/>
          <p:nvPr/>
        </p:nvSpPr>
        <p:spPr>
          <a:xfrm>
            <a:off x="612648" y="3118103"/>
            <a:ext cx="50292" cy="50292"/>
          </a:xfrm>
          <a:prstGeom prst="rect">
            <a:avLst/>
          </a:prstGeom>
          <a:solidFill>
            <a:srgbClr val="009B8A"/>
          </a:solidFill>
          <a:ln/>
        </p:spPr>
        <p:txBody>
          <a:bodyPr/>
          <a:lstStyle/>
          <a:p>
            <a:endParaRPr lang="en-PH" sz="1000"/>
          </a:p>
        </p:txBody>
      </p:sp>
      <p:sp>
        <p:nvSpPr>
          <p:cNvPr id="1077" name="Text"/>
          <p:cNvSpPr/>
          <p:nvPr/>
        </p:nvSpPr>
        <p:spPr>
          <a:xfrm>
            <a:off x="758952" y="3054096"/>
            <a:ext cx="1545336" cy="201168"/>
          </a:xfrm>
          <a:prstGeom prst="rect">
            <a:avLst/>
          </a:prstGeom>
          <a:noFill/>
          <a:ln/>
        </p:spPr>
        <p:txBody>
          <a:bodyPr wrap="square" rtlCol="0" anchor="ctr">
            <a:normAutofit fontScale="92500" lnSpcReduction="10000"/>
          </a:bodyPr>
          <a:lstStyle/>
          <a:p>
            <a:pPr marL="0" indent="0" algn="l">
              <a:buNone/>
            </a:pPr>
            <a:r>
              <a:rPr lang="en-US" sz="900" b="0" kern="0" dirty="0">
                <a:solidFill>
                  <a:srgbClr val="333333"/>
                </a:solidFill>
                <a:latin typeface="Calibri" pitchFamily="34" charset="0"/>
                <a:ea typeface="Calibri" pitchFamily="34" charset="-122"/>
                <a:cs typeface="Calibri" pitchFamily="34" charset="-120"/>
              </a:rPr>
              <a:t>Five top-level categories</a:t>
            </a:r>
          </a:p>
        </p:txBody>
      </p:sp>
      <p:sp>
        <p:nvSpPr>
          <p:cNvPr id="1078" name="Bullet"/>
          <p:cNvSpPr/>
          <p:nvPr/>
        </p:nvSpPr>
        <p:spPr>
          <a:xfrm>
            <a:off x="612648" y="3392423"/>
            <a:ext cx="50292" cy="50292"/>
          </a:xfrm>
          <a:prstGeom prst="rect">
            <a:avLst/>
          </a:prstGeom>
          <a:solidFill>
            <a:srgbClr val="009B8A"/>
          </a:solidFill>
          <a:ln/>
        </p:spPr>
        <p:txBody>
          <a:bodyPr/>
          <a:lstStyle/>
          <a:p>
            <a:endParaRPr lang="en-PH" sz="1000"/>
          </a:p>
        </p:txBody>
      </p:sp>
      <p:sp>
        <p:nvSpPr>
          <p:cNvPr id="1079" name="Text"/>
          <p:cNvSpPr/>
          <p:nvPr/>
        </p:nvSpPr>
        <p:spPr>
          <a:xfrm>
            <a:off x="758952" y="3328415"/>
            <a:ext cx="1545336" cy="201168"/>
          </a:xfrm>
          <a:prstGeom prst="rect">
            <a:avLst/>
          </a:prstGeom>
          <a:noFill/>
          <a:ln/>
        </p:spPr>
        <p:txBody>
          <a:bodyPr wrap="square" rtlCol="0" anchor="ctr">
            <a:normAutofit fontScale="92500" lnSpcReduction="10000"/>
          </a:bodyPr>
          <a:lstStyle/>
          <a:p>
            <a:pPr marL="0" indent="0" algn="l">
              <a:buNone/>
            </a:pPr>
            <a:r>
              <a:rPr lang="en-US" sz="900" b="0" kern="0" dirty="0">
                <a:solidFill>
                  <a:srgbClr val="333333"/>
                </a:solidFill>
                <a:latin typeface="Calibri" pitchFamily="34" charset="0"/>
                <a:ea typeface="Calibri" pitchFamily="34" charset="-122"/>
                <a:cs typeface="Calibri" pitchFamily="34" charset="-120"/>
              </a:rPr>
              <a:t>Terms within each category</a:t>
            </a:r>
          </a:p>
        </p:txBody>
      </p:sp>
      <p:sp>
        <p:nvSpPr>
          <p:cNvPr id="1080" name="Rule"/>
          <p:cNvSpPr/>
          <p:nvPr/>
        </p:nvSpPr>
        <p:spPr>
          <a:xfrm>
            <a:off x="2578608" y="2688336"/>
            <a:ext cx="1655063" cy="32004"/>
          </a:xfrm>
          <a:prstGeom prst="rect">
            <a:avLst/>
          </a:prstGeom>
          <a:solidFill>
            <a:srgbClr val="009B8A"/>
          </a:solidFill>
          <a:ln/>
        </p:spPr>
        <p:txBody>
          <a:bodyPr/>
          <a:lstStyle/>
          <a:p>
            <a:endParaRPr lang="en-PH" sz="1000"/>
          </a:p>
        </p:txBody>
      </p:sp>
      <p:sp>
        <p:nvSpPr>
          <p:cNvPr id="1081" name="Text"/>
          <p:cNvSpPr/>
          <p:nvPr/>
        </p:nvSpPr>
        <p:spPr>
          <a:xfrm>
            <a:off x="2578608" y="2761488"/>
            <a:ext cx="1655063" cy="219456"/>
          </a:xfrm>
          <a:prstGeom prst="rect">
            <a:avLst/>
          </a:prstGeom>
          <a:noFill/>
          <a:ln/>
        </p:spPr>
        <p:txBody>
          <a:bodyPr wrap="square" rtlCol="0" anchor="ctr">
            <a:normAutofit fontScale="92500" lnSpcReduction="20000"/>
          </a:bodyPr>
          <a:lstStyle/>
          <a:p>
            <a:pPr marL="0" indent="0" algn="l">
              <a:buNone/>
            </a:pPr>
            <a:r>
              <a:rPr lang="en-US" sz="1050" b="1" kern="0" dirty="0">
                <a:solidFill>
                  <a:srgbClr val="003D5B"/>
                </a:solidFill>
                <a:latin typeface="Calibri" pitchFamily="34" charset="0"/>
                <a:ea typeface="Calibri" pitchFamily="34" charset="-122"/>
                <a:cs typeface="Calibri" pitchFamily="34" charset="-120"/>
              </a:rPr>
              <a:t>Rollup</a:t>
            </a:r>
          </a:p>
        </p:txBody>
      </p:sp>
      <p:sp>
        <p:nvSpPr>
          <p:cNvPr id="1082" name="Bullet"/>
          <p:cNvSpPr/>
          <p:nvPr/>
        </p:nvSpPr>
        <p:spPr>
          <a:xfrm>
            <a:off x="2578608" y="3118103"/>
            <a:ext cx="50292" cy="50292"/>
          </a:xfrm>
          <a:prstGeom prst="rect">
            <a:avLst/>
          </a:prstGeom>
          <a:solidFill>
            <a:srgbClr val="009B8A"/>
          </a:solidFill>
          <a:ln/>
        </p:spPr>
        <p:txBody>
          <a:bodyPr/>
          <a:lstStyle/>
          <a:p>
            <a:endParaRPr lang="en-PH" sz="1000"/>
          </a:p>
        </p:txBody>
      </p:sp>
      <p:sp>
        <p:nvSpPr>
          <p:cNvPr id="1083" name="Text"/>
          <p:cNvSpPr/>
          <p:nvPr/>
        </p:nvSpPr>
        <p:spPr>
          <a:xfrm>
            <a:off x="2724912" y="3054096"/>
            <a:ext cx="1545336" cy="201168"/>
          </a:xfrm>
          <a:prstGeom prst="rect">
            <a:avLst/>
          </a:prstGeom>
          <a:noFill/>
          <a:ln/>
        </p:spPr>
        <p:txBody>
          <a:bodyPr wrap="square" rtlCol="0" anchor="ctr">
            <a:normAutofit fontScale="92500" lnSpcReduction="10000"/>
          </a:bodyPr>
          <a:lstStyle/>
          <a:p>
            <a:pPr marL="0" indent="0" algn="l">
              <a:buNone/>
            </a:pPr>
            <a:r>
              <a:rPr lang="en-US" sz="900" b="0" kern="0" dirty="0">
                <a:solidFill>
                  <a:srgbClr val="333333"/>
                </a:solidFill>
                <a:latin typeface="Calibri" pitchFamily="34" charset="0"/>
                <a:ea typeface="Calibri" pitchFamily="34" charset="-122"/>
                <a:cs typeface="Calibri" pitchFamily="34" charset="-120"/>
              </a:rPr>
              <a:t>Total terms per category</a:t>
            </a:r>
          </a:p>
        </p:txBody>
      </p:sp>
      <p:sp>
        <p:nvSpPr>
          <p:cNvPr id="1084" name="Bullet"/>
          <p:cNvSpPr/>
          <p:nvPr/>
        </p:nvSpPr>
        <p:spPr>
          <a:xfrm>
            <a:off x="2578608" y="3392423"/>
            <a:ext cx="50292" cy="50292"/>
          </a:xfrm>
          <a:prstGeom prst="rect">
            <a:avLst/>
          </a:prstGeom>
          <a:solidFill>
            <a:srgbClr val="009B8A"/>
          </a:solidFill>
          <a:ln/>
        </p:spPr>
        <p:txBody>
          <a:bodyPr/>
          <a:lstStyle/>
          <a:p>
            <a:endParaRPr lang="en-PH" sz="1000"/>
          </a:p>
        </p:txBody>
      </p:sp>
      <p:sp>
        <p:nvSpPr>
          <p:cNvPr id="1085" name="Text"/>
          <p:cNvSpPr/>
          <p:nvPr/>
        </p:nvSpPr>
        <p:spPr>
          <a:xfrm>
            <a:off x="2724912" y="3328415"/>
            <a:ext cx="1545336" cy="201168"/>
          </a:xfrm>
          <a:prstGeom prst="rect">
            <a:avLst/>
          </a:prstGeom>
          <a:noFill/>
          <a:ln/>
        </p:spPr>
        <p:txBody>
          <a:bodyPr wrap="square" rtlCol="0" anchor="ctr">
            <a:normAutofit fontScale="92500" lnSpcReduction="10000"/>
          </a:bodyPr>
          <a:lstStyle/>
          <a:p>
            <a:pPr marL="0" indent="0" algn="l">
              <a:buNone/>
            </a:pPr>
            <a:r>
              <a:rPr lang="en-US" sz="900" b="0" kern="0" dirty="0">
                <a:solidFill>
                  <a:srgbClr val="333333"/>
                </a:solidFill>
                <a:latin typeface="Calibri" pitchFamily="34" charset="0"/>
                <a:ea typeface="Calibri" pitchFamily="34" charset="-122"/>
                <a:cs typeface="Calibri" pitchFamily="34" charset="-120"/>
              </a:rPr>
              <a:t>One screen per category</a:t>
            </a:r>
          </a:p>
        </p:txBody>
      </p:sp>
      <p:sp>
        <p:nvSpPr>
          <p:cNvPr id="1086" name="Rule"/>
          <p:cNvSpPr/>
          <p:nvPr/>
        </p:nvSpPr>
        <p:spPr>
          <a:xfrm>
            <a:off x="4544568" y="2688336"/>
            <a:ext cx="1655063" cy="32004"/>
          </a:xfrm>
          <a:prstGeom prst="rect">
            <a:avLst/>
          </a:prstGeom>
          <a:solidFill>
            <a:srgbClr val="009B8A"/>
          </a:solidFill>
          <a:ln/>
        </p:spPr>
        <p:txBody>
          <a:bodyPr/>
          <a:lstStyle/>
          <a:p>
            <a:endParaRPr lang="en-PH" sz="1000"/>
          </a:p>
        </p:txBody>
      </p:sp>
      <p:sp>
        <p:nvSpPr>
          <p:cNvPr id="1087" name="Text"/>
          <p:cNvSpPr/>
          <p:nvPr/>
        </p:nvSpPr>
        <p:spPr>
          <a:xfrm>
            <a:off x="4544568" y="2761488"/>
            <a:ext cx="1655063" cy="219456"/>
          </a:xfrm>
          <a:prstGeom prst="rect">
            <a:avLst/>
          </a:prstGeom>
          <a:noFill/>
          <a:ln/>
        </p:spPr>
        <p:txBody>
          <a:bodyPr wrap="square" rtlCol="0" anchor="ctr">
            <a:normAutofit fontScale="92500" lnSpcReduction="20000"/>
          </a:bodyPr>
          <a:lstStyle/>
          <a:p>
            <a:pPr marL="0" indent="0" algn="l">
              <a:buNone/>
            </a:pPr>
            <a:r>
              <a:rPr lang="en-US" sz="1050" b="1" kern="0" dirty="0">
                <a:solidFill>
                  <a:srgbClr val="003D5B"/>
                </a:solidFill>
                <a:latin typeface="Calibri" pitchFamily="34" charset="0"/>
                <a:ea typeface="Calibri" pitchFamily="34" charset="-122"/>
                <a:cs typeface="Calibri" pitchFamily="34" charset="-120"/>
              </a:rPr>
              <a:t>Usage</a:t>
            </a:r>
          </a:p>
        </p:txBody>
      </p:sp>
      <p:sp>
        <p:nvSpPr>
          <p:cNvPr id="1088" name="Bullet"/>
          <p:cNvSpPr/>
          <p:nvPr/>
        </p:nvSpPr>
        <p:spPr>
          <a:xfrm>
            <a:off x="4544568" y="3118103"/>
            <a:ext cx="50292" cy="50292"/>
          </a:xfrm>
          <a:prstGeom prst="rect">
            <a:avLst/>
          </a:prstGeom>
          <a:solidFill>
            <a:srgbClr val="009B8A"/>
          </a:solidFill>
          <a:ln/>
        </p:spPr>
        <p:txBody>
          <a:bodyPr/>
          <a:lstStyle/>
          <a:p>
            <a:endParaRPr lang="en-PH" sz="1000"/>
          </a:p>
        </p:txBody>
      </p:sp>
      <p:sp>
        <p:nvSpPr>
          <p:cNvPr id="1089" name="Text"/>
          <p:cNvSpPr/>
          <p:nvPr/>
        </p:nvSpPr>
        <p:spPr>
          <a:xfrm>
            <a:off x="4690872" y="3054096"/>
            <a:ext cx="1545336" cy="201168"/>
          </a:xfrm>
          <a:prstGeom prst="rect">
            <a:avLst/>
          </a:prstGeom>
          <a:noFill/>
          <a:ln/>
        </p:spPr>
        <p:txBody>
          <a:bodyPr wrap="square" rtlCol="0" anchor="ctr">
            <a:normAutofit fontScale="77500" lnSpcReduction="20000"/>
          </a:bodyPr>
          <a:lstStyle/>
          <a:p>
            <a:pPr marL="0" indent="0" algn="l">
              <a:buNone/>
            </a:pPr>
            <a:r>
              <a:rPr lang="en-US" sz="900" b="0" kern="0" dirty="0">
                <a:solidFill>
                  <a:srgbClr val="333333"/>
                </a:solidFill>
                <a:latin typeface="Calibri" pitchFamily="34" charset="0"/>
                <a:ea typeface="Calibri" pitchFamily="34" charset="-122"/>
                <a:cs typeface="Calibri" pitchFamily="34" charset="-120"/>
              </a:rPr>
              <a:t>Records mapped against each term</a:t>
            </a:r>
          </a:p>
        </p:txBody>
      </p:sp>
      <p:sp>
        <p:nvSpPr>
          <p:cNvPr id="1090" name="Bullet"/>
          <p:cNvSpPr/>
          <p:nvPr/>
        </p:nvSpPr>
        <p:spPr>
          <a:xfrm>
            <a:off x="4544568" y="3392423"/>
            <a:ext cx="50292" cy="50292"/>
          </a:xfrm>
          <a:prstGeom prst="rect">
            <a:avLst/>
          </a:prstGeom>
          <a:solidFill>
            <a:srgbClr val="009B8A"/>
          </a:solidFill>
          <a:ln/>
        </p:spPr>
        <p:txBody>
          <a:bodyPr/>
          <a:lstStyle/>
          <a:p>
            <a:endParaRPr lang="en-PH" sz="1000"/>
          </a:p>
        </p:txBody>
      </p:sp>
      <p:sp>
        <p:nvSpPr>
          <p:cNvPr id="1091" name="Text"/>
          <p:cNvSpPr/>
          <p:nvPr/>
        </p:nvSpPr>
        <p:spPr>
          <a:xfrm>
            <a:off x="4690872" y="3328415"/>
            <a:ext cx="1545336" cy="201168"/>
          </a:xfrm>
          <a:prstGeom prst="rect">
            <a:avLst/>
          </a:prstGeom>
          <a:noFill/>
          <a:ln/>
        </p:spPr>
        <p:txBody>
          <a:bodyPr wrap="square" rtlCol="0" anchor="ctr">
            <a:normAutofit fontScale="70000" lnSpcReduction="20000"/>
          </a:bodyPr>
          <a:lstStyle/>
          <a:p>
            <a:pPr marL="0" indent="0" algn="l">
              <a:buNone/>
            </a:pPr>
            <a:r>
              <a:rPr lang="en-US" sz="900" b="0" kern="0" dirty="0">
                <a:solidFill>
                  <a:srgbClr val="333333"/>
                </a:solidFill>
                <a:latin typeface="Calibri" pitchFamily="34" charset="0"/>
                <a:ea typeface="Calibri" pitchFamily="34" charset="-122"/>
                <a:cs typeface="Calibri" pitchFamily="34" charset="-120"/>
              </a:rPr>
              <a:t>Terms with nothing declared against them</a:t>
            </a:r>
          </a:p>
        </p:txBody>
      </p:sp>
      <p:sp>
        <p:nvSpPr>
          <p:cNvPr id="1092" name="Rule"/>
          <p:cNvSpPr/>
          <p:nvPr/>
        </p:nvSpPr>
        <p:spPr>
          <a:xfrm>
            <a:off x="6510527" y="2688336"/>
            <a:ext cx="1655063" cy="32004"/>
          </a:xfrm>
          <a:prstGeom prst="rect">
            <a:avLst/>
          </a:prstGeom>
          <a:solidFill>
            <a:srgbClr val="009B8A"/>
          </a:solidFill>
          <a:ln/>
        </p:spPr>
        <p:txBody>
          <a:bodyPr/>
          <a:lstStyle/>
          <a:p>
            <a:endParaRPr lang="en-PH" sz="1000"/>
          </a:p>
        </p:txBody>
      </p:sp>
      <p:sp>
        <p:nvSpPr>
          <p:cNvPr id="1093" name="Text"/>
          <p:cNvSpPr/>
          <p:nvPr/>
        </p:nvSpPr>
        <p:spPr>
          <a:xfrm>
            <a:off x="6510527" y="2761488"/>
            <a:ext cx="1655063" cy="219456"/>
          </a:xfrm>
          <a:prstGeom prst="rect">
            <a:avLst/>
          </a:prstGeom>
          <a:noFill/>
          <a:ln/>
        </p:spPr>
        <p:txBody>
          <a:bodyPr wrap="square" rtlCol="0" anchor="ctr">
            <a:normAutofit fontScale="92500" lnSpcReduction="20000"/>
          </a:bodyPr>
          <a:lstStyle/>
          <a:p>
            <a:pPr marL="0" indent="0" algn="l">
              <a:buNone/>
            </a:pPr>
            <a:r>
              <a:rPr lang="en-US" sz="1050" b="1" kern="0" dirty="0">
                <a:solidFill>
                  <a:srgbClr val="003D5B"/>
                </a:solidFill>
                <a:latin typeface="Calibri" pitchFamily="34" charset="0"/>
                <a:ea typeface="Calibri" pitchFamily="34" charset="-122"/>
                <a:cs typeface="Calibri" pitchFamily="34" charset="-120"/>
              </a:rPr>
              <a:t>Navigation</a:t>
            </a:r>
          </a:p>
        </p:txBody>
      </p:sp>
      <p:sp>
        <p:nvSpPr>
          <p:cNvPr id="1094" name="Bullet"/>
          <p:cNvSpPr/>
          <p:nvPr/>
        </p:nvSpPr>
        <p:spPr>
          <a:xfrm>
            <a:off x="6510527" y="3118103"/>
            <a:ext cx="50292" cy="50292"/>
          </a:xfrm>
          <a:prstGeom prst="rect">
            <a:avLst/>
          </a:prstGeom>
          <a:solidFill>
            <a:srgbClr val="009B8A"/>
          </a:solidFill>
          <a:ln/>
        </p:spPr>
        <p:txBody>
          <a:bodyPr/>
          <a:lstStyle/>
          <a:p>
            <a:endParaRPr lang="en-PH" sz="1000"/>
          </a:p>
        </p:txBody>
      </p:sp>
      <p:sp>
        <p:nvSpPr>
          <p:cNvPr id="1095" name="Text"/>
          <p:cNvSpPr/>
          <p:nvPr/>
        </p:nvSpPr>
        <p:spPr>
          <a:xfrm>
            <a:off x="6656831" y="3054096"/>
            <a:ext cx="1545336" cy="201168"/>
          </a:xfrm>
          <a:prstGeom prst="rect">
            <a:avLst/>
          </a:prstGeom>
          <a:noFill/>
          <a:ln/>
        </p:spPr>
        <p:txBody>
          <a:bodyPr wrap="square" rtlCol="0" anchor="ctr">
            <a:normAutofit fontScale="92500" lnSpcReduction="10000"/>
          </a:bodyPr>
          <a:lstStyle/>
          <a:p>
            <a:pPr marL="0" indent="0" algn="l">
              <a:buNone/>
            </a:pPr>
            <a:r>
              <a:rPr lang="en-US" sz="900" b="0" kern="0" dirty="0">
                <a:solidFill>
                  <a:srgbClr val="333333"/>
                </a:solidFill>
                <a:latin typeface="Calibri" pitchFamily="34" charset="0"/>
                <a:ea typeface="Calibri" pitchFamily="34" charset="-122"/>
                <a:cs typeface="Calibri" pitchFamily="34" charset="-120"/>
              </a:rPr>
              <a:t>Category to term drill-down</a:t>
            </a:r>
          </a:p>
        </p:txBody>
      </p:sp>
      <p:sp>
        <p:nvSpPr>
          <p:cNvPr id="1096" name="Bullet"/>
          <p:cNvSpPr/>
          <p:nvPr/>
        </p:nvSpPr>
        <p:spPr>
          <a:xfrm>
            <a:off x="6510527" y="3392423"/>
            <a:ext cx="50292" cy="50292"/>
          </a:xfrm>
          <a:prstGeom prst="rect">
            <a:avLst/>
          </a:prstGeom>
          <a:solidFill>
            <a:srgbClr val="009B8A"/>
          </a:solidFill>
          <a:ln/>
        </p:spPr>
        <p:txBody>
          <a:bodyPr/>
          <a:lstStyle/>
          <a:p>
            <a:endParaRPr lang="en-PH" sz="1000"/>
          </a:p>
        </p:txBody>
      </p:sp>
      <p:sp>
        <p:nvSpPr>
          <p:cNvPr id="1097" name="Text"/>
          <p:cNvSpPr/>
          <p:nvPr/>
        </p:nvSpPr>
        <p:spPr>
          <a:xfrm>
            <a:off x="6656831" y="3328415"/>
            <a:ext cx="1545336" cy="201168"/>
          </a:xfrm>
          <a:prstGeom prst="rect">
            <a:avLst/>
          </a:prstGeom>
          <a:noFill/>
          <a:ln/>
        </p:spPr>
        <p:txBody>
          <a:bodyPr wrap="square" rtlCol="0" anchor="ctr">
            <a:normAutofit fontScale="92500" lnSpcReduction="10000"/>
          </a:bodyPr>
          <a:lstStyle/>
          <a:p>
            <a:pPr marL="0" indent="0" algn="l">
              <a:buNone/>
            </a:pPr>
            <a:r>
              <a:rPr lang="en-US" sz="900" b="0" kern="0" dirty="0">
                <a:solidFill>
                  <a:srgbClr val="333333"/>
                </a:solidFill>
                <a:latin typeface="Calibri" pitchFamily="34" charset="0"/>
                <a:ea typeface="Calibri" pitchFamily="34" charset="-122"/>
                <a:cs typeface="Calibri" pitchFamily="34" charset="-120"/>
              </a:rPr>
              <a:t>Term to declared records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1" name="Title"/>
          <p:cNvSpPr/>
          <p:nvPr/>
        </p:nvSpPr>
        <p:spPr>
          <a:xfrm>
            <a:off x="201168" y="91440"/>
            <a:ext cx="8412480" cy="493776"/>
          </a:xfrm>
          <a:prstGeom prst="rect">
            <a:avLst/>
          </a:prstGeom>
          <a:noFill/>
          <a:ln/>
        </p:spPr>
        <p:txBody>
          <a:bodyPr wrap="square" rtlCol="0" anchor="ctr">
            <a:normAutofit lnSpcReduction="10000"/>
          </a:bodyPr>
          <a:lstStyle/>
          <a:p>
            <a:pPr marL="0" indent="0" algn="l">
              <a:buNone/>
            </a:pPr>
            <a:r>
              <a:rPr lang="en-US" sz="2700" b="1" kern="0" dirty="0">
                <a:solidFill>
                  <a:srgbClr val="003D5B"/>
                </a:solidFill>
                <a:latin typeface="Calibri" pitchFamily="34" charset="0"/>
                <a:ea typeface="Calibri" pitchFamily="34" charset="-122"/>
                <a:cs typeface="Calibri" pitchFamily="34" charset="-120"/>
              </a:rPr>
              <a:t>Retention &amp; Disposal</a:t>
            </a:r>
          </a:p>
        </p:txBody>
      </p:sp>
      <p:sp>
        <p:nvSpPr>
          <p:cNvPr id="1002" name="Subtitle"/>
          <p:cNvSpPr/>
          <p:nvPr/>
        </p:nvSpPr>
        <p:spPr>
          <a:xfrm>
            <a:off x="192024" y="640080"/>
            <a:ext cx="8412480" cy="310896"/>
          </a:xfrm>
          <a:prstGeom prst="rect">
            <a:avLst/>
          </a:prstGeom>
          <a:noFill/>
          <a:ln/>
        </p:spPr>
        <p:txBody>
          <a:bodyPr wrap="square" rtlCol="0" anchor="ctr">
            <a:normAutofit/>
          </a:bodyPr>
          <a:lstStyle/>
          <a:p>
            <a:pPr marL="0" indent="0" algn="l">
              <a:buNone/>
            </a:pPr>
            <a:r>
              <a:rPr lang="en-US" sz="1400" b="0" kern="0" dirty="0">
                <a:solidFill>
                  <a:srgbClr val="009B8A"/>
                </a:solidFill>
                <a:latin typeface="Calibri" pitchFamily="34" charset="0"/>
                <a:ea typeface="Calibri" pitchFamily="34" charset="-122"/>
                <a:cs typeface="Calibri" pitchFamily="34" charset="-120"/>
              </a:rPr>
              <a:t>Retention is reportable today. Disposal is not yet a capability of the platform.</a:t>
            </a:r>
          </a:p>
        </p:txBody>
      </p:sp>
      <p:sp>
        <p:nvSpPr>
          <p:cNvPr id="1003" name="Panel"/>
          <p:cNvSpPr/>
          <p:nvPr/>
        </p:nvSpPr>
        <p:spPr>
          <a:xfrm>
            <a:off x="411480" y="1042415"/>
            <a:ext cx="4005072" cy="2103120"/>
          </a:xfrm>
          <a:prstGeom prst="rect">
            <a:avLst/>
          </a:prstGeom>
          <a:solidFill>
            <a:srgbClr val="EAF7F4"/>
          </a:solidFill>
          <a:ln w="12700">
            <a:solidFill>
              <a:srgbClr val="009B8A"/>
            </a:solidFill>
            <a:prstDash val="solid"/>
          </a:ln>
        </p:spPr>
        <p:txBody>
          <a:bodyPr/>
          <a:lstStyle/>
          <a:p>
            <a:endParaRPr lang="en-PH" sz="1000"/>
          </a:p>
        </p:txBody>
      </p:sp>
      <p:sp>
        <p:nvSpPr>
          <p:cNvPr id="1004" name="Shape"/>
          <p:cNvSpPr/>
          <p:nvPr/>
        </p:nvSpPr>
        <p:spPr>
          <a:xfrm>
            <a:off x="411480" y="1042415"/>
            <a:ext cx="4005072" cy="50292"/>
          </a:xfrm>
          <a:prstGeom prst="rect">
            <a:avLst/>
          </a:prstGeom>
          <a:solidFill>
            <a:srgbClr val="009B8A"/>
          </a:solidFill>
          <a:ln/>
        </p:spPr>
        <p:txBody>
          <a:bodyPr/>
          <a:lstStyle/>
          <a:p>
            <a:endParaRPr lang="en-PH" sz="1000"/>
          </a:p>
        </p:txBody>
      </p:sp>
      <p:sp>
        <p:nvSpPr>
          <p:cNvPr id="1005" name="Text"/>
          <p:cNvSpPr/>
          <p:nvPr/>
        </p:nvSpPr>
        <p:spPr>
          <a:xfrm>
            <a:off x="576072" y="1170432"/>
            <a:ext cx="3675887" cy="237744"/>
          </a:xfrm>
          <a:prstGeom prst="rect">
            <a:avLst/>
          </a:prstGeom>
          <a:noFill/>
          <a:ln/>
        </p:spPr>
        <p:txBody>
          <a:bodyPr wrap="square" rtlCol="0" anchor="ctr">
            <a:normAutofit fontScale="85000" lnSpcReduction="20000"/>
          </a:bodyPr>
          <a:lstStyle/>
          <a:p>
            <a:pPr marL="0" indent="0" algn="l">
              <a:buNone/>
            </a:pPr>
            <a:r>
              <a:rPr lang="en-US" sz="1250" b="1" kern="0" dirty="0">
                <a:solidFill>
                  <a:srgbClr val="003D5B"/>
                </a:solidFill>
                <a:latin typeface="Calibri" pitchFamily="34" charset="0"/>
                <a:ea typeface="Calibri" pitchFamily="34" charset="-122"/>
                <a:cs typeface="Calibri" pitchFamily="34" charset="-120"/>
              </a:rPr>
              <a:t>Retention — in this release</a:t>
            </a:r>
          </a:p>
        </p:txBody>
      </p:sp>
      <p:sp>
        <p:nvSpPr>
          <p:cNvPr id="1006" name="Text"/>
          <p:cNvSpPr/>
          <p:nvPr/>
        </p:nvSpPr>
        <p:spPr>
          <a:xfrm>
            <a:off x="576072" y="1426464"/>
            <a:ext cx="3675887" cy="310896"/>
          </a:xfrm>
          <a:prstGeom prst="rect">
            <a:avLst/>
          </a:prstGeom>
          <a:noFill/>
          <a:ln/>
        </p:spPr>
        <p:txBody>
          <a:bodyPr wrap="square" rtlCol="0" anchor="t">
            <a:normAutofit fontScale="92500"/>
          </a:bodyPr>
          <a:lstStyle/>
          <a:p>
            <a:pPr marL="0" indent="0" algn="l">
              <a:lnSpc>
                <a:spcPct val="92000"/>
              </a:lnSpc>
              <a:buNone/>
            </a:pPr>
            <a:r>
              <a:rPr lang="en-US" sz="950" b="0" kern="0" dirty="0">
                <a:solidFill>
                  <a:srgbClr val="333333"/>
                </a:solidFill>
                <a:latin typeface="Calibri" pitchFamily="34" charset="0"/>
                <a:ea typeface="Calibri" pitchFamily="34" charset="-122"/>
                <a:cs typeface="Calibri" pitchFamily="34" charset="-120"/>
              </a:rPr>
              <a:t>The platform holds retention policy, so retention position is readable now.</a:t>
            </a:r>
          </a:p>
        </p:txBody>
      </p:sp>
      <p:sp>
        <p:nvSpPr>
          <p:cNvPr id="1007" name="Bullet"/>
          <p:cNvSpPr/>
          <p:nvPr/>
        </p:nvSpPr>
        <p:spPr>
          <a:xfrm>
            <a:off x="576072" y="1874519"/>
            <a:ext cx="50292" cy="50292"/>
          </a:xfrm>
          <a:prstGeom prst="rect">
            <a:avLst/>
          </a:prstGeom>
          <a:solidFill>
            <a:srgbClr val="009B8A"/>
          </a:solidFill>
          <a:ln/>
        </p:spPr>
        <p:txBody>
          <a:bodyPr/>
          <a:lstStyle/>
          <a:p>
            <a:endParaRPr lang="en-PH" sz="1000"/>
          </a:p>
        </p:txBody>
      </p:sp>
      <p:sp>
        <p:nvSpPr>
          <p:cNvPr id="1008" name="Text"/>
          <p:cNvSpPr/>
          <p:nvPr/>
        </p:nvSpPr>
        <p:spPr>
          <a:xfrm>
            <a:off x="722376" y="1810512"/>
            <a:ext cx="3529583" cy="201168"/>
          </a:xfrm>
          <a:prstGeom prst="rect">
            <a:avLst/>
          </a:prstGeom>
          <a:noFill/>
          <a:ln/>
        </p:spPr>
        <p:txBody>
          <a:bodyPr wrap="square" rtlCol="0" anchor="ctr">
            <a:normAutofit fontScale="85000" lnSpcReduction="10000"/>
          </a:bodyPr>
          <a:lstStyle/>
          <a:p>
            <a:pPr marL="0" indent="0" algn="l">
              <a:buNone/>
            </a:pPr>
            <a:r>
              <a:rPr lang="en-US" sz="930" b="0" kern="0" dirty="0">
                <a:solidFill>
                  <a:srgbClr val="333333"/>
                </a:solidFill>
                <a:latin typeface="Calibri" pitchFamily="34" charset="0"/>
                <a:ea typeface="Calibri" pitchFamily="34" charset="-122"/>
                <a:cs typeface="Calibri" pitchFamily="34" charset="-120"/>
              </a:rPr>
              <a:t>Retention labels applied across the estate</a:t>
            </a:r>
          </a:p>
        </p:txBody>
      </p:sp>
      <p:sp>
        <p:nvSpPr>
          <p:cNvPr id="1009" name="Bullet"/>
          <p:cNvSpPr/>
          <p:nvPr/>
        </p:nvSpPr>
        <p:spPr>
          <a:xfrm>
            <a:off x="576072" y="2148839"/>
            <a:ext cx="50292" cy="50292"/>
          </a:xfrm>
          <a:prstGeom prst="rect">
            <a:avLst/>
          </a:prstGeom>
          <a:solidFill>
            <a:srgbClr val="009B8A"/>
          </a:solidFill>
          <a:ln/>
        </p:spPr>
        <p:txBody>
          <a:bodyPr/>
          <a:lstStyle/>
          <a:p>
            <a:endParaRPr lang="en-PH" sz="1000"/>
          </a:p>
        </p:txBody>
      </p:sp>
      <p:sp>
        <p:nvSpPr>
          <p:cNvPr id="1010" name="Text"/>
          <p:cNvSpPr/>
          <p:nvPr/>
        </p:nvSpPr>
        <p:spPr>
          <a:xfrm>
            <a:off x="722376" y="2084831"/>
            <a:ext cx="3529583" cy="201168"/>
          </a:xfrm>
          <a:prstGeom prst="rect">
            <a:avLst/>
          </a:prstGeom>
          <a:noFill/>
          <a:ln/>
        </p:spPr>
        <p:txBody>
          <a:bodyPr wrap="square" rtlCol="0" anchor="ctr">
            <a:normAutofit fontScale="85000" lnSpcReduction="10000"/>
          </a:bodyPr>
          <a:lstStyle/>
          <a:p>
            <a:pPr marL="0" indent="0" algn="l">
              <a:buNone/>
            </a:pPr>
            <a:r>
              <a:rPr lang="en-US" sz="930" b="0" kern="0" dirty="0">
                <a:solidFill>
                  <a:srgbClr val="333333"/>
                </a:solidFill>
                <a:latin typeface="Calibri" pitchFamily="34" charset="0"/>
                <a:ea typeface="Calibri" pitchFamily="34" charset="-122"/>
                <a:cs typeface="Calibri" pitchFamily="34" charset="-120"/>
              </a:rPr>
              <a:t>Records approaching the end of their term</a:t>
            </a:r>
          </a:p>
        </p:txBody>
      </p:sp>
      <p:sp>
        <p:nvSpPr>
          <p:cNvPr id="1011" name="Bullet"/>
          <p:cNvSpPr/>
          <p:nvPr/>
        </p:nvSpPr>
        <p:spPr>
          <a:xfrm>
            <a:off x="576072" y="2423159"/>
            <a:ext cx="50292" cy="50292"/>
          </a:xfrm>
          <a:prstGeom prst="rect">
            <a:avLst/>
          </a:prstGeom>
          <a:solidFill>
            <a:srgbClr val="009B8A"/>
          </a:solidFill>
          <a:ln/>
        </p:spPr>
        <p:txBody>
          <a:bodyPr/>
          <a:lstStyle/>
          <a:p>
            <a:endParaRPr lang="en-PH" sz="1000"/>
          </a:p>
        </p:txBody>
      </p:sp>
      <p:sp>
        <p:nvSpPr>
          <p:cNvPr id="1012" name="Text"/>
          <p:cNvSpPr/>
          <p:nvPr/>
        </p:nvSpPr>
        <p:spPr>
          <a:xfrm>
            <a:off x="722376" y="2359151"/>
            <a:ext cx="3529583" cy="201168"/>
          </a:xfrm>
          <a:prstGeom prst="rect">
            <a:avLst/>
          </a:prstGeom>
          <a:noFill/>
          <a:ln/>
        </p:spPr>
        <p:txBody>
          <a:bodyPr wrap="square" rtlCol="0" anchor="ctr">
            <a:normAutofit fontScale="85000" lnSpcReduction="10000"/>
          </a:bodyPr>
          <a:lstStyle/>
          <a:p>
            <a:pPr marL="0" indent="0" algn="l">
              <a:buNone/>
            </a:pPr>
            <a:r>
              <a:rPr lang="en-US" sz="930" b="0" kern="0" dirty="0">
                <a:solidFill>
                  <a:srgbClr val="333333"/>
                </a:solidFill>
                <a:latin typeface="Calibri" pitchFamily="34" charset="0"/>
                <a:ea typeface="Calibri" pitchFamily="34" charset="-122"/>
                <a:cs typeface="Calibri" pitchFamily="34" charset="-120"/>
              </a:rPr>
              <a:t>Coverage: what carries a label and what does not</a:t>
            </a:r>
          </a:p>
        </p:txBody>
      </p:sp>
      <p:sp>
        <p:nvSpPr>
          <p:cNvPr id="1013" name="Bullet"/>
          <p:cNvSpPr/>
          <p:nvPr/>
        </p:nvSpPr>
        <p:spPr>
          <a:xfrm>
            <a:off x="576072" y="2697479"/>
            <a:ext cx="50292" cy="50292"/>
          </a:xfrm>
          <a:prstGeom prst="rect">
            <a:avLst/>
          </a:prstGeom>
          <a:solidFill>
            <a:srgbClr val="009B8A"/>
          </a:solidFill>
          <a:ln/>
        </p:spPr>
        <p:txBody>
          <a:bodyPr/>
          <a:lstStyle/>
          <a:p>
            <a:endParaRPr lang="en-PH" sz="1000"/>
          </a:p>
        </p:txBody>
      </p:sp>
      <p:sp>
        <p:nvSpPr>
          <p:cNvPr id="1014" name="Text"/>
          <p:cNvSpPr/>
          <p:nvPr/>
        </p:nvSpPr>
        <p:spPr>
          <a:xfrm>
            <a:off x="722376" y="2633471"/>
            <a:ext cx="3529583" cy="201168"/>
          </a:xfrm>
          <a:prstGeom prst="rect">
            <a:avLst/>
          </a:prstGeom>
          <a:noFill/>
          <a:ln/>
        </p:spPr>
        <p:txBody>
          <a:bodyPr wrap="square" rtlCol="0" anchor="ctr">
            <a:normAutofit fontScale="85000" lnSpcReduction="10000"/>
          </a:bodyPr>
          <a:lstStyle/>
          <a:p>
            <a:pPr marL="0" indent="0" algn="l">
              <a:buNone/>
            </a:pPr>
            <a:r>
              <a:rPr lang="en-US" sz="930" b="0" kern="0" dirty="0">
                <a:solidFill>
                  <a:srgbClr val="333333"/>
                </a:solidFill>
                <a:latin typeface="Calibri" pitchFamily="34" charset="0"/>
                <a:ea typeface="Calibri" pitchFamily="34" charset="-122"/>
                <a:cs typeface="Calibri" pitchFamily="34" charset="-120"/>
              </a:rPr>
              <a:t>Retention terms as they sit in the file plan</a:t>
            </a:r>
          </a:p>
        </p:txBody>
      </p:sp>
      <p:sp>
        <p:nvSpPr>
          <p:cNvPr id="1015" name="Panel"/>
          <p:cNvSpPr/>
          <p:nvPr/>
        </p:nvSpPr>
        <p:spPr>
          <a:xfrm>
            <a:off x="4727448" y="1042415"/>
            <a:ext cx="4005072" cy="2103120"/>
          </a:xfrm>
          <a:prstGeom prst="rect">
            <a:avLst/>
          </a:prstGeom>
          <a:solidFill>
            <a:srgbClr val="F7F8F9"/>
          </a:solidFill>
          <a:ln w="12700">
            <a:solidFill>
              <a:srgbClr val="C9D2D7"/>
            </a:solidFill>
            <a:prstDash val="solid"/>
          </a:ln>
        </p:spPr>
        <p:txBody>
          <a:bodyPr/>
          <a:lstStyle/>
          <a:p>
            <a:endParaRPr lang="en-PH" sz="1000"/>
          </a:p>
        </p:txBody>
      </p:sp>
      <p:sp>
        <p:nvSpPr>
          <p:cNvPr id="1016" name="Shape"/>
          <p:cNvSpPr/>
          <p:nvPr/>
        </p:nvSpPr>
        <p:spPr>
          <a:xfrm>
            <a:off x="4727448" y="1042415"/>
            <a:ext cx="4005072" cy="50292"/>
          </a:xfrm>
          <a:prstGeom prst="rect">
            <a:avLst/>
          </a:prstGeom>
          <a:solidFill>
            <a:srgbClr val="9AA7AE"/>
          </a:solidFill>
          <a:ln/>
        </p:spPr>
        <p:txBody>
          <a:bodyPr/>
          <a:lstStyle/>
          <a:p>
            <a:endParaRPr lang="en-PH" sz="1000"/>
          </a:p>
        </p:txBody>
      </p:sp>
      <p:sp>
        <p:nvSpPr>
          <p:cNvPr id="1017" name="Text"/>
          <p:cNvSpPr/>
          <p:nvPr/>
        </p:nvSpPr>
        <p:spPr>
          <a:xfrm>
            <a:off x="4892040" y="1170432"/>
            <a:ext cx="3675887" cy="237744"/>
          </a:xfrm>
          <a:prstGeom prst="rect">
            <a:avLst/>
          </a:prstGeom>
          <a:noFill/>
          <a:ln/>
        </p:spPr>
        <p:txBody>
          <a:bodyPr wrap="square" rtlCol="0" anchor="ctr">
            <a:normAutofit fontScale="85000" lnSpcReduction="20000"/>
          </a:bodyPr>
          <a:lstStyle/>
          <a:p>
            <a:pPr marL="0" indent="0" algn="l">
              <a:buNone/>
            </a:pPr>
            <a:r>
              <a:rPr lang="en-US" sz="1250" b="1" kern="0" dirty="0">
                <a:solidFill>
                  <a:srgbClr val="5A6B75"/>
                </a:solidFill>
                <a:latin typeface="Calibri" pitchFamily="34" charset="0"/>
                <a:ea typeface="Calibri" pitchFamily="34" charset="-122"/>
                <a:cs typeface="Calibri" pitchFamily="34" charset="-120"/>
              </a:rPr>
              <a:t>Disposal — not yet built</a:t>
            </a:r>
          </a:p>
        </p:txBody>
      </p:sp>
      <p:sp>
        <p:nvSpPr>
          <p:cNvPr id="1018" name="Text"/>
          <p:cNvSpPr/>
          <p:nvPr/>
        </p:nvSpPr>
        <p:spPr>
          <a:xfrm>
            <a:off x="4892040" y="1426464"/>
            <a:ext cx="3675887" cy="310896"/>
          </a:xfrm>
          <a:prstGeom prst="rect">
            <a:avLst/>
          </a:prstGeom>
          <a:noFill/>
          <a:ln/>
        </p:spPr>
        <p:txBody>
          <a:bodyPr wrap="square" rtlCol="0" anchor="t">
            <a:normAutofit/>
          </a:bodyPr>
          <a:lstStyle/>
          <a:p>
            <a:pPr marL="0" indent="0" algn="l">
              <a:lnSpc>
                <a:spcPct val="92000"/>
              </a:lnSpc>
              <a:buNone/>
            </a:pPr>
            <a:r>
              <a:rPr lang="en-US" sz="950" b="0" kern="0" dirty="0">
                <a:solidFill>
                  <a:srgbClr val="6B7280"/>
                </a:solidFill>
                <a:latin typeface="Calibri" pitchFamily="34" charset="0"/>
                <a:ea typeface="Calibri" pitchFamily="34" charset="-122"/>
                <a:cs typeface="Calibri" pitchFamily="34" charset="-120"/>
              </a:rPr>
              <a:t>Disposal is a release in its own right, not a missing report.</a:t>
            </a:r>
          </a:p>
        </p:txBody>
      </p:sp>
      <p:sp>
        <p:nvSpPr>
          <p:cNvPr id="1019" name="Bullet"/>
          <p:cNvSpPr/>
          <p:nvPr/>
        </p:nvSpPr>
        <p:spPr>
          <a:xfrm>
            <a:off x="4892040" y="1874519"/>
            <a:ext cx="50292" cy="50292"/>
          </a:xfrm>
          <a:prstGeom prst="rect">
            <a:avLst/>
          </a:prstGeom>
          <a:solidFill>
            <a:srgbClr val="9AA7AE"/>
          </a:solidFill>
          <a:ln/>
        </p:spPr>
        <p:txBody>
          <a:bodyPr/>
          <a:lstStyle/>
          <a:p>
            <a:endParaRPr lang="en-PH" sz="1000"/>
          </a:p>
        </p:txBody>
      </p:sp>
      <p:sp>
        <p:nvSpPr>
          <p:cNvPr id="1020" name="Text"/>
          <p:cNvSpPr/>
          <p:nvPr/>
        </p:nvSpPr>
        <p:spPr>
          <a:xfrm>
            <a:off x="5038344" y="1810512"/>
            <a:ext cx="3529583" cy="201168"/>
          </a:xfrm>
          <a:prstGeom prst="rect">
            <a:avLst/>
          </a:prstGeom>
          <a:noFill/>
          <a:ln/>
        </p:spPr>
        <p:txBody>
          <a:bodyPr wrap="square" rtlCol="0" anchor="ctr">
            <a:normAutofit fontScale="85000" lnSpcReduction="10000"/>
          </a:bodyPr>
          <a:lstStyle/>
          <a:p>
            <a:pPr marL="0" indent="0" algn="l">
              <a:buNone/>
            </a:pPr>
            <a:r>
              <a:rPr lang="en-US" sz="930" b="0" kern="0" dirty="0">
                <a:solidFill>
                  <a:srgbClr val="333333"/>
                </a:solidFill>
                <a:latin typeface="Calibri" pitchFamily="34" charset="0"/>
                <a:ea typeface="Calibri" pitchFamily="34" charset="-122"/>
                <a:cs typeface="Calibri" pitchFamily="34" charset="-120"/>
              </a:rPr>
              <a:t>Disposal approver and approval routing</a:t>
            </a:r>
          </a:p>
        </p:txBody>
      </p:sp>
      <p:sp>
        <p:nvSpPr>
          <p:cNvPr id="1021" name="Bullet"/>
          <p:cNvSpPr/>
          <p:nvPr/>
        </p:nvSpPr>
        <p:spPr>
          <a:xfrm>
            <a:off x="4892040" y="2148839"/>
            <a:ext cx="50292" cy="50292"/>
          </a:xfrm>
          <a:prstGeom prst="rect">
            <a:avLst/>
          </a:prstGeom>
          <a:solidFill>
            <a:srgbClr val="9AA7AE"/>
          </a:solidFill>
          <a:ln/>
        </p:spPr>
        <p:txBody>
          <a:bodyPr/>
          <a:lstStyle/>
          <a:p>
            <a:endParaRPr lang="en-PH" sz="1000"/>
          </a:p>
        </p:txBody>
      </p:sp>
      <p:sp>
        <p:nvSpPr>
          <p:cNvPr id="1022" name="Text"/>
          <p:cNvSpPr/>
          <p:nvPr/>
        </p:nvSpPr>
        <p:spPr>
          <a:xfrm>
            <a:off x="5038344" y="2084831"/>
            <a:ext cx="3529583" cy="201168"/>
          </a:xfrm>
          <a:prstGeom prst="rect">
            <a:avLst/>
          </a:prstGeom>
          <a:noFill/>
          <a:ln/>
        </p:spPr>
        <p:txBody>
          <a:bodyPr wrap="square" rtlCol="0" anchor="ctr">
            <a:normAutofit fontScale="85000" lnSpcReduction="10000"/>
          </a:bodyPr>
          <a:lstStyle/>
          <a:p>
            <a:pPr marL="0" indent="0" algn="l">
              <a:buNone/>
            </a:pPr>
            <a:r>
              <a:rPr lang="en-US" sz="930" b="0" kern="0" dirty="0">
                <a:solidFill>
                  <a:srgbClr val="333333"/>
                </a:solidFill>
                <a:latin typeface="Calibri" pitchFamily="34" charset="0"/>
                <a:ea typeface="Calibri" pitchFamily="34" charset="-122"/>
                <a:cs typeface="Calibri" pitchFamily="34" charset="-120"/>
              </a:rPr>
              <a:t>Approved, declined and extended outcomes</a:t>
            </a:r>
          </a:p>
        </p:txBody>
      </p:sp>
      <p:sp>
        <p:nvSpPr>
          <p:cNvPr id="1023" name="Bullet"/>
          <p:cNvSpPr/>
          <p:nvPr/>
        </p:nvSpPr>
        <p:spPr>
          <a:xfrm>
            <a:off x="4892040" y="2423159"/>
            <a:ext cx="50292" cy="50292"/>
          </a:xfrm>
          <a:prstGeom prst="rect">
            <a:avLst/>
          </a:prstGeom>
          <a:solidFill>
            <a:srgbClr val="9AA7AE"/>
          </a:solidFill>
          <a:ln/>
        </p:spPr>
        <p:txBody>
          <a:bodyPr/>
          <a:lstStyle/>
          <a:p>
            <a:endParaRPr lang="en-PH" sz="1000"/>
          </a:p>
        </p:txBody>
      </p:sp>
      <p:sp>
        <p:nvSpPr>
          <p:cNvPr id="1024" name="Text"/>
          <p:cNvSpPr/>
          <p:nvPr/>
        </p:nvSpPr>
        <p:spPr>
          <a:xfrm>
            <a:off x="5038344" y="2359151"/>
            <a:ext cx="3529583" cy="201168"/>
          </a:xfrm>
          <a:prstGeom prst="rect">
            <a:avLst/>
          </a:prstGeom>
          <a:noFill/>
          <a:ln/>
        </p:spPr>
        <p:txBody>
          <a:bodyPr wrap="square" rtlCol="0" anchor="ctr">
            <a:normAutofit fontScale="85000" lnSpcReduction="10000"/>
          </a:bodyPr>
          <a:lstStyle/>
          <a:p>
            <a:pPr marL="0" indent="0" algn="l">
              <a:buNone/>
            </a:pPr>
            <a:r>
              <a:rPr lang="en-US" sz="930" b="0" kern="0" dirty="0">
                <a:solidFill>
                  <a:srgbClr val="333333"/>
                </a:solidFill>
                <a:latin typeface="Calibri" pitchFamily="34" charset="0"/>
                <a:ea typeface="Calibri" pitchFamily="34" charset="-122"/>
                <a:cs typeface="Calibri" pitchFamily="34" charset="-120"/>
              </a:rPr>
              <a:t>Records actually disposed, over time</a:t>
            </a:r>
          </a:p>
        </p:txBody>
      </p:sp>
      <p:sp>
        <p:nvSpPr>
          <p:cNvPr id="1025" name="Bullet"/>
          <p:cNvSpPr/>
          <p:nvPr/>
        </p:nvSpPr>
        <p:spPr>
          <a:xfrm>
            <a:off x="4892040" y="2697479"/>
            <a:ext cx="50292" cy="50292"/>
          </a:xfrm>
          <a:prstGeom prst="rect">
            <a:avLst/>
          </a:prstGeom>
          <a:solidFill>
            <a:srgbClr val="9AA7AE"/>
          </a:solidFill>
          <a:ln/>
        </p:spPr>
        <p:txBody>
          <a:bodyPr/>
          <a:lstStyle/>
          <a:p>
            <a:endParaRPr lang="en-PH" sz="1000"/>
          </a:p>
        </p:txBody>
      </p:sp>
      <p:sp>
        <p:nvSpPr>
          <p:cNvPr id="1026" name="Text"/>
          <p:cNvSpPr/>
          <p:nvPr/>
        </p:nvSpPr>
        <p:spPr>
          <a:xfrm>
            <a:off x="5038344" y="2633471"/>
            <a:ext cx="3529583" cy="201168"/>
          </a:xfrm>
          <a:prstGeom prst="rect">
            <a:avLst/>
          </a:prstGeom>
          <a:noFill/>
          <a:ln/>
        </p:spPr>
        <p:txBody>
          <a:bodyPr wrap="square" rtlCol="0" anchor="ctr">
            <a:normAutofit fontScale="85000" lnSpcReduction="10000"/>
          </a:bodyPr>
          <a:lstStyle/>
          <a:p>
            <a:pPr marL="0" indent="0" algn="l">
              <a:buNone/>
            </a:pPr>
            <a:r>
              <a:rPr lang="en-US" sz="930" b="0" kern="0" dirty="0">
                <a:solidFill>
                  <a:srgbClr val="333333"/>
                </a:solidFill>
                <a:latin typeface="Calibri" pitchFamily="34" charset="0"/>
                <a:ea typeface="Calibri" pitchFamily="34" charset="-122"/>
                <a:cs typeface="Calibri" pitchFamily="34" charset="-120"/>
              </a:rPr>
              <a:t>Disposal completion and overdue actions</a:t>
            </a:r>
          </a:p>
        </p:txBody>
      </p:sp>
      <p:sp>
        <p:nvSpPr>
          <p:cNvPr id="1027" name="Panel"/>
          <p:cNvSpPr/>
          <p:nvPr/>
        </p:nvSpPr>
        <p:spPr>
          <a:xfrm>
            <a:off x="411480" y="3310128"/>
            <a:ext cx="8321040" cy="1207008"/>
          </a:xfrm>
          <a:prstGeom prst="rect">
            <a:avLst/>
          </a:prstGeom>
          <a:solidFill>
            <a:srgbClr val="F4F7F8"/>
          </a:solidFill>
          <a:ln w="12700">
            <a:solidFill>
              <a:srgbClr val="D8DEE1"/>
            </a:solidFill>
            <a:prstDash val="solid"/>
          </a:ln>
        </p:spPr>
        <p:txBody>
          <a:bodyPr/>
          <a:lstStyle/>
          <a:p>
            <a:endParaRPr lang="en-PH" sz="1000"/>
          </a:p>
        </p:txBody>
      </p:sp>
      <p:sp>
        <p:nvSpPr>
          <p:cNvPr id="1028" name="Shape"/>
          <p:cNvSpPr/>
          <p:nvPr/>
        </p:nvSpPr>
        <p:spPr>
          <a:xfrm>
            <a:off x="411480" y="3310128"/>
            <a:ext cx="50292" cy="1207008"/>
          </a:xfrm>
          <a:prstGeom prst="rect">
            <a:avLst/>
          </a:prstGeom>
          <a:solidFill>
            <a:srgbClr val="E67C3B"/>
          </a:solidFill>
          <a:ln/>
        </p:spPr>
        <p:txBody>
          <a:bodyPr/>
          <a:lstStyle/>
          <a:p>
            <a:endParaRPr lang="en-PH" sz="1000"/>
          </a:p>
        </p:txBody>
      </p:sp>
      <p:sp>
        <p:nvSpPr>
          <p:cNvPr id="1029" name="Text"/>
          <p:cNvSpPr/>
          <p:nvPr/>
        </p:nvSpPr>
        <p:spPr>
          <a:xfrm>
            <a:off x="630936" y="3438144"/>
            <a:ext cx="5486400" cy="219456"/>
          </a:xfrm>
          <a:prstGeom prst="rect">
            <a:avLst/>
          </a:prstGeom>
          <a:noFill/>
          <a:ln/>
        </p:spPr>
        <p:txBody>
          <a:bodyPr wrap="square" rtlCol="0" anchor="ctr">
            <a:normAutofit fontScale="92500" lnSpcReduction="10000"/>
          </a:bodyPr>
          <a:lstStyle/>
          <a:p>
            <a:pPr marL="0" indent="0" algn="l">
              <a:buNone/>
            </a:pPr>
            <a:r>
              <a:rPr lang="en-US" sz="1000" b="1" kern="0" spc="105" dirty="0">
                <a:solidFill>
                  <a:srgbClr val="E67C3B"/>
                </a:solidFill>
                <a:latin typeface="Calibri" pitchFamily="34" charset="0"/>
                <a:ea typeface="Calibri" pitchFamily="34" charset="-122"/>
                <a:cs typeface="Calibri" pitchFamily="34" charset="-120"/>
              </a:rPr>
              <a:t>WHY DISPOSAL CANNOT BE REPORTED YET</a:t>
            </a:r>
          </a:p>
        </p:txBody>
      </p:sp>
      <p:sp>
        <p:nvSpPr>
          <p:cNvPr id="1030" name="Text"/>
          <p:cNvSpPr/>
          <p:nvPr/>
        </p:nvSpPr>
        <p:spPr>
          <a:xfrm>
            <a:off x="630936" y="3694176"/>
            <a:ext cx="7863840" cy="731520"/>
          </a:xfrm>
          <a:prstGeom prst="rect">
            <a:avLst/>
          </a:prstGeom>
          <a:noFill/>
          <a:ln/>
        </p:spPr>
        <p:txBody>
          <a:bodyPr wrap="square" rtlCol="0" anchor="t">
            <a:normAutofit/>
          </a:bodyPr>
          <a:lstStyle/>
          <a:p>
            <a:pPr marL="0" indent="0" algn="l">
              <a:lnSpc>
                <a:spcPct val="94000"/>
              </a:lnSpc>
              <a:buNone/>
            </a:pPr>
            <a:r>
              <a:rPr lang="en-US" sz="1000" b="0" kern="0" dirty="0">
                <a:solidFill>
                  <a:srgbClr val="333333"/>
                </a:solidFill>
                <a:latin typeface="Calibri" pitchFamily="34" charset="0"/>
                <a:ea typeface="Calibri" pitchFamily="34" charset="-122"/>
                <a:cs typeface="Calibri" pitchFamily="34" charset="-120"/>
              </a:rPr>
              <a:t>The disposal requirements assume a review and confirmation step — someone approves, declines or extends, and the outcome is recorded. No system in place today performs or records that step, so there is nothing for the report to read.</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1" name="Title"/>
          <p:cNvSpPr/>
          <p:nvPr/>
        </p:nvSpPr>
        <p:spPr>
          <a:xfrm>
            <a:off x="201168" y="91440"/>
            <a:ext cx="8412480" cy="493776"/>
          </a:xfrm>
          <a:prstGeom prst="rect">
            <a:avLst/>
          </a:prstGeom>
          <a:noFill/>
          <a:ln/>
        </p:spPr>
        <p:txBody>
          <a:bodyPr wrap="square" rtlCol="0" anchor="ctr">
            <a:normAutofit lnSpcReduction="10000"/>
          </a:bodyPr>
          <a:lstStyle/>
          <a:p>
            <a:pPr marL="0" indent="0" algn="l">
              <a:buNone/>
            </a:pPr>
            <a:r>
              <a:rPr lang="en-US" sz="2700" b="1" kern="0" dirty="0">
                <a:solidFill>
                  <a:srgbClr val="003D5B"/>
                </a:solidFill>
                <a:latin typeface="Calibri" pitchFamily="34" charset="0"/>
                <a:ea typeface="Calibri" pitchFamily="34" charset="-122"/>
                <a:cs typeface="Calibri" pitchFamily="34" charset="-120"/>
              </a:rPr>
              <a:t>Records &amp; Archive Holdings</a:t>
            </a:r>
          </a:p>
        </p:txBody>
      </p:sp>
      <p:sp>
        <p:nvSpPr>
          <p:cNvPr id="1002" name="Subtitle"/>
          <p:cNvSpPr/>
          <p:nvPr/>
        </p:nvSpPr>
        <p:spPr>
          <a:xfrm>
            <a:off x="192024" y="640080"/>
            <a:ext cx="8412480" cy="310896"/>
          </a:xfrm>
          <a:prstGeom prst="rect">
            <a:avLst/>
          </a:prstGeom>
          <a:noFill/>
          <a:ln/>
        </p:spPr>
        <p:txBody>
          <a:bodyPr wrap="square" rtlCol="0" anchor="ctr">
            <a:normAutofit/>
          </a:bodyPr>
          <a:lstStyle/>
          <a:p>
            <a:pPr marL="0" indent="0" algn="l">
              <a:buNone/>
            </a:pPr>
            <a:r>
              <a:rPr lang="en-US" sz="1400" b="0" kern="0" dirty="0">
                <a:solidFill>
                  <a:srgbClr val="009B8A"/>
                </a:solidFill>
                <a:latin typeface="Calibri" pitchFamily="34" charset="0"/>
                <a:ea typeface="Calibri" pitchFamily="34" charset="-122"/>
                <a:cs typeface="Calibri" pitchFamily="34" charset="-120"/>
              </a:rPr>
              <a:t>A separate system of record is needed before these requirements can be sourced.</a:t>
            </a:r>
          </a:p>
        </p:txBody>
      </p:sp>
      <p:sp>
        <p:nvSpPr>
          <p:cNvPr id="1003" name="Panel"/>
          <p:cNvSpPr/>
          <p:nvPr/>
        </p:nvSpPr>
        <p:spPr>
          <a:xfrm>
            <a:off x="411480" y="1042415"/>
            <a:ext cx="4005072" cy="2103120"/>
          </a:xfrm>
          <a:prstGeom prst="rect">
            <a:avLst/>
          </a:prstGeom>
          <a:solidFill>
            <a:srgbClr val="EAF7F4"/>
          </a:solidFill>
          <a:ln w="12700">
            <a:solidFill>
              <a:srgbClr val="009B8A"/>
            </a:solidFill>
            <a:prstDash val="solid"/>
          </a:ln>
        </p:spPr>
        <p:txBody>
          <a:bodyPr/>
          <a:lstStyle/>
          <a:p>
            <a:endParaRPr lang="en-PH" sz="1000"/>
          </a:p>
        </p:txBody>
      </p:sp>
      <p:sp>
        <p:nvSpPr>
          <p:cNvPr id="1004" name="Shape"/>
          <p:cNvSpPr/>
          <p:nvPr/>
        </p:nvSpPr>
        <p:spPr>
          <a:xfrm>
            <a:off x="411480" y="1042415"/>
            <a:ext cx="4005072" cy="50292"/>
          </a:xfrm>
          <a:prstGeom prst="rect">
            <a:avLst/>
          </a:prstGeom>
          <a:solidFill>
            <a:srgbClr val="009B8A"/>
          </a:solidFill>
          <a:ln/>
        </p:spPr>
        <p:txBody>
          <a:bodyPr/>
          <a:lstStyle/>
          <a:p>
            <a:endParaRPr lang="en-PH" sz="1000"/>
          </a:p>
        </p:txBody>
      </p:sp>
      <p:sp>
        <p:nvSpPr>
          <p:cNvPr id="1005" name="Text"/>
          <p:cNvSpPr/>
          <p:nvPr/>
        </p:nvSpPr>
        <p:spPr>
          <a:xfrm>
            <a:off x="576072" y="1170432"/>
            <a:ext cx="3675887" cy="237744"/>
          </a:xfrm>
          <a:prstGeom prst="rect">
            <a:avLst/>
          </a:prstGeom>
          <a:noFill/>
          <a:ln/>
        </p:spPr>
        <p:txBody>
          <a:bodyPr wrap="square" rtlCol="0" anchor="ctr">
            <a:normAutofit fontScale="85000" lnSpcReduction="20000"/>
          </a:bodyPr>
          <a:lstStyle/>
          <a:p>
            <a:pPr marL="0" indent="0" algn="l">
              <a:buNone/>
            </a:pPr>
            <a:r>
              <a:rPr lang="en-US" sz="1250" b="1" kern="0" dirty="0">
                <a:solidFill>
                  <a:srgbClr val="003D5B"/>
                </a:solidFill>
                <a:latin typeface="Calibri" pitchFamily="34" charset="0"/>
                <a:ea typeface="Calibri" pitchFamily="34" charset="-122"/>
                <a:cs typeface="Calibri" pitchFamily="34" charset="-120"/>
              </a:rPr>
              <a:t>What the requirement asks for</a:t>
            </a:r>
          </a:p>
        </p:txBody>
      </p:sp>
      <p:sp>
        <p:nvSpPr>
          <p:cNvPr id="1006" name="Text"/>
          <p:cNvSpPr/>
          <p:nvPr/>
        </p:nvSpPr>
        <p:spPr>
          <a:xfrm>
            <a:off x="576072" y="1426464"/>
            <a:ext cx="3675887" cy="310896"/>
          </a:xfrm>
          <a:prstGeom prst="rect">
            <a:avLst/>
          </a:prstGeom>
          <a:noFill/>
          <a:ln/>
        </p:spPr>
        <p:txBody>
          <a:bodyPr wrap="square" rtlCol="0" anchor="t">
            <a:normAutofit/>
          </a:bodyPr>
          <a:lstStyle/>
          <a:p>
            <a:pPr marL="0" indent="0" algn="l">
              <a:lnSpc>
                <a:spcPct val="92000"/>
              </a:lnSpc>
              <a:buNone/>
            </a:pPr>
            <a:r>
              <a:rPr lang="en-US" sz="950" b="0" kern="0" dirty="0">
                <a:solidFill>
                  <a:srgbClr val="333333"/>
                </a:solidFill>
                <a:latin typeface="Calibri" pitchFamily="34" charset="0"/>
                <a:ea typeface="Calibri" pitchFamily="34" charset="-122"/>
                <a:cs typeface="Calibri" pitchFamily="34" charset="-120"/>
              </a:rPr>
              <a:t>A full picture of holdings, physical and digital, wherever they are kept.</a:t>
            </a:r>
          </a:p>
        </p:txBody>
      </p:sp>
      <p:sp>
        <p:nvSpPr>
          <p:cNvPr id="1007" name="Bullet"/>
          <p:cNvSpPr/>
          <p:nvPr/>
        </p:nvSpPr>
        <p:spPr>
          <a:xfrm>
            <a:off x="576072" y="1874519"/>
            <a:ext cx="50292" cy="50292"/>
          </a:xfrm>
          <a:prstGeom prst="rect">
            <a:avLst/>
          </a:prstGeom>
          <a:solidFill>
            <a:srgbClr val="009B8A"/>
          </a:solidFill>
          <a:ln/>
        </p:spPr>
        <p:txBody>
          <a:bodyPr/>
          <a:lstStyle/>
          <a:p>
            <a:endParaRPr lang="en-PH" sz="1000"/>
          </a:p>
        </p:txBody>
      </p:sp>
      <p:sp>
        <p:nvSpPr>
          <p:cNvPr id="1008" name="Text"/>
          <p:cNvSpPr/>
          <p:nvPr/>
        </p:nvSpPr>
        <p:spPr>
          <a:xfrm>
            <a:off x="722376" y="1810512"/>
            <a:ext cx="3529583" cy="201168"/>
          </a:xfrm>
          <a:prstGeom prst="rect">
            <a:avLst/>
          </a:prstGeom>
          <a:noFill/>
          <a:ln/>
        </p:spPr>
        <p:txBody>
          <a:bodyPr wrap="square" rtlCol="0" anchor="ctr">
            <a:normAutofit fontScale="85000" lnSpcReduction="10000"/>
          </a:bodyPr>
          <a:lstStyle/>
          <a:p>
            <a:pPr marL="0" indent="0" algn="l">
              <a:buNone/>
            </a:pPr>
            <a:r>
              <a:rPr lang="en-US" sz="930" b="0" kern="0" dirty="0">
                <a:solidFill>
                  <a:srgbClr val="333333"/>
                </a:solidFill>
                <a:latin typeface="Calibri" pitchFamily="34" charset="0"/>
                <a:ea typeface="Calibri" pitchFamily="34" charset="-122"/>
                <a:cs typeface="Calibri" pitchFamily="34" charset="-120"/>
              </a:rPr>
              <a:t>Holdings by location and by custodian</a:t>
            </a:r>
          </a:p>
        </p:txBody>
      </p:sp>
      <p:sp>
        <p:nvSpPr>
          <p:cNvPr id="1009" name="Bullet"/>
          <p:cNvSpPr/>
          <p:nvPr/>
        </p:nvSpPr>
        <p:spPr>
          <a:xfrm>
            <a:off x="576072" y="2148839"/>
            <a:ext cx="50292" cy="50292"/>
          </a:xfrm>
          <a:prstGeom prst="rect">
            <a:avLst/>
          </a:prstGeom>
          <a:solidFill>
            <a:srgbClr val="009B8A"/>
          </a:solidFill>
          <a:ln/>
        </p:spPr>
        <p:txBody>
          <a:bodyPr/>
          <a:lstStyle/>
          <a:p>
            <a:endParaRPr lang="en-PH" sz="1000"/>
          </a:p>
        </p:txBody>
      </p:sp>
      <p:sp>
        <p:nvSpPr>
          <p:cNvPr id="1010" name="Text"/>
          <p:cNvSpPr/>
          <p:nvPr/>
        </p:nvSpPr>
        <p:spPr>
          <a:xfrm>
            <a:off x="722376" y="2084831"/>
            <a:ext cx="3529583" cy="201168"/>
          </a:xfrm>
          <a:prstGeom prst="rect">
            <a:avLst/>
          </a:prstGeom>
          <a:noFill/>
          <a:ln/>
        </p:spPr>
        <p:txBody>
          <a:bodyPr wrap="square" rtlCol="0" anchor="ctr">
            <a:normAutofit fontScale="85000" lnSpcReduction="10000"/>
          </a:bodyPr>
          <a:lstStyle/>
          <a:p>
            <a:pPr marL="0" indent="0" algn="l">
              <a:buNone/>
            </a:pPr>
            <a:r>
              <a:rPr lang="en-US" sz="930" b="0" kern="0" dirty="0">
                <a:solidFill>
                  <a:srgbClr val="333333"/>
                </a:solidFill>
                <a:latin typeface="Calibri" pitchFamily="34" charset="0"/>
                <a:ea typeface="Calibri" pitchFamily="34" charset="-122"/>
                <a:cs typeface="Calibri" pitchFamily="34" charset="-120"/>
              </a:rPr>
              <a:t>Physical counterparts identified and tracked</a:t>
            </a:r>
          </a:p>
        </p:txBody>
      </p:sp>
      <p:sp>
        <p:nvSpPr>
          <p:cNvPr id="1011" name="Bullet"/>
          <p:cNvSpPr/>
          <p:nvPr/>
        </p:nvSpPr>
        <p:spPr>
          <a:xfrm>
            <a:off x="576072" y="2423159"/>
            <a:ext cx="50292" cy="50292"/>
          </a:xfrm>
          <a:prstGeom prst="rect">
            <a:avLst/>
          </a:prstGeom>
          <a:solidFill>
            <a:srgbClr val="009B8A"/>
          </a:solidFill>
          <a:ln/>
        </p:spPr>
        <p:txBody>
          <a:bodyPr/>
          <a:lstStyle/>
          <a:p>
            <a:endParaRPr lang="en-PH" sz="1000"/>
          </a:p>
        </p:txBody>
      </p:sp>
      <p:sp>
        <p:nvSpPr>
          <p:cNvPr id="1012" name="Text"/>
          <p:cNvSpPr/>
          <p:nvPr/>
        </p:nvSpPr>
        <p:spPr>
          <a:xfrm>
            <a:off x="722376" y="2359151"/>
            <a:ext cx="3529583" cy="201168"/>
          </a:xfrm>
          <a:prstGeom prst="rect">
            <a:avLst/>
          </a:prstGeom>
          <a:noFill/>
          <a:ln/>
        </p:spPr>
        <p:txBody>
          <a:bodyPr wrap="square" rtlCol="0" anchor="ctr">
            <a:normAutofit fontScale="85000" lnSpcReduction="10000"/>
          </a:bodyPr>
          <a:lstStyle/>
          <a:p>
            <a:pPr marL="0" indent="0" algn="l">
              <a:buNone/>
            </a:pPr>
            <a:r>
              <a:rPr lang="en-US" sz="930" b="0" kern="0" dirty="0">
                <a:solidFill>
                  <a:srgbClr val="333333"/>
                </a:solidFill>
                <a:latin typeface="Calibri" pitchFamily="34" charset="0"/>
                <a:ea typeface="Calibri" pitchFamily="34" charset="-122"/>
                <a:cs typeface="Calibri" pitchFamily="34" charset="-120"/>
              </a:rPr>
              <a:t>Condition and storage position</a:t>
            </a:r>
          </a:p>
        </p:txBody>
      </p:sp>
      <p:sp>
        <p:nvSpPr>
          <p:cNvPr id="1013" name="Bullet"/>
          <p:cNvSpPr/>
          <p:nvPr/>
        </p:nvSpPr>
        <p:spPr>
          <a:xfrm>
            <a:off x="576072" y="2697479"/>
            <a:ext cx="50292" cy="50292"/>
          </a:xfrm>
          <a:prstGeom prst="rect">
            <a:avLst/>
          </a:prstGeom>
          <a:solidFill>
            <a:srgbClr val="009B8A"/>
          </a:solidFill>
          <a:ln/>
        </p:spPr>
        <p:txBody>
          <a:bodyPr/>
          <a:lstStyle/>
          <a:p>
            <a:endParaRPr lang="en-PH" sz="1000"/>
          </a:p>
        </p:txBody>
      </p:sp>
      <p:sp>
        <p:nvSpPr>
          <p:cNvPr id="1014" name="Text"/>
          <p:cNvSpPr/>
          <p:nvPr/>
        </p:nvSpPr>
        <p:spPr>
          <a:xfrm>
            <a:off x="722376" y="2633471"/>
            <a:ext cx="3529583" cy="201168"/>
          </a:xfrm>
          <a:prstGeom prst="rect">
            <a:avLst/>
          </a:prstGeom>
          <a:noFill/>
          <a:ln/>
        </p:spPr>
        <p:txBody>
          <a:bodyPr wrap="square" rtlCol="0" anchor="ctr">
            <a:normAutofit fontScale="85000" lnSpcReduction="10000"/>
          </a:bodyPr>
          <a:lstStyle/>
          <a:p>
            <a:pPr marL="0" indent="0" algn="l">
              <a:buNone/>
            </a:pPr>
            <a:r>
              <a:rPr lang="en-US" sz="930" b="0" kern="0" dirty="0">
                <a:solidFill>
                  <a:srgbClr val="333333"/>
                </a:solidFill>
                <a:latin typeface="Calibri" pitchFamily="34" charset="0"/>
                <a:ea typeface="Calibri" pitchFamily="34" charset="-122"/>
                <a:cs typeface="Calibri" pitchFamily="34" charset="-120"/>
              </a:rPr>
              <a:t>Retrieval and movement of holdings</a:t>
            </a:r>
          </a:p>
        </p:txBody>
      </p:sp>
      <p:sp>
        <p:nvSpPr>
          <p:cNvPr id="1015" name="Panel"/>
          <p:cNvSpPr/>
          <p:nvPr/>
        </p:nvSpPr>
        <p:spPr>
          <a:xfrm>
            <a:off x="4727448" y="1042415"/>
            <a:ext cx="4005072" cy="2103120"/>
          </a:xfrm>
          <a:prstGeom prst="rect">
            <a:avLst/>
          </a:prstGeom>
          <a:solidFill>
            <a:srgbClr val="F7F8F9"/>
          </a:solidFill>
          <a:ln w="12700">
            <a:solidFill>
              <a:srgbClr val="C9D2D7"/>
            </a:solidFill>
            <a:prstDash val="solid"/>
          </a:ln>
        </p:spPr>
        <p:txBody>
          <a:bodyPr/>
          <a:lstStyle/>
          <a:p>
            <a:endParaRPr lang="en-PH" sz="1000"/>
          </a:p>
        </p:txBody>
      </p:sp>
      <p:sp>
        <p:nvSpPr>
          <p:cNvPr id="1016" name="Shape"/>
          <p:cNvSpPr/>
          <p:nvPr/>
        </p:nvSpPr>
        <p:spPr>
          <a:xfrm>
            <a:off x="4727448" y="1042415"/>
            <a:ext cx="4005072" cy="50292"/>
          </a:xfrm>
          <a:prstGeom prst="rect">
            <a:avLst/>
          </a:prstGeom>
          <a:solidFill>
            <a:srgbClr val="9AA7AE"/>
          </a:solidFill>
          <a:ln/>
        </p:spPr>
        <p:txBody>
          <a:bodyPr/>
          <a:lstStyle/>
          <a:p>
            <a:endParaRPr lang="en-PH" sz="1000"/>
          </a:p>
        </p:txBody>
      </p:sp>
      <p:sp>
        <p:nvSpPr>
          <p:cNvPr id="1017" name="Text"/>
          <p:cNvSpPr/>
          <p:nvPr/>
        </p:nvSpPr>
        <p:spPr>
          <a:xfrm>
            <a:off x="4892040" y="1170432"/>
            <a:ext cx="3675887" cy="237744"/>
          </a:xfrm>
          <a:prstGeom prst="rect">
            <a:avLst/>
          </a:prstGeom>
          <a:noFill/>
          <a:ln/>
        </p:spPr>
        <p:txBody>
          <a:bodyPr wrap="square" rtlCol="0" anchor="ctr">
            <a:normAutofit fontScale="85000" lnSpcReduction="20000"/>
          </a:bodyPr>
          <a:lstStyle/>
          <a:p>
            <a:pPr marL="0" indent="0" algn="l">
              <a:buNone/>
            </a:pPr>
            <a:r>
              <a:rPr lang="en-US" sz="1250" b="1" kern="0" dirty="0">
                <a:solidFill>
                  <a:srgbClr val="5A6B75"/>
                </a:solidFill>
                <a:latin typeface="Calibri" pitchFamily="34" charset="0"/>
                <a:ea typeface="Calibri" pitchFamily="34" charset="-122"/>
                <a:cs typeface="Calibri" pitchFamily="34" charset="-120"/>
              </a:rPr>
              <a:t>Where we stand today</a:t>
            </a:r>
          </a:p>
        </p:txBody>
      </p:sp>
      <p:sp>
        <p:nvSpPr>
          <p:cNvPr id="1018" name="Text"/>
          <p:cNvSpPr/>
          <p:nvPr/>
        </p:nvSpPr>
        <p:spPr>
          <a:xfrm>
            <a:off x="4892040" y="1426464"/>
            <a:ext cx="3675887" cy="310896"/>
          </a:xfrm>
          <a:prstGeom prst="rect">
            <a:avLst/>
          </a:prstGeom>
          <a:noFill/>
          <a:ln/>
        </p:spPr>
        <p:txBody>
          <a:bodyPr wrap="square" rtlCol="0" anchor="t">
            <a:normAutofit/>
          </a:bodyPr>
          <a:lstStyle/>
          <a:p>
            <a:pPr marL="0" indent="0" algn="l">
              <a:lnSpc>
                <a:spcPct val="92000"/>
              </a:lnSpc>
              <a:buNone/>
            </a:pPr>
            <a:r>
              <a:rPr lang="en-US" sz="950" b="0" kern="0" dirty="0">
                <a:solidFill>
                  <a:srgbClr val="6B7280"/>
                </a:solidFill>
                <a:latin typeface="Calibri" pitchFamily="34" charset="0"/>
                <a:ea typeface="Calibri" pitchFamily="34" charset="-122"/>
                <a:cs typeface="Calibri" pitchFamily="34" charset="-120"/>
              </a:rPr>
              <a:t>We have not identified a system that holds this information.</a:t>
            </a:r>
          </a:p>
        </p:txBody>
      </p:sp>
      <p:sp>
        <p:nvSpPr>
          <p:cNvPr id="1019" name="Bullet"/>
          <p:cNvSpPr/>
          <p:nvPr/>
        </p:nvSpPr>
        <p:spPr>
          <a:xfrm>
            <a:off x="4892040" y="1874519"/>
            <a:ext cx="50292" cy="50292"/>
          </a:xfrm>
          <a:prstGeom prst="rect">
            <a:avLst/>
          </a:prstGeom>
          <a:solidFill>
            <a:srgbClr val="9AA7AE"/>
          </a:solidFill>
          <a:ln/>
        </p:spPr>
        <p:txBody>
          <a:bodyPr/>
          <a:lstStyle/>
          <a:p>
            <a:endParaRPr lang="en-PH" sz="1000"/>
          </a:p>
        </p:txBody>
      </p:sp>
      <p:sp>
        <p:nvSpPr>
          <p:cNvPr id="1020" name="Text"/>
          <p:cNvSpPr/>
          <p:nvPr/>
        </p:nvSpPr>
        <p:spPr>
          <a:xfrm>
            <a:off x="5038344" y="1810512"/>
            <a:ext cx="3529583" cy="201168"/>
          </a:xfrm>
          <a:prstGeom prst="rect">
            <a:avLst/>
          </a:prstGeom>
          <a:noFill/>
          <a:ln/>
        </p:spPr>
        <p:txBody>
          <a:bodyPr wrap="square" rtlCol="0" anchor="ctr">
            <a:normAutofit fontScale="85000" lnSpcReduction="10000"/>
          </a:bodyPr>
          <a:lstStyle/>
          <a:p>
            <a:pPr marL="0" indent="0" algn="l">
              <a:buNone/>
            </a:pPr>
            <a:r>
              <a:rPr lang="en-US" sz="930" b="0" kern="0" dirty="0">
                <a:solidFill>
                  <a:srgbClr val="333333"/>
                </a:solidFill>
                <a:latin typeface="Calibri" pitchFamily="34" charset="0"/>
                <a:ea typeface="Calibri" pitchFamily="34" charset="-122"/>
                <a:cs typeface="Calibri" pitchFamily="34" charset="-120"/>
              </a:rPr>
              <a:t>No source system identified for holdings</a:t>
            </a:r>
          </a:p>
        </p:txBody>
      </p:sp>
      <p:sp>
        <p:nvSpPr>
          <p:cNvPr id="1021" name="Bullet"/>
          <p:cNvSpPr/>
          <p:nvPr/>
        </p:nvSpPr>
        <p:spPr>
          <a:xfrm>
            <a:off x="4892040" y="2148839"/>
            <a:ext cx="50292" cy="50292"/>
          </a:xfrm>
          <a:prstGeom prst="rect">
            <a:avLst/>
          </a:prstGeom>
          <a:solidFill>
            <a:srgbClr val="9AA7AE"/>
          </a:solidFill>
          <a:ln/>
        </p:spPr>
        <p:txBody>
          <a:bodyPr/>
          <a:lstStyle/>
          <a:p>
            <a:endParaRPr lang="en-PH" sz="1000"/>
          </a:p>
        </p:txBody>
      </p:sp>
      <p:sp>
        <p:nvSpPr>
          <p:cNvPr id="1022" name="Text"/>
          <p:cNvSpPr/>
          <p:nvPr/>
        </p:nvSpPr>
        <p:spPr>
          <a:xfrm>
            <a:off x="5038344" y="2084831"/>
            <a:ext cx="3529583" cy="201168"/>
          </a:xfrm>
          <a:prstGeom prst="rect">
            <a:avLst/>
          </a:prstGeom>
          <a:noFill/>
          <a:ln/>
        </p:spPr>
        <p:txBody>
          <a:bodyPr wrap="square" rtlCol="0" anchor="ctr">
            <a:normAutofit fontScale="85000" lnSpcReduction="10000"/>
          </a:bodyPr>
          <a:lstStyle/>
          <a:p>
            <a:pPr marL="0" indent="0" algn="l">
              <a:buNone/>
            </a:pPr>
            <a:r>
              <a:rPr lang="en-US" sz="930" b="0" kern="0" dirty="0">
                <a:solidFill>
                  <a:srgbClr val="333333"/>
                </a:solidFill>
                <a:latin typeface="Calibri" pitchFamily="34" charset="0"/>
                <a:ea typeface="Calibri" pitchFamily="34" charset="-122"/>
                <a:cs typeface="Calibri" pitchFamily="34" charset="-120"/>
              </a:rPr>
              <a:t>Physical custody events are not systematically recorded</a:t>
            </a:r>
          </a:p>
        </p:txBody>
      </p:sp>
      <p:sp>
        <p:nvSpPr>
          <p:cNvPr id="1023" name="Bullet"/>
          <p:cNvSpPr/>
          <p:nvPr/>
        </p:nvSpPr>
        <p:spPr>
          <a:xfrm>
            <a:off x="4892040" y="2423159"/>
            <a:ext cx="50292" cy="50292"/>
          </a:xfrm>
          <a:prstGeom prst="rect">
            <a:avLst/>
          </a:prstGeom>
          <a:solidFill>
            <a:srgbClr val="9AA7AE"/>
          </a:solidFill>
          <a:ln/>
        </p:spPr>
        <p:txBody>
          <a:bodyPr/>
          <a:lstStyle/>
          <a:p>
            <a:endParaRPr lang="en-PH" sz="1000"/>
          </a:p>
        </p:txBody>
      </p:sp>
      <p:sp>
        <p:nvSpPr>
          <p:cNvPr id="1024" name="Text"/>
          <p:cNvSpPr/>
          <p:nvPr/>
        </p:nvSpPr>
        <p:spPr>
          <a:xfrm>
            <a:off x="5038344" y="2359151"/>
            <a:ext cx="3529583" cy="201168"/>
          </a:xfrm>
          <a:prstGeom prst="rect">
            <a:avLst/>
          </a:prstGeom>
          <a:noFill/>
          <a:ln/>
        </p:spPr>
        <p:txBody>
          <a:bodyPr wrap="square" rtlCol="0" anchor="ctr">
            <a:normAutofit fontScale="85000" lnSpcReduction="10000"/>
          </a:bodyPr>
          <a:lstStyle/>
          <a:p>
            <a:pPr marL="0" indent="0" algn="l">
              <a:buNone/>
            </a:pPr>
            <a:r>
              <a:rPr lang="en-US" sz="930" b="0" kern="0" dirty="0">
                <a:solidFill>
                  <a:srgbClr val="333333"/>
                </a:solidFill>
                <a:latin typeface="Calibri" pitchFamily="34" charset="0"/>
                <a:ea typeface="Calibri" pitchFamily="34" charset="-122"/>
                <a:cs typeface="Calibri" pitchFamily="34" charset="-120"/>
              </a:rPr>
              <a:t>Location and condition are not held anywhere we can read</a:t>
            </a:r>
          </a:p>
        </p:txBody>
      </p:sp>
      <p:sp>
        <p:nvSpPr>
          <p:cNvPr id="1025" name="Bullet"/>
          <p:cNvSpPr/>
          <p:nvPr/>
        </p:nvSpPr>
        <p:spPr>
          <a:xfrm>
            <a:off x="4892040" y="2697479"/>
            <a:ext cx="50292" cy="50292"/>
          </a:xfrm>
          <a:prstGeom prst="rect">
            <a:avLst/>
          </a:prstGeom>
          <a:solidFill>
            <a:srgbClr val="9AA7AE"/>
          </a:solidFill>
          <a:ln/>
        </p:spPr>
        <p:txBody>
          <a:bodyPr/>
          <a:lstStyle/>
          <a:p>
            <a:endParaRPr lang="en-PH" sz="1000"/>
          </a:p>
        </p:txBody>
      </p:sp>
      <p:sp>
        <p:nvSpPr>
          <p:cNvPr id="1026" name="Text"/>
          <p:cNvSpPr/>
          <p:nvPr/>
        </p:nvSpPr>
        <p:spPr>
          <a:xfrm>
            <a:off x="5038344" y="2633471"/>
            <a:ext cx="3529583" cy="201168"/>
          </a:xfrm>
          <a:prstGeom prst="rect">
            <a:avLst/>
          </a:prstGeom>
          <a:noFill/>
          <a:ln/>
        </p:spPr>
        <p:txBody>
          <a:bodyPr wrap="square" rtlCol="0" anchor="ctr">
            <a:normAutofit fontScale="85000" lnSpcReduction="10000"/>
          </a:bodyPr>
          <a:lstStyle/>
          <a:p>
            <a:pPr marL="0" indent="0" algn="l">
              <a:buNone/>
            </a:pPr>
            <a:r>
              <a:rPr lang="en-US" sz="930" b="0" kern="0" dirty="0">
                <a:solidFill>
                  <a:srgbClr val="333333"/>
                </a:solidFill>
                <a:latin typeface="Calibri" pitchFamily="34" charset="0"/>
                <a:ea typeface="Calibri" pitchFamily="34" charset="-122"/>
                <a:cs typeface="Calibri" pitchFamily="34" charset="-120"/>
              </a:rPr>
              <a:t>This is a domain in its own right, not a report gap</a:t>
            </a:r>
          </a:p>
        </p:txBody>
      </p:sp>
      <p:sp>
        <p:nvSpPr>
          <p:cNvPr id="1027" name="Panel"/>
          <p:cNvSpPr/>
          <p:nvPr/>
        </p:nvSpPr>
        <p:spPr>
          <a:xfrm>
            <a:off x="411480" y="3310128"/>
            <a:ext cx="8321040" cy="1207008"/>
          </a:xfrm>
          <a:prstGeom prst="rect">
            <a:avLst/>
          </a:prstGeom>
          <a:solidFill>
            <a:srgbClr val="F4F7F8"/>
          </a:solidFill>
          <a:ln w="12700">
            <a:solidFill>
              <a:srgbClr val="D8DEE1"/>
            </a:solidFill>
            <a:prstDash val="solid"/>
          </a:ln>
        </p:spPr>
        <p:txBody>
          <a:bodyPr/>
          <a:lstStyle/>
          <a:p>
            <a:endParaRPr lang="en-PH" sz="1000"/>
          </a:p>
        </p:txBody>
      </p:sp>
      <p:sp>
        <p:nvSpPr>
          <p:cNvPr id="1028" name="Shape"/>
          <p:cNvSpPr/>
          <p:nvPr/>
        </p:nvSpPr>
        <p:spPr>
          <a:xfrm>
            <a:off x="411480" y="3310128"/>
            <a:ext cx="50292" cy="1207008"/>
          </a:xfrm>
          <a:prstGeom prst="rect">
            <a:avLst/>
          </a:prstGeom>
          <a:solidFill>
            <a:srgbClr val="E67C3B"/>
          </a:solidFill>
          <a:ln/>
        </p:spPr>
        <p:txBody>
          <a:bodyPr/>
          <a:lstStyle/>
          <a:p>
            <a:endParaRPr lang="en-PH" sz="1000"/>
          </a:p>
        </p:txBody>
      </p:sp>
      <p:sp>
        <p:nvSpPr>
          <p:cNvPr id="1029" name="Text"/>
          <p:cNvSpPr/>
          <p:nvPr/>
        </p:nvSpPr>
        <p:spPr>
          <a:xfrm>
            <a:off x="630936" y="3438144"/>
            <a:ext cx="5486400" cy="219456"/>
          </a:xfrm>
          <a:prstGeom prst="rect">
            <a:avLst/>
          </a:prstGeom>
          <a:noFill/>
          <a:ln/>
        </p:spPr>
        <p:txBody>
          <a:bodyPr wrap="square" rtlCol="0" anchor="ctr">
            <a:normAutofit fontScale="92500" lnSpcReduction="10000"/>
          </a:bodyPr>
          <a:lstStyle/>
          <a:p>
            <a:pPr marL="0" indent="0" algn="l">
              <a:buNone/>
            </a:pPr>
            <a:r>
              <a:rPr lang="en-US" sz="1000" b="1" kern="0" spc="105" dirty="0">
                <a:solidFill>
                  <a:srgbClr val="E67C3B"/>
                </a:solidFill>
                <a:latin typeface="Calibri" pitchFamily="34" charset="0"/>
                <a:ea typeface="Calibri" pitchFamily="34" charset="-122"/>
                <a:cs typeface="Calibri" pitchFamily="34" charset="-120"/>
              </a:rPr>
              <a:t>WHY THIS IS A SEPARATE RELEASE</a:t>
            </a:r>
          </a:p>
        </p:txBody>
      </p:sp>
      <p:sp>
        <p:nvSpPr>
          <p:cNvPr id="1030" name="Text"/>
          <p:cNvSpPr/>
          <p:nvPr/>
        </p:nvSpPr>
        <p:spPr>
          <a:xfrm>
            <a:off x="630936" y="3694176"/>
            <a:ext cx="7863840" cy="731520"/>
          </a:xfrm>
          <a:prstGeom prst="rect">
            <a:avLst/>
          </a:prstGeom>
          <a:noFill/>
          <a:ln/>
        </p:spPr>
        <p:txBody>
          <a:bodyPr wrap="square" rtlCol="0" anchor="t">
            <a:normAutofit/>
          </a:bodyPr>
          <a:lstStyle/>
          <a:p>
            <a:pPr marL="0" indent="0" algn="l">
              <a:lnSpc>
                <a:spcPct val="94000"/>
              </a:lnSpc>
              <a:buNone/>
            </a:pPr>
            <a:r>
              <a:rPr lang="en-US" sz="1000" b="0" kern="0" dirty="0">
                <a:solidFill>
                  <a:srgbClr val="333333"/>
                </a:solidFill>
                <a:latin typeface="Calibri" pitchFamily="34" charset="0"/>
                <a:ea typeface="Calibri" pitchFamily="34" charset="-122"/>
                <a:cs typeface="Calibri" pitchFamily="34" charset="-120"/>
              </a:rPr>
              <a:t>Archive holdings management is a system, not a view. It needs a place where holdings are registered, custody is transferred and condition is recorded. Until that exists, there is no data for a report to draw on, however the page is designed.</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1" name="Title"/>
          <p:cNvSpPr/>
          <p:nvPr/>
        </p:nvSpPr>
        <p:spPr>
          <a:xfrm>
            <a:off x="201168" y="91440"/>
            <a:ext cx="8412480" cy="493776"/>
          </a:xfrm>
          <a:prstGeom prst="rect">
            <a:avLst/>
          </a:prstGeom>
          <a:noFill/>
          <a:ln/>
        </p:spPr>
        <p:txBody>
          <a:bodyPr wrap="square" rtlCol="0" anchor="ctr">
            <a:normAutofit lnSpcReduction="10000"/>
          </a:bodyPr>
          <a:lstStyle/>
          <a:p>
            <a:pPr marL="0" indent="0" algn="l">
              <a:buNone/>
            </a:pPr>
            <a:r>
              <a:rPr lang="en-US" sz="2700" b="1" kern="0" dirty="0">
                <a:solidFill>
                  <a:srgbClr val="003D5B"/>
                </a:solidFill>
                <a:latin typeface="Calibri" pitchFamily="34" charset="0"/>
                <a:ea typeface="Calibri" pitchFamily="34" charset="-122"/>
                <a:cs typeface="Calibri" pitchFamily="34" charset="-120"/>
              </a:rPr>
              <a:t>Two Dashboards Need a Decision First</a:t>
            </a:r>
          </a:p>
        </p:txBody>
      </p:sp>
      <p:sp>
        <p:nvSpPr>
          <p:cNvPr id="1002" name="Subtitle"/>
          <p:cNvSpPr/>
          <p:nvPr/>
        </p:nvSpPr>
        <p:spPr>
          <a:xfrm>
            <a:off x="192024" y="640080"/>
            <a:ext cx="8412480" cy="310896"/>
          </a:xfrm>
          <a:prstGeom prst="rect">
            <a:avLst/>
          </a:prstGeom>
          <a:noFill/>
          <a:ln/>
        </p:spPr>
        <p:txBody>
          <a:bodyPr wrap="square" rtlCol="0" anchor="ctr">
            <a:normAutofit/>
          </a:bodyPr>
          <a:lstStyle/>
          <a:p>
            <a:pPr marL="0" indent="0" algn="l">
              <a:buNone/>
            </a:pPr>
            <a:r>
              <a:rPr lang="en-US" sz="1400" b="0" kern="0" dirty="0">
                <a:solidFill>
                  <a:srgbClr val="009B8A"/>
                </a:solidFill>
                <a:latin typeface="Calibri" pitchFamily="34" charset="0"/>
                <a:ea typeface="Calibri" pitchFamily="34" charset="-122"/>
                <a:cs typeface="Calibri" pitchFamily="34" charset="-120"/>
              </a:rPr>
              <a:t>Retention is buildable today. Disposal and Archive Holdings depend on systems that do not exist yet.</a:t>
            </a:r>
          </a:p>
        </p:txBody>
      </p:sp>
      <p:sp>
        <p:nvSpPr>
          <p:cNvPr id="1003" name="Panel"/>
          <p:cNvSpPr/>
          <p:nvPr/>
        </p:nvSpPr>
        <p:spPr>
          <a:xfrm>
            <a:off x="411480" y="1042415"/>
            <a:ext cx="4005072" cy="2103120"/>
          </a:xfrm>
          <a:prstGeom prst="rect">
            <a:avLst/>
          </a:prstGeom>
          <a:solidFill>
            <a:srgbClr val="EAF7F4"/>
          </a:solidFill>
          <a:ln w="12700">
            <a:solidFill>
              <a:srgbClr val="009B8A"/>
            </a:solidFill>
            <a:prstDash val="solid"/>
          </a:ln>
        </p:spPr>
        <p:txBody>
          <a:bodyPr/>
          <a:lstStyle/>
          <a:p>
            <a:endParaRPr lang="en-PH" sz="1000"/>
          </a:p>
        </p:txBody>
      </p:sp>
      <p:sp>
        <p:nvSpPr>
          <p:cNvPr id="1004" name="Shape"/>
          <p:cNvSpPr/>
          <p:nvPr/>
        </p:nvSpPr>
        <p:spPr>
          <a:xfrm>
            <a:off x="411480" y="1042415"/>
            <a:ext cx="4005072" cy="50292"/>
          </a:xfrm>
          <a:prstGeom prst="rect">
            <a:avLst/>
          </a:prstGeom>
          <a:solidFill>
            <a:srgbClr val="009B8A"/>
          </a:solidFill>
          <a:ln/>
        </p:spPr>
        <p:txBody>
          <a:bodyPr/>
          <a:lstStyle/>
          <a:p>
            <a:endParaRPr lang="en-PH" sz="1000"/>
          </a:p>
        </p:txBody>
      </p:sp>
      <p:sp>
        <p:nvSpPr>
          <p:cNvPr id="1005" name="Text"/>
          <p:cNvSpPr/>
          <p:nvPr/>
        </p:nvSpPr>
        <p:spPr>
          <a:xfrm>
            <a:off x="576072" y="1170432"/>
            <a:ext cx="3675887" cy="237744"/>
          </a:xfrm>
          <a:prstGeom prst="rect">
            <a:avLst/>
          </a:prstGeom>
          <a:noFill/>
          <a:ln/>
        </p:spPr>
        <p:txBody>
          <a:bodyPr wrap="square" rtlCol="0" anchor="ctr">
            <a:normAutofit fontScale="85000" lnSpcReduction="20000"/>
          </a:bodyPr>
          <a:lstStyle/>
          <a:p>
            <a:pPr marL="0" indent="0" algn="l">
              <a:buNone/>
            </a:pPr>
            <a:r>
              <a:rPr lang="en-US" sz="1250" b="1" kern="0" dirty="0">
                <a:solidFill>
                  <a:srgbClr val="003D5B"/>
                </a:solidFill>
                <a:latin typeface="Calibri" pitchFamily="34" charset="0"/>
                <a:ea typeface="Calibri" pitchFamily="34" charset="-122"/>
                <a:cs typeface="Calibri" pitchFamily="34" charset="-120"/>
              </a:rPr>
              <a:t>Retention — build in this release</a:t>
            </a:r>
          </a:p>
        </p:txBody>
      </p:sp>
      <p:sp>
        <p:nvSpPr>
          <p:cNvPr id="1006" name="Text"/>
          <p:cNvSpPr/>
          <p:nvPr/>
        </p:nvSpPr>
        <p:spPr>
          <a:xfrm>
            <a:off x="576072" y="1426464"/>
            <a:ext cx="3675887" cy="310896"/>
          </a:xfrm>
          <a:prstGeom prst="rect">
            <a:avLst/>
          </a:prstGeom>
          <a:noFill/>
          <a:ln/>
        </p:spPr>
        <p:txBody>
          <a:bodyPr wrap="square" rtlCol="0" anchor="t">
            <a:normAutofit fontScale="92500"/>
          </a:bodyPr>
          <a:lstStyle/>
          <a:p>
            <a:pPr marL="0" indent="0" algn="l">
              <a:lnSpc>
                <a:spcPct val="92000"/>
              </a:lnSpc>
              <a:buNone/>
            </a:pPr>
            <a:r>
              <a:rPr lang="en-US" sz="950" b="0" kern="0" dirty="0">
                <a:solidFill>
                  <a:srgbClr val="333333"/>
                </a:solidFill>
                <a:latin typeface="Calibri" pitchFamily="34" charset="0"/>
                <a:ea typeface="Calibri" pitchFamily="34" charset="-122"/>
                <a:cs typeface="Calibri" pitchFamily="34" charset="-120"/>
              </a:rPr>
              <a:t>Retention is a property of the record, and it is already stored.</a:t>
            </a:r>
          </a:p>
        </p:txBody>
      </p:sp>
      <p:sp>
        <p:nvSpPr>
          <p:cNvPr id="1007" name="Bullet"/>
          <p:cNvSpPr/>
          <p:nvPr/>
        </p:nvSpPr>
        <p:spPr>
          <a:xfrm>
            <a:off x="576072" y="1874519"/>
            <a:ext cx="50292" cy="50292"/>
          </a:xfrm>
          <a:prstGeom prst="rect">
            <a:avLst/>
          </a:prstGeom>
          <a:solidFill>
            <a:srgbClr val="009B8A"/>
          </a:solidFill>
          <a:ln/>
        </p:spPr>
        <p:txBody>
          <a:bodyPr/>
          <a:lstStyle/>
          <a:p>
            <a:endParaRPr lang="en-PH" sz="1000"/>
          </a:p>
        </p:txBody>
      </p:sp>
      <p:sp>
        <p:nvSpPr>
          <p:cNvPr id="1008" name="Text"/>
          <p:cNvSpPr/>
          <p:nvPr/>
        </p:nvSpPr>
        <p:spPr>
          <a:xfrm>
            <a:off x="722376" y="1810512"/>
            <a:ext cx="3529583" cy="201168"/>
          </a:xfrm>
          <a:prstGeom prst="rect">
            <a:avLst/>
          </a:prstGeom>
          <a:noFill/>
          <a:ln/>
        </p:spPr>
        <p:txBody>
          <a:bodyPr wrap="square" rtlCol="0" anchor="ctr">
            <a:normAutofit fontScale="85000" lnSpcReduction="10000"/>
          </a:bodyPr>
          <a:lstStyle/>
          <a:p>
            <a:pPr marL="0" indent="0" algn="l">
              <a:buNone/>
            </a:pPr>
            <a:r>
              <a:rPr lang="en-US" sz="930" b="0" kern="0" dirty="0">
                <a:solidFill>
                  <a:srgbClr val="333333"/>
                </a:solidFill>
                <a:latin typeface="Calibri" pitchFamily="34" charset="0"/>
                <a:ea typeface="Calibri" pitchFamily="34" charset="-122"/>
                <a:cs typeface="Calibri" pitchFamily="34" charset="-120"/>
              </a:rPr>
              <a:t>The retention label is already on every declared record</a:t>
            </a:r>
          </a:p>
        </p:txBody>
      </p:sp>
      <p:sp>
        <p:nvSpPr>
          <p:cNvPr id="1009" name="Bullet"/>
          <p:cNvSpPr/>
          <p:nvPr/>
        </p:nvSpPr>
        <p:spPr>
          <a:xfrm>
            <a:off x="576072" y="2148839"/>
            <a:ext cx="50292" cy="50292"/>
          </a:xfrm>
          <a:prstGeom prst="rect">
            <a:avLst/>
          </a:prstGeom>
          <a:solidFill>
            <a:srgbClr val="009B8A"/>
          </a:solidFill>
          <a:ln/>
        </p:spPr>
        <p:txBody>
          <a:bodyPr/>
          <a:lstStyle/>
          <a:p>
            <a:endParaRPr lang="en-PH" sz="1000"/>
          </a:p>
        </p:txBody>
      </p:sp>
      <p:sp>
        <p:nvSpPr>
          <p:cNvPr id="1010" name="Text"/>
          <p:cNvSpPr/>
          <p:nvPr/>
        </p:nvSpPr>
        <p:spPr>
          <a:xfrm>
            <a:off x="722376" y="2084831"/>
            <a:ext cx="3529583" cy="201168"/>
          </a:xfrm>
          <a:prstGeom prst="rect">
            <a:avLst/>
          </a:prstGeom>
          <a:noFill/>
          <a:ln/>
        </p:spPr>
        <p:txBody>
          <a:bodyPr wrap="square" rtlCol="0" anchor="ctr">
            <a:normAutofit fontScale="85000" lnSpcReduction="10000"/>
          </a:bodyPr>
          <a:lstStyle/>
          <a:p>
            <a:pPr marL="0" indent="0" algn="l">
              <a:buNone/>
            </a:pPr>
            <a:r>
              <a:rPr lang="en-US" sz="930" b="0" kern="0" dirty="0">
                <a:solidFill>
                  <a:srgbClr val="333333"/>
                </a:solidFill>
                <a:latin typeface="Calibri" pitchFamily="34" charset="0"/>
                <a:ea typeface="Calibri" pitchFamily="34" charset="-122"/>
                <a:cs typeface="Calibri" pitchFamily="34" charset="-120"/>
              </a:rPr>
              <a:t>Applied at declaration, so it needs no new process</a:t>
            </a:r>
          </a:p>
        </p:txBody>
      </p:sp>
      <p:sp>
        <p:nvSpPr>
          <p:cNvPr id="1011" name="Bullet"/>
          <p:cNvSpPr/>
          <p:nvPr/>
        </p:nvSpPr>
        <p:spPr>
          <a:xfrm>
            <a:off x="576072" y="2423159"/>
            <a:ext cx="50292" cy="50292"/>
          </a:xfrm>
          <a:prstGeom prst="rect">
            <a:avLst/>
          </a:prstGeom>
          <a:solidFill>
            <a:srgbClr val="009B8A"/>
          </a:solidFill>
          <a:ln/>
        </p:spPr>
        <p:txBody>
          <a:bodyPr/>
          <a:lstStyle/>
          <a:p>
            <a:endParaRPr lang="en-PH" sz="1000"/>
          </a:p>
        </p:txBody>
      </p:sp>
      <p:sp>
        <p:nvSpPr>
          <p:cNvPr id="1012" name="Text"/>
          <p:cNvSpPr/>
          <p:nvPr/>
        </p:nvSpPr>
        <p:spPr>
          <a:xfrm>
            <a:off x="722376" y="2359151"/>
            <a:ext cx="3529583" cy="201168"/>
          </a:xfrm>
          <a:prstGeom prst="rect">
            <a:avLst/>
          </a:prstGeom>
          <a:noFill/>
          <a:ln/>
        </p:spPr>
        <p:txBody>
          <a:bodyPr wrap="square" rtlCol="0" anchor="ctr">
            <a:normAutofit fontScale="85000" lnSpcReduction="10000"/>
          </a:bodyPr>
          <a:lstStyle/>
          <a:p>
            <a:pPr marL="0" indent="0" algn="l">
              <a:buNone/>
            </a:pPr>
            <a:r>
              <a:rPr lang="en-US" sz="930" b="0" kern="0" dirty="0">
                <a:solidFill>
                  <a:srgbClr val="333333"/>
                </a:solidFill>
                <a:latin typeface="Calibri" pitchFamily="34" charset="0"/>
                <a:ea typeface="Calibri" pitchFamily="34" charset="-122"/>
                <a:cs typeface="Calibri" pitchFamily="34" charset="-120"/>
              </a:rPr>
              <a:t>Retention position is a standing property, not an event</a:t>
            </a:r>
          </a:p>
        </p:txBody>
      </p:sp>
      <p:sp>
        <p:nvSpPr>
          <p:cNvPr id="1013" name="Bullet"/>
          <p:cNvSpPr/>
          <p:nvPr/>
        </p:nvSpPr>
        <p:spPr>
          <a:xfrm>
            <a:off x="576072" y="2697479"/>
            <a:ext cx="50292" cy="50292"/>
          </a:xfrm>
          <a:prstGeom prst="rect">
            <a:avLst/>
          </a:prstGeom>
          <a:solidFill>
            <a:srgbClr val="009B8A"/>
          </a:solidFill>
          <a:ln/>
        </p:spPr>
        <p:txBody>
          <a:bodyPr/>
          <a:lstStyle/>
          <a:p>
            <a:endParaRPr lang="en-PH" sz="1000"/>
          </a:p>
        </p:txBody>
      </p:sp>
      <p:sp>
        <p:nvSpPr>
          <p:cNvPr id="1014" name="Text"/>
          <p:cNvSpPr/>
          <p:nvPr/>
        </p:nvSpPr>
        <p:spPr>
          <a:xfrm>
            <a:off x="722376" y="2633471"/>
            <a:ext cx="3529583" cy="201168"/>
          </a:xfrm>
          <a:prstGeom prst="rect">
            <a:avLst/>
          </a:prstGeom>
          <a:noFill/>
          <a:ln/>
        </p:spPr>
        <p:txBody>
          <a:bodyPr wrap="square" rtlCol="0" anchor="ctr">
            <a:normAutofit fontScale="85000" lnSpcReduction="10000"/>
          </a:bodyPr>
          <a:lstStyle/>
          <a:p>
            <a:pPr marL="0" indent="0" algn="l">
              <a:buNone/>
            </a:pPr>
            <a:r>
              <a:rPr lang="en-US" sz="930" b="0" kern="0" dirty="0">
                <a:solidFill>
                  <a:srgbClr val="333333"/>
                </a:solidFill>
                <a:latin typeface="Calibri" pitchFamily="34" charset="0"/>
                <a:ea typeface="Calibri" pitchFamily="34" charset="-122"/>
                <a:cs typeface="Calibri" pitchFamily="34" charset="-120"/>
              </a:rPr>
              <a:t>One open item: the permanent versus temporary split</a:t>
            </a:r>
          </a:p>
        </p:txBody>
      </p:sp>
      <p:sp>
        <p:nvSpPr>
          <p:cNvPr id="1015" name="Panel"/>
          <p:cNvSpPr/>
          <p:nvPr/>
        </p:nvSpPr>
        <p:spPr>
          <a:xfrm>
            <a:off x="4727448" y="1042415"/>
            <a:ext cx="4005072" cy="2103120"/>
          </a:xfrm>
          <a:prstGeom prst="rect">
            <a:avLst/>
          </a:prstGeom>
          <a:solidFill>
            <a:srgbClr val="F7F8F9"/>
          </a:solidFill>
          <a:ln w="12700">
            <a:solidFill>
              <a:srgbClr val="C9D2D7"/>
            </a:solidFill>
            <a:prstDash val="solid"/>
          </a:ln>
        </p:spPr>
        <p:txBody>
          <a:bodyPr/>
          <a:lstStyle/>
          <a:p>
            <a:endParaRPr lang="en-PH" sz="1000"/>
          </a:p>
        </p:txBody>
      </p:sp>
      <p:sp>
        <p:nvSpPr>
          <p:cNvPr id="1016" name="Shape"/>
          <p:cNvSpPr/>
          <p:nvPr/>
        </p:nvSpPr>
        <p:spPr>
          <a:xfrm>
            <a:off x="4727448" y="1042415"/>
            <a:ext cx="4005072" cy="50292"/>
          </a:xfrm>
          <a:prstGeom prst="rect">
            <a:avLst/>
          </a:prstGeom>
          <a:solidFill>
            <a:srgbClr val="9AA7AE"/>
          </a:solidFill>
          <a:ln/>
        </p:spPr>
        <p:txBody>
          <a:bodyPr/>
          <a:lstStyle/>
          <a:p>
            <a:endParaRPr lang="en-PH" sz="1000"/>
          </a:p>
        </p:txBody>
      </p:sp>
      <p:sp>
        <p:nvSpPr>
          <p:cNvPr id="1017" name="Text"/>
          <p:cNvSpPr/>
          <p:nvPr/>
        </p:nvSpPr>
        <p:spPr>
          <a:xfrm>
            <a:off x="4892040" y="1170432"/>
            <a:ext cx="3675887" cy="237744"/>
          </a:xfrm>
          <a:prstGeom prst="rect">
            <a:avLst/>
          </a:prstGeom>
          <a:noFill/>
          <a:ln/>
        </p:spPr>
        <p:txBody>
          <a:bodyPr wrap="square" rtlCol="0" anchor="ctr">
            <a:normAutofit fontScale="85000" lnSpcReduction="20000"/>
          </a:bodyPr>
          <a:lstStyle/>
          <a:p>
            <a:pPr marL="0" indent="0" algn="l">
              <a:buNone/>
            </a:pPr>
            <a:r>
              <a:rPr lang="en-US" sz="1250" b="1" kern="0" dirty="0">
                <a:solidFill>
                  <a:srgbClr val="5A6B75"/>
                </a:solidFill>
                <a:latin typeface="Calibri" pitchFamily="34" charset="0"/>
                <a:ea typeface="Calibri" pitchFamily="34" charset="-122"/>
                <a:cs typeface="Calibri" pitchFamily="34" charset="-120"/>
              </a:rPr>
              <a:t>Disposal — a release of its own</a:t>
            </a:r>
          </a:p>
        </p:txBody>
      </p:sp>
      <p:sp>
        <p:nvSpPr>
          <p:cNvPr id="1018" name="Text"/>
          <p:cNvSpPr/>
          <p:nvPr/>
        </p:nvSpPr>
        <p:spPr>
          <a:xfrm>
            <a:off x="4892040" y="1426464"/>
            <a:ext cx="3675887" cy="310896"/>
          </a:xfrm>
          <a:prstGeom prst="rect">
            <a:avLst/>
          </a:prstGeom>
          <a:noFill/>
          <a:ln/>
        </p:spPr>
        <p:txBody>
          <a:bodyPr wrap="square" rtlCol="0" anchor="t">
            <a:normAutofit/>
          </a:bodyPr>
          <a:lstStyle/>
          <a:p>
            <a:pPr marL="0" indent="0" algn="l">
              <a:lnSpc>
                <a:spcPct val="92000"/>
              </a:lnSpc>
              <a:buNone/>
            </a:pPr>
            <a:r>
              <a:rPr lang="en-US" sz="950" b="0" kern="0" dirty="0">
                <a:solidFill>
                  <a:srgbClr val="6B7280"/>
                </a:solidFill>
                <a:latin typeface="Calibri" pitchFamily="34" charset="0"/>
                <a:ea typeface="Calibri" pitchFamily="34" charset="-122"/>
                <a:cs typeface="Calibri" pitchFamily="34" charset="-120"/>
              </a:rPr>
              <a:t>Disposal is an event, and nothing records it yet.</a:t>
            </a:r>
          </a:p>
        </p:txBody>
      </p:sp>
      <p:sp>
        <p:nvSpPr>
          <p:cNvPr id="1019" name="Bullet"/>
          <p:cNvSpPr/>
          <p:nvPr/>
        </p:nvSpPr>
        <p:spPr>
          <a:xfrm>
            <a:off x="4892040" y="1874519"/>
            <a:ext cx="50292" cy="50292"/>
          </a:xfrm>
          <a:prstGeom prst="rect">
            <a:avLst/>
          </a:prstGeom>
          <a:solidFill>
            <a:srgbClr val="9AA7AE"/>
          </a:solidFill>
          <a:ln/>
        </p:spPr>
        <p:txBody>
          <a:bodyPr/>
          <a:lstStyle/>
          <a:p>
            <a:endParaRPr lang="en-PH" sz="1000"/>
          </a:p>
        </p:txBody>
      </p:sp>
      <p:sp>
        <p:nvSpPr>
          <p:cNvPr id="1020" name="Text"/>
          <p:cNvSpPr/>
          <p:nvPr/>
        </p:nvSpPr>
        <p:spPr>
          <a:xfrm>
            <a:off x="5038344" y="1810512"/>
            <a:ext cx="3529583" cy="201168"/>
          </a:xfrm>
          <a:prstGeom prst="rect">
            <a:avLst/>
          </a:prstGeom>
          <a:noFill/>
          <a:ln/>
        </p:spPr>
        <p:txBody>
          <a:bodyPr wrap="square" rtlCol="0" anchor="ctr">
            <a:normAutofit fontScale="85000" lnSpcReduction="10000"/>
          </a:bodyPr>
          <a:lstStyle/>
          <a:p>
            <a:pPr marL="0" indent="0" algn="l">
              <a:buNone/>
            </a:pPr>
            <a:r>
              <a:rPr lang="en-US" sz="930" b="0" kern="0" dirty="0">
                <a:solidFill>
                  <a:srgbClr val="333333"/>
                </a:solidFill>
                <a:latin typeface="Calibri" pitchFamily="34" charset="0"/>
                <a:ea typeface="Calibri" pitchFamily="34" charset="-122"/>
                <a:cs typeface="Calibri" pitchFamily="34" charset="-120"/>
              </a:rPr>
              <a:t>Already scheduled as a separate future release</a:t>
            </a:r>
          </a:p>
        </p:txBody>
      </p:sp>
      <p:sp>
        <p:nvSpPr>
          <p:cNvPr id="1021" name="Bullet"/>
          <p:cNvSpPr/>
          <p:nvPr/>
        </p:nvSpPr>
        <p:spPr>
          <a:xfrm>
            <a:off x="4892040" y="2148839"/>
            <a:ext cx="50292" cy="50292"/>
          </a:xfrm>
          <a:prstGeom prst="rect">
            <a:avLst/>
          </a:prstGeom>
          <a:solidFill>
            <a:srgbClr val="9AA7AE"/>
          </a:solidFill>
          <a:ln/>
        </p:spPr>
        <p:txBody>
          <a:bodyPr/>
          <a:lstStyle/>
          <a:p>
            <a:endParaRPr lang="en-PH" sz="1000"/>
          </a:p>
        </p:txBody>
      </p:sp>
      <p:sp>
        <p:nvSpPr>
          <p:cNvPr id="1022" name="Text"/>
          <p:cNvSpPr/>
          <p:nvPr/>
        </p:nvSpPr>
        <p:spPr>
          <a:xfrm>
            <a:off x="5038344" y="2084831"/>
            <a:ext cx="3529583" cy="201168"/>
          </a:xfrm>
          <a:prstGeom prst="rect">
            <a:avLst/>
          </a:prstGeom>
          <a:noFill/>
          <a:ln/>
        </p:spPr>
        <p:txBody>
          <a:bodyPr wrap="square" rtlCol="0" anchor="ctr">
            <a:normAutofit fontScale="85000" lnSpcReduction="10000"/>
          </a:bodyPr>
          <a:lstStyle/>
          <a:p>
            <a:pPr marL="0" indent="0" algn="l">
              <a:buNone/>
            </a:pPr>
            <a:r>
              <a:rPr lang="en-US" sz="930" b="0" kern="0" dirty="0">
                <a:solidFill>
                  <a:srgbClr val="333333"/>
                </a:solidFill>
                <a:latin typeface="Calibri" pitchFamily="34" charset="0"/>
                <a:ea typeface="Calibri" pitchFamily="34" charset="-122"/>
                <a:cs typeface="Calibri" pitchFamily="34" charset="-120"/>
              </a:rPr>
              <a:t>It assumes a review step: approve, decline, extend</a:t>
            </a:r>
          </a:p>
        </p:txBody>
      </p:sp>
      <p:sp>
        <p:nvSpPr>
          <p:cNvPr id="1023" name="Bullet"/>
          <p:cNvSpPr/>
          <p:nvPr/>
        </p:nvSpPr>
        <p:spPr>
          <a:xfrm>
            <a:off x="4892040" y="2423159"/>
            <a:ext cx="50292" cy="50292"/>
          </a:xfrm>
          <a:prstGeom prst="rect">
            <a:avLst/>
          </a:prstGeom>
          <a:solidFill>
            <a:srgbClr val="9AA7AE"/>
          </a:solidFill>
          <a:ln/>
        </p:spPr>
        <p:txBody>
          <a:bodyPr/>
          <a:lstStyle/>
          <a:p>
            <a:endParaRPr lang="en-PH" sz="1000"/>
          </a:p>
        </p:txBody>
      </p:sp>
      <p:sp>
        <p:nvSpPr>
          <p:cNvPr id="1024" name="Text"/>
          <p:cNvSpPr/>
          <p:nvPr/>
        </p:nvSpPr>
        <p:spPr>
          <a:xfrm>
            <a:off x="5038344" y="2359151"/>
            <a:ext cx="3529583" cy="201168"/>
          </a:xfrm>
          <a:prstGeom prst="rect">
            <a:avLst/>
          </a:prstGeom>
          <a:noFill/>
          <a:ln/>
        </p:spPr>
        <p:txBody>
          <a:bodyPr wrap="square" rtlCol="0" anchor="ctr">
            <a:normAutofit fontScale="85000" lnSpcReduction="10000"/>
          </a:bodyPr>
          <a:lstStyle/>
          <a:p>
            <a:pPr marL="0" indent="0" algn="l">
              <a:buNone/>
            </a:pPr>
            <a:r>
              <a:rPr lang="en-US" sz="930" b="0" kern="0" dirty="0">
                <a:solidFill>
                  <a:srgbClr val="333333"/>
                </a:solidFill>
                <a:latin typeface="Calibri" pitchFamily="34" charset="0"/>
                <a:ea typeface="Calibri" pitchFamily="34" charset="-122"/>
                <a:cs typeface="Calibri" pitchFamily="34" charset="-120"/>
              </a:rPr>
              <a:t>No system performs or records that step today</a:t>
            </a:r>
          </a:p>
        </p:txBody>
      </p:sp>
      <p:sp>
        <p:nvSpPr>
          <p:cNvPr id="1025" name="Bullet"/>
          <p:cNvSpPr/>
          <p:nvPr/>
        </p:nvSpPr>
        <p:spPr>
          <a:xfrm>
            <a:off x="4892040" y="2697479"/>
            <a:ext cx="50292" cy="50292"/>
          </a:xfrm>
          <a:prstGeom prst="rect">
            <a:avLst/>
          </a:prstGeom>
          <a:solidFill>
            <a:srgbClr val="9AA7AE"/>
          </a:solidFill>
          <a:ln/>
        </p:spPr>
        <p:txBody>
          <a:bodyPr/>
          <a:lstStyle/>
          <a:p>
            <a:endParaRPr lang="en-PH" sz="1000"/>
          </a:p>
        </p:txBody>
      </p:sp>
      <p:sp>
        <p:nvSpPr>
          <p:cNvPr id="1026" name="Text"/>
          <p:cNvSpPr/>
          <p:nvPr/>
        </p:nvSpPr>
        <p:spPr>
          <a:xfrm>
            <a:off x="5038344" y="2633471"/>
            <a:ext cx="3529583" cy="201168"/>
          </a:xfrm>
          <a:prstGeom prst="rect">
            <a:avLst/>
          </a:prstGeom>
          <a:noFill/>
          <a:ln/>
        </p:spPr>
        <p:txBody>
          <a:bodyPr wrap="square" rtlCol="0" anchor="ctr">
            <a:normAutofit fontScale="85000" lnSpcReduction="10000"/>
          </a:bodyPr>
          <a:lstStyle/>
          <a:p>
            <a:pPr marL="0" indent="0" algn="l">
              <a:buNone/>
            </a:pPr>
            <a:r>
              <a:rPr lang="en-US" sz="930" b="0" kern="0" dirty="0">
                <a:solidFill>
                  <a:srgbClr val="333333"/>
                </a:solidFill>
                <a:latin typeface="Calibri" pitchFamily="34" charset="0"/>
                <a:ea typeface="Calibri" pitchFamily="34" charset="-122"/>
                <a:cs typeface="Calibri" pitchFamily="34" charset="-120"/>
              </a:rPr>
              <a:t>Records and Archive Holdings sits in the same position</a:t>
            </a:r>
          </a:p>
        </p:txBody>
      </p:sp>
      <p:sp>
        <p:nvSpPr>
          <p:cNvPr id="1027" name="Panel"/>
          <p:cNvSpPr/>
          <p:nvPr/>
        </p:nvSpPr>
        <p:spPr>
          <a:xfrm>
            <a:off x="411480" y="3310128"/>
            <a:ext cx="8321040" cy="1207008"/>
          </a:xfrm>
          <a:prstGeom prst="rect">
            <a:avLst/>
          </a:prstGeom>
          <a:solidFill>
            <a:srgbClr val="F4F7F8"/>
          </a:solidFill>
          <a:ln w="12700">
            <a:solidFill>
              <a:srgbClr val="D8DEE1"/>
            </a:solidFill>
            <a:prstDash val="solid"/>
          </a:ln>
        </p:spPr>
        <p:txBody>
          <a:bodyPr/>
          <a:lstStyle/>
          <a:p>
            <a:endParaRPr lang="en-PH" sz="1000"/>
          </a:p>
        </p:txBody>
      </p:sp>
      <p:sp>
        <p:nvSpPr>
          <p:cNvPr id="1028" name="Shape"/>
          <p:cNvSpPr/>
          <p:nvPr/>
        </p:nvSpPr>
        <p:spPr>
          <a:xfrm>
            <a:off x="411480" y="3310128"/>
            <a:ext cx="50292" cy="1207008"/>
          </a:xfrm>
          <a:prstGeom prst="rect">
            <a:avLst/>
          </a:prstGeom>
          <a:solidFill>
            <a:srgbClr val="E67C3B"/>
          </a:solidFill>
          <a:ln/>
        </p:spPr>
        <p:txBody>
          <a:bodyPr/>
          <a:lstStyle/>
          <a:p>
            <a:endParaRPr lang="en-PH" sz="1000"/>
          </a:p>
        </p:txBody>
      </p:sp>
      <p:sp>
        <p:nvSpPr>
          <p:cNvPr id="1029" name="Text"/>
          <p:cNvSpPr/>
          <p:nvPr/>
        </p:nvSpPr>
        <p:spPr>
          <a:xfrm>
            <a:off x="630936" y="3438144"/>
            <a:ext cx="5486400" cy="219456"/>
          </a:xfrm>
          <a:prstGeom prst="rect">
            <a:avLst/>
          </a:prstGeom>
          <a:noFill/>
          <a:ln/>
        </p:spPr>
        <p:txBody>
          <a:bodyPr wrap="square" rtlCol="0" anchor="ctr">
            <a:normAutofit fontScale="92500" lnSpcReduction="10000"/>
          </a:bodyPr>
          <a:lstStyle/>
          <a:p>
            <a:pPr marL="0" indent="0" algn="l">
              <a:buNone/>
            </a:pPr>
            <a:r>
              <a:rPr lang="en-US" sz="1000" b="1" kern="0" spc="105" dirty="0">
                <a:solidFill>
                  <a:srgbClr val="E67C3B"/>
                </a:solidFill>
                <a:latin typeface="Calibri" pitchFamily="34" charset="0"/>
                <a:ea typeface="Calibri" pitchFamily="34" charset="-122"/>
                <a:cs typeface="Calibri" pitchFamily="34" charset="-120"/>
              </a:rPr>
              <a:t>THE PROPOSAL</a:t>
            </a:r>
          </a:p>
        </p:txBody>
      </p:sp>
      <p:sp>
        <p:nvSpPr>
          <p:cNvPr id="1030" name="Text"/>
          <p:cNvSpPr/>
          <p:nvPr/>
        </p:nvSpPr>
        <p:spPr>
          <a:xfrm>
            <a:off x="630936" y="3694176"/>
            <a:ext cx="7863840" cy="731520"/>
          </a:xfrm>
          <a:prstGeom prst="rect">
            <a:avLst/>
          </a:prstGeom>
          <a:noFill/>
          <a:ln/>
        </p:spPr>
        <p:txBody>
          <a:bodyPr wrap="square" rtlCol="0" anchor="t">
            <a:normAutofit/>
          </a:bodyPr>
          <a:lstStyle/>
          <a:p>
            <a:pPr marL="0" indent="0" algn="l">
              <a:lnSpc>
                <a:spcPct val="94000"/>
              </a:lnSpc>
              <a:buNone/>
            </a:pPr>
            <a:r>
              <a:rPr lang="en-US" sz="1000" b="0" kern="0" dirty="0">
                <a:solidFill>
                  <a:srgbClr val="333333"/>
                </a:solidFill>
                <a:latin typeface="Calibri" pitchFamily="34" charset="0"/>
                <a:ea typeface="Calibri" pitchFamily="34" charset="-122"/>
                <a:cs typeface="Calibri" pitchFamily="34" charset="-120"/>
              </a:rPr>
              <a:t>Build Retention now. Defer the Disposal and Records and Archive Holdings requirements out of this release rather than carry them as open gaps. Once those systems are underway, reopen the requirements and fold them into the Utilization Report then. Does the team agree, or is there a view we have not accounted for?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525" row="6">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60923E61-44A3-4695-B149-1156B881AE6C}">
  <we:reference id="WA200010001" version="1.0.0.1" store="Omex" storeType="OMEX"/>
  <we:alternateReferences>
    <we:reference id="WA200010001" version="1.0.0.1" store="WA200010001" storeType="OMEX"/>
  </we:alternateReferences>
  <we:properties>
    <we:property name="claude.fileId" value="&quot;4793e52d-0212-4129-95b1-e9e16df4a030&quot;"/>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ADB Document" ma:contentTypeID="0x010100BB987C5E842407458A00E5F1E23BC833000D55B2048826264A885F6B4B33DCCFFE" ma:contentTypeVersion="17" ma:contentTypeDescription="" ma:contentTypeScope="" ma:versionID="6c0a0a6d57e58ed5692ed74a7e1cfb59">
  <xsd:schema xmlns:xsd="http://www.w3.org/2001/XMLSchema" xmlns:xs="http://www.w3.org/2001/XMLSchema" xmlns:p="http://schemas.microsoft.com/office/2006/metadata/properties" xmlns:ns2="5996128d-704d-4a9a-b273-f1b0c0083f8c" targetNamespace="http://schemas.microsoft.com/office/2006/metadata/properties" ma:root="true" ma:fieldsID="920b8ad6e3c27757cfdaf468cc48fc51" ns2:_="">
    <xsd:import namespace="5996128d-704d-4a9a-b273-f1b0c0083f8c"/>
    <xsd:element name="properties">
      <xsd:complexType>
        <xsd:sequence>
          <xsd:element name="documentManagement">
            <xsd:complexType>
              <xsd:all>
                <xsd:element ref="ns2:ADBDocumentDate" minOccurs="0"/>
                <xsd:element ref="ns2:ADBMonth" minOccurs="0"/>
                <xsd:element ref="ns2:ADBYear" minOccurs="0"/>
                <xsd:element ref="ns2:ADBAuthors" minOccurs="0"/>
                <xsd:element ref="ns2:ADBSourceLink" minOccurs="0"/>
                <xsd:element ref="ns2:ADBCirculatedLink" minOccurs="0"/>
                <xsd:element ref="ns2:TaxCatchAll" minOccurs="0"/>
                <xsd:element ref="ns2:ADBDocumentTypeValue" minOccurs="0"/>
                <xsd:element ref="ns2:d61536b25a8a4fedb48bb564279be82a" minOccurs="0"/>
                <xsd:element ref="ns2:h00e4aaaf4624e24a7df7f06faa038c6" minOccurs="0"/>
                <xsd:element ref="ns2:k985dbdc596c44d7acaf8184f33920f0" minOccurs="0"/>
                <xsd:element ref="ns2:a37ff23a602146d4934a49238d370ca5" minOccurs="0"/>
                <xsd:element ref="ns2:TaxCatchAllLabel" minOccurs="0"/>
                <xsd:element ref="ns2:d01a0ce1b141461dbfb235a3ab729a2c" minOccurs="0"/>
                <xsd:element ref="ns2:p030e467f78f45b4ae8f7e2c17ea4d82" minOccurs="0"/>
                <xsd:element ref="ns2:ia017ac09b1942648b563fe0b2b14d52" minOccurs="0"/>
                <xsd:element ref="ns2:j78542b1fffc4a1c84659474212e3133"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996128d-704d-4a9a-b273-f1b0c0083f8c" elementFormDefault="qualified">
    <xsd:import namespace="http://schemas.microsoft.com/office/2006/documentManagement/types"/>
    <xsd:import namespace="http://schemas.microsoft.com/office/infopath/2007/PartnerControls"/>
    <xsd:element name="ADBDocumentDate" ma:index="3" nillable="true" ma:displayName="Document Date" ma:format="DateOnly" ma:internalName="ADBDocumentDate" ma:readOnly="false">
      <xsd:simpleType>
        <xsd:restriction base="dms:DateTime"/>
      </xsd:simpleType>
    </xsd:element>
    <xsd:element name="ADBMonth" ma:index="4" nillable="true" ma:displayName="Month" ma:format="Dropdown" ma:internalName="ADBMonth" ma:readOnly="false">
      <xsd:simpleType>
        <xsd:restriction base="dms:Choice">
          <xsd:enumeration value="01-Jan"/>
          <xsd:enumeration value="02-Feb"/>
          <xsd:enumeration value="03-Mar"/>
          <xsd:enumeration value="04-Apr"/>
          <xsd:enumeration value="05-May"/>
          <xsd:enumeration value="06-Jun"/>
          <xsd:enumeration value="07-Jul"/>
          <xsd:enumeration value="08-Aug"/>
          <xsd:enumeration value="09-Sep"/>
          <xsd:enumeration value="10-Oct"/>
          <xsd:enumeration value="11-Nov"/>
          <xsd:enumeration value="12-Dec"/>
        </xsd:restriction>
      </xsd:simpleType>
    </xsd:element>
    <xsd:element name="ADBYear" ma:index="5" nillable="true" ma:displayName="Year" ma:internalName="ADBYear" ma:readOnly="false">
      <xsd:simpleType>
        <xsd:restriction base="dms:Text">
          <xsd:maxLength value="4"/>
        </xsd:restriction>
      </xsd:simpleType>
    </xsd:element>
    <xsd:element name="ADBAuthors" ma:index="6" nillable="true" ma:displayName="Authors" ma:list="UserInfo" ma:SharePointGroup="0" ma:internalName="ADBAuthors" ma:readOnly="false" ma:showField="ImnNam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ADBSourceLink" ma:index="13" nillable="true" ma:displayName="Source Link" ma:format="Hyperlink" ma:internalName="ADBSourceLink"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ADBCirculatedLink" ma:index="14" nillable="true" ma:displayName="Final Document Link" ma:format="Hyperlink" ma:internalName="ADBCirculatedLink"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TaxCatchAll" ma:index="18" nillable="true" ma:displayName="Taxonomy Catch All Column" ma:hidden="true" ma:list="{5fae007b-328f-43c9-b43a-e0b43236efad}" ma:internalName="TaxCatchAll" ma:showField="CatchAllData" ma:web="5996128d-704d-4a9a-b273-f1b0c0083f8c">
      <xsd:complexType>
        <xsd:complexContent>
          <xsd:extension base="dms:MultiChoiceLookup">
            <xsd:sequence>
              <xsd:element name="Value" type="dms:Lookup" maxOccurs="unbounded" minOccurs="0" nillable="true"/>
            </xsd:sequence>
          </xsd:extension>
        </xsd:complexContent>
      </xsd:complexType>
    </xsd:element>
    <xsd:element name="ADBDocumentTypeValue" ma:index="23" nillable="true" ma:displayName="Document Type" ma:hidden="true" ma:internalName="ADBDocumentTypeValue" ma:readOnly="false">
      <xsd:simpleType>
        <xsd:restriction base="dms:Text">
          <xsd:maxLength value="255"/>
        </xsd:restriction>
      </xsd:simpleType>
    </xsd:element>
    <xsd:element name="d61536b25a8a4fedb48bb564279be82a" ma:index="24" nillable="true" ma:taxonomy="true" ma:internalName="d61536b25a8a4fedb48bb564279be82a" ma:taxonomyFieldName="ADBDepartmentOwner" ma:displayName="Department Owner" ma:readOnly="false" ma:fieldId="{d61536b2-5a8a-4fed-b48b-b564279be82a}" ma:sspId="115af50e-efb3-4a0e-b425-875ff625e09e" ma:termSetId="b965cdb6-1071-4c6a-a9a3-189d53a950d4" ma:anchorId="00000000-0000-0000-0000-000000000000" ma:open="false" ma:isKeyword="false">
      <xsd:complexType>
        <xsd:sequence>
          <xsd:element ref="pc:Terms" minOccurs="0" maxOccurs="1"/>
        </xsd:sequence>
      </xsd:complexType>
    </xsd:element>
    <xsd:element name="h00e4aaaf4624e24a7df7f06faa038c6" ma:index="25" nillable="true" ma:taxonomy="true" ma:internalName="h00e4aaaf4624e24a7df7f06faa038c6" ma:taxonomyFieldName="ADBDocumentLanguage" ma:displayName="Document Language" ma:readOnly="false" ma:default="1;#English|16ac8743-31bb-43f8-9a73-533a041667d6" ma:fieldId="{100e4aaa-f462-4e24-a7df-7f06faa038c6}" ma:sspId="115af50e-efb3-4a0e-b425-875ff625e09e" ma:termSetId="fdf74959-6eb2-4689-a0fc-b9e1ab230b09" ma:anchorId="00000000-0000-0000-0000-000000000000" ma:open="false" ma:isKeyword="false">
      <xsd:complexType>
        <xsd:sequence>
          <xsd:element ref="pc:Terms" minOccurs="0" maxOccurs="1"/>
        </xsd:sequence>
      </xsd:complexType>
    </xsd:element>
    <xsd:element name="k985dbdc596c44d7acaf8184f33920f0" ma:index="26" nillable="true" ma:taxonomy="true" ma:internalName="k985dbdc596c44d7acaf8184f33920f0" ma:taxonomyFieldName="ADBCountry" ma:displayName="Country" ma:readOnly="false" ma:fieldId="{4985dbdc-596c-44d7-acaf-8184f33920f0}" ma:sspId="115af50e-efb3-4a0e-b425-875ff625e09e" ma:termSetId="169202c7-46da-431e-ac86-348c41a1f49b" ma:anchorId="00000000-0000-0000-0000-000000000000" ma:open="false" ma:isKeyword="false">
      <xsd:complexType>
        <xsd:sequence>
          <xsd:element ref="pc:Terms" minOccurs="0" maxOccurs="1"/>
        </xsd:sequence>
      </xsd:complexType>
    </xsd:element>
    <xsd:element name="a37ff23a602146d4934a49238d370ca5" ma:index="27" nillable="true" ma:taxonomy="true" ma:internalName="a37ff23a602146d4934a49238d370ca5" ma:taxonomyFieldName="ADBDocumentType" ma:displayName="ADB Document Type" ma:readOnly="false" ma:fieldId="{a37ff23a-6021-46d4-934a-49238d370ca5}" ma:sspId="115af50e-efb3-4a0e-b425-875ff625e09e" ma:termSetId="ebf26521-a829-4b24-b73e-5e500b1bc1db" ma:anchorId="00000000-0000-0000-0000-000000000000" ma:open="false" ma:isKeyword="false">
      <xsd:complexType>
        <xsd:sequence>
          <xsd:element ref="pc:Terms" minOccurs="0" maxOccurs="1"/>
        </xsd:sequence>
      </xsd:complexType>
    </xsd:element>
    <xsd:element name="TaxCatchAllLabel" ma:index="28" nillable="true" ma:displayName="Taxonomy Catch All Column1" ma:hidden="true" ma:list="{5fae007b-328f-43c9-b43a-e0b43236efad}" ma:internalName="TaxCatchAllLabel" ma:readOnly="true" ma:showField="CatchAllDataLabel" ma:web="5996128d-704d-4a9a-b273-f1b0c0083f8c">
      <xsd:complexType>
        <xsd:complexContent>
          <xsd:extension base="dms:MultiChoiceLookup">
            <xsd:sequence>
              <xsd:element name="Value" type="dms:Lookup" maxOccurs="unbounded" minOccurs="0" nillable="true"/>
            </xsd:sequence>
          </xsd:extension>
        </xsd:complexContent>
      </xsd:complexType>
    </xsd:element>
    <xsd:element name="d01a0ce1b141461dbfb235a3ab729a2c" ma:index="29" nillable="true" ma:taxonomy="true" ma:internalName="d01a0ce1b141461dbfb235a3ab729a2c" ma:taxonomyFieldName="ADBSector" ma:displayName="Sector" ma:readOnly="false" ma:fieldId="{d01a0ce1-b141-461d-bfb2-35a3ab729a2c}" ma:sspId="115af50e-efb3-4a0e-b425-875ff625e09e" ma:termSetId="bae01210-cdc5-4479-86d7-616c28c0a9b3" ma:anchorId="00000000-0000-0000-0000-000000000000" ma:open="false" ma:isKeyword="false">
      <xsd:complexType>
        <xsd:sequence>
          <xsd:element ref="pc:Terms" minOccurs="0" maxOccurs="1"/>
        </xsd:sequence>
      </xsd:complexType>
    </xsd:element>
    <xsd:element name="p030e467f78f45b4ae8f7e2c17ea4d82" ma:index="30" nillable="true" ma:taxonomy="true" ma:internalName="p030e467f78f45b4ae8f7e2c17ea4d82" ma:taxonomyFieldName="ADBDocumentSecurity" ma:displayName="Document Security" ma:readOnly="false" ma:fieldId="{9030e467-f78f-45b4-ae8f-7e2c17ea4d82}" ma:sspId="115af50e-efb3-4a0e-b425-875ff625e09e" ma:termSetId="9b0b4686-afa9-4a02-bc15-8fbc99f17210" ma:anchorId="00000000-0000-0000-0000-000000000000" ma:open="false" ma:isKeyword="false">
      <xsd:complexType>
        <xsd:sequence>
          <xsd:element ref="pc:Terms" minOccurs="0" maxOccurs="1"/>
        </xsd:sequence>
      </xsd:complexType>
    </xsd:element>
    <xsd:element name="ia017ac09b1942648b563fe0b2b14d52" ma:index="31" nillable="true" ma:taxonomy="true" ma:internalName="ia017ac09b1942648b563fe0b2b14d52" ma:taxonomyFieldName="ADBDivision" ma:displayName="Division" ma:readOnly="false" ma:fieldId="{2a017ac0-9b19-4264-8b56-3fe0b2b14d52}" ma:sspId="115af50e-efb3-4a0e-b425-875ff625e09e" ma:termSetId="d736278f-2140-40cc-b46b-6a0ab0de2d29" ma:anchorId="00000000-0000-0000-0000-000000000000" ma:open="false" ma:isKeyword="false">
      <xsd:complexType>
        <xsd:sequence>
          <xsd:element ref="pc:Terms" minOccurs="0" maxOccurs="1"/>
        </xsd:sequence>
      </xsd:complexType>
    </xsd:element>
    <xsd:element name="j78542b1fffc4a1c84659474212e3133" ma:index="32" nillable="true" ma:taxonomy="true" ma:internalName="j78542b1fffc4a1c84659474212e3133" ma:taxonomyFieldName="ADBContentGroup" ma:displayName="Content Group" ma:readOnly="false" ma:fieldId="{378542b1-fffc-4a1c-8465-9474212e3133}" ma:taxonomyMulti="true" ma:sspId="115af50e-efb3-4a0e-b425-875ff625e09e" ma:termSetId="2a9ffbee-93a5-418b-bcdb-8d6817936e6b" ma:anchorId="00000000-0000-0000-0000-000000000000" ma:open="false" ma:isKeyword="false">
      <xsd:complexType>
        <xsd:sequence>
          <xsd:element ref="pc:Terms" minOccurs="0" maxOccurs="1"/>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19"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TaxCatchAll xmlns="5996128d-704d-4a9a-b273-f1b0c0083f8c">
      <Value>1</Value>
    </TaxCatchAll>
    <ADBCirculatedLink xmlns="5996128d-704d-4a9a-b273-f1b0c0083f8c">
      <Url xsi:nil="true"/>
      <Description xsi:nil="true"/>
    </ADBCirculatedLink>
    <h00e4aaaf4624e24a7df7f06faa038c6 xmlns="5996128d-704d-4a9a-b273-f1b0c0083f8c">
      <Terms xmlns="http://schemas.microsoft.com/office/infopath/2007/PartnerControls">
        <TermInfo xmlns="http://schemas.microsoft.com/office/infopath/2007/PartnerControls">
          <TermName xmlns="http://schemas.microsoft.com/office/infopath/2007/PartnerControls">English</TermName>
          <TermId xmlns="http://schemas.microsoft.com/office/infopath/2007/PartnerControls">16ac8743-31bb-43f8-9a73-533a041667d6</TermId>
        </TermInfo>
      </Terms>
    </h00e4aaaf4624e24a7df7f06faa038c6>
    <ia017ac09b1942648b563fe0b2b14d52 xmlns="5996128d-704d-4a9a-b273-f1b0c0083f8c">
      <Terms xmlns="http://schemas.microsoft.com/office/infopath/2007/PartnerControls"/>
    </ia017ac09b1942648b563fe0b2b14d52>
    <d61536b25a8a4fedb48bb564279be82a xmlns="5996128d-704d-4a9a-b273-f1b0c0083f8c">
      <Terms xmlns="http://schemas.microsoft.com/office/infopath/2007/PartnerControls"/>
    </d61536b25a8a4fedb48bb564279be82a>
    <ADBSourceLink xmlns="5996128d-704d-4a9a-b273-f1b0c0083f8c">
      <Url xsi:nil="true"/>
      <Description xsi:nil="true"/>
    </ADBSourceLink>
    <ADBDocumentDate xmlns="5996128d-704d-4a9a-b273-f1b0c0083f8c" xsi:nil="true"/>
    <ADBAuthors xmlns="5996128d-704d-4a9a-b273-f1b0c0083f8c">
      <UserInfo>
        <DisplayName/>
        <AccountId xsi:nil="true"/>
        <AccountType/>
      </UserInfo>
    </ADBAuthors>
    <a37ff23a602146d4934a49238d370ca5 xmlns="5996128d-704d-4a9a-b273-f1b0c0083f8c">
      <Terms xmlns="http://schemas.microsoft.com/office/infopath/2007/PartnerControls"/>
    </a37ff23a602146d4934a49238d370ca5>
    <d01a0ce1b141461dbfb235a3ab729a2c xmlns="5996128d-704d-4a9a-b273-f1b0c0083f8c">
      <Terms xmlns="http://schemas.microsoft.com/office/infopath/2007/PartnerControls"/>
    </d01a0ce1b141461dbfb235a3ab729a2c>
    <ADBDocumentTypeValue xmlns="5996128d-704d-4a9a-b273-f1b0c0083f8c" xsi:nil="true"/>
    <p030e467f78f45b4ae8f7e2c17ea4d82 xmlns="5996128d-704d-4a9a-b273-f1b0c0083f8c">
      <Terms xmlns="http://schemas.microsoft.com/office/infopath/2007/PartnerControls"/>
    </p030e467f78f45b4ae8f7e2c17ea4d82>
    <k985dbdc596c44d7acaf8184f33920f0 xmlns="5996128d-704d-4a9a-b273-f1b0c0083f8c">
      <Terms xmlns="http://schemas.microsoft.com/office/infopath/2007/PartnerControls"/>
    </k985dbdc596c44d7acaf8184f33920f0>
    <j78542b1fffc4a1c84659474212e3133 xmlns="5996128d-704d-4a9a-b273-f1b0c0083f8c">
      <Terms xmlns="http://schemas.microsoft.com/office/infopath/2007/PartnerControls"/>
    </j78542b1fffc4a1c84659474212e3133>
    <ADBMonth xmlns="5996128d-704d-4a9a-b273-f1b0c0083f8c" xsi:nil="true"/>
    <ADBYear xmlns="5996128d-704d-4a9a-b273-f1b0c0083f8c" xsi:nil="true"/>
  </documentManagement>
</p:properties>
</file>

<file path=customXml/itemProps1.xml><?xml version="1.0" encoding="utf-8"?>
<ds:datastoreItem xmlns:ds="http://schemas.openxmlformats.org/officeDocument/2006/customXml" ds:itemID="{3BB47801-E4CC-41EA-8340-D4DFD7A90988}">
  <ds:schemaRefs>
    <ds:schemaRef ds:uri="http://schemas.microsoft.com/sharepoint/v3/contenttype/forms"/>
  </ds:schemaRefs>
</ds:datastoreItem>
</file>

<file path=customXml/itemProps2.xml><?xml version="1.0" encoding="utf-8"?>
<ds:datastoreItem xmlns:ds="http://schemas.openxmlformats.org/officeDocument/2006/customXml" ds:itemID="{D95B616A-2B50-45EF-843D-9233033F0D2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5996128d-704d-4a9a-b273-f1b0c0083f8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2CD7C77A-BF15-4A6D-8A81-F40E10B66BC5}">
  <ds:schemaRefs>
    <ds:schemaRef ds:uri="http://schemas.microsoft.com/office/infopath/2007/PartnerControls"/>
    <ds:schemaRef ds:uri="http://purl.org/dc/dcmitype/"/>
    <ds:schemaRef ds:uri="http://purl.org/dc/elements/1.1/"/>
    <ds:schemaRef ds:uri="http://schemas.microsoft.com/office/2006/metadata/properties"/>
    <ds:schemaRef ds:uri="http://www.w3.org/XML/1998/namespace"/>
    <ds:schemaRef ds:uri="http://schemas.microsoft.com/office/2006/documentManagement/types"/>
    <ds:schemaRef ds:uri="http://schemas.openxmlformats.org/package/2006/metadata/core-properties"/>
    <ds:schemaRef ds:uri="5996128d-704d-4a9a-b273-f1b0c0083f8c"/>
    <ds:schemaRef ds:uri="http://purl.org/dc/terms/"/>
  </ds:schemaRefs>
</ds:datastoreItem>
</file>

<file path=docProps/app.xml><?xml version="1.0" encoding="utf-8"?>
<Properties xmlns="http://schemas.openxmlformats.org/officeDocument/2006/extended-properties" xmlns:vt="http://schemas.openxmlformats.org/officeDocument/2006/docPropsVTypes">
  <TotalTime>1643</TotalTime>
  <Words>1026</Words>
  <Application>Microsoft Office PowerPoint</Application>
  <PresentationFormat>On-screen Show (16:9)</PresentationFormat>
  <Paragraphs>165</Paragraphs>
  <Slides>9</Slides>
  <Notes>9</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9</vt:i4>
      </vt:variant>
    </vt:vector>
  </HeadingPairs>
  <TitlesOfParts>
    <vt:vector size="16" baseType="lpstr">
      <vt:lpstr>Aptos</vt:lpstr>
      <vt:lpstr>Arial</vt:lpstr>
      <vt:lpstr>Calibri</vt:lpstr>
      <vt:lpstr>Cambria</vt:lpstr>
      <vt:lpstr>Segoe UI</vt:lpstr>
      <vt:lpstr>Segoe UI Bold</vt:lpstr>
      <vt:lpstr>Office Theme</vt:lpstr>
      <vt:lpstr>EDRMS Utilization Report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EDRMS Utilization Report Workshop</dc:title>
  <dc:subject>PptxGenJS Presentation</dc:subject>
  <dc:creator>ADB Records &amp; Information Management</dc:creator>
  <cp:lastModifiedBy>Jimwyl Perez</cp:lastModifiedBy>
  <cp:revision>393</cp:revision>
  <dcterms:created xsi:type="dcterms:W3CDTF">2026-07-02T02:28:30Z</dcterms:created>
  <dcterms:modified xsi:type="dcterms:W3CDTF">2026-08-26T06:06:21Z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0x010100BB987C5E842407458A00E5F1E23BC833000D55B2048826264A885F6B4B33DCCFFE</vt:lpwstr>
  </property>
  <property fmtid="{D5CDD505-2E9C-101B-9397-08002B2CF9AE}" pid="3" name="RevIMBCS">
    <vt:lpwstr/>
  </property>
  <property fmtid="{D5CDD505-2E9C-101B-9397-08002B2CF9AE}" pid="4" name="MediaServiceImageTags">
    <vt:lpwstr/>
  </property>
  <property fmtid="{D5CDD505-2E9C-101B-9397-08002B2CF9AE}" pid="5" name="ADBSector">
    <vt:lpwstr/>
  </property>
  <property fmtid="{D5CDD505-2E9C-101B-9397-08002B2CF9AE}" pid="6" name="ADBDivision">
    <vt:lpwstr/>
  </property>
  <property fmtid="{D5CDD505-2E9C-101B-9397-08002B2CF9AE}" pid="7" name="ADBContentGroup">
    <vt:lpwstr/>
  </property>
  <property fmtid="{D5CDD505-2E9C-101B-9397-08002B2CF9AE}" pid="8" name="ADBDocumentSecurity">
    <vt:lpwstr/>
  </property>
  <property fmtid="{D5CDD505-2E9C-101B-9397-08002B2CF9AE}" pid="9" name="ADBDocumentLanguage">
    <vt:lpwstr>1;#English|16ac8743-31bb-43f8-9a73-533a041667d6</vt:lpwstr>
  </property>
  <property fmtid="{D5CDD505-2E9C-101B-9397-08002B2CF9AE}" pid="10" name="ADBDocumentType">
    <vt:lpwstr/>
  </property>
  <property fmtid="{D5CDD505-2E9C-101B-9397-08002B2CF9AE}" pid="11" name="ADBDepartmentOwner">
    <vt:lpwstr/>
  </property>
  <property fmtid="{D5CDD505-2E9C-101B-9397-08002B2CF9AE}" pid="12" name="ADBCountry">
    <vt:lpwstr/>
  </property>
  <property fmtid="{D5CDD505-2E9C-101B-9397-08002B2CF9AE}" pid="13" name="MSIP_Label_817d4574-7375-4d17-b29c-6e4c6df0fcb0_Enabled">
    <vt:lpwstr>true</vt:lpwstr>
  </property>
  <property fmtid="{D5CDD505-2E9C-101B-9397-08002B2CF9AE}" pid="14" name="MSIP_Label_817d4574-7375-4d17-b29c-6e4c6df0fcb0_SetDate">
    <vt:lpwstr>2026-07-09T07:38:25Z</vt:lpwstr>
  </property>
  <property fmtid="{D5CDD505-2E9C-101B-9397-08002B2CF9AE}" pid="15" name="MSIP_Label_817d4574-7375-4d17-b29c-6e4c6df0fcb0_Method">
    <vt:lpwstr>Standard</vt:lpwstr>
  </property>
  <property fmtid="{D5CDD505-2E9C-101B-9397-08002B2CF9AE}" pid="16" name="MSIP_Label_817d4574-7375-4d17-b29c-6e4c6df0fcb0_Name">
    <vt:lpwstr>ADB Internal</vt:lpwstr>
  </property>
  <property fmtid="{D5CDD505-2E9C-101B-9397-08002B2CF9AE}" pid="17" name="MSIP_Label_817d4574-7375-4d17-b29c-6e4c6df0fcb0_SiteId">
    <vt:lpwstr>9495d6bb-41c2-4c58-848f-92e52cf3d640</vt:lpwstr>
  </property>
  <property fmtid="{D5CDD505-2E9C-101B-9397-08002B2CF9AE}" pid="18" name="MSIP_Label_817d4574-7375-4d17-b29c-6e4c6df0fcb0_ActionId">
    <vt:lpwstr>a69281fa-8e8a-44ff-b854-f50290c591ad</vt:lpwstr>
  </property>
  <property fmtid="{D5CDD505-2E9C-101B-9397-08002B2CF9AE}" pid="19" name="MSIP_Label_817d4574-7375-4d17-b29c-6e4c6df0fcb0_ContentBits">
    <vt:lpwstr>2</vt:lpwstr>
  </property>
  <property fmtid="{D5CDD505-2E9C-101B-9397-08002B2CF9AE}" pid="20" name="MSIP_Label_817d4574-7375-4d17-b29c-6e4c6df0fcb0_Tag">
    <vt:lpwstr>10, 3, 0, 2</vt:lpwstr>
  </property>
  <property fmtid="{D5CDD505-2E9C-101B-9397-08002B2CF9AE}" pid="21" name="ClassificationContentMarkingFooterLocations">
    <vt:lpwstr>Office Theme:3</vt:lpwstr>
  </property>
  <property fmtid="{D5CDD505-2E9C-101B-9397-08002B2CF9AE}" pid="22" name="ClassificationContentMarkingFooterText">
    <vt:lpwstr>INTERNAL. This information is accessible to ADB Management and Staff. It may be shared outside ADB with appropriate permission.</vt:lpwstr>
  </property>
</Properties>
</file>