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9"/>
  </p:notesMasterIdLst>
  <p:sldIdLst>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56"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4610"/>
  </p:normalViewPr>
  <p:slideViewPr>
    <p:cSldViewPr snapToGrid="0" snapToObjects="1">
      <p:cViewPr>
        <p:scale>
          <a:sx n="75" d="100"/>
          <a:sy n="75" d="100"/>
        </p:scale>
        <p:origin x="-102" y="3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wyl Perez" userId="S::jperez2.contractor@adb.org::fc00229f-e87f-4a35-8b3e-498896f17f42" providerId="AD" clId="Web-{00000000-0000-0000-0000-000000000000}"/>
    <pc:docChg chg="mod modMainMaster">
      <pc:chgData name="Jimwyl Perez" userId="S::jperez2.contractor@adb.org::fc00229f-e87f-4a35-8b3e-498896f17f42" providerId="AD" clId="Web-{00000000-0000-0000-0000-000000000000}" dt="2026-09-01T00:50:10.815" v="1" actId="33475"/>
      <pc:docMkLst>
        <pc:docMk/>
      </pc:docMkLst>
      <pc:sldMasterChg chg="modSp">
        <pc:chgData name="Jimwyl Perez" userId="S::jperez2.contractor@adb.org::fc00229f-e87f-4a35-8b3e-498896f17f42" providerId="AD" clId="Web-{00000000-0000-0000-0000-000000000000}" dt="2026-09-01T00:50:10.815" v="0" actId="33475"/>
        <pc:sldMasterMkLst>
          <pc:docMk/>
          <pc:sldMasterMk cId="373833209" sldId="2147483650"/>
        </pc:sldMasterMkLst>
        <pc:spChg chg="mod">
          <ac:chgData name="Jimwyl Perez" userId="S::jperez2.contractor@adb.org::fc00229f-e87f-4a35-8b3e-498896f17f42" providerId="AD" clId="Web-{00000000-0000-0000-0000-000000000000}" dt="2026-09-01T00:50:10.815" v="0" actId="33475"/>
          <ac:spMkLst>
            <pc:docMk/>
            <pc:sldMasterMk cId="373833209" sldId="2147483650"/>
            <ac:spMk id="3" creationId="{2F4C2120-DF8B-03EB-5E9D-019C7BA01073}"/>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735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4416E09-8B40-4ED1-86B7-C94735C58CEB}" type="slidenum">
              <a:rPr kumimoji="0" lang="en-US"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0256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5CE28-F1BC-68FA-EBCE-513920D4F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890B7-0A2A-6EA7-47D8-6D3456CD1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AC935-7FC5-8226-891F-E1AF24D84A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CDF458-4111-0DE9-7FB4-EEA127C46EE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3029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57CB8-56F1-89E0-6AEB-25075B884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C6EC9-7E8E-4C16-7969-7E3CA4521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F5828-B0C1-85D4-1A13-5D44F6BFD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4FC03B-EEDB-D857-7787-4FA0E8AE892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0417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450EE-D45A-4906-F586-B7E7F9F1E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891D7-5F93-185B-0F07-2AB02DC13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193F0-AF43-A6FE-8276-01F25F372E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4C2383-E356-4F56-12E1-4333481CD19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7645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EBC7E-A5C9-D702-2D8A-BFAF35791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20C8D-E995-C46C-9FB9-EBAF061F4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2FB16-FF37-8829-7AD6-2E4C2434D5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76125C-4F2E-899F-61F6-62764BFADE2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127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D8980-EC74-C21C-DD39-D96E02A86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5D3CA-CE20-9B21-FA3D-0E7713F42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F518E-2DCD-17FF-0D01-0865D80B1E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883C4D-4DD2-C020-90B5-BFBA2523173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83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864F-D930-BA65-79F3-4D6952DD7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9213E-68B0-9C5F-A93D-B0AABF83D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7774A-6584-C71C-2D97-E5D15E1088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0A09DA-E4E7-D9CB-62F8-AEC68A15D4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5533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1294-A0E5-0220-C590-904B9EC37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185BE-3AF2-17A0-0E55-C938A63B2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5E4E4-FB6C-CD3B-63D4-6F79E2352A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297A80-4677-763B-F143-678781C55C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2198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0A160-A68B-1585-0295-D6E7491E1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26A7E-E318-FE90-22E6-5A8B611A3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1CC66-1961-7306-4E44-9AA8132763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E15394-F72E-1277-5EC8-AAC4822799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587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8B1A7-412B-5550-7875-1CB97A843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0479C-587B-F6D1-33BF-46C992667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D30E9-BE01-2E27-051C-85341D919F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667916-B0EF-748E-0810-517D00DC7F6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1921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D1444-BE88-323C-F34D-10A0D672B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59321-B4F1-A975-EC8C-2FBFFDE89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BAB07-31A4-320D-C2A8-B81453B40C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C29447-4CD3-3611-21FB-EE1CEDEA40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1567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54CFB-0599-2169-73C3-B27E41A3C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C0E60-CEFB-7EFF-BCBE-4A9BA2B8C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AA633-148E-A57A-3BD3-A725E24A0A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652C2D-C170-0B3D-AD1D-5D16FF87B5E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190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4416E09-8B40-4ED1-86B7-C94735C58CEB}" type="slidenum">
              <a:rPr lang="en-US" smtClean="0"/>
              <a:t>14</a:t>
            </a:fld>
            <a:endParaRPr lang="en-US"/>
          </a:p>
        </p:txBody>
      </p:sp>
    </p:spTree>
    <p:extLst>
      <p:ext uri="{BB962C8B-B14F-4D97-AF65-F5344CB8AC3E}">
        <p14:creationId xmlns:p14="http://schemas.microsoft.com/office/powerpoint/2010/main" val="2690256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 Id="rId5"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2.wdp"/><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6.png"/><Relationship Id="rId7"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708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A yellow and blue wavy lines&#10;&#10;Description automatically generated">
            <a:extLst>
              <a:ext uri="{FF2B5EF4-FFF2-40B4-BE49-F238E27FC236}">
                <a16:creationId xmlns:a16="http://schemas.microsoft.com/office/drawing/2014/main" id="{C0B37FD3-2E43-3CB4-83E1-EEC2F7D0E1C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tretch>
            <a:fillRect/>
          </a:stretch>
        </p:blipFill>
        <p:spPr>
          <a:xfrm>
            <a:off x="2" y="0"/>
            <a:ext cx="12191999" cy="6858000"/>
          </a:xfrm>
          <a:prstGeom prst="rect">
            <a:avLst/>
          </a:prstGeom>
        </p:spPr>
      </p:pic>
      <p:sp>
        <p:nvSpPr>
          <p:cNvPr id="2" name="Title 1">
            <a:extLst>
              <a:ext uri="{FF2B5EF4-FFF2-40B4-BE49-F238E27FC236}">
                <a16:creationId xmlns:a16="http://schemas.microsoft.com/office/drawing/2014/main" id="{7118875C-F4E2-FA32-A18E-102993D4E40A}"/>
              </a:ext>
            </a:extLst>
          </p:cNvPr>
          <p:cNvSpPr>
            <a:spLocks noGrp="1"/>
          </p:cNvSpPr>
          <p:nvPr>
            <p:ph type="ctrTitle"/>
          </p:nvPr>
        </p:nvSpPr>
        <p:spPr>
          <a:xfrm>
            <a:off x="306594" y="2573631"/>
            <a:ext cx="11047207" cy="2387600"/>
          </a:xfrm>
        </p:spPr>
        <p:txBody>
          <a:bodyPr anchor="b"/>
          <a:lstStyle>
            <a:lvl1pPr algn="l">
              <a:defRPr sz="6000" b="1">
                <a:solidFill>
                  <a:schemeClr val="bg1"/>
                </a:solidFill>
              </a:defRPr>
            </a:lvl1pPr>
          </a:lstStyle>
          <a:p>
            <a:r>
              <a:rPr lang="en-US"/>
              <a:t>Click to edit Master title style</a:t>
            </a:r>
            <a:endParaRPr lang="en-PH"/>
          </a:p>
        </p:txBody>
      </p:sp>
      <p:sp>
        <p:nvSpPr>
          <p:cNvPr id="3" name="Subtitle 2">
            <a:extLst>
              <a:ext uri="{FF2B5EF4-FFF2-40B4-BE49-F238E27FC236}">
                <a16:creationId xmlns:a16="http://schemas.microsoft.com/office/drawing/2014/main" id="{EE12FBC6-9031-44CB-301F-04016C7A1CBB}"/>
              </a:ext>
            </a:extLst>
          </p:cNvPr>
          <p:cNvSpPr>
            <a:spLocks noGrp="1"/>
          </p:cNvSpPr>
          <p:nvPr>
            <p:ph type="subTitle" idx="1"/>
          </p:nvPr>
        </p:nvSpPr>
        <p:spPr>
          <a:xfrm>
            <a:off x="306594" y="5014686"/>
            <a:ext cx="11047207" cy="980013"/>
          </a:xfrm>
        </p:spPr>
        <p:txBody>
          <a:bodyPr/>
          <a:lstStyle>
            <a:lvl1pPr marL="0" indent="0" algn="l">
              <a:buNone/>
              <a:defRPr sz="24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PH"/>
          </a:p>
        </p:txBody>
      </p:sp>
      <p:sp>
        <p:nvSpPr>
          <p:cNvPr id="6" name="Slide Number Placeholder 5">
            <a:extLst>
              <a:ext uri="{FF2B5EF4-FFF2-40B4-BE49-F238E27FC236}">
                <a16:creationId xmlns:a16="http://schemas.microsoft.com/office/drawing/2014/main" id="{9AF23F22-202B-22C5-B9EA-75BED8861297}"/>
              </a:ext>
            </a:extLst>
          </p:cNvPr>
          <p:cNvSpPr>
            <a:spLocks noGrp="1"/>
          </p:cNvSpPr>
          <p:nvPr>
            <p:ph type="sldNum" sz="quarter" idx="12"/>
          </p:nvPr>
        </p:nvSpPr>
        <p:spPr>
          <a:xfrm>
            <a:off x="8610599" y="6356351"/>
            <a:ext cx="2743200" cy="365125"/>
          </a:xfrm>
        </p:spPr>
        <p:txBody>
          <a:bodyPr/>
          <a:lstStyle>
            <a:lvl1pPr>
              <a:defRPr b="1">
                <a:solidFill>
                  <a:schemeClr val="bg1"/>
                </a:solidFill>
              </a:defRPr>
            </a:lvl1pPr>
          </a:lstStyle>
          <a:p>
            <a:fld id="{B0B62103-952B-40C5-BACA-0A1B9F9E1991}" type="slidenum">
              <a:rPr lang="en-PH" smtClean="0"/>
              <a:pPr/>
              <a:t>‹#›</a:t>
            </a:fld>
            <a:endParaRPr lang="en-PH"/>
          </a:p>
        </p:txBody>
      </p:sp>
      <p:sp>
        <p:nvSpPr>
          <p:cNvPr id="9" name="Rectangle 8">
            <a:extLst>
              <a:ext uri="{FF2B5EF4-FFF2-40B4-BE49-F238E27FC236}">
                <a16:creationId xmlns:a16="http://schemas.microsoft.com/office/drawing/2014/main" id="{F19A9BAB-EB88-2DD9-82D9-904B108017BF}"/>
              </a:ext>
            </a:extLst>
          </p:cNvPr>
          <p:cNvSpPr/>
          <p:nvPr userDrawn="1"/>
        </p:nvSpPr>
        <p:spPr>
          <a:xfrm>
            <a:off x="164057" y="3374479"/>
            <a:ext cx="45719" cy="15867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sz="1800"/>
          </a:p>
        </p:txBody>
      </p:sp>
      <p:pic>
        <p:nvPicPr>
          <p:cNvPr id="11" name="Picture 10">
            <a:extLst>
              <a:ext uri="{FF2B5EF4-FFF2-40B4-BE49-F238E27FC236}">
                <a16:creationId xmlns:a16="http://schemas.microsoft.com/office/drawing/2014/main" id="{E2DF671D-3EF5-6E85-6EB3-0D04558FB4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7030" y="5793840"/>
            <a:ext cx="4253757" cy="1040152"/>
          </a:xfrm>
          <a:prstGeom prst="rect">
            <a:avLst/>
          </a:prstGeom>
        </p:spPr>
      </p:pic>
      <p:pic>
        <p:nvPicPr>
          <p:cNvPr id="5" name="Picture 4" descr="A blue and white logo&#10;&#10;Description automatically generated">
            <a:extLst>
              <a:ext uri="{FF2B5EF4-FFF2-40B4-BE49-F238E27FC236}">
                <a16:creationId xmlns:a16="http://schemas.microsoft.com/office/drawing/2014/main" id="{852FBE8F-B070-8109-B023-E060794B8B5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1"/>
            <a:ext cx="620717" cy="620717"/>
          </a:xfrm>
          <a:prstGeom prst="rect">
            <a:avLst/>
          </a:prstGeom>
        </p:spPr>
      </p:pic>
    </p:spTree>
    <p:extLst>
      <p:ext uri="{BB962C8B-B14F-4D97-AF65-F5344CB8AC3E}">
        <p14:creationId xmlns:p14="http://schemas.microsoft.com/office/powerpoint/2010/main" val="1466748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A yellow and black background&#10;&#10;Description automatically generated">
            <a:extLst>
              <a:ext uri="{FF2B5EF4-FFF2-40B4-BE49-F238E27FC236}">
                <a16:creationId xmlns:a16="http://schemas.microsoft.com/office/drawing/2014/main" id="{D98C54E4-BBD9-B9A8-144E-B0B8FB8E9DE4}"/>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r="34111"/>
          <a:stretch/>
        </p:blipFill>
        <p:spPr>
          <a:xfrm>
            <a:off x="7971971" y="5724042"/>
            <a:ext cx="4220029" cy="1190708"/>
          </a:xfrm>
          <a:prstGeom prst="rect">
            <a:avLst/>
          </a:prstGeom>
        </p:spPr>
      </p:pic>
      <p:sp>
        <p:nvSpPr>
          <p:cNvPr id="2" name="Title 1">
            <a:extLst>
              <a:ext uri="{FF2B5EF4-FFF2-40B4-BE49-F238E27FC236}">
                <a16:creationId xmlns:a16="http://schemas.microsoft.com/office/drawing/2014/main" id="{D600BD2A-E58A-12B7-BFDE-DEFA70545B20}"/>
              </a:ext>
            </a:extLst>
          </p:cNvPr>
          <p:cNvSpPr>
            <a:spLocks noGrp="1"/>
          </p:cNvSpPr>
          <p:nvPr>
            <p:ph type="title"/>
          </p:nvPr>
        </p:nvSpPr>
        <p:spPr>
          <a:xfrm>
            <a:off x="341086" y="365125"/>
            <a:ext cx="11041743" cy="1325563"/>
          </a:xfrm>
        </p:spPr>
        <p:txBody>
          <a:bodyPr>
            <a:normAutofit/>
          </a:bodyPr>
          <a:lstStyle>
            <a:lvl1pPr>
              <a:defRPr sz="3600" b="1">
                <a:solidFill>
                  <a:schemeClr val="tx2"/>
                </a:solidFill>
              </a:defRPr>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A7A4558B-5F9B-1B2A-F0DE-2EFB049E62D1}"/>
              </a:ext>
            </a:extLst>
          </p:cNvPr>
          <p:cNvSpPr>
            <a:spLocks noGrp="1"/>
          </p:cNvSpPr>
          <p:nvPr>
            <p:ph idx="1"/>
          </p:nvPr>
        </p:nvSpPr>
        <p:spPr>
          <a:xfrm>
            <a:off x="341086" y="1825625"/>
            <a:ext cx="11041743" cy="4139747"/>
          </a:xfrm>
        </p:spPr>
        <p:txBody>
          <a:bodyPr/>
          <a:lstStyle>
            <a:lvl1pPr>
              <a:lnSpc>
                <a:spcPct val="100000"/>
              </a:lnSpc>
              <a:defRPr sz="2000">
                <a:latin typeface="Segoe UI" panose="020B0502040204020203" pitchFamily="34" charset="0"/>
                <a:cs typeface="Segoe UI" panose="020B0502040204020203" pitchFamily="34" charset="0"/>
              </a:defRPr>
            </a:lvl1pPr>
            <a:lvl2pPr>
              <a:lnSpc>
                <a:spcPct val="100000"/>
              </a:lnSpc>
              <a:defRPr sz="2000">
                <a:latin typeface="Segoe UI" panose="020B0502040204020203" pitchFamily="34" charset="0"/>
                <a:cs typeface="Segoe UI" panose="020B0502040204020203" pitchFamily="34" charset="0"/>
              </a:defRPr>
            </a:lvl2pPr>
            <a:lvl3pPr>
              <a:lnSpc>
                <a:spcPct val="100000"/>
              </a:lnSpc>
              <a:defRPr sz="1800">
                <a:latin typeface="Segoe UI" panose="020B0502040204020203" pitchFamily="34" charset="0"/>
                <a:cs typeface="Segoe UI" panose="020B0502040204020203" pitchFamily="34" charset="0"/>
              </a:defRPr>
            </a:lvl3pPr>
            <a:lvl4pPr>
              <a:lnSpc>
                <a:spcPct val="100000"/>
              </a:lnSpc>
              <a:defRPr>
                <a:latin typeface="Segoe UI" panose="020B0502040204020203" pitchFamily="34" charset="0"/>
                <a:cs typeface="Segoe UI" panose="020B0502040204020203" pitchFamily="34" charset="0"/>
              </a:defRPr>
            </a:lvl4pPr>
            <a:lvl5pPr>
              <a:lnSpc>
                <a:spcPct val="100000"/>
              </a:lnSpc>
              <a:defRPr>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Slide Number Placeholder 5">
            <a:extLst>
              <a:ext uri="{FF2B5EF4-FFF2-40B4-BE49-F238E27FC236}">
                <a16:creationId xmlns:a16="http://schemas.microsoft.com/office/drawing/2014/main" id="{50E0ED74-28F0-4005-7C6F-12FACC50E63B}"/>
              </a:ext>
            </a:extLst>
          </p:cNvPr>
          <p:cNvSpPr>
            <a:spLocks noGrp="1"/>
          </p:cNvSpPr>
          <p:nvPr>
            <p:ph type="sldNum" sz="quarter" idx="12"/>
          </p:nvPr>
        </p:nvSpPr>
        <p:spPr/>
        <p:txBody>
          <a:bodyPr/>
          <a:lstStyle>
            <a:lvl1pPr>
              <a:defRPr b="1">
                <a:solidFill>
                  <a:schemeClr val="bg1"/>
                </a:solidFill>
              </a:defRPr>
            </a:lvl1pPr>
          </a:lstStyle>
          <a:p>
            <a:fld id="{B0B62103-952B-40C5-BACA-0A1B9F9E1991}" type="slidenum">
              <a:rPr lang="en-PH" smtClean="0"/>
              <a:pPr/>
              <a:t>‹#›</a:t>
            </a:fld>
            <a:endParaRPr lang="en-PH"/>
          </a:p>
        </p:txBody>
      </p:sp>
      <p:pic>
        <p:nvPicPr>
          <p:cNvPr id="9" name="Picture 8">
            <a:extLst>
              <a:ext uri="{FF2B5EF4-FFF2-40B4-BE49-F238E27FC236}">
                <a16:creationId xmlns:a16="http://schemas.microsoft.com/office/drawing/2014/main" id="{CBB40F2E-1D1D-55B1-29BF-87CFD40B6A5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 y="5802277"/>
            <a:ext cx="4291012" cy="1049263"/>
          </a:xfrm>
          <a:prstGeom prst="rect">
            <a:avLst/>
          </a:prstGeom>
        </p:spPr>
      </p:pic>
      <p:pic>
        <p:nvPicPr>
          <p:cNvPr id="4" name="Picture 3" descr="A blue and white logo&#10;&#10;Description automatically generated">
            <a:extLst>
              <a:ext uri="{FF2B5EF4-FFF2-40B4-BE49-F238E27FC236}">
                <a16:creationId xmlns:a16="http://schemas.microsoft.com/office/drawing/2014/main" id="{A0CD0736-EB50-330A-55B9-C8741580A36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449152" y="6115991"/>
            <a:ext cx="620717" cy="620717"/>
          </a:xfrm>
          <a:prstGeom prst="rect">
            <a:avLst/>
          </a:prstGeom>
        </p:spPr>
      </p:pic>
      <p:pic>
        <p:nvPicPr>
          <p:cNvPr id="5" name="Picture 4" descr="A green and blue gradient&#10;&#10;Description automatically generated">
            <a:extLst>
              <a:ext uri="{FF2B5EF4-FFF2-40B4-BE49-F238E27FC236}">
                <a16:creationId xmlns:a16="http://schemas.microsoft.com/office/drawing/2014/main" id="{2C7E166D-ECFA-286E-2CE6-033F5000AECC}"/>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rcRect/>
          <a:stretch/>
        </p:blipFill>
        <p:spPr>
          <a:xfrm>
            <a:off x="6788165" y="-7925"/>
            <a:ext cx="5403835" cy="1698808"/>
          </a:xfrm>
          <a:prstGeom prst="rect">
            <a:avLst/>
          </a:prstGeom>
        </p:spPr>
      </p:pic>
    </p:spTree>
    <p:extLst>
      <p:ext uri="{BB962C8B-B14F-4D97-AF65-F5344CB8AC3E}">
        <p14:creationId xmlns:p14="http://schemas.microsoft.com/office/powerpoint/2010/main" val="3267165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4C2120-DF8B-03EB-5E9D-019C7BA01073}"/>
              </a:ext>
            </a:extLst>
          </p:cNvPr>
          <p:cNvSpPr txBox="1"/>
          <p:nvPr>
            <p:extLst>
              <p:ext uri="{1162E1C5-73C7-4A58-AE30-91384D911F3F}">
                <p184:classification xmlns:p184="http://schemas.microsoft.com/office/powerpoint/2018/4/main" val="ftr"/>
              </p:ext>
            </p:extLst>
          </p:nvPr>
        </p:nvSpPr>
        <p:spPr>
          <a:xfrm>
            <a:off x="3224213" y="6672580"/>
            <a:ext cx="576421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This information is accessible to ADB Management and Staff. It may be shared outside ADB with appropriate permission.</a:t>
            </a:r>
          </a:p>
        </p:txBody>
      </p:sp>
    </p:spTree>
    <p:extLst>
      <p:ext uri="{BB962C8B-B14F-4D97-AF65-F5344CB8AC3E}">
        <p14:creationId xmlns:p14="http://schemas.microsoft.com/office/powerpoint/2010/main" val="37383320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1A76651-B3B5-21F1-CC98-98819F36D734}"/>
              </a:ext>
            </a:extLst>
          </p:cNvPr>
          <p:cNvSpPr>
            <a:spLocks noGrp="1"/>
          </p:cNvSpPr>
          <p:nvPr>
            <p:ph type="ctrTitle"/>
          </p:nvPr>
        </p:nvSpPr>
        <p:spPr/>
        <p:txBody>
          <a:bodyPr lIns="121920" tIns="60960" rIns="121920" bIns="60960" anchor="b">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800" dirty="0">
                <a:solidFill>
                  <a:schemeClr val="bg1"/>
                </a:solidFill>
                <a:latin typeface="Segoe UI Bold"/>
                <a:cs typeface="Segoe UI Bold"/>
              </a:rPr>
              <a:t>EDRMS Utilization Report</a:t>
            </a:r>
            <a:endParaRPr lang="en-US" dirty="0">
              <a:solidFill>
                <a:schemeClr val="bg1"/>
              </a:solidFill>
              <a:ea typeface="Calibri"/>
              <a:cs typeface="Calibri"/>
            </a:endParaRPr>
          </a:p>
        </p:txBody>
      </p:sp>
      <p:sp>
        <p:nvSpPr>
          <p:cNvPr id="3" name="Subtitle 2">
            <a:extLst>
              <a:ext uri="{FF2B5EF4-FFF2-40B4-BE49-F238E27FC236}">
                <a16:creationId xmlns:a16="http://schemas.microsoft.com/office/drawing/2014/main" id="{FA0FF230-BDAA-521C-33FC-57FE5F9254EE}"/>
              </a:ext>
            </a:extLst>
          </p:cNvPr>
          <p:cNvSpPr>
            <a:spLocks noGrp="1"/>
          </p:cNvSpPr>
          <p:nvPr>
            <p:ph type="subTitle" idx="1"/>
          </p:nvPr>
        </p:nvSpPr>
        <p:spPr/>
        <p:txBody>
          <a:bodyPr vert="horz" lIns="91440" tIns="45720" rIns="91440" bIns="45720" rtlCol="0" anchor="t">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PH" dirty="0">
                <a:solidFill>
                  <a:schemeClr val="bg1"/>
                </a:solidFill>
                <a:cs typeface="Segoe UI"/>
              </a:rPr>
              <a:t>August 2026</a:t>
            </a:r>
            <a:endParaRPr lang="en-PH" dirty="0">
              <a:solidFill>
                <a:schemeClr val="bg1"/>
              </a:solidFill>
              <a:ea typeface="Calibri"/>
              <a:cs typeface="Segoe UI"/>
            </a:endParaRPr>
          </a:p>
        </p:txBody>
      </p:sp>
      <p:sp>
        <p:nvSpPr>
          <p:cNvPr id="10" name="Text 1">
            <a:extLst>
              <a:ext uri="{FF2B5EF4-FFF2-40B4-BE49-F238E27FC236}">
                <a16:creationId xmlns:a16="http://schemas.microsoft.com/office/drawing/2014/main" id="{D16B05C2-64A2-81BA-BB74-7CA424E577D1}"/>
              </a:ext>
            </a:extLst>
          </p:cNvPr>
          <p:cNvSpPr/>
          <p:nvPr/>
        </p:nvSpPr>
        <p:spPr>
          <a:xfrm>
            <a:off x="310024" y="3619139"/>
            <a:ext cx="10058400" cy="640080"/>
          </a:xfrm>
          <a:prstGeom prst="rect">
            <a:avLst/>
          </a:prstGeom>
          <a:noFill/>
          <a:ln/>
        </p:spPr>
        <p:txBody>
          <a:bodyPr wrap="square"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r>
              <a:rPr lang="en-US" sz="3000" dirty="0">
                <a:solidFill>
                  <a:srgbClr val="FFFFFF"/>
                </a:solidFill>
                <a:latin typeface="Segoe UI"/>
                <a:cs typeface="Segoe UI"/>
              </a:rPr>
              <a:t>Reconfirmation Workshop (R2026.4)</a:t>
            </a:r>
          </a:p>
        </p:txBody>
      </p:sp>
    </p:spTree>
    <p:extLst>
      <p:ext uri="{BB962C8B-B14F-4D97-AF65-F5344CB8AC3E}">
        <p14:creationId xmlns:p14="http://schemas.microsoft.com/office/powerpoint/2010/main" val="1895025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A"/>
        </a:solidFill>
        <a:effectLst/>
      </p:bgPr>
    </p:bg>
    <p:spTree>
      <p:nvGrpSpPr>
        <p:cNvPr id="1" name=""/>
        <p:cNvGrpSpPr/>
        <p:nvPr/>
      </p:nvGrpSpPr>
      <p:grpSpPr>
        <a:xfrm>
          <a:off x="0" y="0"/>
          <a:ext cx="0" cy="0"/>
          <a:chOff x="0" y="0"/>
          <a:chExt cx="0" cy="0"/>
        </a:xfrm>
      </p:grpSpPr>
      <p:sp>
        <p:nvSpPr>
          <p:cNvPr id="4" name="Text 2"/>
          <p:cNvSpPr/>
          <p:nvPr/>
        </p:nvSpPr>
        <p:spPr>
          <a:xfrm>
            <a:off x="325991" y="49059"/>
            <a:ext cx="11216640" cy="658368"/>
          </a:xfrm>
          <a:prstGeom prst="rect">
            <a:avLst/>
          </a:prstGeom>
          <a:noFill/>
          <a:ln/>
        </p:spPr>
        <p:txBody>
          <a:bodyPr wrap="square" lIns="0" tIns="0" rIns="0" bIns="0" rtlCol="0" anchor="ctr"/>
          <a:lstStyle/>
          <a:p>
            <a:pPr defTabSz="1219170"/>
            <a:r>
              <a:rPr lang="en-US" sz="3600" b="1">
                <a:solidFill>
                  <a:srgbClr val="44546A">
                    <a:lumMod val="76000"/>
                  </a:srgbClr>
                </a:solidFill>
                <a:latin typeface="Cambria"/>
                <a:ea typeface="Cambria"/>
              </a:rPr>
              <a:t>Agenda</a:t>
            </a:r>
            <a:endParaRPr lang="en-US" sz="2400">
              <a:solidFill>
                <a:prstClr val="black"/>
              </a:solidFill>
              <a:latin typeface="Calibri" panose="020F0502020204030204"/>
            </a:endParaRPr>
          </a:p>
        </p:txBody>
      </p:sp>
      <p:sp>
        <p:nvSpPr>
          <p:cNvPr id="15" name="Shape 6">
            <a:extLst>
              <a:ext uri="{FF2B5EF4-FFF2-40B4-BE49-F238E27FC236}">
                <a16:creationId xmlns:a16="http://schemas.microsoft.com/office/drawing/2014/main" id="{00770241-BEA0-21FA-5F9B-394AABADE05C}"/>
              </a:ext>
            </a:extLst>
          </p:cNvPr>
          <p:cNvSpPr/>
          <p:nvPr/>
        </p:nvSpPr>
        <p:spPr>
          <a:xfrm>
            <a:off x="550164" y="1133856"/>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7" name="Shape 7">
            <a:extLst>
              <a:ext uri="{FF2B5EF4-FFF2-40B4-BE49-F238E27FC236}">
                <a16:creationId xmlns:a16="http://schemas.microsoft.com/office/drawing/2014/main" id="{ECD47354-9EFC-A722-D281-BF0AAA5EEF5D}"/>
              </a:ext>
            </a:extLst>
          </p:cNvPr>
          <p:cNvSpPr/>
          <p:nvPr/>
        </p:nvSpPr>
        <p:spPr>
          <a:xfrm>
            <a:off x="778764" y="1271016"/>
            <a:ext cx="301752" cy="301752"/>
          </a:xfrm>
          <a:prstGeom prst="ellipse">
            <a:avLst/>
          </a:prstGeom>
          <a:solidFill>
            <a:srgbClr val="1E2761"/>
          </a:solidFill>
          <a:ln/>
        </p:spPr>
        <p:txBody>
          <a:bodyPr/>
          <a:lstStyle/>
          <a:p>
            <a:endParaRPr lang="en-PH"/>
          </a:p>
        </p:txBody>
      </p:sp>
      <p:sp>
        <p:nvSpPr>
          <p:cNvPr id="19" name="Text 8">
            <a:extLst>
              <a:ext uri="{FF2B5EF4-FFF2-40B4-BE49-F238E27FC236}">
                <a16:creationId xmlns:a16="http://schemas.microsoft.com/office/drawing/2014/main" id="{BE1EF9E5-EFA0-8D20-5AD8-9D56B86FB6CB}"/>
              </a:ext>
            </a:extLst>
          </p:cNvPr>
          <p:cNvSpPr txBox="1"/>
          <p:nvPr/>
        </p:nvSpPr>
        <p:spPr>
          <a:xfrm>
            <a:off x="778764" y="1271016"/>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9">
            <a:extLst>
              <a:ext uri="{FF2B5EF4-FFF2-40B4-BE49-F238E27FC236}">
                <a16:creationId xmlns:a16="http://schemas.microsoft.com/office/drawing/2014/main" id="{C3325F8E-8B43-30BA-339F-BFCCB4DCBAB3}"/>
              </a:ext>
            </a:extLst>
          </p:cNvPr>
          <p:cNvSpPr txBox="1"/>
          <p:nvPr/>
        </p:nvSpPr>
        <p:spPr>
          <a:xfrm>
            <a:off x="1235964" y="1133856"/>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The proposal</a:t>
            </a:r>
            <a:endParaRPr lang="en-US" sz="1350" dirty="0"/>
          </a:p>
        </p:txBody>
      </p:sp>
      <p:sp>
        <p:nvSpPr>
          <p:cNvPr id="23" name="Text 10">
            <a:extLst>
              <a:ext uri="{FF2B5EF4-FFF2-40B4-BE49-F238E27FC236}">
                <a16:creationId xmlns:a16="http://schemas.microsoft.com/office/drawing/2014/main" id="{4C0BC426-974F-1791-D8EF-04E848744899}"/>
              </a:ext>
            </a:extLst>
          </p:cNvPr>
          <p:cNvSpPr txBox="1"/>
          <p:nvPr/>
        </p:nvSpPr>
        <p:spPr>
          <a:xfrm>
            <a:off x="4527804" y="1133856"/>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Two dashboards as the MVP for this release</a:t>
            </a:r>
            <a:endParaRPr lang="en-US" sz="1150" dirty="0"/>
          </a:p>
        </p:txBody>
      </p:sp>
      <p:sp>
        <p:nvSpPr>
          <p:cNvPr id="25" name="Shape 11">
            <a:extLst>
              <a:ext uri="{FF2B5EF4-FFF2-40B4-BE49-F238E27FC236}">
                <a16:creationId xmlns:a16="http://schemas.microsoft.com/office/drawing/2014/main" id="{AA002C18-44F3-02C6-3798-AF1B8D2B454F}"/>
              </a:ext>
            </a:extLst>
          </p:cNvPr>
          <p:cNvSpPr/>
          <p:nvPr/>
        </p:nvSpPr>
        <p:spPr>
          <a:xfrm>
            <a:off x="550164" y="1792224"/>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7" name="Shape 12">
            <a:extLst>
              <a:ext uri="{FF2B5EF4-FFF2-40B4-BE49-F238E27FC236}">
                <a16:creationId xmlns:a16="http://schemas.microsoft.com/office/drawing/2014/main" id="{897BB28F-B383-6160-5C63-8B8164A835D5}"/>
              </a:ext>
            </a:extLst>
          </p:cNvPr>
          <p:cNvSpPr/>
          <p:nvPr/>
        </p:nvSpPr>
        <p:spPr>
          <a:xfrm>
            <a:off x="778764" y="1929384"/>
            <a:ext cx="301752" cy="301752"/>
          </a:xfrm>
          <a:prstGeom prst="ellipse">
            <a:avLst/>
          </a:prstGeom>
          <a:solidFill>
            <a:srgbClr val="1E2761"/>
          </a:solidFill>
          <a:ln/>
        </p:spPr>
        <p:txBody>
          <a:bodyPr/>
          <a:lstStyle/>
          <a:p>
            <a:endParaRPr lang="en-PH"/>
          </a:p>
        </p:txBody>
      </p:sp>
      <p:sp>
        <p:nvSpPr>
          <p:cNvPr id="29" name="Text 13">
            <a:extLst>
              <a:ext uri="{FF2B5EF4-FFF2-40B4-BE49-F238E27FC236}">
                <a16:creationId xmlns:a16="http://schemas.microsoft.com/office/drawing/2014/main" id="{0242A212-7849-8E30-0B0B-DCEBF1063561}"/>
              </a:ext>
            </a:extLst>
          </p:cNvPr>
          <p:cNvSpPr txBox="1"/>
          <p:nvPr/>
        </p:nvSpPr>
        <p:spPr>
          <a:xfrm>
            <a:off x="778764" y="1929384"/>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14">
            <a:extLst>
              <a:ext uri="{FF2B5EF4-FFF2-40B4-BE49-F238E27FC236}">
                <a16:creationId xmlns:a16="http://schemas.microsoft.com/office/drawing/2014/main" id="{19F1F513-7E96-0B40-6F57-67F74B423355}"/>
              </a:ext>
            </a:extLst>
          </p:cNvPr>
          <p:cNvSpPr txBox="1"/>
          <p:nvPr/>
        </p:nvSpPr>
        <p:spPr>
          <a:xfrm>
            <a:off x="1235964" y="1792224"/>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The data we have today</a:t>
            </a:r>
            <a:endParaRPr lang="en-US" sz="1350" dirty="0"/>
          </a:p>
        </p:txBody>
      </p:sp>
      <p:sp>
        <p:nvSpPr>
          <p:cNvPr id="33" name="Text 15">
            <a:extLst>
              <a:ext uri="{FF2B5EF4-FFF2-40B4-BE49-F238E27FC236}">
                <a16:creationId xmlns:a16="http://schemas.microsoft.com/office/drawing/2014/main" id="{C7CB5B7F-B146-1E86-03D6-CBD0F8CA9F85}"/>
              </a:ext>
            </a:extLst>
          </p:cNvPr>
          <p:cNvSpPr txBox="1"/>
          <p:nvPr/>
        </p:nvSpPr>
        <p:spPr>
          <a:xfrm>
            <a:off x="4527804" y="1792224"/>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Four sources, what each gives us, how each is produced</a:t>
            </a:r>
            <a:endParaRPr lang="en-US" sz="1150" dirty="0"/>
          </a:p>
        </p:txBody>
      </p:sp>
      <p:sp>
        <p:nvSpPr>
          <p:cNvPr id="35" name="Shape 16">
            <a:extLst>
              <a:ext uri="{FF2B5EF4-FFF2-40B4-BE49-F238E27FC236}">
                <a16:creationId xmlns:a16="http://schemas.microsoft.com/office/drawing/2014/main" id="{C20B2032-FB0B-9EA5-FCEE-83718171A68F}"/>
              </a:ext>
            </a:extLst>
          </p:cNvPr>
          <p:cNvSpPr/>
          <p:nvPr/>
        </p:nvSpPr>
        <p:spPr>
          <a:xfrm>
            <a:off x="550164" y="2450592"/>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37" name="Shape 17">
            <a:extLst>
              <a:ext uri="{FF2B5EF4-FFF2-40B4-BE49-F238E27FC236}">
                <a16:creationId xmlns:a16="http://schemas.microsoft.com/office/drawing/2014/main" id="{D8B37D04-441B-9246-C788-56A065DA1722}"/>
              </a:ext>
            </a:extLst>
          </p:cNvPr>
          <p:cNvSpPr/>
          <p:nvPr/>
        </p:nvSpPr>
        <p:spPr>
          <a:xfrm>
            <a:off x="778764" y="2587752"/>
            <a:ext cx="301752" cy="301752"/>
          </a:xfrm>
          <a:prstGeom prst="ellipse">
            <a:avLst/>
          </a:prstGeom>
          <a:solidFill>
            <a:srgbClr val="1E2761"/>
          </a:solidFill>
          <a:ln/>
        </p:spPr>
        <p:txBody>
          <a:bodyPr/>
          <a:lstStyle/>
          <a:p>
            <a:endParaRPr lang="en-PH"/>
          </a:p>
        </p:txBody>
      </p:sp>
      <p:sp>
        <p:nvSpPr>
          <p:cNvPr id="39" name="Text 18">
            <a:extLst>
              <a:ext uri="{FF2B5EF4-FFF2-40B4-BE49-F238E27FC236}">
                <a16:creationId xmlns:a16="http://schemas.microsoft.com/office/drawing/2014/main" id="{4DEC6DD2-D50F-BE67-EE73-C847A6E3171C}"/>
              </a:ext>
            </a:extLst>
          </p:cNvPr>
          <p:cNvSpPr txBox="1"/>
          <p:nvPr/>
        </p:nvSpPr>
        <p:spPr>
          <a:xfrm>
            <a:off x="778764" y="2587752"/>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19">
            <a:extLst>
              <a:ext uri="{FF2B5EF4-FFF2-40B4-BE49-F238E27FC236}">
                <a16:creationId xmlns:a16="http://schemas.microsoft.com/office/drawing/2014/main" id="{017AEDB8-DECC-6D40-DFCB-2FCF7F0212DC}"/>
              </a:ext>
            </a:extLst>
          </p:cNvPr>
          <p:cNvSpPr txBox="1"/>
          <p:nvPr/>
        </p:nvSpPr>
        <p:spPr>
          <a:xfrm>
            <a:off x="1235964" y="2450592"/>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Feeding and maintaining the report</a:t>
            </a:r>
            <a:endParaRPr lang="en-US" sz="1350" dirty="0"/>
          </a:p>
        </p:txBody>
      </p:sp>
      <p:sp>
        <p:nvSpPr>
          <p:cNvPr id="43" name="Text 20">
            <a:extLst>
              <a:ext uri="{FF2B5EF4-FFF2-40B4-BE49-F238E27FC236}">
                <a16:creationId xmlns:a16="http://schemas.microsoft.com/office/drawing/2014/main" id="{2E3DF869-1098-5B54-FF91-0F0B39503FC9}"/>
              </a:ext>
            </a:extLst>
          </p:cNvPr>
          <p:cNvSpPr txBox="1"/>
          <p:nvPr/>
        </p:nvSpPr>
        <p:spPr>
          <a:xfrm>
            <a:off x="4527804" y="2450592"/>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How the sources reach the report and who keeps them current</a:t>
            </a:r>
            <a:endParaRPr lang="en-US" sz="1150" dirty="0"/>
          </a:p>
        </p:txBody>
      </p:sp>
      <p:sp>
        <p:nvSpPr>
          <p:cNvPr id="45" name="Shape 21">
            <a:extLst>
              <a:ext uri="{FF2B5EF4-FFF2-40B4-BE49-F238E27FC236}">
                <a16:creationId xmlns:a16="http://schemas.microsoft.com/office/drawing/2014/main" id="{8DBD48AD-B7DC-3C7F-9284-A9489C2C2ECD}"/>
              </a:ext>
            </a:extLst>
          </p:cNvPr>
          <p:cNvSpPr/>
          <p:nvPr/>
        </p:nvSpPr>
        <p:spPr>
          <a:xfrm>
            <a:off x="550164" y="3108960"/>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7" name="Shape 22">
            <a:extLst>
              <a:ext uri="{FF2B5EF4-FFF2-40B4-BE49-F238E27FC236}">
                <a16:creationId xmlns:a16="http://schemas.microsoft.com/office/drawing/2014/main" id="{68625597-660E-52C9-0F10-E0783C2DB54E}"/>
              </a:ext>
            </a:extLst>
          </p:cNvPr>
          <p:cNvSpPr/>
          <p:nvPr/>
        </p:nvSpPr>
        <p:spPr>
          <a:xfrm>
            <a:off x="778764" y="3246120"/>
            <a:ext cx="301752" cy="301752"/>
          </a:xfrm>
          <a:prstGeom prst="ellipse">
            <a:avLst/>
          </a:prstGeom>
          <a:solidFill>
            <a:srgbClr val="1E2761"/>
          </a:solidFill>
          <a:ln/>
        </p:spPr>
        <p:txBody>
          <a:bodyPr/>
          <a:lstStyle/>
          <a:p>
            <a:endParaRPr lang="en-PH"/>
          </a:p>
        </p:txBody>
      </p:sp>
      <p:sp>
        <p:nvSpPr>
          <p:cNvPr id="49" name="Text 23">
            <a:extLst>
              <a:ext uri="{FF2B5EF4-FFF2-40B4-BE49-F238E27FC236}">
                <a16:creationId xmlns:a16="http://schemas.microsoft.com/office/drawing/2014/main" id="{99CB79D4-A8CC-7E87-8E4B-525454945F8A}"/>
              </a:ext>
            </a:extLst>
          </p:cNvPr>
          <p:cNvSpPr txBox="1"/>
          <p:nvPr/>
        </p:nvSpPr>
        <p:spPr>
          <a:xfrm>
            <a:off x="778764" y="324612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24">
            <a:extLst>
              <a:ext uri="{FF2B5EF4-FFF2-40B4-BE49-F238E27FC236}">
                <a16:creationId xmlns:a16="http://schemas.microsoft.com/office/drawing/2014/main" id="{041578F2-8DEB-BD0C-9AD7-4750CB5801EE}"/>
              </a:ext>
            </a:extLst>
          </p:cNvPr>
          <p:cNvSpPr txBox="1"/>
          <p:nvPr/>
        </p:nvSpPr>
        <p:spPr>
          <a:xfrm>
            <a:off x="1235964" y="3108960"/>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Bank-wide Oversight</a:t>
            </a:r>
            <a:endParaRPr lang="en-US" sz="1350" dirty="0"/>
          </a:p>
        </p:txBody>
      </p:sp>
      <p:sp>
        <p:nvSpPr>
          <p:cNvPr id="53" name="Text 25">
            <a:extLst>
              <a:ext uri="{FF2B5EF4-FFF2-40B4-BE49-F238E27FC236}">
                <a16:creationId xmlns:a16="http://schemas.microsoft.com/office/drawing/2014/main" id="{10BA7B96-B509-33C2-EECE-96390A56BB0F}"/>
              </a:ext>
            </a:extLst>
          </p:cNvPr>
          <p:cNvSpPr txBox="1"/>
          <p:nvPr/>
        </p:nvSpPr>
        <p:spPr>
          <a:xfrm>
            <a:off x="4527804" y="3108960"/>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55" name="Shape 26">
            <a:extLst>
              <a:ext uri="{FF2B5EF4-FFF2-40B4-BE49-F238E27FC236}">
                <a16:creationId xmlns:a16="http://schemas.microsoft.com/office/drawing/2014/main" id="{C49A35FB-F975-346A-324A-1915A0DCCEE3}"/>
              </a:ext>
            </a:extLst>
          </p:cNvPr>
          <p:cNvSpPr/>
          <p:nvPr/>
        </p:nvSpPr>
        <p:spPr>
          <a:xfrm>
            <a:off x="550164" y="3767328"/>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57" name="Shape 27">
            <a:extLst>
              <a:ext uri="{FF2B5EF4-FFF2-40B4-BE49-F238E27FC236}">
                <a16:creationId xmlns:a16="http://schemas.microsoft.com/office/drawing/2014/main" id="{0B2712B4-F8DE-181D-1C66-29B8F590B701}"/>
              </a:ext>
            </a:extLst>
          </p:cNvPr>
          <p:cNvSpPr/>
          <p:nvPr/>
        </p:nvSpPr>
        <p:spPr>
          <a:xfrm>
            <a:off x="778764" y="3904488"/>
            <a:ext cx="301752" cy="301752"/>
          </a:xfrm>
          <a:prstGeom prst="ellipse">
            <a:avLst/>
          </a:prstGeom>
          <a:solidFill>
            <a:srgbClr val="1E2761"/>
          </a:solidFill>
          <a:ln/>
        </p:spPr>
        <p:txBody>
          <a:bodyPr/>
          <a:lstStyle/>
          <a:p>
            <a:endParaRPr lang="en-PH"/>
          </a:p>
        </p:txBody>
      </p:sp>
      <p:sp>
        <p:nvSpPr>
          <p:cNvPr id="59" name="Text 28">
            <a:extLst>
              <a:ext uri="{FF2B5EF4-FFF2-40B4-BE49-F238E27FC236}">
                <a16:creationId xmlns:a16="http://schemas.microsoft.com/office/drawing/2014/main" id="{73E64A67-9731-9A67-65D1-3C59852EE243}"/>
              </a:ext>
            </a:extLst>
          </p:cNvPr>
          <p:cNvSpPr txBox="1"/>
          <p:nvPr/>
        </p:nvSpPr>
        <p:spPr>
          <a:xfrm>
            <a:off x="778764" y="3904488"/>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Text 29">
            <a:extLst>
              <a:ext uri="{FF2B5EF4-FFF2-40B4-BE49-F238E27FC236}">
                <a16:creationId xmlns:a16="http://schemas.microsoft.com/office/drawing/2014/main" id="{6692B72C-90BA-F709-41C4-20F2978905DE}"/>
              </a:ext>
            </a:extLst>
          </p:cNvPr>
          <p:cNvSpPr txBox="1"/>
          <p:nvPr/>
        </p:nvSpPr>
        <p:spPr>
          <a:xfrm>
            <a:off x="1235964" y="3767328"/>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Department Insights</a:t>
            </a:r>
            <a:endParaRPr lang="en-US" sz="1350" dirty="0"/>
          </a:p>
        </p:txBody>
      </p:sp>
      <p:sp>
        <p:nvSpPr>
          <p:cNvPr id="63" name="Text 30">
            <a:extLst>
              <a:ext uri="{FF2B5EF4-FFF2-40B4-BE49-F238E27FC236}">
                <a16:creationId xmlns:a16="http://schemas.microsoft.com/office/drawing/2014/main" id="{26512EC2-400B-F365-C1AC-ADBC08179144}"/>
              </a:ext>
            </a:extLst>
          </p:cNvPr>
          <p:cNvSpPr txBox="1"/>
          <p:nvPr/>
        </p:nvSpPr>
        <p:spPr>
          <a:xfrm>
            <a:off x="4527804" y="3767328"/>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65" name="Shape 31">
            <a:extLst>
              <a:ext uri="{FF2B5EF4-FFF2-40B4-BE49-F238E27FC236}">
                <a16:creationId xmlns:a16="http://schemas.microsoft.com/office/drawing/2014/main" id="{32B14E05-D099-B494-9892-0012B926B848}"/>
              </a:ext>
            </a:extLst>
          </p:cNvPr>
          <p:cNvSpPr/>
          <p:nvPr/>
        </p:nvSpPr>
        <p:spPr>
          <a:xfrm>
            <a:off x="550164" y="4425696"/>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67" name="Shape 32">
            <a:extLst>
              <a:ext uri="{FF2B5EF4-FFF2-40B4-BE49-F238E27FC236}">
                <a16:creationId xmlns:a16="http://schemas.microsoft.com/office/drawing/2014/main" id="{0E37F55E-12CA-A8B2-F612-E9C66D8E3038}"/>
              </a:ext>
            </a:extLst>
          </p:cNvPr>
          <p:cNvSpPr/>
          <p:nvPr/>
        </p:nvSpPr>
        <p:spPr>
          <a:xfrm>
            <a:off x="778764" y="4562856"/>
            <a:ext cx="301752" cy="301752"/>
          </a:xfrm>
          <a:prstGeom prst="ellipse">
            <a:avLst/>
          </a:prstGeom>
          <a:solidFill>
            <a:srgbClr val="1E2761"/>
          </a:solidFill>
          <a:ln/>
        </p:spPr>
        <p:txBody>
          <a:bodyPr/>
          <a:lstStyle/>
          <a:p>
            <a:endParaRPr lang="en-PH"/>
          </a:p>
        </p:txBody>
      </p:sp>
      <p:sp>
        <p:nvSpPr>
          <p:cNvPr id="69" name="Text 33">
            <a:extLst>
              <a:ext uri="{FF2B5EF4-FFF2-40B4-BE49-F238E27FC236}">
                <a16:creationId xmlns:a16="http://schemas.microsoft.com/office/drawing/2014/main" id="{45FF7FC0-809E-F005-CBD8-CC05D5EEC7BE}"/>
              </a:ext>
            </a:extLst>
          </p:cNvPr>
          <p:cNvSpPr txBox="1"/>
          <p:nvPr/>
        </p:nvSpPr>
        <p:spPr>
          <a:xfrm>
            <a:off x="778764" y="4562856"/>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1" name="Text 34">
            <a:extLst>
              <a:ext uri="{FF2B5EF4-FFF2-40B4-BE49-F238E27FC236}">
                <a16:creationId xmlns:a16="http://schemas.microsoft.com/office/drawing/2014/main" id="{39F8C53C-DD23-0C84-BEB2-9B2F6764FF72}"/>
              </a:ext>
            </a:extLst>
          </p:cNvPr>
          <p:cNvSpPr txBox="1"/>
          <p:nvPr/>
        </p:nvSpPr>
        <p:spPr>
          <a:xfrm>
            <a:off x="1235964" y="4425696"/>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Terminology to confirm</a:t>
            </a:r>
            <a:endParaRPr lang="en-US" sz="1350" dirty="0"/>
          </a:p>
        </p:txBody>
      </p:sp>
      <p:sp>
        <p:nvSpPr>
          <p:cNvPr id="73" name="Text 35">
            <a:extLst>
              <a:ext uri="{FF2B5EF4-FFF2-40B4-BE49-F238E27FC236}">
                <a16:creationId xmlns:a16="http://schemas.microsoft.com/office/drawing/2014/main" id="{D48BB262-6D74-86AB-8493-4C79FA9A1F5E}"/>
              </a:ext>
            </a:extLst>
          </p:cNvPr>
          <p:cNvSpPr txBox="1"/>
          <p:nvPr/>
        </p:nvSpPr>
        <p:spPr>
          <a:xfrm>
            <a:off x="4527804" y="4425696"/>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Words that change the figure depending on how you read them</a:t>
            </a:r>
            <a:endParaRPr lang="en-US" sz="1150" dirty="0"/>
          </a:p>
        </p:txBody>
      </p:sp>
      <p:sp>
        <p:nvSpPr>
          <p:cNvPr id="75" name="Shape 36">
            <a:extLst>
              <a:ext uri="{FF2B5EF4-FFF2-40B4-BE49-F238E27FC236}">
                <a16:creationId xmlns:a16="http://schemas.microsoft.com/office/drawing/2014/main" id="{B29181BD-2E82-D8C1-A3DC-20C3CF006BB4}"/>
              </a:ext>
            </a:extLst>
          </p:cNvPr>
          <p:cNvSpPr/>
          <p:nvPr/>
        </p:nvSpPr>
        <p:spPr>
          <a:xfrm>
            <a:off x="550164" y="5084064"/>
            <a:ext cx="11091672" cy="576072"/>
          </a:xfrm>
          <a:prstGeom prst="roundRect">
            <a:avLst>
              <a:gd name="adj" fmla="val 9524"/>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77" name="Shape 37">
            <a:extLst>
              <a:ext uri="{FF2B5EF4-FFF2-40B4-BE49-F238E27FC236}">
                <a16:creationId xmlns:a16="http://schemas.microsoft.com/office/drawing/2014/main" id="{59BD658A-DA18-6508-AA86-2D212081CD32}"/>
              </a:ext>
            </a:extLst>
          </p:cNvPr>
          <p:cNvSpPr/>
          <p:nvPr/>
        </p:nvSpPr>
        <p:spPr>
          <a:xfrm>
            <a:off x="778764" y="5221224"/>
            <a:ext cx="301752" cy="301752"/>
          </a:xfrm>
          <a:prstGeom prst="ellipse">
            <a:avLst/>
          </a:prstGeom>
          <a:solidFill>
            <a:srgbClr val="1E2761"/>
          </a:solidFill>
          <a:ln/>
        </p:spPr>
        <p:txBody>
          <a:bodyPr/>
          <a:lstStyle/>
          <a:p>
            <a:endParaRPr lang="en-PH"/>
          </a:p>
        </p:txBody>
      </p:sp>
      <p:sp>
        <p:nvSpPr>
          <p:cNvPr id="79" name="Text 38">
            <a:extLst>
              <a:ext uri="{FF2B5EF4-FFF2-40B4-BE49-F238E27FC236}">
                <a16:creationId xmlns:a16="http://schemas.microsoft.com/office/drawing/2014/main" id="{167F6F3F-1BF7-A226-CA59-D776D95E3566}"/>
              </a:ext>
            </a:extLst>
          </p:cNvPr>
          <p:cNvSpPr txBox="1"/>
          <p:nvPr/>
        </p:nvSpPr>
        <p:spPr>
          <a:xfrm>
            <a:off x="778764" y="5221224"/>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81" name="Text 39">
            <a:extLst>
              <a:ext uri="{FF2B5EF4-FFF2-40B4-BE49-F238E27FC236}">
                <a16:creationId xmlns:a16="http://schemas.microsoft.com/office/drawing/2014/main" id="{7508D1F4-0432-5A14-35B2-E1D63B41897B}"/>
              </a:ext>
            </a:extLst>
          </p:cNvPr>
          <p:cNvSpPr txBox="1"/>
          <p:nvPr/>
        </p:nvSpPr>
        <p:spPr>
          <a:xfrm>
            <a:off x="1235964" y="5084064"/>
            <a:ext cx="3200400" cy="576072"/>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Next steps and decisions</a:t>
            </a:r>
            <a:endParaRPr lang="en-US" sz="1350" dirty="0"/>
          </a:p>
        </p:txBody>
      </p:sp>
      <p:sp>
        <p:nvSpPr>
          <p:cNvPr id="83" name="Text 40">
            <a:extLst>
              <a:ext uri="{FF2B5EF4-FFF2-40B4-BE49-F238E27FC236}">
                <a16:creationId xmlns:a16="http://schemas.microsoft.com/office/drawing/2014/main" id="{6D26785F-9830-669F-B4C4-C4C1E6998EA4}"/>
              </a:ext>
            </a:extLst>
          </p:cNvPr>
          <p:cNvSpPr txBox="1"/>
          <p:nvPr/>
        </p:nvSpPr>
        <p:spPr>
          <a:xfrm>
            <a:off x="4527804" y="5084064"/>
            <a:ext cx="6858000" cy="576072"/>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What we need from each party, and by when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7FDFB-B9F7-2970-8667-D63602B3305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26A5F39-AB81-5B70-9635-51634A4A9989}"/>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Two dashboards as the MVP for this release</a:t>
            </a:r>
            <a:endParaRPr lang="en-US" sz="3600" dirty="0"/>
          </a:p>
        </p:txBody>
      </p:sp>
      <p:sp>
        <p:nvSpPr>
          <p:cNvPr id="3" name="Text 2">
            <a:extLst>
              <a:ext uri="{FF2B5EF4-FFF2-40B4-BE49-F238E27FC236}">
                <a16:creationId xmlns:a16="http://schemas.microsoft.com/office/drawing/2014/main" id="{B80F2932-7E21-734A-1991-D004F5081383}"/>
              </a:ext>
            </a:extLst>
          </p:cNvPr>
          <p:cNvSpPr txBox="1"/>
          <p:nvPr/>
        </p:nvSpPr>
        <p:spPr>
          <a:xfrm>
            <a:off x="397764" y="84124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Nothing is removed from scope. The remaining four are parked for a future release.</a:t>
            </a:r>
            <a:endParaRPr lang="en-US" sz="1250" dirty="0"/>
          </a:p>
        </p:txBody>
      </p:sp>
      <p:sp>
        <p:nvSpPr>
          <p:cNvPr id="8" name="Shape 3">
            <a:extLst>
              <a:ext uri="{FF2B5EF4-FFF2-40B4-BE49-F238E27FC236}">
                <a16:creationId xmlns:a16="http://schemas.microsoft.com/office/drawing/2014/main" id="{E80B0500-A40D-DA02-5B62-14BDB6FFA2AD}"/>
              </a:ext>
            </a:extLst>
          </p:cNvPr>
          <p:cNvSpPr/>
          <p:nvPr/>
        </p:nvSpPr>
        <p:spPr>
          <a:xfrm>
            <a:off x="397764" y="1261872"/>
            <a:ext cx="5577840" cy="2331720"/>
          </a:xfrm>
          <a:prstGeom prst="roundRect">
            <a:avLst>
              <a:gd name="adj" fmla="val 235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2" name="Text 4">
            <a:extLst>
              <a:ext uri="{FF2B5EF4-FFF2-40B4-BE49-F238E27FC236}">
                <a16:creationId xmlns:a16="http://schemas.microsoft.com/office/drawing/2014/main" id="{EC1201CA-0463-1DB4-C5AD-ED1010618A18}"/>
              </a:ext>
            </a:extLst>
          </p:cNvPr>
          <p:cNvSpPr txBox="1"/>
          <p:nvPr/>
        </p:nvSpPr>
        <p:spPr>
          <a:xfrm>
            <a:off x="717804" y="1444752"/>
            <a:ext cx="4937760" cy="219456"/>
          </a:xfrm>
          <a:prstGeom prst="rect">
            <a:avLst/>
          </a:prstGeom>
          <a:noFill/>
          <a:ln/>
        </p:spPr>
        <p:txBody>
          <a:bodyPr wrap="square" lIns="0" tIns="0" rIns="0" bIns="0" rtlCol="0" anchor="ctr"/>
          <a:lstStyle/>
          <a:p>
            <a:pPr marL="0" indent="0">
              <a:buNone/>
            </a:pPr>
            <a:r>
              <a:rPr lang="en-US" sz="1000" b="1" kern="0" spc="140" dirty="0">
                <a:solidFill>
                  <a:srgbClr val="6B7A90"/>
                </a:solidFill>
                <a:latin typeface="Calibri" pitchFamily="34" charset="0"/>
                <a:ea typeface="Calibri" pitchFamily="34" charset="-122"/>
                <a:cs typeface="Calibri" pitchFamily="34" charset="-120"/>
              </a:rPr>
              <a:t>IN THIS RELEASE</a:t>
            </a:r>
            <a:endParaRPr lang="en-US" sz="1000" dirty="0"/>
          </a:p>
        </p:txBody>
      </p:sp>
      <p:sp>
        <p:nvSpPr>
          <p:cNvPr id="16" name="Shape 5">
            <a:extLst>
              <a:ext uri="{FF2B5EF4-FFF2-40B4-BE49-F238E27FC236}">
                <a16:creationId xmlns:a16="http://schemas.microsoft.com/office/drawing/2014/main" id="{1C0171DD-CC10-C335-6FFB-EE3957AFE651}"/>
              </a:ext>
            </a:extLst>
          </p:cNvPr>
          <p:cNvSpPr/>
          <p:nvPr/>
        </p:nvSpPr>
        <p:spPr>
          <a:xfrm>
            <a:off x="717804" y="1783080"/>
            <a:ext cx="329184" cy="329184"/>
          </a:xfrm>
          <a:prstGeom prst="ellipse">
            <a:avLst/>
          </a:prstGeom>
          <a:solidFill>
            <a:srgbClr val="1E2761"/>
          </a:solidFill>
          <a:ln/>
        </p:spPr>
        <p:txBody>
          <a:bodyPr/>
          <a:lstStyle/>
          <a:p>
            <a:endParaRPr lang="en-PH"/>
          </a:p>
        </p:txBody>
      </p:sp>
      <p:sp>
        <p:nvSpPr>
          <p:cNvPr id="20" name="Text 6">
            <a:extLst>
              <a:ext uri="{FF2B5EF4-FFF2-40B4-BE49-F238E27FC236}">
                <a16:creationId xmlns:a16="http://schemas.microsoft.com/office/drawing/2014/main" id="{358C7936-1487-6BA1-1E43-4E1B88DD607D}"/>
              </a:ext>
            </a:extLst>
          </p:cNvPr>
          <p:cNvSpPr txBox="1"/>
          <p:nvPr/>
        </p:nvSpPr>
        <p:spPr>
          <a:xfrm>
            <a:off x="717804" y="178308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7">
            <a:extLst>
              <a:ext uri="{FF2B5EF4-FFF2-40B4-BE49-F238E27FC236}">
                <a16:creationId xmlns:a16="http://schemas.microsoft.com/office/drawing/2014/main" id="{912921D4-15B0-3EB5-53BB-386575186DD9}"/>
              </a:ext>
            </a:extLst>
          </p:cNvPr>
          <p:cNvSpPr txBox="1"/>
          <p:nvPr/>
        </p:nvSpPr>
        <p:spPr>
          <a:xfrm>
            <a:off x="1202436" y="1783080"/>
            <a:ext cx="448056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Bank-wide Oversight</a:t>
            </a:r>
            <a:endParaRPr lang="en-US" sz="1500" dirty="0"/>
          </a:p>
        </p:txBody>
      </p:sp>
      <p:sp>
        <p:nvSpPr>
          <p:cNvPr id="28" name="Shape 8">
            <a:extLst>
              <a:ext uri="{FF2B5EF4-FFF2-40B4-BE49-F238E27FC236}">
                <a16:creationId xmlns:a16="http://schemas.microsoft.com/office/drawing/2014/main" id="{6A0D1ED0-0ABF-5452-4EAA-2BEE519ED78D}"/>
              </a:ext>
            </a:extLst>
          </p:cNvPr>
          <p:cNvSpPr/>
          <p:nvPr/>
        </p:nvSpPr>
        <p:spPr>
          <a:xfrm>
            <a:off x="717804" y="2331720"/>
            <a:ext cx="329184" cy="329184"/>
          </a:xfrm>
          <a:prstGeom prst="ellipse">
            <a:avLst/>
          </a:prstGeom>
          <a:solidFill>
            <a:srgbClr val="1E2761"/>
          </a:solidFill>
          <a:ln/>
        </p:spPr>
        <p:txBody>
          <a:bodyPr/>
          <a:lstStyle/>
          <a:p>
            <a:endParaRPr lang="en-PH"/>
          </a:p>
        </p:txBody>
      </p:sp>
      <p:sp>
        <p:nvSpPr>
          <p:cNvPr id="32" name="Text 9">
            <a:extLst>
              <a:ext uri="{FF2B5EF4-FFF2-40B4-BE49-F238E27FC236}">
                <a16:creationId xmlns:a16="http://schemas.microsoft.com/office/drawing/2014/main" id="{ACC8E64D-2470-1430-C302-1E311565C26C}"/>
              </a:ext>
            </a:extLst>
          </p:cNvPr>
          <p:cNvSpPr txBox="1"/>
          <p:nvPr/>
        </p:nvSpPr>
        <p:spPr>
          <a:xfrm>
            <a:off x="717804" y="23317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10">
            <a:extLst>
              <a:ext uri="{FF2B5EF4-FFF2-40B4-BE49-F238E27FC236}">
                <a16:creationId xmlns:a16="http://schemas.microsoft.com/office/drawing/2014/main" id="{E3A1CB64-1964-88A0-DD41-6808EDD3D526}"/>
              </a:ext>
            </a:extLst>
          </p:cNvPr>
          <p:cNvSpPr txBox="1"/>
          <p:nvPr/>
        </p:nvSpPr>
        <p:spPr>
          <a:xfrm>
            <a:off x="1202436" y="2331720"/>
            <a:ext cx="448056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Department Insights</a:t>
            </a:r>
            <a:endParaRPr lang="en-US" sz="1500" dirty="0"/>
          </a:p>
        </p:txBody>
      </p:sp>
      <p:sp>
        <p:nvSpPr>
          <p:cNvPr id="40" name="Text 11">
            <a:extLst>
              <a:ext uri="{FF2B5EF4-FFF2-40B4-BE49-F238E27FC236}">
                <a16:creationId xmlns:a16="http://schemas.microsoft.com/office/drawing/2014/main" id="{CF9AB9A6-459A-801A-AFA8-A02F2E1CF0B1}"/>
              </a:ext>
            </a:extLst>
          </p:cNvPr>
          <p:cNvSpPr txBox="1"/>
          <p:nvPr/>
        </p:nvSpPr>
        <p:spPr>
          <a:xfrm>
            <a:off x="717804" y="2907792"/>
            <a:ext cx="4937760" cy="621792"/>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Available from the sources we hold today</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The two the team most needs to use now</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Delivered to a finished standard, not a partial one</a:t>
            </a:r>
            <a:endParaRPr lang="en-US" sz="1150" dirty="0"/>
          </a:p>
        </p:txBody>
      </p:sp>
      <p:sp>
        <p:nvSpPr>
          <p:cNvPr id="44" name="Shape 12">
            <a:extLst>
              <a:ext uri="{FF2B5EF4-FFF2-40B4-BE49-F238E27FC236}">
                <a16:creationId xmlns:a16="http://schemas.microsoft.com/office/drawing/2014/main" id="{E2695AE9-49BF-6D52-9C6C-A0EC176124F7}"/>
              </a:ext>
            </a:extLst>
          </p:cNvPr>
          <p:cNvSpPr/>
          <p:nvPr/>
        </p:nvSpPr>
        <p:spPr>
          <a:xfrm>
            <a:off x="6185916" y="1261872"/>
            <a:ext cx="5303520" cy="2331720"/>
          </a:xfrm>
          <a:prstGeom prst="roundRect">
            <a:avLst>
              <a:gd name="adj" fmla="val 235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8" name="Text 13">
            <a:extLst>
              <a:ext uri="{FF2B5EF4-FFF2-40B4-BE49-F238E27FC236}">
                <a16:creationId xmlns:a16="http://schemas.microsoft.com/office/drawing/2014/main" id="{739435E1-3879-5BC6-6C3A-781FF0B6C0A8}"/>
              </a:ext>
            </a:extLst>
          </p:cNvPr>
          <p:cNvSpPr txBox="1"/>
          <p:nvPr/>
        </p:nvSpPr>
        <p:spPr>
          <a:xfrm>
            <a:off x="6505956" y="1444752"/>
            <a:ext cx="4663440" cy="219456"/>
          </a:xfrm>
          <a:prstGeom prst="rect">
            <a:avLst/>
          </a:prstGeom>
          <a:noFill/>
          <a:ln/>
        </p:spPr>
        <p:txBody>
          <a:bodyPr wrap="square" lIns="0" tIns="0" rIns="0" bIns="0" rtlCol="0" anchor="ctr"/>
          <a:lstStyle/>
          <a:p>
            <a:pPr marL="0" indent="0">
              <a:buNone/>
            </a:pPr>
            <a:r>
              <a:rPr lang="en-US" sz="1000" b="1" kern="0" spc="140" dirty="0">
                <a:solidFill>
                  <a:srgbClr val="6B7A90"/>
                </a:solidFill>
                <a:latin typeface="Calibri" pitchFamily="34" charset="0"/>
                <a:ea typeface="Calibri" pitchFamily="34" charset="-122"/>
                <a:cs typeface="Calibri" pitchFamily="34" charset="-120"/>
              </a:rPr>
              <a:t>PARKED, STILL IN SCOPE</a:t>
            </a:r>
            <a:endParaRPr lang="en-US" sz="1000" dirty="0"/>
          </a:p>
        </p:txBody>
      </p:sp>
      <p:sp>
        <p:nvSpPr>
          <p:cNvPr id="52" name="Text 14">
            <a:extLst>
              <a:ext uri="{FF2B5EF4-FFF2-40B4-BE49-F238E27FC236}">
                <a16:creationId xmlns:a16="http://schemas.microsoft.com/office/drawing/2014/main" id="{1464E37A-343D-8926-371C-B8897556B1C1}"/>
              </a:ext>
            </a:extLst>
          </p:cNvPr>
          <p:cNvSpPr txBox="1"/>
          <p:nvPr/>
        </p:nvSpPr>
        <p:spPr>
          <a:xfrm>
            <a:off x="6505956" y="1783080"/>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Project Insights</a:t>
            </a:r>
            <a:endParaRPr lang="en-US" sz="1200" dirty="0"/>
          </a:p>
        </p:txBody>
      </p:sp>
      <p:sp>
        <p:nvSpPr>
          <p:cNvPr id="56" name="Text 15">
            <a:extLst>
              <a:ext uri="{FF2B5EF4-FFF2-40B4-BE49-F238E27FC236}">
                <a16:creationId xmlns:a16="http://schemas.microsoft.com/office/drawing/2014/main" id="{CBC35EC9-047A-E9B0-1D32-72755B4588C8}"/>
              </a:ext>
            </a:extLst>
          </p:cNvPr>
          <p:cNvSpPr txBox="1"/>
          <p:nvPr/>
        </p:nvSpPr>
        <p:spPr>
          <a:xfrm>
            <a:off x="8901684" y="1783080"/>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Waits on a site to project register</a:t>
            </a:r>
            <a:endParaRPr lang="en-US" sz="1000" dirty="0"/>
          </a:p>
        </p:txBody>
      </p:sp>
      <p:sp>
        <p:nvSpPr>
          <p:cNvPr id="60" name="Text 16">
            <a:extLst>
              <a:ext uri="{FF2B5EF4-FFF2-40B4-BE49-F238E27FC236}">
                <a16:creationId xmlns:a16="http://schemas.microsoft.com/office/drawing/2014/main" id="{02B1DE99-1BF0-97DB-C0A0-A66212EACF10}"/>
              </a:ext>
            </a:extLst>
          </p:cNvPr>
          <p:cNvSpPr txBox="1"/>
          <p:nvPr/>
        </p:nvSpPr>
        <p:spPr>
          <a:xfrm>
            <a:off x="6505956" y="2203704"/>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Institutional File Plan</a:t>
            </a:r>
            <a:endParaRPr lang="en-US" sz="1200" dirty="0"/>
          </a:p>
        </p:txBody>
      </p:sp>
      <p:sp>
        <p:nvSpPr>
          <p:cNvPr id="64" name="Text 17">
            <a:extLst>
              <a:ext uri="{FF2B5EF4-FFF2-40B4-BE49-F238E27FC236}">
                <a16:creationId xmlns:a16="http://schemas.microsoft.com/office/drawing/2014/main" id="{4519F25D-C07C-A826-438A-199890DF6DCF}"/>
              </a:ext>
            </a:extLst>
          </p:cNvPr>
          <p:cNvSpPr txBox="1"/>
          <p:nvPr/>
        </p:nvSpPr>
        <p:spPr>
          <a:xfrm>
            <a:off x="8901684" y="2203704"/>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Waits on the file plan term list</a:t>
            </a:r>
            <a:endParaRPr lang="en-US" sz="1000" dirty="0"/>
          </a:p>
        </p:txBody>
      </p:sp>
      <p:sp>
        <p:nvSpPr>
          <p:cNvPr id="68" name="Text 18">
            <a:extLst>
              <a:ext uri="{FF2B5EF4-FFF2-40B4-BE49-F238E27FC236}">
                <a16:creationId xmlns:a16="http://schemas.microsoft.com/office/drawing/2014/main" id="{0CECDA11-1DA5-09E2-D298-7C638B34451D}"/>
              </a:ext>
            </a:extLst>
          </p:cNvPr>
          <p:cNvSpPr txBox="1"/>
          <p:nvPr/>
        </p:nvSpPr>
        <p:spPr>
          <a:xfrm>
            <a:off x="6505956" y="2624328"/>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Retention and Disposal</a:t>
            </a:r>
            <a:endParaRPr lang="en-US" sz="1200" dirty="0"/>
          </a:p>
        </p:txBody>
      </p:sp>
      <p:sp>
        <p:nvSpPr>
          <p:cNvPr id="72" name="Text 19">
            <a:extLst>
              <a:ext uri="{FF2B5EF4-FFF2-40B4-BE49-F238E27FC236}">
                <a16:creationId xmlns:a16="http://schemas.microsoft.com/office/drawing/2014/main" id="{E0F6AAF0-5D64-D693-72D1-C04545AB2E43}"/>
              </a:ext>
            </a:extLst>
          </p:cNvPr>
          <p:cNvSpPr txBox="1"/>
          <p:nvPr/>
        </p:nvSpPr>
        <p:spPr>
          <a:xfrm>
            <a:off x="8901684" y="2624328"/>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Retention works. Disposal has its own release</a:t>
            </a:r>
            <a:endParaRPr lang="en-US" sz="1000" dirty="0"/>
          </a:p>
        </p:txBody>
      </p:sp>
      <p:sp>
        <p:nvSpPr>
          <p:cNvPr id="76" name="Text 20">
            <a:extLst>
              <a:ext uri="{FF2B5EF4-FFF2-40B4-BE49-F238E27FC236}">
                <a16:creationId xmlns:a16="http://schemas.microsoft.com/office/drawing/2014/main" id="{A1111FF3-1989-62B8-466D-F9A06B07C425}"/>
              </a:ext>
            </a:extLst>
          </p:cNvPr>
          <p:cNvSpPr txBox="1"/>
          <p:nvPr/>
        </p:nvSpPr>
        <p:spPr>
          <a:xfrm>
            <a:off x="6505956" y="3044952"/>
            <a:ext cx="2331720" cy="402336"/>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Records and Archives Holdings</a:t>
            </a:r>
            <a:endParaRPr lang="en-US" sz="1200" dirty="0"/>
          </a:p>
        </p:txBody>
      </p:sp>
      <p:sp>
        <p:nvSpPr>
          <p:cNvPr id="80" name="Text 21">
            <a:extLst>
              <a:ext uri="{FF2B5EF4-FFF2-40B4-BE49-F238E27FC236}">
                <a16:creationId xmlns:a16="http://schemas.microsoft.com/office/drawing/2014/main" id="{B2B708AB-8B1E-1F51-0239-9991AE7FA28A}"/>
              </a:ext>
            </a:extLst>
          </p:cNvPr>
          <p:cNvSpPr txBox="1"/>
          <p:nvPr/>
        </p:nvSpPr>
        <p:spPr>
          <a:xfrm>
            <a:off x="8901684" y="3044952"/>
            <a:ext cx="2377440" cy="40233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Waits on a physical archive system</a:t>
            </a:r>
            <a:endParaRPr lang="en-US" sz="1000" dirty="0"/>
          </a:p>
        </p:txBody>
      </p:sp>
      <p:sp>
        <p:nvSpPr>
          <p:cNvPr id="84" name="Shape 22">
            <a:extLst>
              <a:ext uri="{FF2B5EF4-FFF2-40B4-BE49-F238E27FC236}">
                <a16:creationId xmlns:a16="http://schemas.microsoft.com/office/drawing/2014/main" id="{27C7E1BD-FD41-01BD-8BD8-245E1364AD37}"/>
              </a:ext>
            </a:extLst>
          </p:cNvPr>
          <p:cNvSpPr/>
          <p:nvPr/>
        </p:nvSpPr>
        <p:spPr>
          <a:xfrm>
            <a:off x="397764" y="3767328"/>
            <a:ext cx="11091672" cy="2011680"/>
          </a:xfrm>
          <a:prstGeom prst="roundRect">
            <a:avLst>
              <a:gd name="adj" fmla="val 2727"/>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6" name="Text 23">
            <a:extLst>
              <a:ext uri="{FF2B5EF4-FFF2-40B4-BE49-F238E27FC236}">
                <a16:creationId xmlns:a16="http://schemas.microsoft.com/office/drawing/2014/main" id="{03349081-669D-A5D5-3984-B58D53D93680}"/>
              </a:ext>
            </a:extLst>
          </p:cNvPr>
          <p:cNvSpPr txBox="1"/>
          <p:nvPr/>
        </p:nvSpPr>
        <p:spPr>
          <a:xfrm>
            <a:off x="717804" y="3931920"/>
            <a:ext cx="10424160" cy="237744"/>
          </a:xfrm>
          <a:prstGeom prst="rect">
            <a:avLst/>
          </a:prstGeom>
          <a:noFill/>
          <a:ln/>
        </p:spPr>
        <p:txBody>
          <a:bodyPr wrap="square" lIns="0" tIns="0" rIns="0" bIns="0" rtlCol="0" anchor="ctr"/>
          <a:lstStyle/>
          <a:p>
            <a:pPr marL="0" indent="0">
              <a:buNone/>
            </a:pPr>
            <a:r>
              <a:rPr lang="en-US" sz="1050" b="1" kern="0" spc="140" dirty="0">
                <a:solidFill>
                  <a:srgbClr val="6B7A90"/>
                </a:solidFill>
                <a:latin typeface="Calibri" pitchFamily="34" charset="0"/>
                <a:ea typeface="Calibri" pitchFamily="34" charset="-122"/>
                <a:cs typeface="Calibri" pitchFamily="34" charset="-120"/>
              </a:rPr>
              <a:t>THE DECISION WE NEED TODAY</a:t>
            </a:r>
            <a:endParaRPr lang="en-US" sz="1050" dirty="0"/>
          </a:p>
        </p:txBody>
      </p:sp>
      <p:sp>
        <p:nvSpPr>
          <p:cNvPr id="88" name="Shape 24">
            <a:extLst>
              <a:ext uri="{FF2B5EF4-FFF2-40B4-BE49-F238E27FC236}">
                <a16:creationId xmlns:a16="http://schemas.microsoft.com/office/drawing/2014/main" id="{A562BD8B-D4D4-3A95-C6C7-E8085B096EF5}"/>
              </a:ext>
            </a:extLst>
          </p:cNvPr>
          <p:cNvSpPr/>
          <p:nvPr/>
        </p:nvSpPr>
        <p:spPr>
          <a:xfrm>
            <a:off x="717804" y="4224528"/>
            <a:ext cx="5074920" cy="1371600"/>
          </a:xfrm>
          <a:prstGeom prst="roundRect">
            <a:avLst>
              <a:gd name="adj" fmla="val 3333"/>
            </a:avLst>
          </a:prstGeom>
          <a:solidFill>
            <a:srgbClr val="E8F0E9"/>
          </a:solidFill>
          <a:ln w="12700">
            <a:solidFill>
              <a:srgbClr val="1F6B3B"/>
            </a:solidFill>
            <a:prstDash val="solid"/>
          </a:ln>
        </p:spPr>
        <p:txBody>
          <a:bodyPr/>
          <a:lstStyle/>
          <a:p>
            <a:endParaRPr lang="en-PH"/>
          </a:p>
        </p:txBody>
      </p:sp>
      <p:sp>
        <p:nvSpPr>
          <p:cNvPr id="90" name="Text 25">
            <a:extLst>
              <a:ext uri="{FF2B5EF4-FFF2-40B4-BE49-F238E27FC236}">
                <a16:creationId xmlns:a16="http://schemas.microsoft.com/office/drawing/2014/main" id="{A236B47E-F778-801A-C274-8D89DE3459C9}"/>
              </a:ext>
            </a:extLst>
          </p:cNvPr>
          <p:cNvSpPr txBox="1"/>
          <p:nvPr/>
        </p:nvSpPr>
        <p:spPr>
          <a:xfrm>
            <a:off x="946404" y="4334256"/>
            <a:ext cx="4572000" cy="256032"/>
          </a:xfrm>
          <a:prstGeom prst="rect">
            <a:avLst/>
          </a:prstGeom>
          <a:noFill/>
          <a:ln/>
        </p:spPr>
        <p:txBody>
          <a:bodyPr wrap="square" lIns="0" tIns="0" rIns="0" bIns="0" rtlCol="0" anchor="ctr"/>
          <a:lstStyle/>
          <a:p>
            <a:pPr marL="0" indent="0">
              <a:buNone/>
            </a:pPr>
            <a:r>
              <a:rPr lang="en-US" sz="1200" b="1" dirty="0">
                <a:solidFill>
                  <a:srgbClr val="1F6B3B"/>
                </a:solidFill>
                <a:latin typeface="Calibri" pitchFamily="34" charset="0"/>
                <a:ea typeface="Calibri" pitchFamily="34" charset="-122"/>
                <a:cs typeface="Calibri" pitchFamily="34" charset="-120"/>
              </a:rPr>
              <a:t>Option A</a:t>
            </a:r>
            <a:endParaRPr lang="en-US" sz="1200" dirty="0"/>
          </a:p>
        </p:txBody>
      </p:sp>
      <p:sp>
        <p:nvSpPr>
          <p:cNvPr id="92" name="Text 26">
            <a:extLst>
              <a:ext uri="{FF2B5EF4-FFF2-40B4-BE49-F238E27FC236}">
                <a16:creationId xmlns:a16="http://schemas.microsoft.com/office/drawing/2014/main" id="{622BD0F2-F0AC-DBA0-0095-08531C5E041B}"/>
              </a:ext>
            </a:extLst>
          </p:cNvPr>
          <p:cNvSpPr txBox="1"/>
          <p:nvPr/>
        </p:nvSpPr>
        <p:spPr>
          <a:xfrm>
            <a:off x="946404" y="4608576"/>
            <a:ext cx="4617720" cy="868680"/>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Bank-wide Oversight and Department Insights as the MVP for this release, with the other four parked in scope for a future release.</a:t>
            </a:r>
            <a:endParaRPr lang="en-US" sz="1150" dirty="0"/>
          </a:p>
        </p:txBody>
      </p:sp>
      <p:sp>
        <p:nvSpPr>
          <p:cNvPr id="94" name="Shape 27">
            <a:extLst>
              <a:ext uri="{FF2B5EF4-FFF2-40B4-BE49-F238E27FC236}">
                <a16:creationId xmlns:a16="http://schemas.microsoft.com/office/drawing/2014/main" id="{35B073EA-BA3F-E8AD-9329-C8B7E8CD93FB}"/>
              </a:ext>
            </a:extLst>
          </p:cNvPr>
          <p:cNvSpPr/>
          <p:nvPr/>
        </p:nvSpPr>
        <p:spPr>
          <a:xfrm>
            <a:off x="6094476" y="4224528"/>
            <a:ext cx="5074920" cy="1371600"/>
          </a:xfrm>
          <a:prstGeom prst="roundRect">
            <a:avLst>
              <a:gd name="adj" fmla="val 3333"/>
            </a:avLst>
          </a:prstGeom>
          <a:solidFill>
            <a:srgbClr val="F3F5F9"/>
          </a:solidFill>
          <a:ln w="12700">
            <a:solidFill>
              <a:srgbClr val="AAB6C8"/>
            </a:solidFill>
            <a:prstDash val="solid"/>
          </a:ln>
        </p:spPr>
        <p:txBody>
          <a:bodyPr/>
          <a:lstStyle/>
          <a:p>
            <a:endParaRPr lang="en-PH"/>
          </a:p>
        </p:txBody>
      </p:sp>
      <p:sp>
        <p:nvSpPr>
          <p:cNvPr id="96" name="Text 28">
            <a:extLst>
              <a:ext uri="{FF2B5EF4-FFF2-40B4-BE49-F238E27FC236}">
                <a16:creationId xmlns:a16="http://schemas.microsoft.com/office/drawing/2014/main" id="{ED7869A6-DC4B-51A1-1673-2F4FD396A4BB}"/>
              </a:ext>
            </a:extLst>
          </p:cNvPr>
          <p:cNvSpPr txBox="1"/>
          <p:nvPr/>
        </p:nvSpPr>
        <p:spPr>
          <a:xfrm>
            <a:off x="6323076" y="4334256"/>
            <a:ext cx="4572000" cy="256032"/>
          </a:xfrm>
          <a:prstGeom prst="rect">
            <a:avLst/>
          </a:prstGeom>
          <a:noFill/>
          <a:ln/>
        </p:spPr>
        <p:txBody>
          <a:bodyPr wrap="square" lIns="0" tIns="0" rIns="0" bIns="0" rtlCol="0" anchor="ctr"/>
          <a:lstStyle/>
          <a:p>
            <a:pPr marL="0" indent="0">
              <a:buNone/>
            </a:pPr>
            <a:r>
              <a:rPr lang="en-US" sz="1200" b="1" dirty="0">
                <a:solidFill>
                  <a:srgbClr val="333F50"/>
                </a:solidFill>
                <a:latin typeface="Calibri" pitchFamily="34" charset="0"/>
                <a:ea typeface="Calibri" pitchFamily="34" charset="-122"/>
                <a:cs typeface="Calibri" pitchFamily="34" charset="-120"/>
              </a:rPr>
              <a:t>Option B</a:t>
            </a:r>
            <a:endParaRPr lang="en-US" sz="1200" dirty="0"/>
          </a:p>
        </p:txBody>
      </p:sp>
      <p:sp>
        <p:nvSpPr>
          <p:cNvPr id="98" name="Text 29">
            <a:extLst>
              <a:ext uri="{FF2B5EF4-FFF2-40B4-BE49-F238E27FC236}">
                <a16:creationId xmlns:a16="http://schemas.microsoft.com/office/drawing/2014/main" id="{B6F75A89-C41C-7E39-A1EE-FDFCDE3D2FFB}"/>
              </a:ext>
            </a:extLst>
          </p:cNvPr>
          <p:cNvSpPr txBox="1"/>
          <p:nvPr/>
        </p:nvSpPr>
        <p:spPr>
          <a:xfrm>
            <a:off x="6323076" y="4608576"/>
            <a:ext cx="4617720" cy="868680"/>
          </a:xfrm>
          <a:prstGeom prst="rect">
            <a:avLst/>
          </a:prstGeom>
          <a:noFill/>
          <a:ln/>
        </p:spPr>
        <p:txBody>
          <a:bodyPr wrap="square" lIns="0" tIns="0" rIns="0" bIns="0" rtlCol="0" anchor="ctr"/>
          <a:lstStyle/>
          <a:p>
            <a:pPr marL="0" indent="0">
              <a:buNone/>
            </a:pPr>
            <a:r>
              <a:rPr lang="en-US" sz="1150" dirty="0">
                <a:solidFill>
                  <a:srgbClr val="333F50"/>
                </a:solidFill>
                <a:latin typeface="Calibri" pitchFamily="34" charset="0"/>
                <a:ea typeface="Calibri" pitchFamily="34" charset="-122"/>
                <a:cs typeface="Calibri" pitchFamily="34" charset="-120"/>
              </a:rPr>
              <a:t>All six dashboards in one release.</a:t>
            </a:r>
            <a:endParaRPr lang="en-US" sz="1150" dirty="0"/>
          </a:p>
        </p:txBody>
      </p:sp>
      <p:sp>
        <p:nvSpPr>
          <p:cNvPr id="100" name="Text 0">
            <a:extLst>
              <a:ext uri="{FF2B5EF4-FFF2-40B4-BE49-F238E27FC236}">
                <a16:creationId xmlns:a16="http://schemas.microsoft.com/office/drawing/2014/main" id="{C0E48A15-CCE0-B8CB-5A43-D56A58B6E32F}"/>
              </a:ext>
            </a:extLst>
          </p:cNvPr>
          <p:cNvSpPr txBox="1"/>
          <p:nvPr/>
        </p:nvSpPr>
        <p:spPr>
          <a:xfrm>
            <a:off x="397764" y="561594"/>
            <a:ext cx="11219688" cy="219456"/>
          </a:xfrm>
          <a:prstGeom prst="rect">
            <a:avLst/>
          </a:prstGeom>
          <a:noFill/>
          <a:ln/>
        </p:spPr>
        <p:txBody>
          <a:bodyPr wrap="square" lIns="0" tIns="0" rIns="0" bIns="0" rtlCol="0" anchor="ctr"/>
          <a:lstStyle/>
          <a:p>
            <a:pPr marL="0" indent="0">
              <a:buNone/>
            </a:pPr>
            <a:r>
              <a:rPr lang="en-US" sz="1050" b="1" kern="0" spc="160" dirty="0">
                <a:solidFill>
                  <a:srgbClr val="6B7A90"/>
                </a:solidFill>
                <a:latin typeface="Calibri" pitchFamily="34" charset="0"/>
                <a:ea typeface="Calibri" pitchFamily="34" charset="-122"/>
                <a:cs typeface="Calibri" pitchFamily="34" charset="-120"/>
              </a:rPr>
              <a:t>THE PROPOSAL</a:t>
            </a:r>
            <a:endParaRPr lang="en-US" sz="1050" dirty="0"/>
          </a:p>
        </p:txBody>
      </p:sp>
    </p:spTree>
    <p:extLst>
      <p:ext uri="{BB962C8B-B14F-4D97-AF65-F5344CB8AC3E}">
        <p14:creationId xmlns:p14="http://schemas.microsoft.com/office/powerpoint/2010/main" val="3747304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A454-F990-5AD7-94E3-90CD51DD722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999183A-99D0-26B8-3FF4-874705334FE8}"/>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The four sources we have today</a:t>
            </a:r>
            <a:endParaRPr lang="en-US" sz="3600" dirty="0"/>
          </a:p>
        </p:txBody>
      </p:sp>
      <p:sp>
        <p:nvSpPr>
          <p:cNvPr id="5" name="Text 2">
            <a:extLst>
              <a:ext uri="{FF2B5EF4-FFF2-40B4-BE49-F238E27FC236}">
                <a16:creationId xmlns:a16="http://schemas.microsoft.com/office/drawing/2014/main" id="{62C69D70-2A5F-E66E-CD25-A6F60F726EAC}"/>
              </a:ext>
            </a:extLst>
          </p:cNvPr>
          <p:cNvSpPr txBox="1"/>
          <p:nvPr/>
        </p:nvSpPr>
        <p:spPr>
          <a:xfrm>
            <a:off x="550164" y="166681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Everything on the two MVP dashboards is built from these. Nothing else is assumed.</a:t>
            </a:r>
            <a:endParaRPr lang="en-US" sz="1250" dirty="0"/>
          </a:p>
        </p:txBody>
      </p:sp>
      <p:graphicFrame>
        <p:nvGraphicFramePr>
          <p:cNvPr id="7" name="Table 0">
            <a:extLst>
              <a:ext uri="{FF2B5EF4-FFF2-40B4-BE49-F238E27FC236}">
                <a16:creationId xmlns:a16="http://schemas.microsoft.com/office/drawing/2014/main" id="{A16A4CEF-759E-0BD9-A171-9E0AF22D2DBE}"/>
              </a:ext>
            </a:extLst>
          </p:cNvPr>
          <p:cNvGraphicFramePr>
            <a:graphicFrameLocks noGrp="1"/>
          </p:cNvGraphicFramePr>
          <p:nvPr>
            <p:extLst>
              <p:ext uri="{D42A27DB-BD31-4B8C-83A1-F6EECF244321}">
                <p14:modId xmlns:p14="http://schemas.microsoft.com/office/powerpoint/2010/main" val="1392454704"/>
              </p:ext>
            </p:extLst>
          </p:nvPr>
        </p:nvGraphicFramePr>
        <p:xfrm>
          <a:off x="550164" y="2060010"/>
          <a:ext cx="11091672" cy="1836420"/>
        </p:xfrm>
        <a:graphic>
          <a:graphicData uri="http://schemas.openxmlformats.org/drawingml/2006/table">
            <a:tbl>
              <a:tblPr/>
              <a:tblGrid>
                <a:gridCol w="1874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gives 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How it is produced</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How current</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physical counterparts, retention labels, disposal due dates, who declared and when</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Written by EDRMS itself as records are declared. Read directly by query.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Live. No manual step.</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AvePoint</a:t>
                      </a:r>
                      <a:endParaRPr lang="en-US" sz="1000" dirty="0">
                        <a:latin typeface="Calibri" charset="0"/>
                        <a:ea typeface="Calibri" charset="0"/>
                        <a:cs typeface="Calibri" charset="0"/>
                      </a:endParaRPr>
                    </a:p>
                    <a:p>
                      <a:pPr marL="0" indent="0">
                        <a:buNone/>
                      </a:pPr>
                      <a:r>
                        <a:rPr lang="en-US" sz="1000" b="1"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The EDRMS compliant site list, department, site owner, site status, storage used, last active time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&gt; Directory &gt; Workspace report &gt; Export report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On demand today. Can be scheduled.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p>
                      <a:pPr marL="0" indent="0">
                        <a:buNone/>
                      </a:pPr>
                      <a:r>
                        <a:rPr lang="en-US" sz="1000" b="1" dirty="0">
                          <a:solidFill>
                            <a:srgbClr val="333F50"/>
                          </a:solidFill>
                          <a:latin typeface="Calibri" pitchFamily="34" charset="0"/>
                          <a:ea typeface="Calibri" pitchFamily="34" charset="-122"/>
                          <a:cs typeface="Calibri" pitchFamily="34" charset="-120"/>
                        </a:rPr>
                        <a:t>SharePoint reports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usage: file count, page views, visited pages, storage.</a:t>
                      </a:r>
                      <a:endParaRPr lang="en-US" sz="1000" dirty="0">
                        <a:latin typeface="Calibri" charset="0"/>
                        <a:ea typeface="Calibri" charset="0"/>
                        <a:cs typeface="Calibri" charset="0"/>
                      </a:endParaRPr>
                    </a:p>
                    <a:p>
                      <a:pPr marL="0" indent="0">
                        <a:buNone/>
                      </a:pPr>
                      <a:r>
                        <a:rPr lang="en-US" sz="1000" dirty="0">
                          <a:solidFill>
                            <a:srgbClr val="333F50"/>
                          </a:solidFill>
                          <a:latin typeface="Calibri" pitchFamily="34" charset="0"/>
                          <a:ea typeface="Calibri" pitchFamily="34" charset="-122"/>
                          <a:cs typeface="Calibri" pitchFamily="34" charset="-120"/>
                        </a:rPr>
                        <a:t>Activity: per user last activity date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M365 admin centre &gt; Reports &gt; Usage &gt; SharePoint site usage, and SharePoint activity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Windows of 7, 30, 90 or 180 days. Nothing longer is offered.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Site lookup file</a:t>
                      </a:r>
                      <a:endParaRPr lang="en-US" sz="1000" dirty="0">
                        <a:latin typeface="Calibri" charset="0"/>
                        <a:ea typeface="Calibri" charset="0"/>
                        <a:cs typeface="Calibri" charset="0"/>
                      </a:endParaRPr>
                    </a:p>
                    <a:p>
                      <a:pPr marL="0" indent="0">
                        <a:buNone/>
                      </a:pPr>
                      <a:r>
                        <a:rPr lang="en-US" sz="1000" b="1" dirty="0">
                          <a:solidFill>
                            <a:srgbClr val="333F50"/>
                          </a:solidFill>
                          <a:latin typeface="Calibri" pitchFamily="34" charset="0"/>
                          <a:ea typeface="Calibri" pitchFamily="34" charset="-122"/>
                          <a:cs typeface="Calibri" pitchFamily="34" charset="-120"/>
                        </a:rPr>
                        <a:t>(from ITD)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to department, division and library mapping, plus a production flag separating live sites from demo and UAT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Maintained by the BA team. Currently an Excel file on the project site.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8A5A00"/>
                          </a:solidFill>
                          <a:latin typeface="Calibri" pitchFamily="34" charset="0"/>
                          <a:ea typeface="Calibri" pitchFamily="34" charset="-122"/>
                          <a:cs typeface="Calibri" pitchFamily="34" charset="-120"/>
                        </a:rPr>
                        <a:t>Manual. This is the one that can go stale.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3">
            <a:extLst>
              <a:ext uri="{FF2B5EF4-FFF2-40B4-BE49-F238E27FC236}">
                <a16:creationId xmlns:a16="http://schemas.microsoft.com/office/drawing/2014/main" id="{BC963945-40E3-F689-0F5E-06F2B807A0B4}"/>
              </a:ext>
            </a:extLst>
          </p:cNvPr>
          <p:cNvSpPr/>
          <p:nvPr/>
        </p:nvSpPr>
        <p:spPr>
          <a:xfrm>
            <a:off x="550164" y="5025059"/>
            <a:ext cx="11091672" cy="841248"/>
          </a:xfrm>
          <a:prstGeom prst="roundRect">
            <a:avLst>
              <a:gd name="adj" fmla="val 652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3" name="Text 4">
            <a:extLst>
              <a:ext uri="{FF2B5EF4-FFF2-40B4-BE49-F238E27FC236}">
                <a16:creationId xmlns:a16="http://schemas.microsoft.com/office/drawing/2014/main" id="{FB3AC2EE-DA3F-BF6B-69FE-B7C7C304F746}"/>
              </a:ext>
            </a:extLst>
          </p:cNvPr>
          <p:cNvSpPr txBox="1"/>
          <p:nvPr/>
        </p:nvSpPr>
        <p:spPr>
          <a:xfrm>
            <a:off x="870204" y="5180507"/>
            <a:ext cx="1042416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Sample of each report:  </a:t>
            </a:r>
            <a:r>
              <a:rPr lang="en-US" sz="1200" b="1" dirty="0">
                <a:solidFill>
                  <a:srgbClr val="8A5A00"/>
                </a:solidFill>
                <a:latin typeface="Calibri" pitchFamily="34" charset="0"/>
                <a:ea typeface="Calibri" pitchFamily="34" charset="-122"/>
                <a:cs typeface="Calibri" pitchFamily="34" charset="-120"/>
              </a:rPr>
              <a:t>[ LINK TO BE PASTED HERE ]</a:t>
            </a:r>
            <a:r>
              <a:rPr lang="en-US" sz="1200" dirty="0">
                <a:solidFill>
                  <a:srgbClr val="333F50"/>
                </a:solidFill>
                <a:latin typeface="Calibri" pitchFamily="34" charset="0"/>
                <a:ea typeface="Calibri" pitchFamily="34" charset="-122"/>
                <a:cs typeface="Calibri" pitchFamily="34" charset="-120"/>
              </a:rPr>
              <a:t>   so you can see the columns each one returns and how it is generated.</a:t>
            </a:r>
            <a:endParaRPr lang="en-US" sz="1200" dirty="0"/>
          </a:p>
        </p:txBody>
      </p:sp>
      <p:sp>
        <p:nvSpPr>
          <p:cNvPr id="15" name="Text 5">
            <a:extLst>
              <a:ext uri="{FF2B5EF4-FFF2-40B4-BE49-F238E27FC236}">
                <a16:creationId xmlns:a16="http://schemas.microsoft.com/office/drawing/2014/main" id="{DD2B912C-2540-BD12-62AD-A97B0C9C1D07}"/>
              </a:ext>
            </a:extLst>
          </p:cNvPr>
          <p:cNvSpPr txBox="1"/>
          <p:nvPr/>
        </p:nvSpPr>
        <p:spPr>
          <a:xfrm>
            <a:off x="870204" y="5473115"/>
            <a:ext cx="10424160" cy="292608"/>
          </a:xfrm>
          <a:prstGeom prst="rect">
            <a:avLst/>
          </a:prstGeom>
          <a:noFill/>
          <a:ln/>
        </p:spPr>
        <p:txBody>
          <a:bodyPr wrap="square" lIns="0" tIns="0" rIns="0" bIns="0" rtlCol="0" anchor="ctr"/>
          <a:lstStyle/>
          <a:p>
            <a:pPr marL="0" indent="0">
              <a:buNone/>
            </a:pPr>
            <a:r>
              <a:rPr lang="en-US" sz="1100" dirty="0">
                <a:solidFill>
                  <a:srgbClr val="6B7A90"/>
                </a:solidFill>
                <a:latin typeface="Calibri" pitchFamily="34" charset="0"/>
                <a:ea typeface="Calibri" pitchFamily="34" charset="-122"/>
                <a:cs typeface="Calibri" pitchFamily="34" charset="-120"/>
              </a:rPr>
              <a:t>The lookup file currently covers 92 sites, of which 38 are production. Extending it to the full estate is the single request that most increases what we can report on.</a:t>
            </a:r>
            <a:endParaRPr lang="en-US" sz="1100" dirty="0"/>
          </a:p>
        </p:txBody>
      </p:sp>
      <p:sp>
        <p:nvSpPr>
          <p:cNvPr id="18" name="Text 0">
            <a:extLst>
              <a:ext uri="{FF2B5EF4-FFF2-40B4-BE49-F238E27FC236}">
                <a16:creationId xmlns:a16="http://schemas.microsoft.com/office/drawing/2014/main" id="{2D088647-891C-9417-434E-C7F1322B990C}"/>
              </a:ext>
            </a:extLst>
          </p:cNvPr>
          <p:cNvSpPr txBox="1"/>
          <p:nvPr/>
        </p:nvSpPr>
        <p:spPr>
          <a:xfrm>
            <a:off x="397764" y="561594"/>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AVAILABLE DATA</a:t>
            </a:r>
            <a:endParaRPr lang="en-US" sz="1050" dirty="0"/>
          </a:p>
        </p:txBody>
      </p:sp>
    </p:spTree>
    <p:extLst>
      <p:ext uri="{BB962C8B-B14F-4D97-AF65-F5344CB8AC3E}">
        <p14:creationId xmlns:p14="http://schemas.microsoft.com/office/powerpoint/2010/main" val="386650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3529-1A44-797E-19D0-DAE5A215392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8277942-E658-CDD9-0E9A-3226BBC63567}"/>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How the report is fed, and who keeps it current</a:t>
            </a:r>
            <a:endParaRPr lang="en-US" sz="3600" dirty="0"/>
          </a:p>
        </p:txBody>
      </p:sp>
      <p:sp>
        <p:nvSpPr>
          <p:cNvPr id="3" name="Text 2">
            <a:extLst>
              <a:ext uri="{FF2B5EF4-FFF2-40B4-BE49-F238E27FC236}">
                <a16:creationId xmlns:a16="http://schemas.microsoft.com/office/drawing/2014/main" id="{8A7E8F30-6347-F858-ECDB-13835DE05A72}"/>
              </a:ext>
            </a:extLst>
          </p:cNvPr>
          <p:cNvSpPr txBox="1"/>
          <p:nvPr/>
        </p:nvSpPr>
        <p:spPr>
          <a:xfrm>
            <a:off x="576072" y="84124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Every figure is a join between these sources. The join key is the site.</a:t>
            </a:r>
            <a:endParaRPr lang="en-US" sz="1250" dirty="0"/>
          </a:p>
        </p:txBody>
      </p:sp>
      <p:sp>
        <p:nvSpPr>
          <p:cNvPr id="6" name="Shape 3">
            <a:extLst>
              <a:ext uri="{FF2B5EF4-FFF2-40B4-BE49-F238E27FC236}">
                <a16:creationId xmlns:a16="http://schemas.microsoft.com/office/drawing/2014/main" id="{D812D4C2-DA31-F35E-07E2-E2820CF94AC4}"/>
              </a:ext>
            </a:extLst>
          </p:cNvPr>
          <p:cNvSpPr/>
          <p:nvPr/>
        </p:nvSpPr>
        <p:spPr>
          <a:xfrm>
            <a:off x="57607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4">
            <a:extLst>
              <a:ext uri="{FF2B5EF4-FFF2-40B4-BE49-F238E27FC236}">
                <a16:creationId xmlns:a16="http://schemas.microsoft.com/office/drawing/2014/main" id="{09B40C2E-8D22-B687-678D-9D9B84F4732A}"/>
              </a:ext>
            </a:extLst>
          </p:cNvPr>
          <p:cNvSpPr txBox="1"/>
          <p:nvPr/>
        </p:nvSpPr>
        <p:spPr>
          <a:xfrm>
            <a:off x="75895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EDRMS Database</a:t>
            </a:r>
            <a:endParaRPr lang="en-US" sz="1200" dirty="0"/>
          </a:p>
        </p:txBody>
      </p:sp>
      <p:sp>
        <p:nvSpPr>
          <p:cNvPr id="10" name="Text 5">
            <a:extLst>
              <a:ext uri="{FF2B5EF4-FFF2-40B4-BE49-F238E27FC236}">
                <a16:creationId xmlns:a16="http://schemas.microsoft.com/office/drawing/2014/main" id="{8EBB5209-E4EB-A862-EF7D-0578D43177B9}"/>
              </a:ext>
            </a:extLst>
          </p:cNvPr>
          <p:cNvSpPr txBox="1"/>
          <p:nvPr/>
        </p:nvSpPr>
        <p:spPr>
          <a:xfrm>
            <a:off x="75895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Records, counterparts,</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retention, disposal dates</a:t>
            </a:r>
            <a:endParaRPr lang="en-US" sz="1000" dirty="0"/>
          </a:p>
        </p:txBody>
      </p:sp>
      <p:sp>
        <p:nvSpPr>
          <p:cNvPr id="12" name="Shape 6">
            <a:extLst>
              <a:ext uri="{FF2B5EF4-FFF2-40B4-BE49-F238E27FC236}">
                <a16:creationId xmlns:a16="http://schemas.microsoft.com/office/drawing/2014/main" id="{12FC4327-24DF-5005-D675-66CCFAD179A1}"/>
              </a:ext>
            </a:extLst>
          </p:cNvPr>
          <p:cNvSpPr/>
          <p:nvPr/>
        </p:nvSpPr>
        <p:spPr>
          <a:xfrm>
            <a:off x="341071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4" name="Text 7">
            <a:extLst>
              <a:ext uri="{FF2B5EF4-FFF2-40B4-BE49-F238E27FC236}">
                <a16:creationId xmlns:a16="http://schemas.microsoft.com/office/drawing/2014/main" id="{497ECE2D-2FBD-3035-CAC4-7BC8D4B96973}"/>
              </a:ext>
            </a:extLst>
          </p:cNvPr>
          <p:cNvSpPr txBox="1"/>
          <p:nvPr/>
        </p:nvSpPr>
        <p:spPr>
          <a:xfrm>
            <a:off x="359359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Cloud Governance</a:t>
            </a:r>
            <a:endParaRPr lang="en-US" sz="1200" dirty="0"/>
          </a:p>
        </p:txBody>
      </p:sp>
      <p:sp>
        <p:nvSpPr>
          <p:cNvPr id="16" name="Text 8">
            <a:extLst>
              <a:ext uri="{FF2B5EF4-FFF2-40B4-BE49-F238E27FC236}">
                <a16:creationId xmlns:a16="http://schemas.microsoft.com/office/drawing/2014/main" id="{A82FC9B3-22AD-3058-5EBC-91FED0B446B8}"/>
              </a:ext>
            </a:extLst>
          </p:cNvPr>
          <p:cNvSpPr txBox="1"/>
          <p:nvPr/>
        </p:nvSpPr>
        <p:spPr>
          <a:xfrm>
            <a:off x="359359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Site list, department,</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owner, status, storage</a:t>
            </a:r>
            <a:endParaRPr lang="en-US" sz="1000" dirty="0"/>
          </a:p>
        </p:txBody>
      </p:sp>
      <p:sp>
        <p:nvSpPr>
          <p:cNvPr id="18" name="Shape 9">
            <a:extLst>
              <a:ext uri="{FF2B5EF4-FFF2-40B4-BE49-F238E27FC236}">
                <a16:creationId xmlns:a16="http://schemas.microsoft.com/office/drawing/2014/main" id="{2593AE7C-BEEF-96EA-79FD-E99FEE801DB4}"/>
              </a:ext>
            </a:extLst>
          </p:cNvPr>
          <p:cNvSpPr/>
          <p:nvPr/>
        </p:nvSpPr>
        <p:spPr>
          <a:xfrm>
            <a:off x="624535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0" name="Text 10">
            <a:extLst>
              <a:ext uri="{FF2B5EF4-FFF2-40B4-BE49-F238E27FC236}">
                <a16:creationId xmlns:a16="http://schemas.microsoft.com/office/drawing/2014/main" id="{0E2B0337-CE36-4DBC-27A1-6D09FB6CD46F}"/>
              </a:ext>
            </a:extLst>
          </p:cNvPr>
          <p:cNvSpPr txBox="1"/>
          <p:nvPr/>
        </p:nvSpPr>
        <p:spPr>
          <a:xfrm>
            <a:off x="642823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Microsoft 365</a:t>
            </a:r>
            <a:endParaRPr lang="en-US" sz="1200" dirty="0"/>
          </a:p>
        </p:txBody>
      </p:sp>
      <p:sp>
        <p:nvSpPr>
          <p:cNvPr id="22" name="Text 11">
            <a:extLst>
              <a:ext uri="{FF2B5EF4-FFF2-40B4-BE49-F238E27FC236}">
                <a16:creationId xmlns:a16="http://schemas.microsoft.com/office/drawing/2014/main" id="{C584F2E1-591B-A58C-587C-61CCABD879ED}"/>
              </a:ext>
            </a:extLst>
          </p:cNvPr>
          <p:cNvSpPr txBox="1"/>
          <p:nvPr/>
        </p:nvSpPr>
        <p:spPr>
          <a:xfrm>
            <a:off x="642823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Usage and activity,</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7 to 180 day windows</a:t>
            </a:r>
            <a:endParaRPr lang="en-US" sz="1000" dirty="0"/>
          </a:p>
        </p:txBody>
      </p:sp>
      <p:sp>
        <p:nvSpPr>
          <p:cNvPr id="24" name="Shape 12">
            <a:extLst>
              <a:ext uri="{FF2B5EF4-FFF2-40B4-BE49-F238E27FC236}">
                <a16:creationId xmlns:a16="http://schemas.microsoft.com/office/drawing/2014/main" id="{1A8C5997-A49B-4298-EA0A-A48A2160F071}"/>
              </a:ext>
            </a:extLst>
          </p:cNvPr>
          <p:cNvSpPr/>
          <p:nvPr/>
        </p:nvSpPr>
        <p:spPr>
          <a:xfrm>
            <a:off x="9079992" y="1261872"/>
            <a:ext cx="2615184"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6" name="Text 13">
            <a:extLst>
              <a:ext uri="{FF2B5EF4-FFF2-40B4-BE49-F238E27FC236}">
                <a16:creationId xmlns:a16="http://schemas.microsoft.com/office/drawing/2014/main" id="{898F3FB7-DA09-DF2B-EBBD-0019C008415B}"/>
              </a:ext>
            </a:extLst>
          </p:cNvPr>
          <p:cNvSpPr txBox="1"/>
          <p:nvPr/>
        </p:nvSpPr>
        <p:spPr>
          <a:xfrm>
            <a:off x="9262872" y="1389888"/>
            <a:ext cx="224942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ITD lookup file</a:t>
            </a:r>
            <a:endParaRPr lang="en-US" sz="1200" dirty="0"/>
          </a:p>
        </p:txBody>
      </p:sp>
      <p:sp>
        <p:nvSpPr>
          <p:cNvPr id="28" name="Text 14">
            <a:extLst>
              <a:ext uri="{FF2B5EF4-FFF2-40B4-BE49-F238E27FC236}">
                <a16:creationId xmlns:a16="http://schemas.microsoft.com/office/drawing/2014/main" id="{1178AC4A-AB75-5B2C-F4BF-298B2A7AF1D2}"/>
              </a:ext>
            </a:extLst>
          </p:cNvPr>
          <p:cNvSpPr txBox="1"/>
          <p:nvPr/>
        </p:nvSpPr>
        <p:spPr>
          <a:xfrm>
            <a:off x="9262872" y="1682496"/>
            <a:ext cx="2249424" cy="676656"/>
          </a:xfrm>
          <a:prstGeom prst="rect">
            <a:avLst/>
          </a:prstGeom>
          <a:noFill/>
          <a:ln/>
        </p:spPr>
        <p:txBody>
          <a:bodyPr wrap="square" lIns="0" tIns="0" rIns="0" bIns="0" rtlCol="0" anchor="ctr"/>
          <a:lstStyle/>
          <a:p>
            <a:pPr marL="0" indent="0">
              <a:buNone/>
            </a:pPr>
            <a:r>
              <a:rPr lang="en-US" sz="1000" dirty="0">
                <a:solidFill>
                  <a:srgbClr val="6B7A90"/>
                </a:solidFill>
                <a:latin typeface="Calibri" pitchFamily="34" charset="0"/>
                <a:ea typeface="Calibri" pitchFamily="34" charset="-122"/>
                <a:cs typeface="Calibri" pitchFamily="34" charset="-120"/>
              </a:rPr>
              <a:t>Department, division,</a:t>
            </a:r>
            <a:endParaRPr lang="en-US" sz="1000" dirty="0"/>
          </a:p>
          <a:p>
            <a:pPr marL="0" indent="0">
              <a:buNone/>
            </a:pPr>
            <a:r>
              <a:rPr lang="en-US" sz="1000" dirty="0">
                <a:solidFill>
                  <a:srgbClr val="6B7A90"/>
                </a:solidFill>
                <a:latin typeface="Calibri" pitchFamily="34" charset="0"/>
                <a:ea typeface="Calibri" pitchFamily="34" charset="-122"/>
                <a:cs typeface="Calibri" pitchFamily="34" charset="-120"/>
              </a:rPr>
              <a:t>library, production flag</a:t>
            </a:r>
            <a:endParaRPr lang="en-US" sz="1000" dirty="0"/>
          </a:p>
        </p:txBody>
      </p:sp>
      <p:sp>
        <p:nvSpPr>
          <p:cNvPr id="30" name="Shape 15">
            <a:extLst>
              <a:ext uri="{FF2B5EF4-FFF2-40B4-BE49-F238E27FC236}">
                <a16:creationId xmlns:a16="http://schemas.microsoft.com/office/drawing/2014/main" id="{E91AC983-FD49-D649-532E-929BEE29B271}"/>
              </a:ext>
            </a:extLst>
          </p:cNvPr>
          <p:cNvSpPr/>
          <p:nvPr/>
        </p:nvSpPr>
        <p:spPr>
          <a:xfrm>
            <a:off x="576072" y="2651760"/>
            <a:ext cx="11091672" cy="566928"/>
          </a:xfrm>
          <a:prstGeom prst="roundRect">
            <a:avLst>
              <a:gd name="adj" fmla="val 9677"/>
            </a:avLst>
          </a:prstGeom>
          <a:solidFill>
            <a:srgbClr val="1E2761"/>
          </a:solidFill>
          <a:ln/>
        </p:spPr>
        <p:txBody>
          <a:bodyPr/>
          <a:lstStyle/>
          <a:p>
            <a:endParaRPr lang="en-PH"/>
          </a:p>
        </p:txBody>
      </p:sp>
      <p:sp>
        <p:nvSpPr>
          <p:cNvPr id="32" name="Text 16">
            <a:extLst>
              <a:ext uri="{FF2B5EF4-FFF2-40B4-BE49-F238E27FC236}">
                <a16:creationId xmlns:a16="http://schemas.microsoft.com/office/drawing/2014/main" id="{189B10E0-B80C-A751-C709-57B054D69ED7}"/>
              </a:ext>
            </a:extLst>
          </p:cNvPr>
          <p:cNvSpPr txBox="1"/>
          <p:nvPr/>
        </p:nvSpPr>
        <p:spPr>
          <a:xfrm>
            <a:off x="576072" y="2651760"/>
            <a:ext cx="11091672"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Joined on the site, then grouped by department or division</a:t>
            </a:r>
            <a:endParaRPr lang="en-US" sz="1300" dirty="0"/>
          </a:p>
        </p:txBody>
      </p:sp>
      <p:sp>
        <p:nvSpPr>
          <p:cNvPr id="34" name="Shape 17">
            <a:extLst>
              <a:ext uri="{FF2B5EF4-FFF2-40B4-BE49-F238E27FC236}">
                <a16:creationId xmlns:a16="http://schemas.microsoft.com/office/drawing/2014/main" id="{DF4ED6CA-40BA-0395-2EA0-B55AA9CBBDEE}"/>
              </a:ext>
            </a:extLst>
          </p:cNvPr>
          <p:cNvSpPr/>
          <p:nvPr/>
        </p:nvSpPr>
        <p:spPr>
          <a:xfrm>
            <a:off x="576072" y="3383280"/>
            <a:ext cx="11091672" cy="502920"/>
          </a:xfrm>
          <a:prstGeom prst="roundRect">
            <a:avLst>
              <a:gd name="adj" fmla="val 10909"/>
            </a:avLst>
          </a:prstGeom>
          <a:solidFill>
            <a:srgbClr val="CADCFC"/>
          </a:solidFill>
          <a:ln/>
        </p:spPr>
        <p:txBody>
          <a:bodyPr/>
          <a:lstStyle/>
          <a:p>
            <a:endParaRPr lang="en-PH"/>
          </a:p>
        </p:txBody>
      </p:sp>
      <p:sp>
        <p:nvSpPr>
          <p:cNvPr id="36" name="Text 18">
            <a:extLst>
              <a:ext uri="{FF2B5EF4-FFF2-40B4-BE49-F238E27FC236}">
                <a16:creationId xmlns:a16="http://schemas.microsoft.com/office/drawing/2014/main" id="{5C678503-2B08-4EB3-8671-0D0D4F499A8E}"/>
              </a:ext>
            </a:extLst>
          </p:cNvPr>
          <p:cNvSpPr txBox="1"/>
          <p:nvPr/>
        </p:nvSpPr>
        <p:spPr>
          <a:xfrm>
            <a:off x="576072" y="3383280"/>
            <a:ext cx="11091672" cy="50292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Bank-wide Oversight   and   Department Insights</a:t>
            </a:r>
            <a:endParaRPr lang="en-US" sz="1300" dirty="0"/>
          </a:p>
        </p:txBody>
      </p:sp>
      <p:graphicFrame>
        <p:nvGraphicFramePr>
          <p:cNvPr id="38" name="Table 0">
            <a:extLst>
              <a:ext uri="{FF2B5EF4-FFF2-40B4-BE49-F238E27FC236}">
                <a16:creationId xmlns:a16="http://schemas.microsoft.com/office/drawing/2014/main" id="{55BC71ED-78F0-C2A3-F796-99D544EF749E}"/>
              </a:ext>
            </a:extLst>
          </p:cNvPr>
          <p:cNvGraphicFramePr>
            <a:graphicFrameLocks noGrp="1"/>
          </p:cNvGraphicFramePr>
          <p:nvPr>
            <p:extLst>
              <p:ext uri="{D42A27DB-BD31-4B8C-83A1-F6EECF244321}">
                <p14:modId xmlns:p14="http://schemas.microsoft.com/office/powerpoint/2010/main" val="559059949"/>
              </p:ext>
            </p:extLst>
          </p:nvPr>
        </p:nvGraphicFramePr>
        <p:xfrm>
          <a:off x="576072" y="4096512"/>
          <a:ext cx="11091672" cy="1531620"/>
        </p:xfrm>
        <a:graphic>
          <a:graphicData uri="http://schemas.openxmlformats.org/drawingml/2006/table">
            <a:tbl>
              <a:tblPr/>
              <a:tblGrid>
                <a:gridCol w="23774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Who keeps it current</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that person has to do</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Nobody. EDRMS writes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Nothing. The figure appears because a record was declared.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Whoever provisions the site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8A5A00"/>
                          </a:solidFill>
                          <a:latin typeface="Calibri" pitchFamily="34" charset="0"/>
                          <a:ea typeface="Calibri" pitchFamily="34" charset="-122"/>
                          <a:cs typeface="Calibri" pitchFamily="34" charset="-120"/>
                        </a:rPr>
                        <a:t>Set department and division when a site is created. Left blank, that site drops out of every departmental figure without any error showing.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Nobody. Microsoft generates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Nothing, but the window cannot be widened beyond 180 days.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ITD lookup file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BA team today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marL="0" indent="0">
                        <a:buNone/>
                      </a:pPr>
                      <a:r>
                        <a:rPr lang="en-US" sz="1000" dirty="0">
                          <a:solidFill>
                            <a:srgbClr val="8A5A00"/>
                          </a:solidFill>
                          <a:latin typeface="Calibri" pitchFamily="34" charset="0"/>
                          <a:ea typeface="Calibri" pitchFamily="34" charset="-122"/>
                          <a:cs typeface="Calibri" pitchFamily="34" charset="-120"/>
                        </a:rPr>
                        <a:t>Keep the mapping current as sites are created, renamed or retired. Proposed to move into the EDRMS database with an admin page so RAC can maintain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0" name="Text 0">
            <a:extLst>
              <a:ext uri="{FF2B5EF4-FFF2-40B4-BE49-F238E27FC236}">
                <a16:creationId xmlns:a16="http://schemas.microsoft.com/office/drawing/2014/main" id="{A4B6BC62-7F06-7604-7A93-504B11175EAF}"/>
              </a:ext>
            </a:extLst>
          </p:cNvPr>
          <p:cNvSpPr txBox="1"/>
          <p:nvPr/>
        </p:nvSpPr>
        <p:spPr>
          <a:xfrm>
            <a:off x="397764" y="561594"/>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THE PIPELINE</a:t>
            </a:r>
            <a:endParaRPr lang="en-US" sz="1050" dirty="0"/>
          </a:p>
        </p:txBody>
      </p:sp>
    </p:spTree>
    <p:extLst>
      <p:ext uri="{BB962C8B-B14F-4D97-AF65-F5344CB8AC3E}">
        <p14:creationId xmlns:p14="http://schemas.microsoft.com/office/powerpoint/2010/main" val="123722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6A99-B506-9608-D60D-74ED9E1DAF2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6644565-203F-E75C-C688-DA22156734A5}"/>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Bank-wide Oversight</a:t>
            </a:r>
            <a:endParaRPr lang="en-US" sz="3600" dirty="0"/>
          </a:p>
        </p:txBody>
      </p:sp>
      <p:sp>
        <p:nvSpPr>
          <p:cNvPr id="3" name="Text 2">
            <a:extLst>
              <a:ext uri="{FF2B5EF4-FFF2-40B4-BE49-F238E27FC236}">
                <a16:creationId xmlns:a16="http://schemas.microsoft.com/office/drawing/2014/main" id="{BF5DA691-9948-2789-F8FD-427D223A4AF4}"/>
              </a:ext>
            </a:extLst>
          </p:cNvPr>
          <p:cNvSpPr txBox="1"/>
          <p:nvPr/>
        </p:nvSpPr>
        <p:spPr>
          <a:xfrm>
            <a:off x="554591" y="969264"/>
            <a:ext cx="5932842" cy="274320"/>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How much is in EDRMS, and who is using it, for the whole bank on one page.</a:t>
            </a:r>
            <a:endParaRPr lang="en-US" sz="1300" dirty="0"/>
          </a:p>
        </p:txBody>
      </p:sp>
      <p:pic>
        <p:nvPicPr>
          <p:cNvPr id="52" name="Picture 51">
            <a:extLst>
              <a:ext uri="{FF2B5EF4-FFF2-40B4-BE49-F238E27FC236}">
                <a16:creationId xmlns:a16="http://schemas.microsoft.com/office/drawing/2014/main" id="{D099BE45-E8E1-FBD0-D17B-10CF83F76BEC}"/>
              </a:ext>
            </a:extLst>
          </p:cNvPr>
          <p:cNvPicPr>
            <a:picLocks noChangeAspect="1"/>
          </p:cNvPicPr>
          <p:nvPr/>
        </p:nvPicPr>
        <p:blipFill>
          <a:blip r:embed="rId3"/>
          <a:stretch>
            <a:fillRect/>
          </a:stretch>
        </p:blipFill>
        <p:spPr>
          <a:xfrm>
            <a:off x="7097234" y="75953"/>
            <a:ext cx="3772135" cy="6698034"/>
          </a:xfrm>
          <a:prstGeom prst="rect">
            <a:avLst/>
          </a:prstGeom>
          <a:ln>
            <a:noFill/>
          </a:ln>
          <a:effectLst>
            <a:outerShdw blurRad="190500" algn="tl" rotWithShape="0">
              <a:srgbClr val="000000">
                <a:alpha val="70000"/>
              </a:srgbClr>
            </a:outerShdw>
          </a:effectLst>
        </p:spPr>
      </p:pic>
      <p:sp>
        <p:nvSpPr>
          <p:cNvPr id="54" name="Shape 6">
            <a:extLst>
              <a:ext uri="{FF2B5EF4-FFF2-40B4-BE49-F238E27FC236}">
                <a16:creationId xmlns:a16="http://schemas.microsoft.com/office/drawing/2014/main" id="{025770D9-0E07-ABA8-77EA-E8E5464C9A5A}"/>
              </a:ext>
            </a:extLst>
          </p:cNvPr>
          <p:cNvSpPr/>
          <p:nvPr/>
        </p:nvSpPr>
        <p:spPr>
          <a:xfrm>
            <a:off x="554591" y="135331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56" name="Shape 7">
            <a:extLst>
              <a:ext uri="{FF2B5EF4-FFF2-40B4-BE49-F238E27FC236}">
                <a16:creationId xmlns:a16="http://schemas.microsoft.com/office/drawing/2014/main" id="{36AF9CE6-3932-C6A9-6F64-7D5139721007}"/>
              </a:ext>
            </a:extLst>
          </p:cNvPr>
          <p:cNvSpPr/>
          <p:nvPr/>
        </p:nvSpPr>
        <p:spPr>
          <a:xfrm>
            <a:off x="783191" y="1499616"/>
            <a:ext cx="274320" cy="274320"/>
          </a:xfrm>
          <a:prstGeom prst="ellipse">
            <a:avLst/>
          </a:prstGeom>
          <a:solidFill>
            <a:srgbClr val="1E2761"/>
          </a:solidFill>
          <a:ln/>
        </p:spPr>
        <p:txBody>
          <a:bodyPr/>
          <a:lstStyle/>
          <a:p>
            <a:endParaRPr lang="en-PH"/>
          </a:p>
        </p:txBody>
      </p:sp>
      <p:sp>
        <p:nvSpPr>
          <p:cNvPr id="58" name="Text 8">
            <a:extLst>
              <a:ext uri="{FF2B5EF4-FFF2-40B4-BE49-F238E27FC236}">
                <a16:creationId xmlns:a16="http://schemas.microsoft.com/office/drawing/2014/main" id="{C70C4652-5329-953A-C19B-4BD2552C62AD}"/>
              </a:ext>
            </a:extLst>
          </p:cNvPr>
          <p:cNvSpPr txBox="1"/>
          <p:nvPr/>
        </p:nvSpPr>
        <p:spPr>
          <a:xfrm>
            <a:off x="783191" y="149961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0" name="Text 9">
            <a:extLst>
              <a:ext uri="{FF2B5EF4-FFF2-40B4-BE49-F238E27FC236}">
                <a16:creationId xmlns:a16="http://schemas.microsoft.com/office/drawing/2014/main" id="{D501FEC4-8045-D3ED-CB9E-5D29486949E6}"/>
              </a:ext>
            </a:extLst>
          </p:cNvPr>
          <p:cNvSpPr txBox="1"/>
          <p:nvPr/>
        </p:nvSpPr>
        <p:spPr>
          <a:xfrm>
            <a:off x="1194671" y="147218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Top panel</a:t>
            </a:r>
            <a:endParaRPr lang="en-US" sz="1200" dirty="0"/>
          </a:p>
        </p:txBody>
      </p:sp>
      <p:sp>
        <p:nvSpPr>
          <p:cNvPr id="62" name="Text 10">
            <a:extLst>
              <a:ext uri="{FF2B5EF4-FFF2-40B4-BE49-F238E27FC236}">
                <a16:creationId xmlns:a16="http://schemas.microsoft.com/office/drawing/2014/main" id="{BFDB5116-94D6-0456-9311-C8FC0CF2D744}"/>
              </a:ext>
            </a:extLst>
          </p:cNvPr>
          <p:cNvSpPr txBox="1"/>
          <p:nvPr/>
        </p:nvSpPr>
        <p:spPr>
          <a:xfrm>
            <a:off x="1194671" y="175564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Ten tiles. Eight open a table below. Two navigate to another dashboard.</a:t>
            </a:r>
            <a:endParaRPr lang="en-US" sz="950" dirty="0"/>
          </a:p>
        </p:txBody>
      </p:sp>
      <p:sp>
        <p:nvSpPr>
          <p:cNvPr id="64" name="Shape 11">
            <a:extLst>
              <a:ext uri="{FF2B5EF4-FFF2-40B4-BE49-F238E27FC236}">
                <a16:creationId xmlns:a16="http://schemas.microsoft.com/office/drawing/2014/main" id="{CB0B844A-268D-E55B-656B-8F8AA6E268F4}"/>
              </a:ext>
            </a:extLst>
          </p:cNvPr>
          <p:cNvSpPr/>
          <p:nvPr/>
        </p:nvSpPr>
        <p:spPr>
          <a:xfrm>
            <a:off x="554591" y="240487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66" name="Shape 12">
            <a:extLst>
              <a:ext uri="{FF2B5EF4-FFF2-40B4-BE49-F238E27FC236}">
                <a16:creationId xmlns:a16="http://schemas.microsoft.com/office/drawing/2014/main" id="{3BD1C33D-F8A2-50B9-31AD-09DECF94DE78}"/>
              </a:ext>
            </a:extLst>
          </p:cNvPr>
          <p:cNvSpPr/>
          <p:nvPr/>
        </p:nvSpPr>
        <p:spPr>
          <a:xfrm>
            <a:off x="783191" y="2551176"/>
            <a:ext cx="274320" cy="274320"/>
          </a:xfrm>
          <a:prstGeom prst="ellipse">
            <a:avLst/>
          </a:prstGeom>
          <a:solidFill>
            <a:srgbClr val="1E2761"/>
          </a:solidFill>
          <a:ln/>
        </p:spPr>
        <p:txBody>
          <a:bodyPr/>
          <a:lstStyle/>
          <a:p>
            <a:endParaRPr lang="en-PH"/>
          </a:p>
        </p:txBody>
      </p:sp>
      <p:sp>
        <p:nvSpPr>
          <p:cNvPr id="68" name="Text 13">
            <a:extLst>
              <a:ext uri="{FF2B5EF4-FFF2-40B4-BE49-F238E27FC236}">
                <a16:creationId xmlns:a16="http://schemas.microsoft.com/office/drawing/2014/main" id="{32049796-6961-877B-AC49-071BC4D46836}"/>
              </a:ext>
            </a:extLst>
          </p:cNvPr>
          <p:cNvSpPr txBox="1"/>
          <p:nvPr/>
        </p:nvSpPr>
        <p:spPr>
          <a:xfrm>
            <a:off x="783191" y="255117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0" name="Text 14">
            <a:extLst>
              <a:ext uri="{FF2B5EF4-FFF2-40B4-BE49-F238E27FC236}">
                <a16:creationId xmlns:a16="http://schemas.microsoft.com/office/drawing/2014/main" id="{BD8F5382-A5A0-7491-DF38-B4326875F8F6}"/>
              </a:ext>
            </a:extLst>
          </p:cNvPr>
          <p:cNvSpPr txBox="1"/>
          <p:nvPr/>
        </p:nvSpPr>
        <p:spPr>
          <a:xfrm>
            <a:off x="1194671" y="252374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72" name="Text 15">
            <a:extLst>
              <a:ext uri="{FF2B5EF4-FFF2-40B4-BE49-F238E27FC236}">
                <a16:creationId xmlns:a16="http://schemas.microsoft.com/office/drawing/2014/main" id="{9C52264A-E302-36E5-C8D5-EF5F47097777}"/>
              </a:ext>
            </a:extLst>
          </p:cNvPr>
          <p:cNvSpPr txBox="1"/>
          <p:nvPr/>
        </p:nvSpPr>
        <p:spPr>
          <a:xfrm>
            <a:off x="1194671" y="280720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Every department, office and RM with its sites, documents, records and counterparts.</a:t>
            </a:r>
            <a:endParaRPr lang="en-US" sz="950" dirty="0"/>
          </a:p>
        </p:txBody>
      </p:sp>
      <p:sp>
        <p:nvSpPr>
          <p:cNvPr id="74" name="Shape 16">
            <a:extLst>
              <a:ext uri="{FF2B5EF4-FFF2-40B4-BE49-F238E27FC236}">
                <a16:creationId xmlns:a16="http://schemas.microsoft.com/office/drawing/2014/main" id="{516E06F8-B604-354A-3B0C-33BD0E17929E}"/>
              </a:ext>
            </a:extLst>
          </p:cNvPr>
          <p:cNvSpPr/>
          <p:nvPr/>
        </p:nvSpPr>
        <p:spPr>
          <a:xfrm>
            <a:off x="554591" y="345643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76" name="Shape 17">
            <a:extLst>
              <a:ext uri="{FF2B5EF4-FFF2-40B4-BE49-F238E27FC236}">
                <a16:creationId xmlns:a16="http://schemas.microsoft.com/office/drawing/2014/main" id="{79255396-F306-0351-66E4-33322D354552}"/>
              </a:ext>
            </a:extLst>
          </p:cNvPr>
          <p:cNvSpPr/>
          <p:nvPr/>
        </p:nvSpPr>
        <p:spPr>
          <a:xfrm>
            <a:off x="783191" y="3602736"/>
            <a:ext cx="274320" cy="274320"/>
          </a:xfrm>
          <a:prstGeom prst="ellipse">
            <a:avLst/>
          </a:prstGeom>
          <a:solidFill>
            <a:srgbClr val="1E2761"/>
          </a:solidFill>
          <a:ln/>
        </p:spPr>
        <p:txBody>
          <a:bodyPr/>
          <a:lstStyle/>
          <a:p>
            <a:endParaRPr lang="en-PH"/>
          </a:p>
        </p:txBody>
      </p:sp>
      <p:sp>
        <p:nvSpPr>
          <p:cNvPr id="78" name="Text 18">
            <a:extLst>
              <a:ext uri="{FF2B5EF4-FFF2-40B4-BE49-F238E27FC236}">
                <a16:creationId xmlns:a16="http://schemas.microsoft.com/office/drawing/2014/main" id="{CB18617A-F6FF-E38E-D152-F28FAFAC0C11}"/>
              </a:ext>
            </a:extLst>
          </p:cNvPr>
          <p:cNvSpPr txBox="1"/>
          <p:nvPr/>
        </p:nvSpPr>
        <p:spPr>
          <a:xfrm>
            <a:off x="783191" y="360273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80" name="Text 19">
            <a:extLst>
              <a:ext uri="{FF2B5EF4-FFF2-40B4-BE49-F238E27FC236}">
                <a16:creationId xmlns:a16="http://schemas.microsoft.com/office/drawing/2014/main" id="{151EC51C-FE76-7B39-831C-9CC4824EC2B7}"/>
              </a:ext>
            </a:extLst>
          </p:cNvPr>
          <p:cNvSpPr txBox="1"/>
          <p:nvPr/>
        </p:nvSpPr>
        <p:spPr>
          <a:xfrm>
            <a:off x="1194671" y="357530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Comparison</a:t>
            </a:r>
            <a:endParaRPr lang="en-US" sz="1200" dirty="0"/>
          </a:p>
        </p:txBody>
      </p:sp>
      <p:sp>
        <p:nvSpPr>
          <p:cNvPr id="82" name="Text 20">
            <a:extLst>
              <a:ext uri="{FF2B5EF4-FFF2-40B4-BE49-F238E27FC236}">
                <a16:creationId xmlns:a16="http://schemas.microsoft.com/office/drawing/2014/main" id="{054C39A5-C63A-9866-C8CC-7F61C5BB2E3C}"/>
              </a:ext>
            </a:extLst>
          </p:cNvPr>
          <p:cNvSpPr txBox="1"/>
          <p:nvPr/>
        </p:nvSpPr>
        <p:spPr>
          <a:xfrm>
            <a:off x="1194671" y="385876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Documents set against records declared, so you can see who is storing but not declaring.</a:t>
            </a:r>
            <a:endParaRPr lang="en-US" sz="950" dirty="0"/>
          </a:p>
        </p:txBody>
      </p:sp>
      <p:sp>
        <p:nvSpPr>
          <p:cNvPr id="84" name="Shape 21">
            <a:extLst>
              <a:ext uri="{FF2B5EF4-FFF2-40B4-BE49-F238E27FC236}">
                <a16:creationId xmlns:a16="http://schemas.microsoft.com/office/drawing/2014/main" id="{A7E6BBC2-DBFE-C826-F069-CAB5BF7FEC9D}"/>
              </a:ext>
            </a:extLst>
          </p:cNvPr>
          <p:cNvSpPr/>
          <p:nvPr/>
        </p:nvSpPr>
        <p:spPr>
          <a:xfrm>
            <a:off x="554591" y="4507992"/>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6" name="Shape 22">
            <a:extLst>
              <a:ext uri="{FF2B5EF4-FFF2-40B4-BE49-F238E27FC236}">
                <a16:creationId xmlns:a16="http://schemas.microsoft.com/office/drawing/2014/main" id="{482DBAD1-70A3-2268-0235-5066D3C706EA}"/>
              </a:ext>
            </a:extLst>
          </p:cNvPr>
          <p:cNvSpPr/>
          <p:nvPr/>
        </p:nvSpPr>
        <p:spPr>
          <a:xfrm>
            <a:off x="783191" y="4654296"/>
            <a:ext cx="274320" cy="274320"/>
          </a:xfrm>
          <a:prstGeom prst="ellipse">
            <a:avLst/>
          </a:prstGeom>
          <a:solidFill>
            <a:srgbClr val="1E2761"/>
          </a:solidFill>
          <a:ln/>
        </p:spPr>
        <p:txBody>
          <a:bodyPr/>
          <a:lstStyle/>
          <a:p>
            <a:endParaRPr lang="en-PH"/>
          </a:p>
        </p:txBody>
      </p:sp>
      <p:sp>
        <p:nvSpPr>
          <p:cNvPr id="88" name="Text 23">
            <a:extLst>
              <a:ext uri="{FF2B5EF4-FFF2-40B4-BE49-F238E27FC236}">
                <a16:creationId xmlns:a16="http://schemas.microsoft.com/office/drawing/2014/main" id="{78CF65EB-F5AB-CE49-2A72-CC228387BEBC}"/>
              </a:ext>
            </a:extLst>
          </p:cNvPr>
          <p:cNvSpPr txBox="1"/>
          <p:nvPr/>
        </p:nvSpPr>
        <p:spPr>
          <a:xfrm>
            <a:off x="783191" y="465429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90" name="Text 24">
            <a:extLst>
              <a:ext uri="{FF2B5EF4-FFF2-40B4-BE49-F238E27FC236}">
                <a16:creationId xmlns:a16="http://schemas.microsoft.com/office/drawing/2014/main" id="{DA0F4E3D-90A8-6787-74AF-F439040BF6E3}"/>
              </a:ext>
            </a:extLst>
          </p:cNvPr>
          <p:cNvSpPr txBox="1"/>
          <p:nvPr/>
        </p:nvSpPr>
        <p:spPr>
          <a:xfrm>
            <a:off x="1194671" y="4626864"/>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Records declaration trend</a:t>
            </a:r>
            <a:endParaRPr lang="en-US" sz="1200" dirty="0"/>
          </a:p>
        </p:txBody>
      </p:sp>
      <p:sp>
        <p:nvSpPr>
          <p:cNvPr id="92" name="Text 25">
            <a:extLst>
              <a:ext uri="{FF2B5EF4-FFF2-40B4-BE49-F238E27FC236}">
                <a16:creationId xmlns:a16="http://schemas.microsoft.com/office/drawing/2014/main" id="{D99E9BC2-896B-7D69-3628-CB5F1D62CFAE}"/>
              </a:ext>
            </a:extLst>
          </p:cNvPr>
          <p:cNvSpPr txBox="1"/>
          <p:nvPr/>
        </p:nvSpPr>
        <p:spPr>
          <a:xfrm>
            <a:off x="1194671" y="4910328"/>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A running total over time, with a date range you choose.</a:t>
            </a:r>
            <a:endParaRPr lang="en-US" sz="950" dirty="0"/>
          </a:p>
        </p:txBody>
      </p:sp>
      <p:sp>
        <p:nvSpPr>
          <p:cNvPr id="98" name="Shape 7">
            <a:extLst>
              <a:ext uri="{FF2B5EF4-FFF2-40B4-BE49-F238E27FC236}">
                <a16:creationId xmlns:a16="http://schemas.microsoft.com/office/drawing/2014/main" id="{CBDBCE2B-79D9-099E-86C6-C642447919E4}"/>
              </a:ext>
            </a:extLst>
          </p:cNvPr>
          <p:cNvSpPr/>
          <p:nvPr/>
        </p:nvSpPr>
        <p:spPr>
          <a:xfrm>
            <a:off x="10931680" y="660979"/>
            <a:ext cx="274320" cy="274320"/>
          </a:xfrm>
          <a:prstGeom prst="ellipse">
            <a:avLst/>
          </a:prstGeom>
          <a:solidFill>
            <a:srgbClr val="C00000"/>
          </a:solidFill>
          <a:ln/>
        </p:spPr>
        <p:txBody>
          <a:bodyPr/>
          <a:lstStyle/>
          <a:p>
            <a:endParaRPr lang="en-PH"/>
          </a:p>
        </p:txBody>
      </p:sp>
      <p:sp>
        <p:nvSpPr>
          <p:cNvPr id="100" name="Text 8">
            <a:extLst>
              <a:ext uri="{FF2B5EF4-FFF2-40B4-BE49-F238E27FC236}">
                <a16:creationId xmlns:a16="http://schemas.microsoft.com/office/drawing/2014/main" id="{865406F9-4852-96AF-84D6-E4C31F1C247E}"/>
              </a:ext>
            </a:extLst>
          </p:cNvPr>
          <p:cNvSpPr txBox="1"/>
          <p:nvPr/>
        </p:nvSpPr>
        <p:spPr>
          <a:xfrm>
            <a:off x="10931680" y="65517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7" name="Shape 7">
            <a:extLst>
              <a:ext uri="{FF2B5EF4-FFF2-40B4-BE49-F238E27FC236}">
                <a16:creationId xmlns:a16="http://schemas.microsoft.com/office/drawing/2014/main" id="{AD5ADB8B-F082-F02F-3205-3246F6FABEA6}"/>
              </a:ext>
            </a:extLst>
          </p:cNvPr>
          <p:cNvSpPr/>
          <p:nvPr/>
        </p:nvSpPr>
        <p:spPr>
          <a:xfrm>
            <a:off x="10942630" y="1947672"/>
            <a:ext cx="274320" cy="274320"/>
          </a:xfrm>
          <a:prstGeom prst="ellipse">
            <a:avLst/>
          </a:prstGeom>
          <a:solidFill>
            <a:srgbClr val="C00000"/>
          </a:solidFill>
          <a:ln/>
        </p:spPr>
        <p:txBody>
          <a:bodyPr/>
          <a:lstStyle/>
          <a:p>
            <a:endParaRPr lang="en-PH"/>
          </a:p>
        </p:txBody>
      </p:sp>
      <p:sp>
        <p:nvSpPr>
          <p:cNvPr id="109" name="Text 8">
            <a:extLst>
              <a:ext uri="{FF2B5EF4-FFF2-40B4-BE49-F238E27FC236}">
                <a16:creationId xmlns:a16="http://schemas.microsoft.com/office/drawing/2014/main" id="{F73D1B5B-8E84-81AF-F57A-EFF11142CBB2}"/>
              </a:ext>
            </a:extLst>
          </p:cNvPr>
          <p:cNvSpPr txBox="1"/>
          <p:nvPr/>
        </p:nvSpPr>
        <p:spPr>
          <a:xfrm>
            <a:off x="10942630" y="194186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1" name="Shape 7">
            <a:extLst>
              <a:ext uri="{FF2B5EF4-FFF2-40B4-BE49-F238E27FC236}">
                <a16:creationId xmlns:a16="http://schemas.microsoft.com/office/drawing/2014/main" id="{BD19DF4F-AB9C-2AB3-9F97-3FB927E02011}"/>
              </a:ext>
            </a:extLst>
          </p:cNvPr>
          <p:cNvSpPr/>
          <p:nvPr/>
        </p:nvSpPr>
        <p:spPr>
          <a:xfrm>
            <a:off x="10946920" y="3937579"/>
            <a:ext cx="274320" cy="274320"/>
          </a:xfrm>
          <a:prstGeom prst="ellipse">
            <a:avLst/>
          </a:prstGeom>
          <a:solidFill>
            <a:srgbClr val="C00000"/>
          </a:solidFill>
          <a:ln/>
        </p:spPr>
        <p:txBody>
          <a:bodyPr/>
          <a:lstStyle/>
          <a:p>
            <a:endParaRPr lang="en-PH"/>
          </a:p>
        </p:txBody>
      </p:sp>
      <p:sp>
        <p:nvSpPr>
          <p:cNvPr id="113" name="Text 8">
            <a:extLst>
              <a:ext uri="{FF2B5EF4-FFF2-40B4-BE49-F238E27FC236}">
                <a16:creationId xmlns:a16="http://schemas.microsoft.com/office/drawing/2014/main" id="{D30FD58E-7ECA-F148-B4C4-F7B79B65F48C}"/>
              </a:ext>
            </a:extLst>
          </p:cNvPr>
          <p:cNvSpPr txBox="1"/>
          <p:nvPr/>
        </p:nvSpPr>
        <p:spPr>
          <a:xfrm>
            <a:off x="10946920" y="393177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5" name="Shape 7">
            <a:extLst>
              <a:ext uri="{FF2B5EF4-FFF2-40B4-BE49-F238E27FC236}">
                <a16:creationId xmlns:a16="http://schemas.microsoft.com/office/drawing/2014/main" id="{60DA1E11-8C4F-09ED-7A2B-573D963B6E9F}"/>
              </a:ext>
            </a:extLst>
          </p:cNvPr>
          <p:cNvSpPr/>
          <p:nvPr/>
        </p:nvSpPr>
        <p:spPr>
          <a:xfrm>
            <a:off x="10946920" y="6007679"/>
            <a:ext cx="274320" cy="274320"/>
          </a:xfrm>
          <a:prstGeom prst="ellipse">
            <a:avLst/>
          </a:prstGeom>
          <a:solidFill>
            <a:srgbClr val="C00000"/>
          </a:solidFill>
          <a:ln/>
        </p:spPr>
        <p:txBody>
          <a:bodyPr/>
          <a:lstStyle/>
          <a:p>
            <a:endParaRPr lang="en-PH"/>
          </a:p>
        </p:txBody>
      </p:sp>
      <p:sp>
        <p:nvSpPr>
          <p:cNvPr id="117" name="Text 8">
            <a:extLst>
              <a:ext uri="{FF2B5EF4-FFF2-40B4-BE49-F238E27FC236}">
                <a16:creationId xmlns:a16="http://schemas.microsoft.com/office/drawing/2014/main" id="{DFF88E3E-27C4-6943-1158-18C897963DD4}"/>
              </a:ext>
            </a:extLst>
          </p:cNvPr>
          <p:cNvSpPr txBox="1"/>
          <p:nvPr/>
        </p:nvSpPr>
        <p:spPr>
          <a:xfrm>
            <a:off x="10946920" y="600187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9" name="Text 0">
            <a:extLst>
              <a:ext uri="{FF2B5EF4-FFF2-40B4-BE49-F238E27FC236}">
                <a16:creationId xmlns:a16="http://schemas.microsoft.com/office/drawing/2014/main" id="{D346780F-4B08-5743-37EF-0635E33FD430}"/>
              </a:ext>
            </a:extLst>
          </p:cNvPr>
          <p:cNvSpPr txBox="1"/>
          <p:nvPr/>
        </p:nvSpPr>
        <p:spPr>
          <a:xfrm>
            <a:off x="397764" y="561594"/>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MVP DASHBOARD 1</a:t>
            </a:r>
            <a:endParaRPr lang="en-US" sz="1050" dirty="0"/>
          </a:p>
        </p:txBody>
      </p:sp>
    </p:spTree>
    <p:extLst>
      <p:ext uri="{BB962C8B-B14F-4D97-AF65-F5344CB8AC3E}">
        <p14:creationId xmlns:p14="http://schemas.microsoft.com/office/powerpoint/2010/main" val="134712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6CAA-9AE3-5FFA-C02A-56514350036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675645D-5F3B-093F-2F29-2398E5AFA9A2}"/>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Bank-wide Oversight: the top panel</a:t>
            </a:r>
            <a:endParaRPr lang="en-US" sz="3600" dirty="0"/>
          </a:p>
        </p:txBody>
      </p:sp>
      <p:graphicFrame>
        <p:nvGraphicFramePr>
          <p:cNvPr id="3" name="Table 0">
            <a:extLst>
              <a:ext uri="{FF2B5EF4-FFF2-40B4-BE49-F238E27FC236}">
                <a16:creationId xmlns:a16="http://schemas.microsoft.com/office/drawing/2014/main" id="{105FADD8-5A83-F84F-2AB1-C9BF5A8CFCA5}"/>
              </a:ext>
            </a:extLst>
          </p:cNvPr>
          <p:cNvGraphicFramePr>
            <a:graphicFrameLocks noGrp="1"/>
          </p:cNvGraphicFramePr>
          <p:nvPr>
            <p:extLst>
              <p:ext uri="{D42A27DB-BD31-4B8C-83A1-F6EECF244321}">
                <p14:modId xmlns:p14="http://schemas.microsoft.com/office/powerpoint/2010/main" val="765587004"/>
              </p:ext>
            </p:extLst>
          </p:nvPr>
        </p:nvGraphicFramePr>
        <p:xfrm>
          <a:off x="550164" y="1272008"/>
          <a:ext cx="11091672" cy="211074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Active EDRMS SharePoint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sites, grouped by department, office or RM</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with department and division backfilled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recorded SharePoint activity in the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File count per site, rolled up</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 joined to the Cloud Governance site list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counted once each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Records reaching their disposal due date in a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Sovereign and nonsovereign project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Sites belonging to a project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 source. Out of scope for this release.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7"/>
                  </a:ext>
                </a:extLst>
              </a:tr>
            </a:tbl>
          </a:graphicData>
        </a:graphic>
      </p:graphicFrame>
      <p:sp>
        <p:nvSpPr>
          <p:cNvPr id="6" name="Shape 2">
            <a:extLst>
              <a:ext uri="{FF2B5EF4-FFF2-40B4-BE49-F238E27FC236}">
                <a16:creationId xmlns:a16="http://schemas.microsoft.com/office/drawing/2014/main" id="{DF0CB8DB-BE00-40BA-2551-CED2600ACBC0}"/>
              </a:ext>
            </a:extLst>
          </p:cNvPr>
          <p:cNvSpPr/>
          <p:nvPr/>
        </p:nvSpPr>
        <p:spPr>
          <a:xfrm>
            <a:off x="550164" y="3999206"/>
            <a:ext cx="11091672" cy="1188720"/>
          </a:xfrm>
          <a:prstGeom prst="roundRect">
            <a:avLst>
              <a:gd name="adj" fmla="val 4615"/>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02C63F10-20C3-574A-56E9-B36516D9FDEE}"/>
              </a:ext>
            </a:extLst>
          </p:cNvPr>
          <p:cNvSpPr txBox="1"/>
          <p:nvPr/>
        </p:nvSpPr>
        <p:spPr>
          <a:xfrm>
            <a:off x="870204" y="4154654"/>
            <a:ext cx="10424160" cy="237744"/>
          </a:xfrm>
          <a:prstGeom prst="rect">
            <a:avLst/>
          </a:prstGeom>
          <a:noFill/>
          <a:ln/>
        </p:spPr>
        <p:txBody>
          <a:bodyPr wrap="square" lIns="0" tIns="0" rIns="0" bIns="0" rtlCol="0" anchor="ctr"/>
          <a:lstStyle/>
          <a:p>
            <a:pPr marL="0" indent="0">
              <a:buNone/>
            </a:pPr>
            <a:r>
              <a:rPr lang="en-US" sz="1050" b="1" kern="0" spc="140" dirty="0">
                <a:solidFill>
                  <a:srgbClr val="6B7A90"/>
                </a:solidFill>
                <a:latin typeface="Calibri" pitchFamily="34" charset="0"/>
                <a:ea typeface="Calibri" pitchFamily="34" charset="-122"/>
                <a:cs typeface="Calibri" pitchFamily="34" charset="-120"/>
              </a:rPr>
              <a:t>Raised by your own review</a:t>
            </a:r>
            <a:endParaRPr lang="en-US" sz="1050" dirty="0"/>
          </a:p>
        </p:txBody>
      </p:sp>
      <p:sp>
        <p:nvSpPr>
          <p:cNvPr id="10" name="Text 4">
            <a:extLst>
              <a:ext uri="{FF2B5EF4-FFF2-40B4-BE49-F238E27FC236}">
                <a16:creationId xmlns:a16="http://schemas.microsoft.com/office/drawing/2014/main" id="{D5B02B93-3760-8B90-3EA1-26C1C2EAE901}"/>
              </a:ext>
            </a:extLst>
          </p:cNvPr>
          <p:cNvSpPr txBox="1"/>
          <p:nvPr/>
        </p:nvSpPr>
        <p:spPr>
          <a:xfrm>
            <a:off x="870204" y="4410686"/>
            <a:ext cx="10424160" cy="685800"/>
          </a:xfrm>
          <a:prstGeom prst="rect">
            <a:avLst/>
          </a:prstGeom>
          <a:noFill/>
          <a:ln/>
        </p:spPr>
        <p:txBody>
          <a:bodyPr wrap="square" lIns="0" tIns="0" rIns="0" bIns="0" rtlCol="0" anchor="ctr"/>
          <a:lstStyle/>
          <a:p>
            <a:pPr marL="0" indent="0">
              <a:buNone/>
            </a:pPr>
            <a:r>
              <a:rPr lang="en-US" sz="1100" i="1" dirty="0">
                <a:solidFill>
                  <a:srgbClr val="333F50"/>
                </a:solidFill>
                <a:latin typeface="Calibri" pitchFamily="34" charset="0"/>
                <a:ea typeface="Calibri" pitchFamily="34" charset="-122"/>
                <a:cs typeface="Calibri" pitchFamily="34" charset="-120"/>
              </a:rPr>
              <a:t>“All records have a due date for disposal. What does due for disposal mean? Due in the next 30, 60 or 90 days?”</a:t>
            </a:r>
            <a:endParaRPr lang="en-US" sz="1100" dirty="0"/>
          </a:p>
          <a:p>
            <a:pPr marL="0" indent="0">
              <a:buNone/>
            </a:pPr>
            <a:r>
              <a:rPr lang="en-US" sz="1100" i="1" dirty="0">
                <a:solidFill>
                  <a:srgbClr val="333F50"/>
                </a:solidFill>
                <a:latin typeface="Calibri" pitchFamily="34" charset="0"/>
                <a:ea typeface="Calibri" pitchFamily="34" charset="-122"/>
                <a:cs typeface="Calibri" pitchFamily="34" charset="-120"/>
              </a:rPr>
              <a:t>“Is this user with access to EDRMS sites?”</a:t>
            </a:r>
            <a:endParaRPr lang="en-US" sz="1100" dirty="0"/>
          </a:p>
          <a:p>
            <a:pPr marL="0" indent="0">
              <a:buNone/>
            </a:pPr>
            <a:r>
              <a:rPr lang="en-US" sz="1100" b="1" dirty="0">
                <a:solidFill>
                  <a:srgbClr val="333F50"/>
                </a:solidFill>
                <a:latin typeface="Calibri" pitchFamily="34" charset="0"/>
                <a:ea typeface="Calibri" pitchFamily="34" charset="-122"/>
                <a:cs typeface="Calibri" pitchFamily="34" charset="-120"/>
              </a:rPr>
              <a:t>Both change the figure entirely. We need one answer each before these tiles can be built.</a:t>
            </a:r>
            <a:endParaRPr lang="en-US" sz="1100" dirty="0"/>
          </a:p>
        </p:txBody>
      </p:sp>
      <p:sp>
        <p:nvSpPr>
          <p:cNvPr id="12" name="Shape 5">
            <a:extLst>
              <a:ext uri="{FF2B5EF4-FFF2-40B4-BE49-F238E27FC236}">
                <a16:creationId xmlns:a16="http://schemas.microsoft.com/office/drawing/2014/main" id="{BE8BC1CF-0383-A132-ADF0-F83CF5F82EC9}"/>
              </a:ext>
            </a:extLst>
          </p:cNvPr>
          <p:cNvSpPr/>
          <p:nvPr/>
        </p:nvSpPr>
        <p:spPr>
          <a:xfrm>
            <a:off x="550164" y="5471390"/>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4" name="Text 6">
            <a:extLst>
              <a:ext uri="{FF2B5EF4-FFF2-40B4-BE49-F238E27FC236}">
                <a16:creationId xmlns:a16="http://schemas.microsoft.com/office/drawing/2014/main" id="{812529C4-0BEB-0087-6A75-011BE8029BA7}"/>
              </a:ext>
            </a:extLst>
          </p:cNvPr>
          <p:cNvSpPr txBox="1"/>
          <p:nvPr/>
        </p:nvSpPr>
        <p:spPr>
          <a:xfrm>
            <a:off x="550164" y="5471390"/>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6" name="Text 7">
            <a:extLst>
              <a:ext uri="{FF2B5EF4-FFF2-40B4-BE49-F238E27FC236}">
                <a16:creationId xmlns:a16="http://schemas.microsoft.com/office/drawing/2014/main" id="{52A4D1E0-0D03-8051-8FEF-CB01F4A94A2F}"/>
              </a:ext>
            </a:extLst>
          </p:cNvPr>
          <p:cNvSpPr txBox="1"/>
          <p:nvPr/>
        </p:nvSpPr>
        <p:spPr>
          <a:xfrm>
            <a:off x="1510284" y="5471390"/>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8" name="Shape 8">
            <a:extLst>
              <a:ext uri="{FF2B5EF4-FFF2-40B4-BE49-F238E27FC236}">
                <a16:creationId xmlns:a16="http://schemas.microsoft.com/office/drawing/2014/main" id="{619CE920-A780-97C1-3AFF-95F62D983F9F}"/>
              </a:ext>
            </a:extLst>
          </p:cNvPr>
          <p:cNvSpPr/>
          <p:nvPr/>
        </p:nvSpPr>
        <p:spPr>
          <a:xfrm>
            <a:off x="4344924" y="5471390"/>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20" name="Text 9">
            <a:extLst>
              <a:ext uri="{FF2B5EF4-FFF2-40B4-BE49-F238E27FC236}">
                <a16:creationId xmlns:a16="http://schemas.microsoft.com/office/drawing/2014/main" id="{25732697-B8A8-8090-1F9D-9DDFC4A472DA}"/>
              </a:ext>
            </a:extLst>
          </p:cNvPr>
          <p:cNvSpPr txBox="1"/>
          <p:nvPr/>
        </p:nvSpPr>
        <p:spPr>
          <a:xfrm>
            <a:off x="4344924" y="5471390"/>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2" name="Text 10">
            <a:extLst>
              <a:ext uri="{FF2B5EF4-FFF2-40B4-BE49-F238E27FC236}">
                <a16:creationId xmlns:a16="http://schemas.microsoft.com/office/drawing/2014/main" id="{FFA03D31-68DE-088F-6406-4AD7B1053098}"/>
              </a:ext>
            </a:extLst>
          </p:cNvPr>
          <p:cNvSpPr txBox="1"/>
          <p:nvPr/>
        </p:nvSpPr>
        <p:spPr>
          <a:xfrm>
            <a:off x="5305044" y="5471390"/>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4" name="Shape 11">
            <a:extLst>
              <a:ext uri="{FF2B5EF4-FFF2-40B4-BE49-F238E27FC236}">
                <a16:creationId xmlns:a16="http://schemas.microsoft.com/office/drawing/2014/main" id="{1D9AE84B-EE61-C7C2-F338-DC5C619BF289}"/>
              </a:ext>
            </a:extLst>
          </p:cNvPr>
          <p:cNvSpPr/>
          <p:nvPr/>
        </p:nvSpPr>
        <p:spPr>
          <a:xfrm>
            <a:off x="8139684" y="5471390"/>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6" name="Text 12">
            <a:extLst>
              <a:ext uri="{FF2B5EF4-FFF2-40B4-BE49-F238E27FC236}">
                <a16:creationId xmlns:a16="http://schemas.microsoft.com/office/drawing/2014/main" id="{E32E4780-4D59-4582-B792-946DD6D48DC3}"/>
              </a:ext>
            </a:extLst>
          </p:cNvPr>
          <p:cNvSpPr txBox="1"/>
          <p:nvPr/>
        </p:nvSpPr>
        <p:spPr>
          <a:xfrm>
            <a:off x="8139684" y="5471390"/>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8" name="Text 13">
            <a:extLst>
              <a:ext uri="{FF2B5EF4-FFF2-40B4-BE49-F238E27FC236}">
                <a16:creationId xmlns:a16="http://schemas.microsoft.com/office/drawing/2014/main" id="{3E5E9D17-DAFA-A291-7D16-B0465443315E}"/>
              </a:ext>
            </a:extLst>
          </p:cNvPr>
          <p:cNvSpPr txBox="1"/>
          <p:nvPr/>
        </p:nvSpPr>
        <p:spPr>
          <a:xfrm>
            <a:off x="9099804" y="5471390"/>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32" name="Text 0">
            <a:extLst>
              <a:ext uri="{FF2B5EF4-FFF2-40B4-BE49-F238E27FC236}">
                <a16:creationId xmlns:a16="http://schemas.microsoft.com/office/drawing/2014/main" id="{099E73FE-1ABF-7A0F-5D98-53076047F536}"/>
              </a:ext>
            </a:extLst>
          </p:cNvPr>
          <p:cNvSpPr txBox="1"/>
          <p:nvPr/>
        </p:nvSpPr>
        <p:spPr>
          <a:xfrm>
            <a:off x="325991" y="643419"/>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1169912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972E0-636E-2286-7BF4-7E8921663C5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7F3E89A-7192-3623-D252-78F1C541953C}"/>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Bank-wide Oversight: tables, indicators and trend</a:t>
            </a:r>
            <a:endParaRPr lang="en-US" sz="3600" dirty="0"/>
          </a:p>
        </p:txBody>
      </p:sp>
      <p:graphicFrame>
        <p:nvGraphicFramePr>
          <p:cNvPr id="3" name="Table 0">
            <a:extLst>
              <a:ext uri="{FF2B5EF4-FFF2-40B4-BE49-F238E27FC236}">
                <a16:creationId xmlns:a16="http://schemas.microsoft.com/office/drawing/2014/main" id="{DCC37F41-64ED-8B79-F914-2F7CCBAB1317}"/>
              </a:ext>
            </a:extLst>
          </p:cNvPr>
          <p:cNvGraphicFramePr>
            <a:graphicFrameLocks noGrp="1"/>
          </p:cNvGraphicFramePr>
          <p:nvPr>
            <p:extLst>
              <p:ext uri="{D42A27DB-BD31-4B8C-83A1-F6EECF244321}">
                <p14:modId xmlns:p14="http://schemas.microsoft.com/office/powerpoint/2010/main" val="2859312745"/>
              </p:ext>
            </p:extLst>
          </p:nvPr>
        </p:nvGraphicFramePr>
        <p:xfrm>
          <a:off x="534924" y="1345708"/>
          <a:ext cx="11091672" cy="235458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Department / office / RM</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The owning unit of each site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Department is set at provisioning; division needs backfilling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lifecycle counts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 site status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Inactive site for 90 days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Sites with no activity in the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 last activity date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Never accessed EDRMS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access to a site who have never opened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permissions checked against the activity log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Staff, contractors, consultants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Users split by employment type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 source. Needs a user register with employment type.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Completion of training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Users who completed EDRMS training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Held by the learning team. Owner identified, file not yet supplied.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New documents month on month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Documents added in each month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Needs a document level scan that does not exist yet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Records declaration trend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as a running total over time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8"/>
                  </a:ext>
                </a:extLst>
              </a:tr>
            </a:tbl>
          </a:graphicData>
        </a:graphic>
      </p:graphicFrame>
      <p:sp>
        <p:nvSpPr>
          <p:cNvPr id="6" name="Shape 2">
            <a:extLst>
              <a:ext uri="{FF2B5EF4-FFF2-40B4-BE49-F238E27FC236}">
                <a16:creationId xmlns:a16="http://schemas.microsoft.com/office/drawing/2014/main" id="{3FDDBAF7-49DA-010D-85A6-0E09FA30DF1A}"/>
              </a:ext>
            </a:extLst>
          </p:cNvPr>
          <p:cNvSpPr/>
          <p:nvPr/>
        </p:nvSpPr>
        <p:spPr>
          <a:xfrm>
            <a:off x="548640" y="4338569"/>
            <a:ext cx="11091672" cy="868680"/>
          </a:xfrm>
          <a:prstGeom prst="roundRect">
            <a:avLst>
              <a:gd name="adj" fmla="val 6316"/>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DBE1A9DF-2B06-7CB5-41FA-0F2BD6BAA7F0}"/>
              </a:ext>
            </a:extLst>
          </p:cNvPr>
          <p:cNvSpPr txBox="1"/>
          <p:nvPr/>
        </p:nvSpPr>
        <p:spPr>
          <a:xfrm>
            <a:off x="868680" y="4494017"/>
            <a:ext cx="10424160"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Never accessed:  </a:t>
            </a:r>
            <a:r>
              <a:rPr lang="en-US" sz="1150" dirty="0">
                <a:solidFill>
                  <a:srgbClr val="333F50"/>
                </a:solidFill>
                <a:latin typeface="Calibri" pitchFamily="34" charset="0"/>
                <a:ea typeface="Calibri" pitchFamily="34" charset="-122"/>
                <a:cs typeface="Calibri" pitchFamily="34" charset="-120"/>
              </a:rPr>
              <a:t>agreed in the technical session that this means people who have access to the site and have never opened it, checked against the site's own members, owners and visitors rather than the whole tenant. Please confirm that is your intent.</a:t>
            </a:r>
            <a:endParaRPr lang="en-US" sz="1150" dirty="0"/>
          </a:p>
        </p:txBody>
      </p:sp>
      <p:sp>
        <p:nvSpPr>
          <p:cNvPr id="10" name="Shape 4">
            <a:extLst>
              <a:ext uri="{FF2B5EF4-FFF2-40B4-BE49-F238E27FC236}">
                <a16:creationId xmlns:a16="http://schemas.microsoft.com/office/drawing/2014/main" id="{F16716CC-E10C-35D1-E751-432463F064E5}"/>
              </a:ext>
            </a:extLst>
          </p:cNvPr>
          <p:cNvSpPr/>
          <p:nvPr/>
        </p:nvSpPr>
        <p:spPr>
          <a:xfrm>
            <a:off x="548640" y="5444993"/>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2" name="Text 5">
            <a:extLst>
              <a:ext uri="{FF2B5EF4-FFF2-40B4-BE49-F238E27FC236}">
                <a16:creationId xmlns:a16="http://schemas.microsoft.com/office/drawing/2014/main" id="{C4998CC8-86DD-AF44-CE8E-CE7CDBD780B4}"/>
              </a:ext>
            </a:extLst>
          </p:cNvPr>
          <p:cNvSpPr txBox="1"/>
          <p:nvPr/>
        </p:nvSpPr>
        <p:spPr>
          <a:xfrm>
            <a:off x="548640" y="5444993"/>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4" name="Text 6">
            <a:extLst>
              <a:ext uri="{FF2B5EF4-FFF2-40B4-BE49-F238E27FC236}">
                <a16:creationId xmlns:a16="http://schemas.microsoft.com/office/drawing/2014/main" id="{AAB01738-9843-21FE-A0FC-076D4759FA66}"/>
              </a:ext>
            </a:extLst>
          </p:cNvPr>
          <p:cNvSpPr txBox="1"/>
          <p:nvPr/>
        </p:nvSpPr>
        <p:spPr>
          <a:xfrm>
            <a:off x="1508760" y="5444993"/>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6" name="Shape 7">
            <a:extLst>
              <a:ext uri="{FF2B5EF4-FFF2-40B4-BE49-F238E27FC236}">
                <a16:creationId xmlns:a16="http://schemas.microsoft.com/office/drawing/2014/main" id="{C0EF9EF9-DE5D-AEA4-7203-4A1EC7579B76}"/>
              </a:ext>
            </a:extLst>
          </p:cNvPr>
          <p:cNvSpPr/>
          <p:nvPr/>
        </p:nvSpPr>
        <p:spPr>
          <a:xfrm>
            <a:off x="4343400" y="5444993"/>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18" name="Text 8">
            <a:extLst>
              <a:ext uri="{FF2B5EF4-FFF2-40B4-BE49-F238E27FC236}">
                <a16:creationId xmlns:a16="http://schemas.microsoft.com/office/drawing/2014/main" id="{17A5D092-4BF5-BADB-83E4-BCC0DDDA35A7}"/>
              </a:ext>
            </a:extLst>
          </p:cNvPr>
          <p:cNvSpPr txBox="1"/>
          <p:nvPr/>
        </p:nvSpPr>
        <p:spPr>
          <a:xfrm>
            <a:off x="4343400" y="5444993"/>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0" name="Text 9">
            <a:extLst>
              <a:ext uri="{FF2B5EF4-FFF2-40B4-BE49-F238E27FC236}">
                <a16:creationId xmlns:a16="http://schemas.microsoft.com/office/drawing/2014/main" id="{6C49A5D3-624F-8113-E55A-47084BE0AF40}"/>
              </a:ext>
            </a:extLst>
          </p:cNvPr>
          <p:cNvSpPr txBox="1"/>
          <p:nvPr/>
        </p:nvSpPr>
        <p:spPr>
          <a:xfrm>
            <a:off x="5303520" y="5444993"/>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2" name="Shape 10">
            <a:extLst>
              <a:ext uri="{FF2B5EF4-FFF2-40B4-BE49-F238E27FC236}">
                <a16:creationId xmlns:a16="http://schemas.microsoft.com/office/drawing/2014/main" id="{78E1AD72-C512-901F-EBC5-292E3F816959}"/>
              </a:ext>
            </a:extLst>
          </p:cNvPr>
          <p:cNvSpPr/>
          <p:nvPr/>
        </p:nvSpPr>
        <p:spPr>
          <a:xfrm>
            <a:off x="8138160" y="5444993"/>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4" name="Text 11">
            <a:extLst>
              <a:ext uri="{FF2B5EF4-FFF2-40B4-BE49-F238E27FC236}">
                <a16:creationId xmlns:a16="http://schemas.microsoft.com/office/drawing/2014/main" id="{F3DE447A-94A9-7FD0-9916-50EAEBCE2232}"/>
              </a:ext>
            </a:extLst>
          </p:cNvPr>
          <p:cNvSpPr txBox="1"/>
          <p:nvPr/>
        </p:nvSpPr>
        <p:spPr>
          <a:xfrm>
            <a:off x="8138160" y="5444993"/>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6" name="Text 12">
            <a:extLst>
              <a:ext uri="{FF2B5EF4-FFF2-40B4-BE49-F238E27FC236}">
                <a16:creationId xmlns:a16="http://schemas.microsoft.com/office/drawing/2014/main" id="{743C1F0C-D479-06C9-D914-C428DAA971A0}"/>
              </a:ext>
            </a:extLst>
          </p:cNvPr>
          <p:cNvSpPr txBox="1"/>
          <p:nvPr/>
        </p:nvSpPr>
        <p:spPr>
          <a:xfrm>
            <a:off x="9098280" y="5444993"/>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28" name="Text 0">
            <a:extLst>
              <a:ext uri="{FF2B5EF4-FFF2-40B4-BE49-F238E27FC236}">
                <a16:creationId xmlns:a16="http://schemas.microsoft.com/office/drawing/2014/main" id="{70C575CF-CE4A-8BB0-D5CC-1B333153CE04}"/>
              </a:ext>
            </a:extLst>
          </p:cNvPr>
          <p:cNvSpPr txBox="1"/>
          <p:nvPr/>
        </p:nvSpPr>
        <p:spPr>
          <a:xfrm>
            <a:off x="325991" y="637069"/>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211771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58159-C357-5E7D-B2D1-C1E92E3E227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D70E86D-7E16-5F30-41C2-8CC2FE1B8C0F}"/>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Department Insights</a:t>
            </a:r>
            <a:endParaRPr lang="en-US" sz="3600" dirty="0"/>
          </a:p>
        </p:txBody>
      </p:sp>
      <p:sp>
        <p:nvSpPr>
          <p:cNvPr id="3" name="Text 2">
            <a:extLst>
              <a:ext uri="{FF2B5EF4-FFF2-40B4-BE49-F238E27FC236}">
                <a16:creationId xmlns:a16="http://schemas.microsoft.com/office/drawing/2014/main" id="{5B98A459-5AD5-3F72-460B-2804C7AB8307}"/>
              </a:ext>
            </a:extLst>
          </p:cNvPr>
          <p:cNvSpPr txBox="1"/>
          <p:nvPr/>
        </p:nvSpPr>
        <p:spPr>
          <a:xfrm>
            <a:off x="550164" y="1083855"/>
            <a:ext cx="4413722" cy="406908"/>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One unit's own view. Pick a department, office or RM and everything below refreshes for it.</a:t>
            </a:r>
            <a:endParaRPr lang="en-US" sz="1300" dirty="0"/>
          </a:p>
        </p:txBody>
      </p:sp>
      <p:sp>
        <p:nvSpPr>
          <p:cNvPr id="12" name="Shape 6">
            <a:extLst>
              <a:ext uri="{FF2B5EF4-FFF2-40B4-BE49-F238E27FC236}">
                <a16:creationId xmlns:a16="http://schemas.microsoft.com/office/drawing/2014/main" id="{E2498BBA-0598-31E8-EDBD-C10D1FEAA85C}"/>
              </a:ext>
            </a:extLst>
          </p:cNvPr>
          <p:cNvSpPr/>
          <p:nvPr/>
        </p:nvSpPr>
        <p:spPr>
          <a:xfrm>
            <a:off x="550164" y="162665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4" name="Shape 7">
            <a:extLst>
              <a:ext uri="{FF2B5EF4-FFF2-40B4-BE49-F238E27FC236}">
                <a16:creationId xmlns:a16="http://schemas.microsoft.com/office/drawing/2014/main" id="{9583112F-A5A1-0DD3-3FBD-20CAF2B80001}"/>
              </a:ext>
            </a:extLst>
          </p:cNvPr>
          <p:cNvSpPr/>
          <p:nvPr/>
        </p:nvSpPr>
        <p:spPr>
          <a:xfrm>
            <a:off x="778764" y="1772957"/>
            <a:ext cx="274320" cy="274320"/>
          </a:xfrm>
          <a:prstGeom prst="ellipse">
            <a:avLst/>
          </a:prstGeom>
          <a:solidFill>
            <a:srgbClr val="1E2761"/>
          </a:solidFill>
          <a:ln/>
        </p:spPr>
        <p:txBody>
          <a:bodyPr/>
          <a:lstStyle/>
          <a:p>
            <a:endParaRPr lang="en-PH"/>
          </a:p>
        </p:txBody>
      </p:sp>
      <p:sp>
        <p:nvSpPr>
          <p:cNvPr id="16" name="Text 8">
            <a:extLst>
              <a:ext uri="{FF2B5EF4-FFF2-40B4-BE49-F238E27FC236}">
                <a16:creationId xmlns:a16="http://schemas.microsoft.com/office/drawing/2014/main" id="{23BA2A6F-065B-7A2E-9EF7-7CC3FB04D340}"/>
              </a:ext>
            </a:extLst>
          </p:cNvPr>
          <p:cNvSpPr txBox="1"/>
          <p:nvPr/>
        </p:nvSpPr>
        <p:spPr>
          <a:xfrm>
            <a:off x="778764" y="177295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9">
            <a:extLst>
              <a:ext uri="{FF2B5EF4-FFF2-40B4-BE49-F238E27FC236}">
                <a16:creationId xmlns:a16="http://schemas.microsoft.com/office/drawing/2014/main" id="{7AB98AA3-85A4-3F3D-214E-F28799C9C2E5}"/>
              </a:ext>
            </a:extLst>
          </p:cNvPr>
          <p:cNvSpPr txBox="1"/>
          <p:nvPr/>
        </p:nvSpPr>
        <p:spPr>
          <a:xfrm>
            <a:off x="1190244" y="174552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Department profile</a:t>
            </a:r>
            <a:endParaRPr lang="en-US" sz="1200" dirty="0"/>
          </a:p>
        </p:txBody>
      </p:sp>
      <p:sp>
        <p:nvSpPr>
          <p:cNvPr id="20" name="Text 10">
            <a:extLst>
              <a:ext uri="{FF2B5EF4-FFF2-40B4-BE49-F238E27FC236}">
                <a16:creationId xmlns:a16="http://schemas.microsoft.com/office/drawing/2014/main" id="{63579579-0648-0BA8-C576-2D35E23D9054}"/>
              </a:ext>
            </a:extLst>
          </p:cNvPr>
          <p:cNvSpPr txBox="1"/>
          <p:nvPr/>
        </p:nvSpPr>
        <p:spPr>
          <a:xfrm>
            <a:off x="1190244" y="202898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Seven tiles for the selected unit, each opening its own table.</a:t>
            </a:r>
            <a:endParaRPr lang="en-US" sz="950" dirty="0"/>
          </a:p>
        </p:txBody>
      </p:sp>
      <p:sp>
        <p:nvSpPr>
          <p:cNvPr id="22" name="Shape 11">
            <a:extLst>
              <a:ext uri="{FF2B5EF4-FFF2-40B4-BE49-F238E27FC236}">
                <a16:creationId xmlns:a16="http://schemas.microsoft.com/office/drawing/2014/main" id="{6A2FFF70-0EA5-8789-8EF4-1471D59CD877}"/>
              </a:ext>
            </a:extLst>
          </p:cNvPr>
          <p:cNvSpPr/>
          <p:nvPr/>
        </p:nvSpPr>
        <p:spPr>
          <a:xfrm>
            <a:off x="550164" y="267821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4" name="Shape 12">
            <a:extLst>
              <a:ext uri="{FF2B5EF4-FFF2-40B4-BE49-F238E27FC236}">
                <a16:creationId xmlns:a16="http://schemas.microsoft.com/office/drawing/2014/main" id="{46D7493A-BFE2-D6A5-CE84-75731E8863FE}"/>
              </a:ext>
            </a:extLst>
          </p:cNvPr>
          <p:cNvSpPr/>
          <p:nvPr/>
        </p:nvSpPr>
        <p:spPr>
          <a:xfrm>
            <a:off x="778764" y="2824517"/>
            <a:ext cx="274320" cy="274320"/>
          </a:xfrm>
          <a:prstGeom prst="ellipse">
            <a:avLst/>
          </a:prstGeom>
          <a:solidFill>
            <a:srgbClr val="1E2761"/>
          </a:solidFill>
          <a:ln/>
        </p:spPr>
        <p:txBody>
          <a:bodyPr/>
          <a:lstStyle/>
          <a:p>
            <a:endParaRPr lang="en-PH"/>
          </a:p>
        </p:txBody>
      </p:sp>
      <p:sp>
        <p:nvSpPr>
          <p:cNvPr id="26" name="Text 13">
            <a:extLst>
              <a:ext uri="{FF2B5EF4-FFF2-40B4-BE49-F238E27FC236}">
                <a16:creationId xmlns:a16="http://schemas.microsoft.com/office/drawing/2014/main" id="{E382267E-09FD-F9D0-79A1-D919A62FC621}"/>
              </a:ext>
            </a:extLst>
          </p:cNvPr>
          <p:cNvSpPr txBox="1"/>
          <p:nvPr/>
        </p:nvSpPr>
        <p:spPr>
          <a:xfrm>
            <a:off x="778764" y="282451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Text 14">
            <a:extLst>
              <a:ext uri="{FF2B5EF4-FFF2-40B4-BE49-F238E27FC236}">
                <a16:creationId xmlns:a16="http://schemas.microsoft.com/office/drawing/2014/main" id="{6B5C0AFF-40F5-9EA3-7F5D-954059F64EE9}"/>
              </a:ext>
            </a:extLst>
          </p:cNvPr>
          <p:cNvSpPr txBox="1"/>
          <p:nvPr/>
        </p:nvSpPr>
        <p:spPr>
          <a:xfrm>
            <a:off x="1190244" y="279708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30" name="Text 15">
            <a:extLst>
              <a:ext uri="{FF2B5EF4-FFF2-40B4-BE49-F238E27FC236}">
                <a16:creationId xmlns:a16="http://schemas.microsoft.com/office/drawing/2014/main" id="{FBB73353-3679-0D06-7DF9-39C8EA065974}"/>
              </a:ext>
            </a:extLst>
          </p:cNvPr>
          <p:cNvSpPr txBox="1"/>
          <p:nvPr/>
        </p:nvSpPr>
        <p:spPr>
          <a:xfrm>
            <a:off x="1190244" y="308054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Every site the unit owns, with its owner, documents, records and counterparts.</a:t>
            </a:r>
            <a:endParaRPr lang="en-US" sz="950" dirty="0"/>
          </a:p>
        </p:txBody>
      </p:sp>
      <p:sp>
        <p:nvSpPr>
          <p:cNvPr id="32" name="Shape 16">
            <a:extLst>
              <a:ext uri="{FF2B5EF4-FFF2-40B4-BE49-F238E27FC236}">
                <a16:creationId xmlns:a16="http://schemas.microsoft.com/office/drawing/2014/main" id="{63836F4F-6325-88A6-D980-D0B45A7DB00E}"/>
              </a:ext>
            </a:extLst>
          </p:cNvPr>
          <p:cNvSpPr/>
          <p:nvPr/>
        </p:nvSpPr>
        <p:spPr>
          <a:xfrm>
            <a:off x="550164" y="372977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34" name="Shape 17">
            <a:extLst>
              <a:ext uri="{FF2B5EF4-FFF2-40B4-BE49-F238E27FC236}">
                <a16:creationId xmlns:a16="http://schemas.microsoft.com/office/drawing/2014/main" id="{1CDEB852-84F2-C024-72D6-A283C5A2C69C}"/>
              </a:ext>
            </a:extLst>
          </p:cNvPr>
          <p:cNvSpPr/>
          <p:nvPr/>
        </p:nvSpPr>
        <p:spPr>
          <a:xfrm>
            <a:off x="778764" y="3876077"/>
            <a:ext cx="274320" cy="274320"/>
          </a:xfrm>
          <a:prstGeom prst="ellipse">
            <a:avLst/>
          </a:prstGeom>
          <a:solidFill>
            <a:srgbClr val="1E2761"/>
          </a:solidFill>
          <a:ln/>
        </p:spPr>
        <p:txBody>
          <a:bodyPr/>
          <a:lstStyle/>
          <a:p>
            <a:endParaRPr lang="en-PH"/>
          </a:p>
        </p:txBody>
      </p:sp>
      <p:sp>
        <p:nvSpPr>
          <p:cNvPr id="36" name="Text 18">
            <a:extLst>
              <a:ext uri="{FF2B5EF4-FFF2-40B4-BE49-F238E27FC236}">
                <a16:creationId xmlns:a16="http://schemas.microsoft.com/office/drawing/2014/main" id="{7755A4C3-9C54-3A11-0DE8-19AAD153B8C4}"/>
              </a:ext>
            </a:extLst>
          </p:cNvPr>
          <p:cNvSpPr txBox="1"/>
          <p:nvPr/>
        </p:nvSpPr>
        <p:spPr>
          <a:xfrm>
            <a:off x="778764" y="387607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19">
            <a:extLst>
              <a:ext uri="{FF2B5EF4-FFF2-40B4-BE49-F238E27FC236}">
                <a16:creationId xmlns:a16="http://schemas.microsoft.com/office/drawing/2014/main" id="{54F6072A-C2FA-8AA5-BA78-AF4BAE5FFEFD}"/>
              </a:ext>
            </a:extLst>
          </p:cNvPr>
          <p:cNvSpPr txBox="1"/>
          <p:nvPr/>
        </p:nvSpPr>
        <p:spPr>
          <a:xfrm>
            <a:off x="1190244" y="384864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Site visits</a:t>
            </a:r>
            <a:endParaRPr lang="en-US" sz="1200" dirty="0"/>
          </a:p>
        </p:txBody>
      </p:sp>
      <p:sp>
        <p:nvSpPr>
          <p:cNvPr id="40" name="Text 20">
            <a:extLst>
              <a:ext uri="{FF2B5EF4-FFF2-40B4-BE49-F238E27FC236}">
                <a16:creationId xmlns:a16="http://schemas.microsoft.com/office/drawing/2014/main" id="{79D26199-39D0-3318-D9B9-DC50B0495677}"/>
              </a:ext>
            </a:extLst>
          </p:cNvPr>
          <p:cNvSpPr txBox="1"/>
          <p:nvPr/>
        </p:nvSpPr>
        <p:spPr>
          <a:xfrm>
            <a:off x="1190244" y="413210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Page views and visited pages per site, over a window you choose.</a:t>
            </a:r>
            <a:endParaRPr lang="en-US" sz="950" dirty="0"/>
          </a:p>
        </p:txBody>
      </p:sp>
      <p:sp>
        <p:nvSpPr>
          <p:cNvPr id="42" name="Shape 21">
            <a:extLst>
              <a:ext uri="{FF2B5EF4-FFF2-40B4-BE49-F238E27FC236}">
                <a16:creationId xmlns:a16="http://schemas.microsoft.com/office/drawing/2014/main" id="{3899330D-30F5-D6C7-58DA-649F76E2666A}"/>
              </a:ext>
            </a:extLst>
          </p:cNvPr>
          <p:cNvSpPr/>
          <p:nvPr/>
        </p:nvSpPr>
        <p:spPr>
          <a:xfrm>
            <a:off x="550164" y="4781333"/>
            <a:ext cx="4142232" cy="932688"/>
          </a:xfrm>
          <a:prstGeom prst="roundRect">
            <a:avLst>
              <a:gd name="adj" fmla="val 5882"/>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4" name="Shape 22">
            <a:extLst>
              <a:ext uri="{FF2B5EF4-FFF2-40B4-BE49-F238E27FC236}">
                <a16:creationId xmlns:a16="http://schemas.microsoft.com/office/drawing/2014/main" id="{F5E49EAE-D65D-494B-8C66-4373A71CC9D3}"/>
              </a:ext>
            </a:extLst>
          </p:cNvPr>
          <p:cNvSpPr/>
          <p:nvPr/>
        </p:nvSpPr>
        <p:spPr>
          <a:xfrm>
            <a:off x="778764" y="4927637"/>
            <a:ext cx="274320" cy="274320"/>
          </a:xfrm>
          <a:prstGeom prst="ellipse">
            <a:avLst/>
          </a:prstGeom>
          <a:solidFill>
            <a:srgbClr val="1E2761"/>
          </a:solidFill>
          <a:ln/>
        </p:spPr>
        <p:txBody>
          <a:bodyPr/>
          <a:lstStyle/>
          <a:p>
            <a:endParaRPr lang="en-PH"/>
          </a:p>
        </p:txBody>
      </p:sp>
      <p:sp>
        <p:nvSpPr>
          <p:cNvPr id="46" name="Text 23">
            <a:extLst>
              <a:ext uri="{FF2B5EF4-FFF2-40B4-BE49-F238E27FC236}">
                <a16:creationId xmlns:a16="http://schemas.microsoft.com/office/drawing/2014/main" id="{09DF9EBD-FC2D-782B-E83E-900284EE27EF}"/>
              </a:ext>
            </a:extLst>
          </p:cNvPr>
          <p:cNvSpPr txBox="1"/>
          <p:nvPr/>
        </p:nvSpPr>
        <p:spPr>
          <a:xfrm>
            <a:off x="778764" y="4927637"/>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8" name="Text 24">
            <a:extLst>
              <a:ext uri="{FF2B5EF4-FFF2-40B4-BE49-F238E27FC236}">
                <a16:creationId xmlns:a16="http://schemas.microsoft.com/office/drawing/2014/main" id="{CFB0D0BA-F9BF-BB17-4FAA-AC22359A9FEE}"/>
              </a:ext>
            </a:extLst>
          </p:cNvPr>
          <p:cNvSpPr txBox="1"/>
          <p:nvPr/>
        </p:nvSpPr>
        <p:spPr>
          <a:xfrm>
            <a:off x="1190244" y="4900205"/>
            <a:ext cx="329184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Library usage</a:t>
            </a:r>
            <a:endParaRPr lang="en-US" sz="1200" dirty="0"/>
          </a:p>
        </p:txBody>
      </p:sp>
      <p:sp>
        <p:nvSpPr>
          <p:cNvPr id="50" name="Text 25">
            <a:extLst>
              <a:ext uri="{FF2B5EF4-FFF2-40B4-BE49-F238E27FC236}">
                <a16:creationId xmlns:a16="http://schemas.microsoft.com/office/drawing/2014/main" id="{8B67F2FA-936E-B92D-C21C-A63234ECF63D}"/>
              </a:ext>
            </a:extLst>
          </p:cNvPr>
          <p:cNvSpPr txBox="1"/>
          <p:nvPr/>
        </p:nvSpPr>
        <p:spPr>
          <a:xfrm>
            <a:off x="1190244" y="5183669"/>
            <a:ext cx="3291840" cy="475488"/>
          </a:xfrm>
          <a:prstGeom prst="rect">
            <a:avLst/>
          </a:prstGeom>
          <a:noFill/>
          <a:ln/>
        </p:spPr>
        <p:txBody>
          <a:bodyPr wrap="square" lIns="0" tIns="0" rIns="0" bIns="0" rtlCol="0" anchor="ctr"/>
          <a:lstStyle/>
          <a:p>
            <a:pPr marL="0" indent="0">
              <a:buNone/>
            </a:pPr>
            <a:r>
              <a:rPr lang="en-US" sz="950" dirty="0">
                <a:solidFill>
                  <a:srgbClr val="6B7A90"/>
                </a:solidFill>
                <a:latin typeface="Calibri" pitchFamily="34" charset="0"/>
                <a:ea typeface="Calibri" pitchFamily="34" charset="-122"/>
                <a:cs typeface="Calibri" pitchFamily="34" charset="-120"/>
              </a:rPr>
              <a:t>Libraries inside the unit's sites, grouped by file plan category.</a:t>
            </a:r>
            <a:endParaRPr lang="en-US" sz="950" dirty="0"/>
          </a:p>
        </p:txBody>
      </p:sp>
      <p:pic>
        <p:nvPicPr>
          <p:cNvPr id="52" name="Picture 51">
            <a:extLst>
              <a:ext uri="{FF2B5EF4-FFF2-40B4-BE49-F238E27FC236}">
                <a16:creationId xmlns:a16="http://schemas.microsoft.com/office/drawing/2014/main" id="{480B8E92-0F85-9391-34BA-CB2C20BF3978}"/>
              </a:ext>
            </a:extLst>
          </p:cNvPr>
          <p:cNvPicPr>
            <a:picLocks noChangeAspect="1"/>
          </p:cNvPicPr>
          <p:nvPr/>
        </p:nvPicPr>
        <p:blipFill>
          <a:blip r:embed="rId3"/>
          <a:stretch>
            <a:fillRect/>
          </a:stretch>
        </p:blipFill>
        <p:spPr>
          <a:xfrm>
            <a:off x="5757644" y="102580"/>
            <a:ext cx="5069762" cy="6655887"/>
          </a:xfrm>
          <a:prstGeom prst="rect">
            <a:avLst/>
          </a:prstGeom>
          <a:ln>
            <a:noFill/>
          </a:ln>
          <a:effectLst>
            <a:outerShdw blurRad="190500" algn="tl" rotWithShape="0">
              <a:srgbClr val="000000">
                <a:alpha val="70000"/>
              </a:srgbClr>
            </a:outerShdw>
          </a:effectLst>
        </p:spPr>
      </p:pic>
      <p:sp>
        <p:nvSpPr>
          <p:cNvPr id="54" name="Shape 7">
            <a:extLst>
              <a:ext uri="{FF2B5EF4-FFF2-40B4-BE49-F238E27FC236}">
                <a16:creationId xmlns:a16="http://schemas.microsoft.com/office/drawing/2014/main" id="{5B1D958C-9C13-4A1A-AECD-B447FDE76DFC}"/>
              </a:ext>
            </a:extLst>
          </p:cNvPr>
          <p:cNvSpPr/>
          <p:nvPr/>
        </p:nvSpPr>
        <p:spPr>
          <a:xfrm>
            <a:off x="10910698" y="5469345"/>
            <a:ext cx="274320" cy="274320"/>
          </a:xfrm>
          <a:prstGeom prst="ellipse">
            <a:avLst/>
          </a:prstGeom>
          <a:solidFill>
            <a:srgbClr val="C00000"/>
          </a:solidFill>
          <a:ln/>
        </p:spPr>
        <p:txBody>
          <a:bodyPr/>
          <a:lstStyle/>
          <a:p>
            <a:endParaRPr lang="en-PH"/>
          </a:p>
        </p:txBody>
      </p:sp>
      <p:sp>
        <p:nvSpPr>
          <p:cNvPr id="56" name="Text 8">
            <a:extLst>
              <a:ext uri="{FF2B5EF4-FFF2-40B4-BE49-F238E27FC236}">
                <a16:creationId xmlns:a16="http://schemas.microsoft.com/office/drawing/2014/main" id="{5A3686D7-F573-9C31-1250-7E51C7CFFE9F}"/>
              </a:ext>
            </a:extLst>
          </p:cNvPr>
          <p:cNvSpPr txBox="1"/>
          <p:nvPr/>
        </p:nvSpPr>
        <p:spPr>
          <a:xfrm>
            <a:off x="10910698" y="54635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8" name="Shape 7">
            <a:extLst>
              <a:ext uri="{FF2B5EF4-FFF2-40B4-BE49-F238E27FC236}">
                <a16:creationId xmlns:a16="http://schemas.microsoft.com/office/drawing/2014/main" id="{4B3245A4-0575-A3EE-6593-53AEDC68BDAD}"/>
              </a:ext>
            </a:extLst>
          </p:cNvPr>
          <p:cNvSpPr/>
          <p:nvPr/>
        </p:nvSpPr>
        <p:spPr>
          <a:xfrm>
            <a:off x="10910698" y="3411945"/>
            <a:ext cx="274320" cy="274320"/>
          </a:xfrm>
          <a:prstGeom prst="ellipse">
            <a:avLst/>
          </a:prstGeom>
          <a:solidFill>
            <a:srgbClr val="C00000"/>
          </a:solidFill>
          <a:ln/>
        </p:spPr>
        <p:txBody>
          <a:bodyPr/>
          <a:lstStyle/>
          <a:p>
            <a:endParaRPr lang="en-PH"/>
          </a:p>
        </p:txBody>
      </p:sp>
      <p:sp>
        <p:nvSpPr>
          <p:cNvPr id="60" name="Text 8">
            <a:extLst>
              <a:ext uri="{FF2B5EF4-FFF2-40B4-BE49-F238E27FC236}">
                <a16:creationId xmlns:a16="http://schemas.microsoft.com/office/drawing/2014/main" id="{FB73F88B-95B4-B720-6A35-BB848F299187}"/>
              </a:ext>
            </a:extLst>
          </p:cNvPr>
          <p:cNvSpPr txBox="1"/>
          <p:nvPr/>
        </p:nvSpPr>
        <p:spPr>
          <a:xfrm>
            <a:off x="10910698" y="34061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2" name="Shape 7">
            <a:extLst>
              <a:ext uri="{FF2B5EF4-FFF2-40B4-BE49-F238E27FC236}">
                <a16:creationId xmlns:a16="http://schemas.microsoft.com/office/drawing/2014/main" id="{36029FFF-4B72-E7E0-0391-8428C68B5A59}"/>
              </a:ext>
            </a:extLst>
          </p:cNvPr>
          <p:cNvSpPr/>
          <p:nvPr/>
        </p:nvSpPr>
        <p:spPr>
          <a:xfrm>
            <a:off x="10910698" y="2360385"/>
            <a:ext cx="274320" cy="274320"/>
          </a:xfrm>
          <a:prstGeom prst="ellipse">
            <a:avLst/>
          </a:prstGeom>
          <a:solidFill>
            <a:srgbClr val="C00000"/>
          </a:solidFill>
          <a:ln/>
        </p:spPr>
        <p:txBody>
          <a:bodyPr/>
          <a:lstStyle/>
          <a:p>
            <a:endParaRPr lang="en-PH"/>
          </a:p>
        </p:txBody>
      </p:sp>
      <p:sp>
        <p:nvSpPr>
          <p:cNvPr id="64" name="Text 8">
            <a:extLst>
              <a:ext uri="{FF2B5EF4-FFF2-40B4-BE49-F238E27FC236}">
                <a16:creationId xmlns:a16="http://schemas.microsoft.com/office/drawing/2014/main" id="{0FFB8FDC-C162-9BD6-466C-50A975CB746E}"/>
              </a:ext>
            </a:extLst>
          </p:cNvPr>
          <p:cNvSpPr txBox="1"/>
          <p:nvPr/>
        </p:nvSpPr>
        <p:spPr>
          <a:xfrm>
            <a:off x="10910698" y="23545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6" name="Shape 7">
            <a:extLst>
              <a:ext uri="{FF2B5EF4-FFF2-40B4-BE49-F238E27FC236}">
                <a16:creationId xmlns:a16="http://schemas.microsoft.com/office/drawing/2014/main" id="{AC6E87D2-3083-59A1-1311-5242FFED2C6F}"/>
              </a:ext>
            </a:extLst>
          </p:cNvPr>
          <p:cNvSpPr/>
          <p:nvPr/>
        </p:nvSpPr>
        <p:spPr>
          <a:xfrm>
            <a:off x="10910698" y="1083855"/>
            <a:ext cx="274320" cy="274320"/>
          </a:xfrm>
          <a:prstGeom prst="ellipse">
            <a:avLst/>
          </a:prstGeom>
          <a:solidFill>
            <a:srgbClr val="C00000"/>
          </a:solidFill>
          <a:ln/>
        </p:spPr>
        <p:txBody>
          <a:bodyPr/>
          <a:lstStyle/>
          <a:p>
            <a:endParaRPr lang="en-PH"/>
          </a:p>
        </p:txBody>
      </p:sp>
      <p:sp>
        <p:nvSpPr>
          <p:cNvPr id="68" name="Text 8">
            <a:extLst>
              <a:ext uri="{FF2B5EF4-FFF2-40B4-BE49-F238E27FC236}">
                <a16:creationId xmlns:a16="http://schemas.microsoft.com/office/drawing/2014/main" id="{18F67386-1509-E7DF-B790-668D9EBF39D4}"/>
              </a:ext>
            </a:extLst>
          </p:cNvPr>
          <p:cNvSpPr txBox="1"/>
          <p:nvPr/>
        </p:nvSpPr>
        <p:spPr>
          <a:xfrm>
            <a:off x="10910698" y="107805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0" name="Text 0">
            <a:extLst>
              <a:ext uri="{FF2B5EF4-FFF2-40B4-BE49-F238E27FC236}">
                <a16:creationId xmlns:a16="http://schemas.microsoft.com/office/drawing/2014/main" id="{7BF67D1A-8BA0-50D2-D437-49633525CF42}"/>
              </a:ext>
            </a:extLst>
          </p:cNvPr>
          <p:cNvSpPr txBox="1"/>
          <p:nvPr/>
        </p:nvSpPr>
        <p:spPr>
          <a:xfrm>
            <a:off x="325991" y="632169"/>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MVP DASHBOARD 2</a:t>
            </a:r>
            <a:endParaRPr lang="en-US" sz="1050" dirty="0"/>
          </a:p>
        </p:txBody>
      </p:sp>
    </p:spTree>
    <p:extLst>
      <p:ext uri="{BB962C8B-B14F-4D97-AF65-F5344CB8AC3E}">
        <p14:creationId xmlns:p14="http://schemas.microsoft.com/office/powerpoint/2010/main" val="49850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9A5F2-39C7-2F5A-48AB-E28FABC40E6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4F28E14-DB1C-F6C2-47C9-7444B7C975E3}"/>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Department Insights: the profile tiles</a:t>
            </a:r>
            <a:endParaRPr lang="en-US" sz="3600" dirty="0"/>
          </a:p>
        </p:txBody>
      </p:sp>
      <p:graphicFrame>
        <p:nvGraphicFramePr>
          <p:cNvPr id="3" name="Table 0">
            <a:extLst>
              <a:ext uri="{FF2B5EF4-FFF2-40B4-BE49-F238E27FC236}">
                <a16:creationId xmlns:a16="http://schemas.microsoft.com/office/drawing/2014/main" id="{3A750FAA-ABC5-FEB2-4913-EE80695520F9}"/>
              </a:ext>
            </a:extLst>
          </p:cNvPr>
          <p:cNvGraphicFramePr>
            <a:graphicFrameLocks noGrp="1"/>
          </p:cNvGraphicFramePr>
          <p:nvPr>
            <p:extLst>
              <p:ext uri="{D42A27DB-BD31-4B8C-83A1-F6EECF244321}">
                <p14:modId xmlns:p14="http://schemas.microsoft.com/office/powerpoint/2010/main" val="3581812446"/>
              </p:ext>
            </p:extLst>
          </p:nvPr>
        </p:nvGraphicFramePr>
        <p:xfrm>
          <a:off x="548640" y="1659377"/>
          <a:ext cx="11091672" cy="220218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EDRMS compliant sites created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Sites provisioned to this unit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recorded activity for this unit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site visitors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Page views and visited pages, not distinct people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File count across the unit's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for the unit's sites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Records reaching their due date in a window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Go-Live date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When the unit went live on EDRMS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No source. Nothing records 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8"/>
                  </a:ext>
                </a:extLst>
              </a:tr>
            </a:tbl>
          </a:graphicData>
        </a:graphic>
      </p:graphicFrame>
      <p:sp>
        <p:nvSpPr>
          <p:cNvPr id="6" name="Shape 2">
            <a:extLst>
              <a:ext uri="{FF2B5EF4-FFF2-40B4-BE49-F238E27FC236}">
                <a16:creationId xmlns:a16="http://schemas.microsoft.com/office/drawing/2014/main" id="{8E08F0E8-5911-6625-3AE9-D13744244AFB}"/>
              </a:ext>
            </a:extLst>
          </p:cNvPr>
          <p:cNvSpPr/>
          <p:nvPr/>
        </p:nvSpPr>
        <p:spPr>
          <a:xfrm>
            <a:off x="548640" y="4476247"/>
            <a:ext cx="11091672" cy="868680"/>
          </a:xfrm>
          <a:prstGeom prst="roundRect">
            <a:avLst>
              <a:gd name="adj" fmla="val 6316"/>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28F27775-161B-C2F3-1D07-3C1236C34E41}"/>
              </a:ext>
            </a:extLst>
          </p:cNvPr>
          <p:cNvSpPr txBox="1"/>
          <p:nvPr/>
        </p:nvSpPr>
        <p:spPr>
          <a:xfrm>
            <a:off x="868680" y="4631695"/>
            <a:ext cx="10424160"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Both sheets now carry your assessment against every row and it has been used above.  What is still open is the decision itself: all 148 items across Bank-wide Oversight and Department Insights remain Pending Review. That is the most useful next input we can receive.</a:t>
            </a:r>
            <a:r>
              <a:rPr lang="en-US" sz="1150" dirty="0">
                <a:solidFill>
                  <a:srgbClr val="333F50"/>
                </a:solidFill>
                <a:latin typeface="Calibri" pitchFamily="34" charset="0"/>
                <a:ea typeface="Calibri" pitchFamily="34" charset="-122"/>
                <a:cs typeface="Calibri" pitchFamily="34" charset="-120"/>
              </a:rPr>
              <a:t/>
            </a:r>
            <a:endParaRPr lang="en-US" sz="1150" dirty="0"/>
          </a:p>
        </p:txBody>
      </p:sp>
      <p:sp>
        <p:nvSpPr>
          <p:cNvPr id="10" name="Shape 4">
            <a:extLst>
              <a:ext uri="{FF2B5EF4-FFF2-40B4-BE49-F238E27FC236}">
                <a16:creationId xmlns:a16="http://schemas.microsoft.com/office/drawing/2014/main" id="{94670DD1-43DF-0C51-C54F-B23D61E63F13}"/>
              </a:ext>
            </a:extLst>
          </p:cNvPr>
          <p:cNvSpPr/>
          <p:nvPr/>
        </p:nvSpPr>
        <p:spPr>
          <a:xfrm>
            <a:off x="548640" y="5582671"/>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2" name="Text 5">
            <a:extLst>
              <a:ext uri="{FF2B5EF4-FFF2-40B4-BE49-F238E27FC236}">
                <a16:creationId xmlns:a16="http://schemas.microsoft.com/office/drawing/2014/main" id="{9A8D4CDC-70B6-5FFA-AEE0-0462612FF5CE}"/>
              </a:ext>
            </a:extLst>
          </p:cNvPr>
          <p:cNvSpPr txBox="1"/>
          <p:nvPr/>
        </p:nvSpPr>
        <p:spPr>
          <a:xfrm>
            <a:off x="548640" y="5582671"/>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4" name="Text 6">
            <a:extLst>
              <a:ext uri="{FF2B5EF4-FFF2-40B4-BE49-F238E27FC236}">
                <a16:creationId xmlns:a16="http://schemas.microsoft.com/office/drawing/2014/main" id="{7D345FB2-6F61-D195-E37A-12DC7719E8AE}"/>
              </a:ext>
            </a:extLst>
          </p:cNvPr>
          <p:cNvSpPr txBox="1"/>
          <p:nvPr/>
        </p:nvSpPr>
        <p:spPr>
          <a:xfrm>
            <a:off x="1508760" y="558267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6" name="Shape 7">
            <a:extLst>
              <a:ext uri="{FF2B5EF4-FFF2-40B4-BE49-F238E27FC236}">
                <a16:creationId xmlns:a16="http://schemas.microsoft.com/office/drawing/2014/main" id="{7C0E92E4-AFB1-F340-3684-7102C2AA193D}"/>
              </a:ext>
            </a:extLst>
          </p:cNvPr>
          <p:cNvSpPr/>
          <p:nvPr/>
        </p:nvSpPr>
        <p:spPr>
          <a:xfrm>
            <a:off x="4343400" y="5582671"/>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18" name="Text 8">
            <a:extLst>
              <a:ext uri="{FF2B5EF4-FFF2-40B4-BE49-F238E27FC236}">
                <a16:creationId xmlns:a16="http://schemas.microsoft.com/office/drawing/2014/main" id="{06E2878E-1A19-D79F-58C2-6F0B156F497E}"/>
              </a:ext>
            </a:extLst>
          </p:cNvPr>
          <p:cNvSpPr txBox="1"/>
          <p:nvPr/>
        </p:nvSpPr>
        <p:spPr>
          <a:xfrm>
            <a:off x="4343400" y="5582671"/>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0" name="Text 9">
            <a:extLst>
              <a:ext uri="{FF2B5EF4-FFF2-40B4-BE49-F238E27FC236}">
                <a16:creationId xmlns:a16="http://schemas.microsoft.com/office/drawing/2014/main" id="{4BB9C904-133A-D5A4-CA41-B1348DE377DF}"/>
              </a:ext>
            </a:extLst>
          </p:cNvPr>
          <p:cNvSpPr txBox="1"/>
          <p:nvPr/>
        </p:nvSpPr>
        <p:spPr>
          <a:xfrm>
            <a:off x="5303520" y="558267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2" name="Shape 10">
            <a:extLst>
              <a:ext uri="{FF2B5EF4-FFF2-40B4-BE49-F238E27FC236}">
                <a16:creationId xmlns:a16="http://schemas.microsoft.com/office/drawing/2014/main" id="{4C47FDB3-6D19-0613-841B-D1661292392E}"/>
              </a:ext>
            </a:extLst>
          </p:cNvPr>
          <p:cNvSpPr/>
          <p:nvPr/>
        </p:nvSpPr>
        <p:spPr>
          <a:xfrm>
            <a:off x="8138160" y="5582671"/>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4" name="Text 11">
            <a:extLst>
              <a:ext uri="{FF2B5EF4-FFF2-40B4-BE49-F238E27FC236}">
                <a16:creationId xmlns:a16="http://schemas.microsoft.com/office/drawing/2014/main" id="{4454DFF7-29C9-FB23-E2AA-12553FE35E47}"/>
              </a:ext>
            </a:extLst>
          </p:cNvPr>
          <p:cNvSpPr txBox="1"/>
          <p:nvPr/>
        </p:nvSpPr>
        <p:spPr>
          <a:xfrm>
            <a:off x="8138160" y="5582671"/>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6" name="Text 12">
            <a:extLst>
              <a:ext uri="{FF2B5EF4-FFF2-40B4-BE49-F238E27FC236}">
                <a16:creationId xmlns:a16="http://schemas.microsoft.com/office/drawing/2014/main" id="{B54F5FEA-09CC-DF01-4CFF-887FC2D4E821}"/>
              </a:ext>
            </a:extLst>
          </p:cNvPr>
          <p:cNvSpPr txBox="1"/>
          <p:nvPr/>
        </p:nvSpPr>
        <p:spPr>
          <a:xfrm>
            <a:off x="9098280" y="558267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28" name="Text 0">
            <a:extLst>
              <a:ext uri="{FF2B5EF4-FFF2-40B4-BE49-F238E27FC236}">
                <a16:creationId xmlns:a16="http://schemas.microsoft.com/office/drawing/2014/main" id="{1AF28EA7-5C6E-549C-DE93-40AD8801928F}"/>
              </a:ext>
            </a:extLst>
          </p:cNvPr>
          <p:cNvSpPr txBox="1"/>
          <p:nvPr/>
        </p:nvSpPr>
        <p:spPr>
          <a:xfrm>
            <a:off x="325991" y="671322"/>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129680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B9C38-40B8-532F-A077-AD3C6113F35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B83325B-B027-D138-41B8-BECE19A209AE}"/>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Department Insights: sites, visits and libraries</a:t>
            </a:r>
            <a:endParaRPr lang="en-US" sz="3600" dirty="0"/>
          </a:p>
        </p:txBody>
      </p:sp>
      <p:graphicFrame>
        <p:nvGraphicFramePr>
          <p:cNvPr id="3" name="Table 0">
            <a:extLst>
              <a:ext uri="{FF2B5EF4-FFF2-40B4-BE49-F238E27FC236}">
                <a16:creationId xmlns:a16="http://schemas.microsoft.com/office/drawing/2014/main" id="{24562BBF-4706-EFCD-3068-FECFCBBBFD66}"/>
              </a:ext>
            </a:extLst>
          </p:cNvPr>
          <p:cNvGraphicFramePr>
            <a:graphicFrameLocks noGrp="1"/>
          </p:cNvGraphicFramePr>
          <p:nvPr>
            <p:extLst>
              <p:ext uri="{D42A27DB-BD31-4B8C-83A1-F6EECF244321}">
                <p14:modId xmlns:p14="http://schemas.microsoft.com/office/powerpoint/2010/main" val="3507338318"/>
              </p:ext>
            </p:extLst>
          </p:nvPr>
        </p:nvGraphicFramePr>
        <p:xfrm>
          <a:off x="678036" y="1652355"/>
          <a:ext cx="11091672" cy="2377440"/>
        </p:xfrm>
        <a:graphic>
          <a:graphicData uri="http://schemas.openxmlformats.org/drawingml/2006/table">
            <a:tbl>
              <a:tblPr/>
              <a:tblGrid>
                <a:gridCol w="23317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913632">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Name of sites, site owners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Each site the unit owns and who owns it</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Cloud Governance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1"/>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documents per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File count for that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SharePoint site usage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2"/>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records, counterparts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Declared records and paper counterparts per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EDRMS database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3"/>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Page views, visited pages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Visit activity per site in the window</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SharePoint site usage, 7 to 180 days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4"/>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Visitors internal and external</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Visits split by where the person comes from</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No available report splits this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5"/>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Access requests granted, denied</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Requests to join a site and their outcome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Site access request summary page, to be confirmed</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lgn="ctr">
                        <a:buNone/>
                      </a:pPr>
                      <a:r>
                        <a:rPr lang="en-US" sz="950" b="1" dirty="0">
                          <a:solidFill>
                            <a:srgbClr val="8A5A00"/>
                          </a:solidFill>
                          <a:latin typeface="Calibri" pitchFamily="34" charset="0"/>
                          <a:ea typeface="Calibri" pitchFamily="34" charset="-122"/>
                          <a:cs typeface="Calibri" pitchFamily="34" charset="-120"/>
                        </a:rPr>
                        <a:t>Define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6"/>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Library names</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Libraries inside each site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ITD lookup file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marL="0" indent="0" algn="ctr">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extLst>
                  <a:ext uri="{0D108BD9-81ED-4DB2-BD59-A6C34878D82A}">
                    <a16:rowId xmlns:a16="http://schemas.microsoft.com/office/drawing/2014/main" val="10007"/>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documents per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Documents inside each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Needs a document level scan. Nothing reports below site level today.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8"/>
                  </a:ext>
                </a:extLst>
              </a:tr>
              <a:tr h="0">
                <a:tc>
                  <a:txBody>
                    <a:bodyPr/>
                    <a:lstStyle/>
                    <a:p>
                      <a:pPr marL="0" indent="0">
                        <a:buNone/>
                      </a:pPr>
                      <a:r>
                        <a:rPr lang="en-US" sz="950" b="1" dirty="0">
                          <a:solidFill>
                            <a:srgbClr val="333F50"/>
                          </a:solidFill>
                          <a:latin typeface="Calibri" pitchFamily="34" charset="0"/>
                          <a:ea typeface="Calibri" pitchFamily="34" charset="-122"/>
                          <a:cs typeface="Calibri" pitchFamily="34" charset="-120"/>
                        </a:rPr>
                        <a:t>Number of users per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People using each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buNone/>
                      </a:pPr>
                      <a:r>
                        <a:rPr lang="en-US" sz="950" dirty="0">
                          <a:solidFill>
                            <a:srgbClr val="333F50"/>
                          </a:solidFill>
                          <a:latin typeface="Calibri" pitchFamily="34" charset="0"/>
                          <a:ea typeface="Calibri" pitchFamily="34" charset="-122"/>
                          <a:cs typeface="Calibri" pitchFamily="34" charset="-120"/>
                        </a:rPr>
                        <a:t>No source will ever produce this. Activity is never reported per library.</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marL="0" indent="0" algn="ctr">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extLst>
                  <a:ext uri="{0D108BD9-81ED-4DB2-BD59-A6C34878D82A}">
                    <a16:rowId xmlns:a16="http://schemas.microsoft.com/office/drawing/2014/main" val="10009"/>
                  </a:ext>
                </a:extLst>
              </a:tr>
            </a:tbl>
          </a:graphicData>
        </a:graphic>
      </p:graphicFrame>
      <p:sp>
        <p:nvSpPr>
          <p:cNvPr id="6" name="Shape 2">
            <a:extLst>
              <a:ext uri="{FF2B5EF4-FFF2-40B4-BE49-F238E27FC236}">
                <a16:creationId xmlns:a16="http://schemas.microsoft.com/office/drawing/2014/main" id="{A97CC102-7BFF-D647-CA81-15111A5785A8}"/>
              </a:ext>
            </a:extLst>
          </p:cNvPr>
          <p:cNvSpPr/>
          <p:nvPr/>
        </p:nvSpPr>
        <p:spPr>
          <a:xfrm>
            <a:off x="678036" y="4631695"/>
            <a:ext cx="11091672" cy="658368"/>
          </a:xfrm>
          <a:prstGeom prst="roundRect">
            <a:avLst>
              <a:gd name="adj" fmla="val 833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8" name="Text 3">
            <a:extLst>
              <a:ext uri="{FF2B5EF4-FFF2-40B4-BE49-F238E27FC236}">
                <a16:creationId xmlns:a16="http://schemas.microsoft.com/office/drawing/2014/main" id="{39D2669A-9A60-6E41-C83C-FC5462DD107B}"/>
              </a:ext>
            </a:extLst>
          </p:cNvPr>
          <p:cNvSpPr txBox="1"/>
          <p:nvPr/>
        </p:nvSpPr>
        <p:spPr>
          <a:xfrm>
            <a:off x="998076" y="4759711"/>
            <a:ext cx="10424160" cy="402336"/>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Worth a decision now:  </a:t>
            </a:r>
            <a:r>
              <a:rPr lang="en-US" sz="1150" dirty="0">
                <a:solidFill>
                  <a:srgbClr val="333F50"/>
                </a:solidFill>
                <a:latin typeface="Calibri" pitchFamily="34" charset="0"/>
                <a:ea typeface="Calibri" pitchFamily="34" charset="-122"/>
                <a:cs typeface="Calibri" pitchFamily="34" charset="-120"/>
              </a:rPr>
              <a:t>users per library cannot be produced by any source, now or later. We suggest dropping it rather than leaving it open.</a:t>
            </a:r>
            <a:endParaRPr lang="en-US" sz="1150" dirty="0"/>
          </a:p>
        </p:txBody>
      </p:sp>
      <p:sp>
        <p:nvSpPr>
          <p:cNvPr id="10" name="Shape 4">
            <a:extLst>
              <a:ext uri="{FF2B5EF4-FFF2-40B4-BE49-F238E27FC236}">
                <a16:creationId xmlns:a16="http://schemas.microsoft.com/office/drawing/2014/main" id="{DC20D2D4-A4F3-2FDE-9924-58CC303470A2}"/>
              </a:ext>
            </a:extLst>
          </p:cNvPr>
          <p:cNvSpPr/>
          <p:nvPr/>
        </p:nvSpPr>
        <p:spPr>
          <a:xfrm>
            <a:off x="678036" y="5491231"/>
            <a:ext cx="868680" cy="237744"/>
          </a:xfrm>
          <a:prstGeom prst="roundRect">
            <a:avLst>
              <a:gd name="adj" fmla="val 19231"/>
            </a:avLst>
          </a:prstGeom>
          <a:solidFill>
            <a:srgbClr val="DCEDE2"/>
          </a:solidFill>
          <a:ln w="9525">
            <a:solidFill>
              <a:srgbClr val="1F6B3B"/>
            </a:solidFill>
            <a:prstDash val="solid"/>
          </a:ln>
        </p:spPr>
        <p:txBody>
          <a:bodyPr/>
          <a:lstStyle/>
          <a:p>
            <a:endParaRPr lang="en-PH"/>
          </a:p>
        </p:txBody>
      </p:sp>
      <p:sp>
        <p:nvSpPr>
          <p:cNvPr id="12" name="Text 5">
            <a:extLst>
              <a:ext uri="{FF2B5EF4-FFF2-40B4-BE49-F238E27FC236}">
                <a16:creationId xmlns:a16="http://schemas.microsoft.com/office/drawing/2014/main" id="{B5E3CB45-7E23-052B-7CD5-3B52C25FF83F}"/>
              </a:ext>
            </a:extLst>
          </p:cNvPr>
          <p:cNvSpPr txBox="1"/>
          <p:nvPr/>
        </p:nvSpPr>
        <p:spPr>
          <a:xfrm>
            <a:off x="678036" y="5491231"/>
            <a:ext cx="868680" cy="237744"/>
          </a:xfrm>
          <a:prstGeom prst="rect">
            <a:avLst/>
          </a:prstGeom>
          <a:noFill/>
          <a:ln/>
        </p:spPr>
        <p:txBody>
          <a:bodyPr wrap="square" lIns="0" tIns="0" rIns="0" bIns="0" rtlCol="0" anchor="ctr"/>
          <a:lstStyle/>
          <a:p>
            <a:pPr marL="0" indent="0" algn="ctr">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4" name="Text 6">
            <a:extLst>
              <a:ext uri="{FF2B5EF4-FFF2-40B4-BE49-F238E27FC236}">
                <a16:creationId xmlns:a16="http://schemas.microsoft.com/office/drawing/2014/main" id="{CF79F495-0C41-E25C-AD00-4F4CBB2B0D89}"/>
              </a:ext>
            </a:extLst>
          </p:cNvPr>
          <p:cNvSpPr txBox="1"/>
          <p:nvPr/>
        </p:nvSpPr>
        <p:spPr>
          <a:xfrm>
            <a:off x="1638156" y="549123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6" name="Shape 7">
            <a:extLst>
              <a:ext uri="{FF2B5EF4-FFF2-40B4-BE49-F238E27FC236}">
                <a16:creationId xmlns:a16="http://schemas.microsoft.com/office/drawing/2014/main" id="{2C0E986C-75B9-7127-F36A-8D22B142C5D4}"/>
              </a:ext>
            </a:extLst>
          </p:cNvPr>
          <p:cNvSpPr/>
          <p:nvPr/>
        </p:nvSpPr>
        <p:spPr>
          <a:xfrm>
            <a:off x="4472796" y="5491231"/>
            <a:ext cx="868680" cy="237744"/>
          </a:xfrm>
          <a:prstGeom prst="roundRect">
            <a:avLst>
              <a:gd name="adj" fmla="val 19231"/>
            </a:avLst>
          </a:prstGeom>
          <a:solidFill>
            <a:srgbClr val="FBEFD4"/>
          </a:solidFill>
          <a:ln w="9525">
            <a:solidFill>
              <a:srgbClr val="8A5A00"/>
            </a:solidFill>
            <a:prstDash val="solid"/>
          </a:ln>
        </p:spPr>
        <p:txBody>
          <a:bodyPr/>
          <a:lstStyle/>
          <a:p>
            <a:endParaRPr lang="en-PH"/>
          </a:p>
        </p:txBody>
      </p:sp>
      <p:sp>
        <p:nvSpPr>
          <p:cNvPr id="18" name="Text 8">
            <a:extLst>
              <a:ext uri="{FF2B5EF4-FFF2-40B4-BE49-F238E27FC236}">
                <a16:creationId xmlns:a16="http://schemas.microsoft.com/office/drawing/2014/main" id="{2D9E1551-A7B6-F898-D7AD-20429935AB7A}"/>
              </a:ext>
            </a:extLst>
          </p:cNvPr>
          <p:cNvSpPr txBox="1"/>
          <p:nvPr/>
        </p:nvSpPr>
        <p:spPr>
          <a:xfrm>
            <a:off x="4472796" y="5491231"/>
            <a:ext cx="868680" cy="237744"/>
          </a:xfrm>
          <a:prstGeom prst="rect">
            <a:avLst/>
          </a:prstGeom>
          <a:noFill/>
          <a:ln/>
        </p:spPr>
        <p:txBody>
          <a:bodyPr wrap="square" lIns="0" tIns="0" rIns="0" bIns="0" rtlCol="0" anchor="ctr"/>
          <a:lstStyle/>
          <a:p>
            <a:pPr marL="0" indent="0" algn="ctr">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20" name="Text 9">
            <a:extLst>
              <a:ext uri="{FF2B5EF4-FFF2-40B4-BE49-F238E27FC236}">
                <a16:creationId xmlns:a16="http://schemas.microsoft.com/office/drawing/2014/main" id="{610C7F13-4370-1B70-AA28-0A5C3676B01B}"/>
              </a:ext>
            </a:extLst>
          </p:cNvPr>
          <p:cNvSpPr txBox="1"/>
          <p:nvPr/>
        </p:nvSpPr>
        <p:spPr>
          <a:xfrm>
            <a:off x="5432916" y="549123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22" name="Shape 10">
            <a:extLst>
              <a:ext uri="{FF2B5EF4-FFF2-40B4-BE49-F238E27FC236}">
                <a16:creationId xmlns:a16="http://schemas.microsoft.com/office/drawing/2014/main" id="{F42B3AE3-E7C3-BA4E-9143-19670B27F1B6}"/>
              </a:ext>
            </a:extLst>
          </p:cNvPr>
          <p:cNvSpPr/>
          <p:nvPr/>
        </p:nvSpPr>
        <p:spPr>
          <a:xfrm>
            <a:off x="8267556" y="5491231"/>
            <a:ext cx="868680" cy="237744"/>
          </a:xfrm>
          <a:prstGeom prst="roundRect">
            <a:avLst>
              <a:gd name="adj" fmla="val 19231"/>
            </a:avLst>
          </a:prstGeom>
          <a:solidFill>
            <a:srgbClr val="F7E0E0"/>
          </a:solidFill>
          <a:ln w="9525">
            <a:solidFill>
              <a:srgbClr val="9C2B2B"/>
            </a:solidFill>
            <a:prstDash val="solid"/>
          </a:ln>
        </p:spPr>
        <p:txBody>
          <a:bodyPr/>
          <a:lstStyle/>
          <a:p>
            <a:endParaRPr lang="en-PH"/>
          </a:p>
        </p:txBody>
      </p:sp>
      <p:sp>
        <p:nvSpPr>
          <p:cNvPr id="24" name="Text 11">
            <a:extLst>
              <a:ext uri="{FF2B5EF4-FFF2-40B4-BE49-F238E27FC236}">
                <a16:creationId xmlns:a16="http://schemas.microsoft.com/office/drawing/2014/main" id="{56682FEF-D79E-CE77-7023-44C22B03BED3}"/>
              </a:ext>
            </a:extLst>
          </p:cNvPr>
          <p:cNvSpPr txBox="1"/>
          <p:nvPr/>
        </p:nvSpPr>
        <p:spPr>
          <a:xfrm>
            <a:off x="8267556" y="5491231"/>
            <a:ext cx="868680" cy="237744"/>
          </a:xfrm>
          <a:prstGeom prst="rect">
            <a:avLst/>
          </a:prstGeom>
          <a:noFill/>
          <a:ln/>
        </p:spPr>
        <p:txBody>
          <a:bodyPr wrap="square" lIns="0" tIns="0" rIns="0" bIns="0" rtlCol="0" anchor="ctr"/>
          <a:lstStyle/>
          <a:p>
            <a:pPr marL="0" indent="0" algn="ctr">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26" name="Text 12">
            <a:extLst>
              <a:ext uri="{FF2B5EF4-FFF2-40B4-BE49-F238E27FC236}">
                <a16:creationId xmlns:a16="http://schemas.microsoft.com/office/drawing/2014/main" id="{16756DA5-B7E9-2443-5752-E8C4DAE9723C}"/>
              </a:ext>
            </a:extLst>
          </p:cNvPr>
          <p:cNvSpPr txBox="1"/>
          <p:nvPr/>
        </p:nvSpPr>
        <p:spPr>
          <a:xfrm>
            <a:off x="9227676" y="5491231"/>
            <a:ext cx="2788920" cy="237744"/>
          </a:xfrm>
          <a:prstGeom prst="rect">
            <a:avLst/>
          </a:prstGeom>
          <a:noFill/>
          <a:ln/>
        </p:spPr>
        <p:txBody>
          <a:bodyPr wrap="square" lIns="0" tIns="0" rIns="0" bIns="0" rtlCol="0" anchor="ctr"/>
          <a:lstStyle/>
          <a:p>
            <a:pPr marL="0" indent="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
        <p:nvSpPr>
          <p:cNvPr id="30" name="Text 0">
            <a:extLst>
              <a:ext uri="{FF2B5EF4-FFF2-40B4-BE49-F238E27FC236}">
                <a16:creationId xmlns:a16="http://schemas.microsoft.com/office/drawing/2014/main" id="{CFF162F8-EE3A-2A4C-3B0D-7D546670ED15}"/>
              </a:ext>
            </a:extLst>
          </p:cNvPr>
          <p:cNvSpPr txBox="1"/>
          <p:nvPr/>
        </p:nvSpPr>
        <p:spPr>
          <a:xfrm>
            <a:off x="325991" y="671322"/>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Tree>
    <p:extLst>
      <p:ext uri="{BB962C8B-B14F-4D97-AF65-F5344CB8AC3E}">
        <p14:creationId xmlns:p14="http://schemas.microsoft.com/office/powerpoint/2010/main" val="1882594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8C3A2-FF03-C55D-ABA6-3059F9357EC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0ACFACE-554B-368C-2104-9EA8D78FD209}"/>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Terminology to confirm</a:t>
            </a:r>
            <a:endParaRPr lang="en-US" sz="3600" dirty="0"/>
          </a:p>
        </p:txBody>
      </p:sp>
      <p:sp>
        <p:nvSpPr>
          <p:cNvPr id="3" name="Text 2">
            <a:extLst>
              <a:ext uri="{FF2B5EF4-FFF2-40B4-BE49-F238E27FC236}">
                <a16:creationId xmlns:a16="http://schemas.microsoft.com/office/drawing/2014/main" id="{78E7F3C6-0023-B6D3-B7CE-D8A3FE7EC78C}"/>
              </a:ext>
            </a:extLst>
          </p:cNvPr>
          <p:cNvSpPr txBox="1"/>
          <p:nvPr/>
        </p:nvSpPr>
        <p:spPr>
          <a:xfrm>
            <a:off x="548640" y="1298448"/>
            <a:ext cx="1109167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Each of these reads more than one way. Which one you mean decides what the report counts.</a:t>
            </a:r>
            <a:endParaRPr lang="en-US" sz="1250" dirty="0"/>
          </a:p>
        </p:txBody>
      </p:sp>
      <p:graphicFrame>
        <p:nvGraphicFramePr>
          <p:cNvPr id="6" name="Table 0">
            <a:extLst>
              <a:ext uri="{FF2B5EF4-FFF2-40B4-BE49-F238E27FC236}">
                <a16:creationId xmlns:a16="http://schemas.microsoft.com/office/drawing/2014/main" id="{7438A313-2AE8-3F9A-EFBD-B0BE585A6352}"/>
              </a:ext>
            </a:extLst>
          </p:cNvPr>
          <p:cNvGraphicFramePr>
            <a:graphicFrameLocks noGrp="1"/>
          </p:cNvGraphicFramePr>
          <p:nvPr>
            <p:extLst>
              <p:ext uri="{D42A27DB-BD31-4B8C-83A1-F6EECF244321}">
                <p14:modId xmlns:p14="http://schemas.microsoft.com/office/powerpoint/2010/main" val="1575542035"/>
              </p:ext>
            </p:extLst>
          </p:nvPr>
        </p:nvGraphicFramePr>
        <p:xfrm>
          <a:off x="548640" y="1664208"/>
          <a:ext cx="11091672" cy="2659380"/>
        </p:xfrm>
        <a:graphic>
          <a:graphicData uri="http://schemas.openxmlformats.org/drawingml/2006/table">
            <a:tbl>
              <a:tblPr/>
              <a:tblGrid>
                <a:gridCol w="224028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It could mean</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Our proposal</a:t>
                      </a:r>
                      <a:endParaRPr lang="en-US" sz="105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EDRMS user</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Anyone with access to an EDRMS site  ·  anyone who used it  ·  anyone who declared a record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Someone who declared a record. It is the only one countable today.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Due for disposal</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Every record has a due date, so all of them are due eventually. In 30, 60, 90 days, or overdue?</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Show it in windows: due within 30 days, 90 days and 12 months.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Never accessed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Never at all  ·  not in the last 180 days, which is as far back as the report reaches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with access to the site who have never opened it, from site permissions.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Department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The HQ office only  ·  the whole department including its RMs, offices and divisions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Two levels: department, then division. Countries, RMs and offices are divisions.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All SharePoint sites  ·  EDRMS compliant sites only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EDRMS sites only. Confirmed in the workshop that the other sites stay out.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Visitors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Distinct people who came  ·  the number of visits, which is what the report counts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Site visits, and label it that way.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Users creating documents</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People who created a document  ·  people who uploaded one  ·  both</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Needs your answer before it can be built either way.</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7"/>
                  </a:ext>
                </a:extLst>
              </a:tr>
              <a:tr h="0">
                <a:tc>
                  <a:txBody>
                    <a:bodyPr/>
                    <a:lstStyle/>
                    <a:p>
                      <a:pPr marL="0" indent="0">
                        <a:buNone/>
                      </a:pPr>
                      <a:r>
                        <a:rPr lang="en-US" sz="1000" b="1" dirty="0">
                          <a:solidFill>
                            <a:srgbClr val="333F50"/>
                          </a:solidFill>
                          <a:latin typeface="Calibri" pitchFamily="34" charset="0"/>
                          <a:ea typeface="Calibri" pitchFamily="34" charset="-122"/>
                          <a:cs typeface="Calibri" pitchFamily="34" charset="-120"/>
                        </a:rPr>
                        <a:t>Unit</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Your own review asks what unit means in “clickable into that unit's dashboard”</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marL="0" indent="0">
                        <a:buNone/>
                      </a:pPr>
                      <a:r>
                        <a:rPr lang="en-US" sz="1000" dirty="0">
                          <a:solidFill>
                            <a:srgbClr val="333F50"/>
                          </a:solidFill>
                          <a:latin typeface="Calibri" pitchFamily="34" charset="0"/>
                          <a:ea typeface="Calibri" pitchFamily="34" charset="-122"/>
                          <a:cs typeface="Calibri" pitchFamily="34" charset="-120"/>
                        </a:rPr>
                        <a:t>We read it as the department, office or RM on that row.</a:t>
                      </a:r>
                      <a:endParaRPr lang="en-US" sz="1000" dirty="0">
                        <a:latin typeface="Calibri" charset="0"/>
                        <a:ea typeface="Calibri" charset="0"/>
                        <a:cs typeface="Calibri" charset="0"/>
                      </a:endParaRPr>
                    </a:p>
                  </a:txBody>
                  <a:tcPr>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extLst>
                  <a:ext uri="{0D108BD9-81ED-4DB2-BD59-A6C34878D82A}">
                    <a16:rowId xmlns:a16="http://schemas.microsoft.com/office/drawing/2014/main" val="10008"/>
                  </a:ext>
                </a:extLst>
              </a:tr>
            </a:tbl>
          </a:graphicData>
        </a:graphic>
      </p:graphicFrame>
      <p:sp>
        <p:nvSpPr>
          <p:cNvPr id="10" name="Text 0">
            <a:extLst>
              <a:ext uri="{FF2B5EF4-FFF2-40B4-BE49-F238E27FC236}">
                <a16:creationId xmlns:a16="http://schemas.microsoft.com/office/drawing/2014/main" id="{3026FBBE-1D86-B5DB-90D7-78597E7C8A3D}"/>
              </a:ext>
            </a:extLst>
          </p:cNvPr>
          <p:cNvSpPr txBox="1"/>
          <p:nvPr/>
        </p:nvSpPr>
        <p:spPr>
          <a:xfrm>
            <a:off x="370441" y="707427"/>
            <a:ext cx="11219688" cy="219456"/>
          </a:xfrm>
          <a:prstGeom prst="rect">
            <a:avLst/>
          </a:prstGeom>
          <a:noFill/>
          <a:ln/>
        </p:spPr>
        <p:txBody>
          <a:bodyPr wrap="square" lIns="0" tIns="0" rIns="0" bIns="0" rtlCol="0" anchor="ctr"/>
          <a:lstStyle/>
          <a:p>
            <a:r>
              <a:rPr lang="en-US" sz="1050" b="1" kern="0" spc="160" dirty="0">
                <a:solidFill>
                  <a:srgbClr val="6B7A90"/>
                </a:solidFill>
                <a:latin typeface="Calibri" pitchFamily="34" charset="0"/>
                <a:ea typeface="Calibri" pitchFamily="34" charset="-122"/>
                <a:cs typeface="Calibri" pitchFamily="34" charset="-120"/>
              </a:rPr>
              <a:t>WORDS THAT CHANGE THE FIGURE</a:t>
            </a:r>
            <a:endParaRPr lang="en-US" sz="1050" dirty="0"/>
          </a:p>
        </p:txBody>
      </p:sp>
    </p:spTree>
    <p:extLst>
      <p:ext uri="{BB962C8B-B14F-4D97-AF65-F5344CB8AC3E}">
        <p14:creationId xmlns:p14="http://schemas.microsoft.com/office/powerpoint/2010/main" val="482963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C366D-E2EC-E9F8-593F-91D90A6A6E5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48374FB1-87B7-A706-3837-2CA33F450D55}"/>
              </a:ext>
            </a:extLst>
          </p:cNvPr>
          <p:cNvSpPr/>
          <p:nvPr/>
        </p:nvSpPr>
        <p:spPr>
          <a:xfrm>
            <a:off x="325991" y="49059"/>
            <a:ext cx="11216640" cy="658368"/>
          </a:xfrm>
          <a:prstGeom prst="rect">
            <a:avLst/>
          </a:prstGeom>
          <a:noFill/>
          <a:ln/>
        </p:spPr>
        <p:txBody>
          <a:bodyPr wrap="square" lIns="0" tIns="0" rIns="0" bIns="0" rtlCol="0" anchor="ctr"/>
          <a:lstStyle/>
          <a:p>
            <a:r>
              <a:rPr lang="en-US" sz="3600" b="1" dirty="0">
                <a:solidFill>
                  <a:srgbClr val="44546A"/>
                </a:solidFill>
                <a:latin typeface="Cambria" pitchFamily="34" charset="0"/>
                <a:ea typeface="Cambria" pitchFamily="34" charset="-122"/>
                <a:cs typeface="Cambria" pitchFamily="34" charset="-120"/>
              </a:rPr>
              <a:t>Next Steps</a:t>
            </a:r>
            <a:endParaRPr lang="en-US" sz="3600" dirty="0"/>
          </a:p>
        </p:txBody>
      </p:sp>
      <p:sp>
        <p:nvSpPr>
          <p:cNvPr id="3" name="Shape 2">
            <a:extLst>
              <a:ext uri="{FF2B5EF4-FFF2-40B4-BE49-F238E27FC236}">
                <a16:creationId xmlns:a16="http://schemas.microsoft.com/office/drawing/2014/main" id="{C3F07178-FA11-810F-63C2-6B731545FE24}"/>
              </a:ext>
            </a:extLst>
          </p:cNvPr>
          <p:cNvSpPr/>
          <p:nvPr/>
        </p:nvSpPr>
        <p:spPr>
          <a:xfrm>
            <a:off x="548640" y="989622"/>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6" name="Shape 3">
            <a:extLst>
              <a:ext uri="{FF2B5EF4-FFF2-40B4-BE49-F238E27FC236}">
                <a16:creationId xmlns:a16="http://schemas.microsoft.com/office/drawing/2014/main" id="{F50F5644-2635-44A5-68AF-A2AD2663A05F}"/>
              </a:ext>
            </a:extLst>
          </p:cNvPr>
          <p:cNvSpPr/>
          <p:nvPr/>
        </p:nvSpPr>
        <p:spPr>
          <a:xfrm>
            <a:off x="841248" y="1245654"/>
            <a:ext cx="347472" cy="347472"/>
          </a:xfrm>
          <a:prstGeom prst="ellipse">
            <a:avLst/>
          </a:prstGeom>
          <a:solidFill>
            <a:srgbClr val="1E2761"/>
          </a:solidFill>
          <a:ln/>
        </p:spPr>
        <p:txBody>
          <a:bodyPr/>
          <a:lstStyle/>
          <a:p>
            <a:endParaRPr lang="en-PH"/>
          </a:p>
        </p:txBody>
      </p:sp>
      <p:sp>
        <p:nvSpPr>
          <p:cNvPr id="8" name="Text 4">
            <a:extLst>
              <a:ext uri="{FF2B5EF4-FFF2-40B4-BE49-F238E27FC236}">
                <a16:creationId xmlns:a16="http://schemas.microsoft.com/office/drawing/2014/main" id="{A249D9F2-0074-651B-D445-9C0A92854FFE}"/>
              </a:ext>
            </a:extLst>
          </p:cNvPr>
          <p:cNvSpPr txBox="1"/>
          <p:nvPr/>
        </p:nvSpPr>
        <p:spPr>
          <a:xfrm>
            <a:off x="841248" y="124565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5">
            <a:extLst>
              <a:ext uri="{FF2B5EF4-FFF2-40B4-BE49-F238E27FC236}">
                <a16:creationId xmlns:a16="http://schemas.microsoft.com/office/drawing/2014/main" id="{8430A45C-2294-2598-B547-1CF26CBF3F9B}"/>
              </a:ext>
            </a:extLst>
          </p:cNvPr>
          <p:cNvSpPr txBox="1"/>
          <p:nvPr/>
        </p:nvSpPr>
        <p:spPr>
          <a:xfrm>
            <a:off x="1389888" y="989622"/>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RAC reviews the two MVP dashboards</a:t>
            </a:r>
            <a:endParaRPr lang="en-US" sz="1300" dirty="0"/>
          </a:p>
        </p:txBody>
      </p:sp>
      <p:sp>
        <p:nvSpPr>
          <p:cNvPr id="12" name="Text 6">
            <a:extLst>
              <a:ext uri="{FF2B5EF4-FFF2-40B4-BE49-F238E27FC236}">
                <a16:creationId xmlns:a16="http://schemas.microsoft.com/office/drawing/2014/main" id="{F3E29C87-0C16-6145-3112-BC8017B6B1A0}"/>
              </a:ext>
            </a:extLst>
          </p:cNvPr>
          <p:cNvSpPr txBox="1"/>
          <p:nvPr/>
        </p:nvSpPr>
        <p:spPr>
          <a:xfrm>
            <a:off x="5486400" y="989622"/>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The review pack lists every item with its source and what it costs to maintain. Comments go in the two response columns.</a:t>
            </a:r>
            <a:endParaRPr lang="en-US" sz="1100" dirty="0"/>
          </a:p>
        </p:txBody>
      </p:sp>
      <p:sp>
        <p:nvSpPr>
          <p:cNvPr id="14" name="Shape 7">
            <a:extLst>
              <a:ext uri="{FF2B5EF4-FFF2-40B4-BE49-F238E27FC236}">
                <a16:creationId xmlns:a16="http://schemas.microsoft.com/office/drawing/2014/main" id="{3208BDA0-956B-8478-990C-253B18C1F143}"/>
              </a:ext>
            </a:extLst>
          </p:cNvPr>
          <p:cNvSpPr/>
          <p:nvPr/>
        </p:nvSpPr>
        <p:spPr>
          <a:xfrm>
            <a:off x="548640" y="1922310"/>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16" name="Shape 8">
            <a:extLst>
              <a:ext uri="{FF2B5EF4-FFF2-40B4-BE49-F238E27FC236}">
                <a16:creationId xmlns:a16="http://schemas.microsoft.com/office/drawing/2014/main" id="{0E1AA0F5-F383-4A6B-A299-36214735E05F}"/>
              </a:ext>
            </a:extLst>
          </p:cNvPr>
          <p:cNvSpPr/>
          <p:nvPr/>
        </p:nvSpPr>
        <p:spPr>
          <a:xfrm>
            <a:off x="841248" y="2178342"/>
            <a:ext cx="347472" cy="347472"/>
          </a:xfrm>
          <a:prstGeom prst="ellipse">
            <a:avLst/>
          </a:prstGeom>
          <a:solidFill>
            <a:srgbClr val="1E2761"/>
          </a:solidFill>
          <a:ln/>
        </p:spPr>
        <p:txBody>
          <a:bodyPr/>
          <a:lstStyle/>
          <a:p>
            <a:endParaRPr lang="en-PH"/>
          </a:p>
        </p:txBody>
      </p:sp>
      <p:sp>
        <p:nvSpPr>
          <p:cNvPr id="18" name="Text 9">
            <a:extLst>
              <a:ext uri="{FF2B5EF4-FFF2-40B4-BE49-F238E27FC236}">
                <a16:creationId xmlns:a16="http://schemas.microsoft.com/office/drawing/2014/main" id="{36D970A0-3103-A89F-5D4C-A529F7271815}"/>
              </a:ext>
            </a:extLst>
          </p:cNvPr>
          <p:cNvSpPr txBox="1"/>
          <p:nvPr/>
        </p:nvSpPr>
        <p:spPr>
          <a:xfrm>
            <a:off x="841248" y="217834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0">
            <a:extLst>
              <a:ext uri="{FF2B5EF4-FFF2-40B4-BE49-F238E27FC236}">
                <a16:creationId xmlns:a16="http://schemas.microsoft.com/office/drawing/2014/main" id="{BAA20C95-E3BE-4BD6-E1C6-FFFD97B19E91}"/>
              </a:ext>
            </a:extLst>
          </p:cNvPr>
          <p:cNvSpPr txBox="1"/>
          <p:nvPr/>
        </p:nvSpPr>
        <p:spPr>
          <a:xfrm>
            <a:off x="1389888" y="1922310"/>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RAC settles the terminology</a:t>
            </a:r>
            <a:endParaRPr lang="en-US" sz="1300" dirty="0"/>
          </a:p>
        </p:txBody>
      </p:sp>
      <p:sp>
        <p:nvSpPr>
          <p:cNvPr id="22" name="Text 11">
            <a:extLst>
              <a:ext uri="{FF2B5EF4-FFF2-40B4-BE49-F238E27FC236}">
                <a16:creationId xmlns:a16="http://schemas.microsoft.com/office/drawing/2014/main" id="{92E51E8F-CEA5-C59D-394B-BECEEA9FC35E}"/>
              </a:ext>
            </a:extLst>
          </p:cNvPr>
          <p:cNvSpPr txBox="1"/>
          <p:nvPr/>
        </p:nvSpPr>
        <p:spPr>
          <a:xfrm>
            <a:off x="5486400" y="1922310"/>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The eight terms on the previous slide. Each one decides what a figure counts.</a:t>
            </a:r>
            <a:endParaRPr lang="en-US" sz="1100" dirty="0"/>
          </a:p>
        </p:txBody>
      </p:sp>
      <p:sp>
        <p:nvSpPr>
          <p:cNvPr id="24" name="Shape 12">
            <a:extLst>
              <a:ext uri="{FF2B5EF4-FFF2-40B4-BE49-F238E27FC236}">
                <a16:creationId xmlns:a16="http://schemas.microsoft.com/office/drawing/2014/main" id="{9FFD2F04-E558-CB15-F3B6-3844467D433B}"/>
              </a:ext>
            </a:extLst>
          </p:cNvPr>
          <p:cNvSpPr/>
          <p:nvPr/>
        </p:nvSpPr>
        <p:spPr>
          <a:xfrm>
            <a:off x="548640" y="2854998"/>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26" name="Shape 13">
            <a:extLst>
              <a:ext uri="{FF2B5EF4-FFF2-40B4-BE49-F238E27FC236}">
                <a16:creationId xmlns:a16="http://schemas.microsoft.com/office/drawing/2014/main" id="{99189022-6694-A556-3400-E76E17E6CC05}"/>
              </a:ext>
            </a:extLst>
          </p:cNvPr>
          <p:cNvSpPr/>
          <p:nvPr/>
        </p:nvSpPr>
        <p:spPr>
          <a:xfrm>
            <a:off x="841248" y="3111030"/>
            <a:ext cx="347472" cy="347472"/>
          </a:xfrm>
          <a:prstGeom prst="ellipse">
            <a:avLst/>
          </a:prstGeom>
          <a:solidFill>
            <a:srgbClr val="1E2761"/>
          </a:solidFill>
          <a:ln/>
        </p:spPr>
        <p:txBody>
          <a:bodyPr/>
          <a:lstStyle/>
          <a:p>
            <a:endParaRPr lang="en-PH"/>
          </a:p>
        </p:txBody>
      </p:sp>
      <p:sp>
        <p:nvSpPr>
          <p:cNvPr id="28" name="Text 14">
            <a:extLst>
              <a:ext uri="{FF2B5EF4-FFF2-40B4-BE49-F238E27FC236}">
                <a16:creationId xmlns:a16="http://schemas.microsoft.com/office/drawing/2014/main" id="{4F1A72C9-C980-1C23-7E2B-130DB5926777}"/>
              </a:ext>
            </a:extLst>
          </p:cNvPr>
          <p:cNvSpPr txBox="1"/>
          <p:nvPr/>
        </p:nvSpPr>
        <p:spPr>
          <a:xfrm>
            <a:off x="841248" y="311103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15">
            <a:extLst>
              <a:ext uri="{FF2B5EF4-FFF2-40B4-BE49-F238E27FC236}">
                <a16:creationId xmlns:a16="http://schemas.microsoft.com/office/drawing/2014/main" id="{47B9B628-565A-BBFE-B0F5-FBAE5C214190}"/>
              </a:ext>
            </a:extLst>
          </p:cNvPr>
          <p:cNvSpPr txBox="1"/>
          <p:nvPr/>
        </p:nvSpPr>
        <p:spPr>
          <a:xfrm>
            <a:off x="1389888" y="2854998"/>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ITD confirms the lookup file</a:t>
            </a:r>
            <a:endParaRPr lang="en-US" sz="1300" dirty="0"/>
          </a:p>
        </p:txBody>
      </p:sp>
      <p:sp>
        <p:nvSpPr>
          <p:cNvPr id="32" name="Text 16">
            <a:extLst>
              <a:ext uri="{FF2B5EF4-FFF2-40B4-BE49-F238E27FC236}">
                <a16:creationId xmlns:a16="http://schemas.microsoft.com/office/drawing/2014/main" id="{4CB15976-845F-6BC4-82D3-D12BCBDF89A5}"/>
              </a:ext>
            </a:extLst>
          </p:cNvPr>
          <p:cNvSpPr txBox="1"/>
          <p:nvPr/>
        </p:nvSpPr>
        <p:spPr>
          <a:xfrm>
            <a:off x="5486400" y="2854998"/>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Extend it to the full estate, add the site identifier, and agree where it lives and who maintains it.</a:t>
            </a:r>
            <a:endParaRPr lang="en-US" sz="1100" dirty="0"/>
          </a:p>
        </p:txBody>
      </p:sp>
      <p:sp>
        <p:nvSpPr>
          <p:cNvPr id="34" name="Shape 17">
            <a:extLst>
              <a:ext uri="{FF2B5EF4-FFF2-40B4-BE49-F238E27FC236}">
                <a16:creationId xmlns:a16="http://schemas.microsoft.com/office/drawing/2014/main" id="{93878EC5-9C25-EBAA-6D48-20FDEB855763}"/>
              </a:ext>
            </a:extLst>
          </p:cNvPr>
          <p:cNvSpPr/>
          <p:nvPr/>
        </p:nvSpPr>
        <p:spPr>
          <a:xfrm>
            <a:off x="548640" y="3787686"/>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36" name="Shape 18">
            <a:extLst>
              <a:ext uri="{FF2B5EF4-FFF2-40B4-BE49-F238E27FC236}">
                <a16:creationId xmlns:a16="http://schemas.microsoft.com/office/drawing/2014/main" id="{94E8EAFE-6BA0-556A-68C9-6F47549C9F01}"/>
              </a:ext>
            </a:extLst>
          </p:cNvPr>
          <p:cNvSpPr/>
          <p:nvPr/>
        </p:nvSpPr>
        <p:spPr>
          <a:xfrm>
            <a:off x="841248" y="4043718"/>
            <a:ext cx="347472" cy="347472"/>
          </a:xfrm>
          <a:prstGeom prst="ellipse">
            <a:avLst/>
          </a:prstGeom>
          <a:solidFill>
            <a:srgbClr val="1E2761"/>
          </a:solidFill>
          <a:ln/>
        </p:spPr>
        <p:txBody>
          <a:bodyPr/>
          <a:lstStyle/>
          <a:p>
            <a:endParaRPr lang="en-PH"/>
          </a:p>
        </p:txBody>
      </p:sp>
      <p:sp>
        <p:nvSpPr>
          <p:cNvPr id="38" name="Text 19">
            <a:extLst>
              <a:ext uri="{FF2B5EF4-FFF2-40B4-BE49-F238E27FC236}">
                <a16:creationId xmlns:a16="http://schemas.microsoft.com/office/drawing/2014/main" id="{D9E3664B-FD93-8487-8746-51800486A940}"/>
              </a:ext>
            </a:extLst>
          </p:cNvPr>
          <p:cNvSpPr txBox="1"/>
          <p:nvPr/>
        </p:nvSpPr>
        <p:spPr>
          <a:xfrm>
            <a:off x="841248" y="404371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20">
            <a:extLst>
              <a:ext uri="{FF2B5EF4-FFF2-40B4-BE49-F238E27FC236}">
                <a16:creationId xmlns:a16="http://schemas.microsoft.com/office/drawing/2014/main" id="{77D6FAD6-58C8-2046-213B-0B93BEAEACAD}"/>
              </a:ext>
            </a:extLst>
          </p:cNvPr>
          <p:cNvSpPr txBox="1"/>
          <p:nvPr/>
        </p:nvSpPr>
        <p:spPr>
          <a:xfrm>
            <a:off x="1389888" y="3787686"/>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We match requirements to sources</a:t>
            </a:r>
            <a:endParaRPr lang="en-US" sz="1300" dirty="0"/>
          </a:p>
        </p:txBody>
      </p:sp>
      <p:sp>
        <p:nvSpPr>
          <p:cNvPr id="42" name="Text 21">
            <a:extLst>
              <a:ext uri="{FF2B5EF4-FFF2-40B4-BE49-F238E27FC236}">
                <a16:creationId xmlns:a16="http://schemas.microsoft.com/office/drawing/2014/main" id="{CFBADAEC-4ACA-EE8B-CF6E-B88CA03CD416}"/>
              </a:ext>
            </a:extLst>
          </p:cNvPr>
          <p:cNvSpPr txBox="1"/>
          <p:nvPr/>
        </p:nvSpPr>
        <p:spPr>
          <a:xfrm>
            <a:off x="5486400" y="3787686"/>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Every item is marked available, needs a definition, or has no source.</a:t>
            </a:r>
            <a:endParaRPr lang="en-US" sz="1100" dirty="0"/>
          </a:p>
        </p:txBody>
      </p:sp>
      <p:sp>
        <p:nvSpPr>
          <p:cNvPr id="44" name="Shape 22">
            <a:extLst>
              <a:ext uri="{FF2B5EF4-FFF2-40B4-BE49-F238E27FC236}">
                <a16:creationId xmlns:a16="http://schemas.microsoft.com/office/drawing/2014/main" id="{904DB795-FCBF-981F-55B5-DD08FAF02E4C}"/>
              </a:ext>
            </a:extLst>
          </p:cNvPr>
          <p:cNvSpPr/>
          <p:nvPr/>
        </p:nvSpPr>
        <p:spPr>
          <a:xfrm>
            <a:off x="548640" y="4720374"/>
            <a:ext cx="11091672" cy="859536"/>
          </a:xfrm>
          <a:prstGeom prst="roundRect">
            <a:avLst>
              <a:gd name="adj" fmla="val 6383"/>
            </a:avLst>
          </a:prstGeom>
          <a:solidFill>
            <a:srgbClr val="FFFFFF"/>
          </a:solidFill>
          <a:ln w="12700">
            <a:solidFill>
              <a:srgbClr val="DCE4EF"/>
            </a:solidFill>
            <a:prstDash val="solid"/>
          </a:ln>
          <a:effectLst>
            <a:outerShdw blurRad="76200" dist="12700" dir="5400000" algn="bl" rotWithShape="0">
              <a:srgbClr val="9AA8BC">
                <a:alpha val="18000"/>
              </a:srgbClr>
            </a:outerShdw>
          </a:effectLst>
        </p:spPr>
        <p:txBody>
          <a:bodyPr/>
          <a:lstStyle/>
          <a:p>
            <a:endParaRPr lang="en-PH"/>
          </a:p>
        </p:txBody>
      </p:sp>
      <p:sp>
        <p:nvSpPr>
          <p:cNvPr id="46" name="Shape 23">
            <a:extLst>
              <a:ext uri="{FF2B5EF4-FFF2-40B4-BE49-F238E27FC236}">
                <a16:creationId xmlns:a16="http://schemas.microsoft.com/office/drawing/2014/main" id="{65B5199B-4107-2739-AF09-B605B5742913}"/>
              </a:ext>
            </a:extLst>
          </p:cNvPr>
          <p:cNvSpPr/>
          <p:nvPr/>
        </p:nvSpPr>
        <p:spPr>
          <a:xfrm>
            <a:off x="841248" y="4976406"/>
            <a:ext cx="347472" cy="347472"/>
          </a:xfrm>
          <a:prstGeom prst="ellipse">
            <a:avLst/>
          </a:prstGeom>
          <a:solidFill>
            <a:srgbClr val="1E2761"/>
          </a:solidFill>
          <a:ln/>
        </p:spPr>
        <p:txBody>
          <a:bodyPr/>
          <a:lstStyle/>
          <a:p>
            <a:endParaRPr lang="en-PH"/>
          </a:p>
        </p:txBody>
      </p:sp>
      <p:sp>
        <p:nvSpPr>
          <p:cNvPr id="48" name="Text 24">
            <a:extLst>
              <a:ext uri="{FF2B5EF4-FFF2-40B4-BE49-F238E27FC236}">
                <a16:creationId xmlns:a16="http://schemas.microsoft.com/office/drawing/2014/main" id="{FDA6BBBE-B0A0-336E-8799-C31DC0EA438D}"/>
              </a:ext>
            </a:extLst>
          </p:cNvPr>
          <p:cNvSpPr txBox="1"/>
          <p:nvPr/>
        </p:nvSpPr>
        <p:spPr>
          <a:xfrm>
            <a:off x="841248" y="497640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25">
            <a:extLst>
              <a:ext uri="{FF2B5EF4-FFF2-40B4-BE49-F238E27FC236}">
                <a16:creationId xmlns:a16="http://schemas.microsoft.com/office/drawing/2014/main" id="{6EA5DA0B-F635-645B-286C-4430F87A3038}"/>
              </a:ext>
            </a:extLst>
          </p:cNvPr>
          <p:cNvSpPr txBox="1"/>
          <p:nvPr/>
        </p:nvSpPr>
        <p:spPr>
          <a:xfrm>
            <a:off x="1389888" y="4720374"/>
            <a:ext cx="3977640" cy="859536"/>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The team decides on what remains</a:t>
            </a:r>
            <a:endParaRPr lang="en-US" sz="1300" dirty="0"/>
          </a:p>
        </p:txBody>
      </p:sp>
      <p:sp>
        <p:nvSpPr>
          <p:cNvPr id="52" name="Text 26">
            <a:extLst>
              <a:ext uri="{FF2B5EF4-FFF2-40B4-BE49-F238E27FC236}">
                <a16:creationId xmlns:a16="http://schemas.microsoft.com/office/drawing/2014/main" id="{F067AD74-1210-1D0E-51D2-9F932FE80D44}"/>
              </a:ext>
            </a:extLst>
          </p:cNvPr>
          <p:cNvSpPr txBox="1"/>
          <p:nvPr/>
        </p:nvSpPr>
        <p:spPr>
          <a:xfrm>
            <a:off x="5486400" y="4720374"/>
            <a:ext cx="5897880" cy="859536"/>
          </a:xfrm>
          <a:prstGeom prst="rect">
            <a:avLst/>
          </a:prstGeom>
          <a:noFill/>
          <a:ln/>
        </p:spPr>
        <p:txBody>
          <a:bodyPr wrap="square" lIns="0" tIns="0" rIns="0" bIns="0" rtlCol="0" anchor="ctr"/>
          <a:lstStyle/>
          <a:p>
            <a:pPr marL="0" indent="0">
              <a:buNone/>
            </a:pPr>
            <a:r>
              <a:rPr lang="en-US" sz="1100" dirty="0">
                <a:solidFill>
                  <a:srgbClr val="333F50"/>
                </a:solidFill>
                <a:latin typeface="Calibri" pitchFamily="34" charset="0"/>
                <a:ea typeface="Calibri" pitchFamily="34" charset="-122"/>
                <a:cs typeface="Calibri" pitchFamily="34" charset="-120"/>
              </a:rPr>
              <a:t>Where no source can be provided, we agree together whether the item is dropped or deferred.</a:t>
            </a:r>
            <a:endParaRPr lang="en-US" sz="1100" dirty="0"/>
          </a:p>
        </p:txBody>
      </p:sp>
    </p:spTree>
    <p:extLst>
      <p:ext uri="{BB962C8B-B14F-4D97-AF65-F5344CB8AC3E}">
        <p14:creationId xmlns:p14="http://schemas.microsoft.com/office/powerpoint/2010/main" val="2923903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1750-A03E-842F-E9C6-AE7B87880471}"/>
              </a:ext>
            </a:extLst>
          </p:cNvPr>
          <p:cNvSpPr>
            <a:spLocks noGrp="1"/>
          </p:cNvSpPr>
          <p:nvPr>
            <p:ph type="ctrTitle"/>
          </p:nvPr>
        </p:nvSpPr>
        <p:spPr>
          <a:xfrm>
            <a:off x="365886" y="2409730"/>
            <a:ext cx="11491705" cy="2387600"/>
          </a:xfrm>
        </p:spPr>
        <p:txBody>
          <a:bodyPr>
            <a:normAutofit/>
          </a:bodyPr>
          <a:lstStyle/>
          <a:p>
            <a:r>
              <a:rPr lang="en-PH" sz="8000" dirty="0">
                <a:cs typeface="Segoe UI Bold"/>
              </a:rPr>
              <a:t>Thank You!</a:t>
            </a:r>
          </a:p>
        </p:txBody>
      </p:sp>
    </p:spTree>
    <p:extLst>
      <p:ext uri="{BB962C8B-B14F-4D97-AF65-F5344CB8AC3E}">
        <p14:creationId xmlns:p14="http://schemas.microsoft.com/office/powerpoint/2010/main" val="960469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185C802E1445418CC1F15D76001F91" ma:contentTypeVersion="60" ma:contentTypeDescription="Create a new document." ma:contentTypeScope="" ma:versionID="1d1379d3919b121061b66a1d1456ebde">
  <xsd:schema xmlns:xsd="http://www.w3.org/2001/XMLSchema" xmlns:xs="http://www.w3.org/2001/XMLSchema" xmlns:p="http://schemas.microsoft.com/office/2006/metadata/properties" xmlns:ns2="5996128d-704d-4a9a-b273-f1b0c0083f8c" xmlns:ns3="0e32581f-8e79-45cd-8bd2-0ec6c28fa8bf" targetNamespace="http://schemas.microsoft.com/office/2006/metadata/properties" ma:root="true" ma:fieldsID="df6cf73d66020bc7d9ad15ea09002b62" ns2:_="" ns3:_="">
    <xsd:import namespace="5996128d-704d-4a9a-b273-f1b0c0083f8c"/>
    <xsd:import namespace="0e32581f-8e79-45cd-8bd2-0ec6c28fa8bf"/>
    <xsd:element name="properties">
      <xsd:complexType>
        <xsd:sequence>
          <xsd:element name="documentManagement">
            <xsd:complexType>
              <xsd:all>
                <xsd:element ref="ns2:TaxCatchAll" minOccurs="0"/>
                <xsd:element ref="ns2:j78542b1fffc4a1c84659474212e3133"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96128d-704d-4a9a-b273-f1b0c0083f8c"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5fae007b-328f-43c9-b43a-e0b43236efad}" ma:internalName="TaxCatchAll" ma:showField="CatchAllData" ma:web="5996128d-704d-4a9a-b273-f1b0c0083f8c">
      <xsd:complexType>
        <xsd:complexContent>
          <xsd:extension base="dms:MultiChoiceLookup">
            <xsd:sequence>
              <xsd:element name="Value" type="dms:Lookup" maxOccurs="unbounded" minOccurs="0" nillable="true"/>
            </xsd:sequence>
          </xsd:extension>
        </xsd:complexContent>
      </xsd:complexType>
    </xsd:element>
    <xsd:element name="j78542b1fffc4a1c84659474212e3133" ma:index="10" nillable="true" ma:taxonomy="true" ma:internalName="j78542b1fffc4a1c84659474212e3133" ma:taxonomyFieldName="ADBContentGroup" ma:displayName="Content Group" ma:readOnly="false" ma:fieldId="{378542b1-fffc-4a1c-8465-9474212e3133}" ma:taxonomyMulti="true" ma:sspId="115af50e-efb3-4a0e-b425-875ff625e09e" ma:termSetId="2a9ffbee-93a5-418b-bcdb-8d6817936e6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e32581f-8e79-45cd-8bd2-0ec6c28fa8b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996128d-704d-4a9a-b273-f1b0c0083f8c">
      <Value>1</Value>
    </TaxCatchAll>
    <j78542b1fffc4a1c84659474212e3133 xmlns="5996128d-704d-4a9a-b273-f1b0c0083f8c">
      <Terms xmlns="http://schemas.microsoft.com/office/infopath/2007/PartnerControls"/>
    </j78542b1fffc4a1c84659474212e3133>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ABB4D3-6AE0-4622-A1BE-3A99E2E613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96128d-704d-4a9a-b273-f1b0c0083f8c"/>
    <ds:schemaRef ds:uri="0e32581f-8e79-45cd-8bd2-0ec6c28fa8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028371-00A2-4269-9F7B-86D3E5D81C07}">
  <ds:schemaRefs>
    <ds:schemaRef ds:uri="http://schemas.microsoft.com/office/2006/metadata/properties"/>
    <ds:schemaRef ds:uri="http://schemas.microsoft.com/office/infopath/2007/PartnerControls"/>
    <ds:schemaRef ds:uri="5996128d-704d-4a9a-b273-f1b0c0083f8c"/>
  </ds:schemaRefs>
</ds:datastoreItem>
</file>

<file path=customXml/itemProps3.xml><?xml version="1.0" encoding="utf-8"?>
<ds:datastoreItem xmlns:ds="http://schemas.openxmlformats.org/officeDocument/2006/customXml" ds:itemID="{0D9D918D-5A5A-4249-AAA5-A17A0D61D4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112</TotalTime>
  <Words>2345</Words>
  <Application>Microsoft Office PowerPoint</Application>
  <PresentationFormat>Widescreen</PresentationFormat>
  <Paragraphs>393</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1_Office Theme</vt:lpstr>
      <vt:lpstr>EDRMS Utilization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 Reporting Suite: MVP Proposal and Next Steps</dc:title>
  <dc:subject>PptxGenJS Presentation</dc:subject>
  <dc:creator>EDRMS Utilization Report</dc:creator>
  <cp:lastModifiedBy>Jimwyl Perez</cp:lastModifiedBy>
  <cp:revision>5</cp:revision>
  <dcterms:created xsi:type="dcterms:W3CDTF">2026-08-31T06:19:49Z</dcterms:created>
  <dcterms:modified xsi:type="dcterms:W3CDTF">2026-09-01T00:50:11Z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0x0101002B185C802E1445418CC1F15D76001F91</vt:lpwstr>
  </property>
  <property fmtid="{D5CDD505-2E9C-101B-9397-08002B2CF9AE}" pid="3" name="h00e4aaaf4624e24a7df7f06faa038c6">
    <vt:lpwstr>English|16ac8743-31bb-43f8-9a73-533a041667d6</vt:lpwstr>
  </property>
  <property fmtid="{D5CDD505-2E9C-101B-9397-08002B2CF9AE}" pid="4" name="MSIP_Label_817d4574-7375-4d17-b29c-6e4c6df0fcb0_Enabled">
    <vt:lpwstr>true</vt:lpwstr>
  </property>
  <property fmtid="{D5CDD505-2E9C-101B-9397-08002B2CF9AE}" pid="5" name="MSIP_Label_817d4574-7375-4d17-b29c-6e4c6df0fcb0_SetDate">
    <vt:lpwstr>2026-09-01T00:50:10Z</vt:lpwstr>
  </property>
  <property fmtid="{D5CDD505-2E9C-101B-9397-08002B2CF9AE}" pid="6" name="MSIP_Label_817d4574-7375-4d17-b29c-6e4c6df0fcb0_Method">
    <vt:lpwstr>Standard</vt:lpwstr>
  </property>
  <property fmtid="{D5CDD505-2E9C-101B-9397-08002B2CF9AE}" pid="7" name="MSIP_Label_817d4574-7375-4d17-b29c-6e4c6df0fcb0_Name">
    <vt:lpwstr>ADB Internal</vt:lpwstr>
  </property>
  <property fmtid="{D5CDD505-2E9C-101B-9397-08002B2CF9AE}" pid="8" name="MSIP_Label_817d4574-7375-4d17-b29c-6e4c6df0fcb0_SiteId">
    <vt:lpwstr>9495d6bb-41c2-4c58-848f-92e52cf3d640</vt:lpwstr>
  </property>
  <property fmtid="{D5CDD505-2E9C-101B-9397-08002B2CF9AE}" pid="9" name="MSIP_Label_817d4574-7375-4d17-b29c-6e4c6df0fcb0_ActionId">
    <vt:lpwstr>45f59b16-1ea9-408c-8903-b87aa5c11830</vt:lpwstr>
  </property>
  <property fmtid="{D5CDD505-2E9C-101B-9397-08002B2CF9AE}" pid="10" name="MSIP_Label_817d4574-7375-4d17-b29c-6e4c6df0fcb0_ContentBits">
    <vt:lpwstr>2</vt:lpwstr>
  </property>
  <property fmtid="{D5CDD505-2E9C-101B-9397-08002B2CF9AE}" pid="11" name="MSIP_Label_817d4574-7375-4d17-b29c-6e4c6df0fcb0_Tag">
    <vt:lpwstr>10, 3, 0, 2</vt:lpwstr>
  </property>
  <property fmtid="{D5CDD505-2E9C-101B-9397-08002B2CF9AE}" pid="12" name="ClassificationContentMarkingFooterLocations">
    <vt:lpwstr>1_Office Theme:3</vt:lpwstr>
  </property>
  <property fmtid="{D5CDD505-2E9C-101B-9397-08002B2CF9AE}" pid="13" name="ClassificationContentMarkingFooterText">
    <vt:lpwstr>INTERNAL. This information is accessible to ADB Management and Staff. It may be shared outside ADB with appropriate permission.</vt:lpwstr>
  </property>
  <property fmtid="{D5CDD505-2E9C-101B-9397-08002B2CF9AE}" pid="14" name="p030e467f78f45b4ae8f7e2c17ea4d82">
    <vt:lpwstr/>
  </property>
  <property fmtid="{D5CDD505-2E9C-101B-9397-08002B2CF9AE}" pid="15" name="ADBContentGroup">
    <vt:lpwstr/>
  </property>
  <property fmtid="{D5CDD505-2E9C-101B-9397-08002B2CF9AE}" pid="16" name="d61536b25a8a4fedb48bb564279be82a">
    <vt:lpwstr/>
  </property>
  <property fmtid="{D5CDD505-2E9C-101B-9397-08002B2CF9AE}" pid="17" name="ADBCountry">
    <vt:lpwstr/>
  </property>
  <property fmtid="{D5CDD505-2E9C-101B-9397-08002B2CF9AE}" pid="18" name="ADBSector">
    <vt:lpwstr/>
  </property>
  <property fmtid="{D5CDD505-2E9C-101B-9397-08002B2CF9AE}" pid="19" name="d01a0ce1b141461dbfb235a3ab729a2c">
    <vt:lpwstr/>
  </property>
  <property fmtid="{D5CDD505-2E9C-101B-9397-08002B2CF9AE}" pid="20" name="ADBDocumentType">
    <vt:lpwstr/>
  </property>
  <property fmtid="{D5CDD505-2E9C-101B-9397-08002B2CF9AE}" pid="21" name="ADBDocumentLanguage">
    <vt:lpwstr>1;#English|16ac8743-31bb-43f8-9a73-533a041667d6</vt:lpwstr>
  </property>
  <property fmtid="{D5CDD505-2E9C-101B-9397-08002B2CF9AE}" pid="22" name="k985dbdc596c44d7acaf8184f33920f0">
    <vt:lpwstr/>
  </property>
  <property fmtid="{D5CDD505-2E9C-101B-9397-08002B2CF9AE}" pid="23" name="ADBDocumentSecurity">
    <vt:lpwstr/>
  </property>
  <property fmtid="{D5CDD505-2E9C-101B-9397-08002B2CF9AE}" pid="24" name="ADBDepartmentOwner">
    <vt:lpwstr/>
  </property>
  <property fmtid="{D5CDD505-2E9C-101B-9397-08002B2CF9AE}" pid="25" name="ADBDivision">
    <vt:lpwstr/>
  </property>
  <property fmtid="{D5CDD505-2E9C-101B-9397-08002B2CF9AE}" pid="26" name="ia017ac09b1942648b563fe0b2b14d52">
    <vt:lpwstr/>
  </property>
  <property fmtid="{D5CDD505-2E9C-101B-9397-08002B2CF9AE}" pid="27" name="a37ff23a602146d4934a49238d370ca5">
    <vt:lpwstr/>
  </property>
</Properties>
</file>