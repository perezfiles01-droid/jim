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19"/>
  </p:notesMasterIdLst>
  <p:sldIdLst>
    <p:sldId id="273" r:id="rId5"/>
    <p:sldId id="274" r:id="rId6"/>
    <p:sldId id="275" r:id="rId7"/>
    <p:sldId id="276" r:id="rId8"/>
    <p:sldId id="277" r:id="rId9"/>
    <p:sldId id="278" r:id="rId10"/>
    <p:sldId id="279" r:id="rId11"/>
    <p:sldId id="280" r:id="rId12"/>
    <p:sldId id="281" r:id="rId13"/>
    <p:sldId id="282" r:id="rId14"/>
    <p:sldId id="283" r:id="rId15"/>
    <p:sldId id="284" r:id="rId16"/>
    <p:sldId id="285" r:id="rId17"/>
    <p:sldId id="256"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173" autoAdjust="0"/>
    <p:restoredTop sz="94610"/>
  </p:normalViewPr>
  <p:slideViewPr>
    <p:cSldViewPr snapToGrid="0" snapToObjects="1">
      <p:cViewPr>
        <p:scale>
          <a:sx n="75" d="100"/>
          <a:sy n="75" d="100"/>
        </p:scale>
        <p:origin x="-102" y="33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97357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4416E09-8B40-4ED1-86B7-C94735C58CEB}" type="slidenum">
              <a:rPr kumimoji="0" lang="en-US" sz="18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902567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5CE28-F1BC-68FA-EBCE-513920D4F7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B890B7-0A2A-6EA7-47D8-6D3456CD1F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CAC935-7FC5-8226-891F-E1AF24D84AE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ECDF458-4111-0DE9-7FB4-EEA127C46EE4}"/>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730298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57CB8-56F1-89E0-6AEB-25075B8845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4C6EC9-7E8E-4C16-7969-7E3CA45219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2F5828-B0C1-85D4-1A13-5D44F6BFDD3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F4FC03B-EEDB-D857-7787-4FA0E8AE8923}"/>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404175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450EE-D45A-4906-F586-B7E7F9F1EC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3891D7-5F93-185B-0F07-2AB02DC13B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F193F0-AF43-A6FE-8276-01F25F372EA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84C2383-E356-4F56-12E1-4333481CD19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776453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EBC7E-A5C9-D702-2D8A-BFAF35791B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920C8D-E995-C46C-9FB9-EBAF061F4C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82FB16-FF37-8829-7AD6-2E4C2434D51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976125C-4F2E-899F-61F6-62764BFADE23}"/>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51273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D8980-EC74-C21C-DD39-D96E02A865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55D3CA-CE20-9B21-FA3D-0E7713F42A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F518E-2DCD-17FF-0D01-0865D80B1E7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5883C4D-4DD2-C020-90B5-BFBA2523173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8372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1864F-D930-BA65-79F3-4D6952DD71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E9213E-68B0-9C5F-A93D-B0AABF83DD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67774A-6584-C71C-2D97-E5D15E1088E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70A09DA-E4E7-D9CB-62F8-AEC68A15D48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455330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41294-A0E5-0220-C590-904B9EC370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3185BE-3AF2-17A0-0E55-C938A63B29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75E4E4-FB6C-CD3B-63D4-6F79E2352A1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5297A80-4677-763B-F143-678781C55C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021985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0A160-A68B-1585-0295-D6E7491E1F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126A7E-E318-FE90-22E6-5A8B611A37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71CC66-1961-7306-4E44-9AA81327636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DE15394-F72E-1277-5EC8-AAC4822799C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35874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8B1A7-412B-5550-7875-1CB97A843A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40479C-587B-F6D1-33BF-46C992667E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1D30E9-BE01-2E27-051C-85341D919FC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8667916-B0EF-748E-0810-517D00DC7F66}"/>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819217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D1444-BE88-323C-F34D-10A0D672B1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359321-B4F1-A975-EC8C-2FBFFDE893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CBAB07-31A4-320D-C2A8-B81453B40CC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3C29447-4CD3-3611-21FB-EE1CEDEA40A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115677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54CFB-0599-2169-73C3-B27E41A3C4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DC0E60-CEFB-7EFF-BCBE-4A9BA2B8C3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6AA633-148E-A57A-3BD3-A725E24A0A3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0652C2D-C170-0B3D-AD1D-5D16FF87B5E4}"/>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71903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fld id="{E4416E09-8B40-4ED1-86B7-C94735C58CEB}" type="slidenum">
              <a:rPr lang="en-US" smtClean="0"/>
              <a:t>14</a:t>
            </a:fld>
            <a:endParaRPr lang="en-US"/>
          </a:p>
        </p:txBody>
      </p:sp>
    </p:spTree>
    <p:extLst>
      <p:ext uri="{BB962C8B-B14F-4D97-AF65-F5344CB8AC3E}">
        <p14:creationId xmlns:p14="http://schemas.microsoft.com/office/powerpoint/2010/main" val="26902567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microsoft.com/office/2007/relationships/hdphoto" Target="../media/hdphoto1.wdp"/><Relationship Id="rId4" Type="http://schemas.openxmlformats.org/officeDocument/2006/relationships/image" Target="../media/image2.png"/><Relationship Id="rId5"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microsoft.com/office/2007/relationships/hdphoto" Target="../media/hdphoto2.wdp"/><Relationship Id="rId4" Type="http://schemas.openxmlformats.org/officeDocument/2006/relationships/image" Target="../media/image5.png"/><Relationship Id="rId5" Type="http://schemas.openxmlformats.org/officeDocument/2006/relationships/image" Target="../media/image3.png"/><Relationship Id="rId6" Type="http://schemas.openxmlformats.org/officeDocument/2006/relationships/image" Target="../media/image6.png"/><Relationship Id="rId7" Type="http://schemas.microsoft.com/office/2007/relationships/hdphoto" Target="../media/hdphoto3.wdp"/></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37086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A yellow and blue wavy lines&#10;&#10;Description automatically generated">
            <a:extLst>
              <a:ext uri="{FF2B5EF4-FFF2-40B4-BE49-F238E27FC236}">
                <a16:creationId xmlns:a16="http://schemas.microsoft.com/office/drawing/2014/main" id="{C0B37FD3-2E43-3CB4-83E1-EEC2F7D0E1CF}"/>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a:ext>
            </a:extLst>
          </a:blip>
          <a:stretch>
            <a:fillRect/>
          </a:stretch>
        </p:blipFill>
        <p:spPr>
          <a:xfrm>
            <a:off x="2" y="0"/>
            <a:ext cx="12191999" cy="6858000"/>
          </a:xfrm>
          <a:prstGeom prst="rect">
            <a:avLst/>
          </a:prstGeom>
        </p:spPr>
      </p:pic>
      <p:sp>
        <p:nvSpPr>
          <p:cNvPr id="2" name="Title 1">
            <a:extLst>
              <a:ext uri="{FF2B5EF4-FFF2-40B4-BE49-F238E27FC236}">
                <a16:creationId xmlns:a16="http://schemas.microsoft.com/office/drawing/2014/main" id="{7118875C-F4E2-FA32-A18E-102993D4E40A}"/>
              </a:ext>
            </a:extLst>
          </p:cNvPr>
          <p:cNvSpPr>
            <a:spLocks noGrp="1"/>
          </p:cNvSpPr>
          <p:nvPr>
            <p:ph type="ctrTitle"/>
          </p:nvPr>
        </p:nvSpPr>
        <p:spPr>
          <a:xfrm>
            <a:off x="306594" y="2573631"/>
            <a:ext cx="11047207" cy="2387600"/>
          </a:xfrm>
        </p:spPr>
        <p:txBody>
          <a:bodyPr anchor="b"/>
          <a:lstStyle>
            <a:lvl1pPr algn="l">
              <a:defRPr sz="6000" b="1">
                <a:solidFill>
                  <a:schemeClr val="bg1"/>
                </a:solidFill>
              </a:defRPr>
            </a:lvl1pPr>
          </a:lstStyle>
          <a:p>
            <a:r>
              <a:rPr lang="en-US"/>
              <a:t>Click to edit Master title style</a:t>
            </a:r>
            <a:endParaRPr lang="en-PH"/>
          </a:p>
        </p:txBody>
      </p:sp>
      <p:sp>
        <p:nvSpPr>
          <p:cNvPr id="3" name="Subtitle 2">
            <a:extLst>
              <a:ext uri="{FF2B5EF4-FFF2-40B4-BE49-F238E27FC236}">
                <a16:creationId xmlns:a16="http://schemas.microsoft.com/office/drawing/2014/main" id="{EE12FBC6-9031-44CB-301F-04016C7A1CBB}"/>
              </a:ext>
            </a:extLst>
          </p:cNvPr>
          <p:cNvSpPr>
            <a:spLocks noGrp="1"/>
          </p:cNvSpPr>
          <p:nvPr>
            <p:ph type="subTitle" idx="1"/>
          </p:nvPr>
        </p:nvSpPr>
        <p:spPr>
          <a:xfrm>
            <a:off x="306594" y="5014686"/>
            <a:ext cx="11047207" cy="980013"/>
          </a:xfrm>
        </p:spPr>
        <p:txBody>
          <a:bodyPr/>
          <a:lstStyle>
            <a:lvl1pPr marL="0" indent="0" algn="l">
              <a:buNone/>
              <a:defRPr sz="2400">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PH"/>
          </a:p>
        </p:txBody>
      </p:sp>
      <p:sp>
        <p:nvSpPr>
          <p:cNvPr id="6" name="Slide Number Placeholder 5">
            <a:extLst>
              <a:ext uri="{FF2B5EF4-FFF2-40B4-BE49-F238E27FC236}">
                <a16:creationId xmlns:a16="http://schemas.microsoft.com/office/drawing/2014/main" id="{9AF23F22-202B-22C5-B9EA-75BED8861297}"/>
              </a:ext>
            </a:extLst>
          </p:cNvPr>
          <p:cNvSpPr>
            <a:spLocks noGrp="1"/>
          </p:cNvSpPr>
          <p:nvPr>
            <p:ph type="sldNum" sz="quarter" idx="12"/>
          </p:nvPr>
        </p:nvSpPr>
        <p:spPr>
          <a:xfrm>
            <a:off x="8610599" y="6356351"/>
            <a:ext cx="2743200" cy="365125"/>
          </a:xfrm>
        </p:spPr>
        <p:txBody>
          <a:bodyPr/>
          <a:lstStyle>
            <a:lvl1pPr>
              <a:defRPr b="1">
                <a:solidFill>
                  <a:schemeClr val="bg1"/>
                </a:solidFill>
              </a:defRPr>
            </a:lvl1pPr>
          </a:lstStyle>
          <a:p>
            <a:fld id="{B0B62103-952B-40C5-BACA-0A1B9F9E1991}" type="slidenum">
              <a:rPr lang="en-PH" smtClean="0"/>
              <a:pPr/>
              <a:t>‹#›</a:t>
            </a:fld>
            <a:endParaRPr lang="en-PH"/>
          </a:p>
        </p:txBody>
      </p:sp>
      <p:sp>
        <p:nvSpPr>
          <p:cNvPr id="9" name="Rectangle 8">
            <a:extLst>
              <a:ext uri="{FF2B5EF4-FFF2-40B4-BE49-F238E27FC236}">
                <a16:creationId xmlns:a16="http://schemas.microsoft.com/office/drawing/2014/main" id="{F19A9BAB-EB88-2DD9-82D9-904B108017BF}"/>
              </a:ext>
            </a:extLst>
          </p:cNvPr>
          <p:cNvSpPr/>
          <p:nvPr userDrawn="1"/>
        </p:nvSpPr>
        <p:spPr>
          <a:xfrm>
            <a:off x="164057" y="3374479"/>
            <a:ext cx="45719" cy="158675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800"/>
          </a:p>
        </p:txBody>
      </p:sp>
      <p:pic>
        <p:nvPicPr>
          <p:cNvPr id="11" name="Picture 10">
            <a:extLst>
              <a:ext uri="{FF2B5EF4-FFF2-40B4-BE49-F238E27FC236}">
                <a16:creationId xmlns:a16="http://schemas.microsoft.com/office/drawing/2014/main" id="{E2DF671D-3EF5-6E85-6EB3-0D04558FB4CF}"/>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7030" y="5793840"/>
            <a:ext cx="4253757" cy="1040152"/>
          </a:xfrm>
          <a:prstGeom prst="rect">
            <a:avLst/>
          </a:prstGeom>
        </p:spPr>
      </p:pic>
      <p:pic>
        <p:nvPicPr>
          <p:cNvPr id="5" name="Picture 4" descr="A blue and white logo&#10;&#10;Description automatically generated">
            <a:extLst>
              <a:ext uri="{FF2B5EF4-FFF2-40B4-BE49-F238E27FC236}">
                <a16:creationId xmlns:a16="http://schemas.microsoft.com/office/drawing/2014/main" id="{852FBE8F-B070-8109-B023-E060794B8B5C}"/>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1449152" y="6115991"/>
            <a:ext cx="620717" cy="620717"/>
          </a:xfrm>
          <a:prstGeom prst="rect">
            <a:avLst/>
          </a:prstGeom>
        </p:spPr>
      </p:pic>
    </p:spTree>
    <p:extLst>
      <p:ext uri="{BB962C8B-B14F-4D97-AF65-F5344CB8AC3E}">
        <p14:creationId xmlns:p14="http://schemas.microsoft.com/office/powerpoint/2010/main" val="1466748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A yellow and black background&#10;&#10;Description automatically generated">
            <a:extLst>
              <a:ext uri="{FF2B5EF4-FFF2-40B4-BE49-F238E27FC236}">
                <a16:creationId xmlns:a16="http://schemas.microsoft.com/office/drawing/2014/main" id="{D98C54E4-BBD9-B9A8-144E-B0B8FB8E9DE4}"/>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a:ext>
            </a:extLst>
          </a:blip>
          <a:srcRect r="34111"/>
          <a:stretch/>
        </p:blipFill>
        <p:spPr>
          <a:xfrm>
            <a:off x="7971971" y="5724042"/>
            <a:ext cx="4220029" cy="1190708"/>
          </a:xfrm>
          <a:prstGeom prst="rect">
            <a:avLst/>
          </a:prstGeom>
        </p:spPr>
      </p:pic>
      <p:sp>
        <p:nvSpPr>
          <p:cNvPr id="2" name="Title 1">
            <a:extLst>
              <a:ext uri="{FF2B5EF4-FFF2-40B4-BE49-F238E27FC236}">
                <a16:creationId xmlns:a16="http://schemas.microsoft.com/office/drawing/2014/main" id="{D600BD2A-E58A-12B7-BFDE-DEFA70545B20}"/>
              </a:ext>
            </a:extLst>
          </p:cNvPr>
          <p:cNvSpPr>
            <a:spLocks noGrp="1"/>
          </p:cNvSpPr>
          <p:nvPr>
            <p:ph type="title"/>
          </p:nvPr>
        </p:nvSpPr>
        <p:spPr>
          <a:xfrm>
            <a:off x="341086" y="365125"/>
            <a:ext cx="11041743" cy="1325563"/>
          </a:xfrm>
        </p:spPr>
        <p:txBody>
          <a:bodyPr>
            <a:normAutofit/>
          </a:bodyPr>
          <a:lstStyle>
            <a:lvl1pPr>
              <a:defRPr sz="3600" b="1">
                <a:solidFill>
                  <a:schemeClr val="tx2"/>
                </a:solidFill>
              </a:defRPr>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A7A4558B-5F9B-1B2A-F0DE-2EFB049E62D1}"/>
              </a:ext>
            </a:extLst>
          </p:cNvPr>
          <p:cNvSpPr>
            <a:spLocks noGrp="1"/>
          </p:cNvSpPr>
          <p:nvPr>
            <p:ph idx="1"/>
          </p:nvPr>
        </p:nvSpPr>
        <p:spPr>
          <a:xfrm>
            <a:off x="341086" y="1825625"/>
            <a:ext cx="11041743" cy="4139747"/>
          </a:xfrm>
        </p:spPr>
        <p:txBody>
          <a:bodyPr/>
          <a:lstStyle>
            <a:lvl1pPr>
              <a:lnSpc>
                <a:spcPct val="100000"/>
              </a:lnSpc>
              <a:defRPr sz="2000">
                <a:latin typeface="Segoe UI" panose="020B0502040204020203" pitchFamily="34" charset="0"/>
                <a:cs typeface="Segoe UI" panose="020B0502040204020203" pitchFamily="34" charset="0"/>
              </a:defRPr>
            </a:lvl1pPr>
            <a:lvl2pPr>
              <a:lnSpc>
                <a:spcPct val="100000"/>
              </a:lnSpc>
              <a:defRPr sz="2000">
                <a:latin typeface="Segoe UI" panose="020B0502040204020203" pitchFamily="34" charset="0"/>
                <a:cs typeface="Segoe UI" panose="020B0502040204020203" pitchFamily="34" charset="0"/>
              </a:defRPr>
            </a:lvl2pPr>
            <a:lvl3pPr>
              <a:lnSpc>
                <a:spcPct val="100000"/>
              </a:lnSpc>
              <a:defRPr sz="1800">
                <a:latin typeface="Segoe UI" panose="020B0502040204020203" pitchFamily="34" charset="0"/>
                <a:cs typeface="Segoe UI" panose="020B0502040204020203" pitchFamily="34" charset="0"/>
              </a:defRPr>
            </a:lvl3pPr>
            <a:lvl4pPr>
              <a:lnSpc>
                <a:spcPct val="100000"/>
              </a:lnSpc>
              <a:defRPr>
                <a:latin typeface="Segoe UI" panose="020B0502040204020203" pitchFamily="34" charset="0"/>
                <a:cs typeface="Segoe UI" panose="020B0502040204020203" pitchFamily="34" charset="0"/>
              </a:defRPr>
            </a:lvl4pPr>
            <a:lvl5pPr>
              <a:lnSpc>
                <a:spcPct val="100000"/>
              </a:lnSpc>
              <a:defRPr>
                <a:latin typeface="Segoe UI" panose="020B0502040204020203" pitchFamily="34" charset="0"/>
                <a:cs typeface="Segoe UI"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Slide Number Placeholder 5">
            <a:extLst>
              <a:ext uri="{FF2B5EF4-FFF2-40B4-BE49-F238E27FC236}">
                <a16:creationId xmlns:a16="http://schemas.microsoft.com/office/drawing/2014/main" id="{50E0ED74-28F0-4005-7C6F-12FACC50E63B}"/>
              </a:ext>
            </a:extLst>
          </p:cNvPr>
          <p:cNvSpPr>
            <a:spLocks noGrp="1"/>
          </p:cNvSpPr>
          <p:nvPr>
            <p:ph type="sldNum" sz="quarter" idx="12"/>
          </p:nvPr>
        </p:nvSpPr>
        <p:spPr/>
        <p:txBody>
          <a:bodyPr/>
          <a:lstStyle>
            <a:lvl1pPr>
              <a:defRPr b="1">
                <a:solidFill>
                  <a:schemeClr val="bg1"/>
                </a:solidFill>
              </a:defRPr>
            </a:lvl1pPr>
          </a:lstStyle>
          <a:p>
            <a:fld id="{B0B62103-952B-40C5-BACA-0A1B9F9E1991}" type="slidenum">
              <a:rPr lang="en-PH" smtClean="0"/>
              <a:pPr/>
              <a:t>‹#›</a:t>
            </a:fld>
            <a:endParaRPr lang="en-PH"/>
          </a:p>
        </p:txBody>
      </p:sp>
      <p:pic>
        <p:nvPicPr>
          <p:cNvPr id="9" name="Picture 8">
            <a:extLst>
              <a:ext uri="{FF2B5EF4-FFF2-40B4-BE49-F238E27FC236}">
                <a16:creationId xmlns:a16="http://schemas.microsoft.com/office/drawing/2014/main" id="{CBB40F2E-1D1D-55B1-29BF-87CFD40B6A5F}"/>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2" y="5802277"/>
            <a:ext cx="4291012" cy="1049263"/>
          </a:xfrm>
          <a:prstGeom prst="rect">
            <a:avLst/>
          </a:prstGeom>
        </p:spPr>
      </p:pic>
      <p:pic>
        <p:nvPicPr>
          <p:cNvPr id="4" name="Picture 3" descr="A blue and white logo&#10;&#10;Description automatically generated">
            <a:extLst>
              <a:ext uri="{FF2B5EF4-FFF2-40B4-BE49-F238E27FC236}">
                <a16:creationId xmlns:a16="http://schemas.microsoft.com/office/drawing/2014/main" id="{A0CD0736-EB50-330A-55B9-C8741580A362}"/>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1449152" y="6115991"/>
            <a:ext cx="620717" cy="620717"/>
          </a:xfrm>
          <a:prstGeom prst="rect">
            <a:avLst/>
          </a:prstGeom>
        </p:spPr>
      </p:pic>
      <p:pic>
        <p:nvPicPr>
          <p:cNvPr id="5" name="Picture 4" descr="A green and blue gradient&#10;&#10;Description automatically generated">
            <a:extLst>
              <a:ext uri="{FF2B5EF4-FFF2-40B4-BE49-F238E27FC236}">
                <a16:creationId xmlns:a16="http://schemas.microsoft.com/office/drawing/2014/main" id="{2C7E166D-ECFA-286E-2CE6-033F5000AECC}"/>
              </a:ext>
            </a:extLst>
          </p:cNvPr>
          <p:cNvPicPr>
            <a:picLocks noChangeAspect="1"/>
          </p:cNvPicPr>
          <p:nvPr userDrawn="1"/>
        </p:nvPicPr>
        <p:blipFill rotWithShape="1">
          <a:blip r:embed="rId6" cstate="screen">
            <a:extLst>
              <a:ext uri="{BEBA8EAE-BF5A-486C-A8C5-ECC9F3942E4B}">
                <a14:imgProps xmlns:a14="http://schemas.microsoft.com/office/drawing/2010/main">
                  <a14:imgLayer r:embed="rId7">
                    <a14:imgEffect>
                      <a14:brightnessContrast contrast="-20000"/>
                    </a14:imgEffect>
                  </a14:imgLayer>
                </a14:imgProps>
              </a:ext>
              <a:ext uri="{28A0092B-C50C-407E-A947-70E740481C1C}">
                <a14:useLocalDpi xmlns:a14="http://schemas.microsoft.com/office/drawing/2010/main"/>
              </a:ext>
            </a:extLst>
          </a:blip>
          <a:srcRect/>
          <a:stretch/>
        </p:blipFill>
        <p:spPr>
          <a:xfrm>
            <a:off x="6788165" y="-7925"/>
            <a:ext cx="5403835" cy="1698808"/>
          </a:xfrm>
          <a:prstGeom prst="rect">
            <a:avLst/>
          </a:prstGeom>
        </p:spPr>
      </p:pic>
    </p:spTree>
    <p:extLst>
      <p:ext uri="{BB962C8B-B14F-4D97-AF65-F5344CB8AC3E}">
        <p14:creationId xmlns:p14="http://schemas.microsoft.com/office/powerpoint/2010/main" val="32671655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F4C2120-DF8B-03EB-5E9D-019C7BA01073}"/>
              </a:ext>
            </a:extLst>
          </p:cNvPr>
          <p:cNvSpPr txBox="1"/>
          <p:nvPr>
            <p:extLst>
              <p:ext uri="{1162E1C5-73C7-4A58-AE30-91384D911F3F}">
                <p184:classification xmlns:p184="http://schemas.microsoft.com/office/powerpoint/2018/4/main" val="ftr"/>
              </p:ext>
            </p:extLst>
          </p:nvPr>
        </p:nvSpPr>
        <p:spPr>
          <a:xfrm>
            <a:off x="3224213" y="6672580"/>
            <a:ext cx="5764212" cy="121920"/>
          </a:xfrm>
          <a:prstGeom prst="rect">
            <a:avLst/>
          </a:prstGeom>
        </p:spPr>
        <p:txBody>
          <a:bodyPr horzOverflow="overflow" lIns="0" tIns="0" rIns="0" bIns="0">
            <a:spAutoFit/>
          </a:bodyPr>
          <a:lstStyle/>
          <a:p>
            <a:pPr algn="l"/>
            <a:r>
              <a:rPr lang="en-US" sz="800">
                <a:solidFill>
                  <a:srgbClr val="000000">
                    <a:alpha val="50000"/>
                  </a:srgbClr>
                </a:solidFill>
                <a:latin typeface="Aptos" panose="020B0004020202020204" pitchFamily="34" charset="0"/>
              </a:rPr>
              <a:t>INTERNAL. This information is accessible to ADB Management and Staff. It may be shared outside ADB with appropriate permission.</a:t>
            </a:r>
          </a:p>
        </p:txBody>
      </p:sp>
    </p:spTree>
    <p:extLst>
      <p:ext uri="{BB962C8B-B14F-4D97-AF65-F5344CB8AC3E}">
        <p14:creationId xmlns:p14="http://schemas.microsoft.com/office/powerpoint/2010/main" val="373833209"/>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Lst>
  <p:hf sldNum="0" hdr="0" ftr="0" dt="0"/>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1A76651-B3B5-21F1-CC98-98819F36D734}"/>
              </a:ext>
            </a:extLst>
          </p:cNvPr>
          <p:cNvSpPr>
            <a:spLocks noGrp="1"/>
          </p:cNvSpPr>
          <p:nvPr>
            <p:ph type="ctrTitle"/>
          </p:nvPr>
        </p:nvSpPr>
        <p:spPr/>
        <p:txBody>
          <a:bodyPr lIns="121920" tIns="60960" rIns="121920" bIns="60960" anchor="b">
            <a:norm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3800" dirty="0">
                <a:solidFill>
                  <a:schemeClr val="bg1"/>
                </a:solidFill>
                <a:latin typeface="Segoe UI Bold"/>
                <a:cs typeface="Segoe UI Bold"/>
              </a:rPr>
              <a:t>EDRMS Utilization Report</a:t>
            </a:r>
            <a:endParaRPr lang="en-US" dirty="0">
              <a:solidFill>
                <a:schemeClr val="bg1"/>
              </a:solidFill>
              <a:ea typeface="Calibri"/>
              <a:cs typeface="Calibri"/>
            </a:endParaRPr>
          </a:p>
        </p:txBody>
      </p:sp>
      <p:sp>
        <p:nvSpPr>
          <p:cNvPr id="3" name="Subtitle 2">
            <a:extLst>
              <a:ext uri="{FF2B5EF4-FFF2-40B4-BE49-F238E27FC236}">
                <a16:creationId xmlns:a16="http://schemas.microsoft.com/office/drawing/2014/main" id="{FA0FF230-BDAA-521C-33FC-57FE5F9254EE}"/>
              </a:ext>
            </a:extLst>
          </p:cNvPr>
          <p:cNvSpPr>
            <a:spLocks noGrp="1"/>
          </p:cNvSpPr>
          <p:nvPr>
            <p:ph type="subTitle" idx="1"/>
          </p:nvPr>
        </p:nvSpPr>
        <p:spPr/>
        <p:txBody>
          <a:bodyPr vert="horz" lIns="91440" tIns="45720" rIns="91440" bIns="45720" rtlCol="0" anchor="t">
            <a:norm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PH" dirty="0">
                <a:solidFill>
                  <a:schemeClr val="bg1"/>
                </a:solidFill>
                <a:cs typeface="Segoe UI"/>
              </a:rPr>
              <a:t>August 2026</a:t>
            </a:r>
            <a:endParaRPr lang="en-PH" dirty="0">
              <a:solidFill>
                <a:schemeClr val="bg1"/>
              </a:solidFill>
              <a:ea typeface="Calibri"/>
              <a:cs typeface="Segoe UI"/>
            </a:endParaRPr>
          </a:p>
        </p:txBody>
      </p:sp>
      <p:sp>
        <p:nvSpPr>
          <p:cNvPr id="10" name="Text 1">
            <a:extLst>
              <a:ext uri="{FF2B5EF4-FFF2-40B4-BE49-F238E27FC236}">
                <a16:creationId xmlns:a16="http://schemas.microsoft.com/office/drawing/2014/main" id="{D16B05C2-64A2-81BA-BB74-7CA424E577D1}"/>
              </a:ext>
            </a:extLst>
          </p:cNvPr>
          <p:cNvSpPr/>
          <p:nvPr/>
        </p:nvSpPr>
        <p:spPr>
          <a:xfrm>
            <a:off x="310024" y="3619139"/>
            <a:ext cx="10058400" cy="640080"/>
          </a:xfrm>
          <a:prstGeom prst="rect">
            <a:avLst/>
          </a:prstGeom>
          <a:noFill/>
          <a:ln/>
        </p:spPr>
        <p:txBody>
          <a:bodyPr wrap="square" lIns="0" tIns="0" rIns="0"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77"/>
            <a:r>
              <a:rPr lang="en-US" sz="3000" dirty="0">
                <a:solidFill>
                  <a:srgbClr val="FFFFFF"/>
                </a:solidFill>
                <a:latin typeface="Segoe UI"/>
                <a:cs typeface="Segoe UI"/>
              </a:rPr>
              <a:t>Reconfirmation Workshop (R2026.4)</a:t>
            </a:r>
          </a:p>
        </p:txBody>
      </p:sp>
    </p:spTree>
    <p:extLst>
      <p:ext uri="{BB962C8B-B14F-4D97-AF65-F5344CB8AC3E}">
        <p14:creationId xmlns:p14="http://schemas.microsoft.com/office/powerpoint/2010/main" val="18950256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1F5FA"/>
        </a:solidFill>
        <a:effectLst/>
      </p:bgPr>
    </p:bg>
    <p:spTree>
      <p:nvGrpSpPr>
        <p:cNvPr id="1" name=""/>
        <p:cNvGrpSpPr/>
        <p:nvPr/>
      </p:nvGrpSpPr>
      <p:grpSpPr>
        <a:xfrm>
          <a:off x="0" y="0"/>
          <a:ext cx="0" cy="0"/>
          <a:chOff x="0" y="0"/>
          <a:chExt cx="0" cy="0"/>
        </a:xfrm>
      </p:grpSpPr>
      <p:sp>
        <p:nvSpPr>
          <p:cNvPr id="4" name="Text 2"/>
          <p:cNvSpPr/>
          <p:nvPr/>
        </p:nvSpPr>
        <p:spPr>
          <a:xfrm>
            <a:off x="325991" y="49059"/>
            <a:ext cx="11216640" cy="658368"/>
          </a:xfrm>
          <a:prstGeom prst="rect">
            <a:avLst/>
          </a:prstGeom>
          <a:noFill/>
          <a:ln/>
        </p:spPr>
        <p:txBody>
          <a:bodyPr wrap="square" lIns="0" tIns="0" rIns="0" bIns="0" rtlCol="0" anchor="ctr"/>
          <a:lstStyle/>
          <a:p>
            <a:pPr defTabSz="1219170"/>
            <a:r>
              <a:rPr lang="en-US" sz="3600" b="1">
                <a:solidFill>
                  <a:srgbClr val="44546A">
                    <a:lumMod val="76000"/>
                  </a:srgbClr>
                </a:solidFill>
                <a:latin typeface="Cambria"/>
                <a:ea typeface="Cambria"/>
              </a:rPr>
              <a:t>Agenda</a:t>
            </a:r>
            <a:endParaRPr lang="en-US" sz="2400">
              <a:solidFill>
                <a:prstClr val="black"/>
              </a:solidFill>
              <a:latin typeface="Calibri" panose="020F0502020204030204"/>
            </a:endParaRPr>
          </a:p>
        </p:txBody>
      </p:sp>
      <p:sp>
        <p:nvSpPr>
          <p:cNvPr id="15" name="Shape 6">
            <a:extLst>
              <a:ext uri="{FF2B5EF4-FFF2-40B4-BE49-F238E27FC236}">
                <a16:creationId xmlns:a16="http://schemas.microsoft.com/office/drawing/2014/main" id="{00770241-BEA0-21FA-5F9B-394AABADE05C}"/>
              </a:ext>
            </a:extLst>
          </p:cNvPr>
          <p:cNvSpPr/>
          <p:nvPr/>
        </p:nvSpPr>
        <p:spPr>
          <a:xfrm>
            <a:off x="550164" y="1133856"/>
            <a:ext cx="11091672" cy="576072"/>
          </a:xfrm>
          <a:prstGeom prst="roundRect">
            <a:avLst>
              <a:gd name="adj" fmla="val 9524"/>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17" name="Shape 7">
            <a:extLst>
              <a:ext uri="{FF2B5EF4-FFF2-40B4-BE49-F238E27FC236}">
                <a16:creationId xmlns:a16="http://schemas.microsoft.com/office/drawing/2014/main" id="{ECD47354-9EFC-A722-D281-BF0AAA5EEF5D}"/>
              </a:ext>
            </a:extLst>
          </p:cNvPr>
          <p:cNvSpPr/>
          <p:nvPr/>
        </p:nvSpPr>
        <p:spPr>
          <a:xfrm>
            <a:off x="778764" y="1271016"/>
            <a:ext cx="301752" cy="301752"/>
          </a:xfrm>
          <a:prstGeom prst="ellipse">
            <a:avLst/>
          </a:prstGeom>
          <a:solidFill>
            <a:srgbClr val="1E2761"/>
          </a:solidFill>
          <a:ln/>
        </p:spPr>
        <p:txBody>
          <a:bodyPr/>
          <a:lstStyle/>
          <a:p>
            <a:endParaRPr lang="en-PH"/>
          </a:p>
        </p:txBody>
      </p:sp>
      <p:sp>
        <p:nvSpPr>
          <p:cNvPr id="19" name="Text 8">
            <a:extLst>
              <a:ext uri="{FF2B5EF4-FFF2-40B4-BE49-F238E27FC236}">
                <a16:creationId xmlns:a16="http://schemas.microsoft.com/office/drawing/2014/main" id="{BE1EF9E5-EFA0-8D20-5AD8-9D56B86FB6CB}"/>
              </a:ext>
            </a:extLst>
          </p:cNvPr>
          <p:cNvSpPr txBox="1"/>
          <p:nvPr/>
        </p:nvSpPr>
        <p:spPr>
          <a:xfrm>
            <a:off x="778764" y="1271016"/>
            <a:ext cx="301752"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1" name="Text 9">
            <a:extLst>
              <a:ext uri="{FF2B5EF4-FFF2-40B4-BE49-F238E27FC236}">
                <a16:creationId xmlns:a16="http://schemas.microsoft.com/office/drawing/2014/main" id="{C3325F8E-8B43-30BA-339F-BFCCB4DCBAB3}"/>
              </a:ext>
            </a:extLst>
          </p:cNvPr>
          <p:cNvSpPr txBox="1"/>
          <p:nvPr/>
        </p:nvSpPr>
        <p:spPr>
          <a:xfrm>
            <a:off x="1235964" y="1133856"/>
            <a:ext cx="3200400" cy="576072"/>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The proposal</a:t>
            </a:r>
            <a:endParaRPr lang="en-US" sz="1350" dirty="0"/>
          </a:p>
        </p:txBody>
      </p:sp>
      <p:sp>
        <p:nvSpPr>
          <p:cNvPr id="23" name="Text 10">
            <a:extLst>
              <a:ext uri="{FF2B5EF4-FFF2-40B4-BE49-F238E27FC236}">
                <a16:creationId xmlns:a16="http://schemas.microsoft.com/office/drawing/2014/main" id="{4C0BC426-974F-1791-D8EF-04E848744899}"/>
              </a:ext>
            </a:extLst>
          </p:cNvPr>
          <p:cNvSpPr txBox="1"/>
          <p:nvPr/>
        </p:nvSpPr>
        <p:spPr>
          <a:xfrm>
            <a:off x="4527804" y="1133856"/>
            <a:ext cx="6858000" cy="576072"/>
          </a:xfrm>
          <a:prstGeom prst="rect">
            <a:avLst/>
          </a:prstGeom>
          <a:noFill/>
          <a:ln/>
        </p:spPr>
        <p:txBody>
          <a:bodyPr wrap="square" lIns="0" tIns="0" rIns="0" bIns="0" rtlCol="0" anchor="ctr"/>
          <a:lstStyle/>
          <a:p>
            <a:pPr marL="0" indent="0">
              <a:buNone/>
            </a:pPr>
            <a:r>
              <a:rPr lang="en-US" sz="1150" dirty="0">
                <a:solidFill>
                  <a:srgbClr val="333F50"/>
                </a:solidFill>
                <a:latin typeface="Calibri" pitchFamily="34" charset="0"/>
                <a:ea typeface="Calibri" pitchFamily="34" charset="-122"/>
                <a:cs typeface="Calibri" pitchFamily="34" charset="-120"/>
              </a:rPr>
              <a:t>Two dashboards as the MVP for this release</a:t>
            </a:r>
            <a:endParaRPr lang="en-US" sz="1150" dirty="0"/>
          </a:p>
        </p:txBody>
      </p:sp>
      <p:sp>
        <p:nvSpPr>
          <p:cNvPr id="25" name="Shape 11">
            <a:extLst>
              <a:ext uri="{FF2B5EF4-FFF2-40B4-BE49-F238E27FC236}">
                <a16:creationId xmlns:a16="http://schemas.microsoft.com/office/drawing/2014/main" id="{AA002C18-44F3-02C6-3798-AF1B8D2B454F}"/>
              </a:ext>
            </a:extLst>
          </p:cNvPr>
          <p:cNvSpPr/>
          <p:nvPr/>
        </p:nvSpPr>
        <p:spPr>
          <a:xfrm>
            <a:off x="550164" y="1792224"/>
            <a:ext cx="11091672" cy="576072"/>
          </a:xfrm>
          <a:prstGeom prst="roundRect">
            <a:avLst>
              <a:gd name="adj" fmla="val 9524"/>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27" name="Shape 12">
            <a:extLst>
              <a:ext uri="{FF2B5EF4-FFF2-40B4-BE49-F238E27FC236}">
                <a16:creationId xmlns:a16="http://schemas.microsoft.com/office/drawing/2014/main" id="{897BB28F-B383-6160-5C63-8B8164A835D5}"/>
              </a:ext>
            </a:extLst>
          </p:cNvPr>
          <p:cNvSpPr/>
          <p:nvPr/>
        </p:nvSpPr>
        <p:spPr>
          <a:xfrm>
            <a:off x="778764" y="1929384"/>
            <a:ext cx="301752" cy="301752"/>
          </a:xfrm>
          <a:prstGeom prst="ellipse">
            <a:avLst/>
          </a:prstGeom>
          <a:solidFill>
            <a:srgbClr val="1E2761"/>
          </a:solidFill>
          <a:ln/>
        </p:spPr>
        <p:txBody>
          <a:bodyPr/>
          <a:lstStyle/>
          <a:p>
            <a:endParaRPr lang="en-PH"/>
          </a:p>
        </p:txBody>
      </p:sp>
      <p:sp>
        <p:nvSpPr>
          <p:cNvPr id="29" name="Text 13">
            <a:extLst>
              <a:ext uri="{FF2B5EF4-FFF2-40B4-BE49-F238E27FC236}">
                <a16:creationId xmlns:a16="http://schemas.microsoft.com/office/drawing/2014/main" id="{0242A212-7849-8E30-0B0B-DCEBF1063561}"/>
              </a:ext>
            </a:extLst>
          </p:cNvPr>
          <p:cNvSpPr txBox="1"/>
          <p:nvPr/>
        </p:nvSpPr>
        <p:spPr>
          <a:xfrm>
            <a:off x="778764" y="1929384"/>
            <a:ext cx="301752"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14">
            <a:extLst>
              <a:ext uri="{FF2B5EF4-FFF2-40B4-BE49-F238E27FC236}">
                <a16:creationId xmlns:a16="http://schemas.microsoft.com/office/drawing/2014/main" id="{19F1F513-7E96-0B40-6F57-67F74B423355}"/>
              </a:ext>
            </a:extLst>
          </p:cNvPr>
          <p:cNvSpPr txBox="1"/>
          <p:nvPr/>
        </p:nvSpPr>
        <p:spPr>
          <a:xfrm>
            <a:off x="1235964" y="1792224"/>
            <a:ext cx="3200400" cy="576072"/>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The data we have today</a:t>
            </a:r>
            <a:endParaRPr lang="en-US" sz="1350" dirty="0"/>
          </a:p>
        </p:txBody>
      </p:sp>
      <p:sp>
        <p:nvSpPr>
          <p:cNvPr id="33" name="Text 15">
            <a:extLst>
              <a:ext uri="{FF2B5EF4-FFF2-40B4-BE49-F238E27FC236}">
                <a16:creationId xmlns:a16="http://schemas.microsoft.com/office/drawing/2014/main" id="{C7CB5B7F-B146-1E86-03D6-CBD0F8CA9F85}"/>
              </a:ext>
            </a:extLst>
          </p:cNvPr>
          <p:cNvSpPr txBox="1"/>
          <p:nvPr/>
        </p:nvSpPr>
        <p:spPr>
          <a:xfrm>
            <a:off x="4527804" y="1792224"/>
            <a:ext cx="6858000" cy="576072"/>
          </a:xfrm>
          <a:prstGeom prst="rect">
            <a:avLst/>
          </a:prstGeom>
          <a:noFill/>
          <a:ln/>
        </p:spPr>
        <p:txBody>
          <a:bodyPr wrap="square" lIns="0" tIns="0" rIns="0" bIns="0" rtlCol="0" anchor="ctr"/>
          <a:lstStyle/>
          <a:p>
            <a:pPr marL="0" indent="0">
              <a:buNone/>
            </a:pPr>
            <a:r>
              <a:rPr lang="en-US" sz="1150" dirty="0">
                <a:solidFill>
                  <a:srgbClr val="333F50"/>
                </a:solidFill>
                <a:latin typeface="Calibri" pitchFamily="34" charset="0"/>
                <a:ea typeface="Calibri" pitchFamily="34" charset="-122"/>
                <a:cs typeface="Calibri" pitchFamily="34" charset="-120"/>
              </a:rPr>
              <a:t>Four sources, what each gives us, how each is produced</a:t>
            </a:r>
            <a:endParaRPr lang="en-US" sz="1150" dirty="0"/>
          </a:p>
        </p:txBody>
      </p:sp>
      <p:sp>
        <p:nvSpPr>
          <p:cNvPr id="35" name="Shape 16">
            <a:extLst>
              <a:ext uri="{FF2B5EF4-FFF2-40B4-BE49-F238E27FC236}">
                <a16:creationId xmlns:a16="http://schemas.microsoft.com/office/drawing/2014/main" id="{C20B2032-FB0B-9EA5-FCEE-83718171A68F}"/>
              </a:ext>
            </a:extLst>
          </p:cNvPr>
          <p:cNvSpPr/>
          <p:nvPr/>
        </p:nvSpPr>
        <p:spPr>
          <a:xfrm>
            <a:off x="550164" y="2450592"/>
            <a:ext cx="11091672" cy="576072"/>
          </a:xfrm>
          <a:prstGeom prst="roundRect">
            <a:avLst>
              <a:gd name="adj" fmla="val 9524"/>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37" name="Shape 17">
            <a:extLst>
              <a:ext uri="{FF2B5EF4-FFF2-40B4-BE49-F238E27FC236}">
                <a16:creationId xmlns:a16="http://schemas.microsoft.com/office/drawing/2014/main" id="{D8B37D04-441B-9246-C788-56A065DA1722}"/>
              </a:ext>
            </a:extLst>
          </p:cNvPr>
          <p:cNvSpPr/>
          <p:nvPr/>
        </p:nvSpPr>
        <p:spPr>
          <a:xfrm>
            <a:off x="778764" y="2587752"/>
            <a:ext cx="301752" cy="301752"/>
          </a:xfrm>
          <a:prstGeom prst="ellipse">
            <a:avLst/>
          </a:prstGeom>
          <a:solidFill>
            <a:srgbClr val="1E2761"/>
          </a:solidFill>
          <a:ln/>
        </p:spPr>
        <p:txBody>
          <a:bodyPr/>
          <a:lstStyle/>
          <a:p>
            <a:endParaRPr lang="en-PH"/>
          </a:p>
        </p:txBody>
      </p:sp>
      <p:sp>
        <p:nvSpPr>
          <p:cNvPr id="39" name="Text 18">
            <a:extLst>
              <a:ext uri="{FF2B5EF4-FFF2-40B4-BE49-F238E27FC236}">
                <a16:creationId xmlns:a16="http://schemas.microsoft.com/office/drawing/2014/main" id="{4DEC6DD2-D50F-BE67-EE73-C847A6E3171C}"/>
              </a:ext>
            </a:extLst>
          </p:cNvPr>
          <p:cNvSpPr txBox="1"/>
          <p:nvPr/>
        </p:nvSpPr>
        <p:spPr>
          <a:xfrm>
            <a:off x="778764" y="2587752"/>
            <a:ext cx="301752"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1" name="Text 19">
            <a:extLst>
              <a:ext uri="{FF2B5EF4-FFF2-40B4-BE49-F238E27FC236}">
                <a16:creationId xmlns:a16="http://schemas.microsoft.com/office/drawing/2014/main" id="{017AEDB8-DECC-6D40-DFCB-2FCF7F0212DC}"/>
              </a:ext>
            </a:extLst>
          </p:cNvPr>
          <p:cNvSpPr txBox="1"/>
          <p:nvPr/>
        </p:nvSpPr>
        <p:spPr>
          <a:xfrm>
            <a:off x="1235964" y="2450592"/>
            <a:ext cx="3200400" cy="576072"/>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Feeding and maintaining the report</a:t>
            </a:r>
            <a:endParaRPr lang="en-US" sz="1350" dirty="0"/>
          </a:p>
        </p:txBody>
      </p:sp>
      <p:sp>
        <p:nvSpPr>
          <p:cNvPr id="43" name="Text 20">
            <a:extLst>
              <a:ext uri="{FF2B5EF4-FFF2-40B4-BE49-F238E27FC236}">
                <a16:creationId xmlns:a16="http://schemas.microsoft.com/office/drawing/2014/main" id="{2E3DF869-1098-5B54-FF91-0F0B39503FC9}"/>
              </a:ext>
            </a:extLst>
          </p:cNvPr>
          <p:cNvSpPr txBox="1"/>
          <p:nvPr/>
        </p:nvSpPr>
        <p:spPr>
          <a:xfrm>
            <a:off x="4527804" y="2450592"/>
            <a:ext cx="6858000" cy="576072"/>
          </a:xfrm>
          <a:prstGeom prst="rect">
            <a:avLst/>
          </a:prstGeom>
          <a:noFill/>
          <a:ln/>
        </p:spPr>
        <p:txBody>
          <a:bodyPr wrap="square" lIns="0" tIns="0" rIns="0" bIns="0" rtlCol="0" anchor="ctr"/>
          <a:lstStyle/>
          <a:p>
            <a:pPr marL="0" indent="0">
              <a:buNone/>
            </a:pPr>
            <a:r>
              <a:rPr lang="en-US" sz="1150" dirty="0">
                <a:solidFill>
                  <a:srgbClr val="333F50"/>
                </a:solidFill>
                <a:latin typeface="Calibri" pitchFamily="34" charset="0"/>
                <a:ea typeface="Calibri" pitchFamily="34" charset="-122"/>
                <a:cs typeface="Calibri" pitchFamily="34" charset="-120"/>
              </a:rPr>
              <a:t>How the sources reach the report and who keeps them current</a:t>
            </a:r>
            <a:endParaRPr lang="en-US" sz="1150" dirty="0"/>
          </a:p>
        </p:txBody>
      </p:sp>
      <p:sp>
        <p:nvSpPr>
          <p:cNvPr id="45" name="Shape 21">
            <a:extLst>
              <a:ext uri="{FF2B5EF4-FFF2-40B4-BE49-F238E27FC236}">
                <a16:creationId xmlns:a16="http://schemas.microsoft.com/office/drawing/2014/main" id="{8DBD48AD-B7DC-3C7F-9284-A9489C2C2ECD}"/>
              </a:ext>
            </a:extLst>
          </p:cNvPr>
          <p:cNvSpPr/>
          <p:nvPr/>
        </p:nvSpPr>
        <p:spPr>
          <a:xfrm>
            <a:off x="550164" y="3108960"/>
            <a:ext cx="11091672" cy="576072"/>
          </a:xfrm>
          <a:prstGeom prst="roundRect">
            <a:avLst>
              <a:gd name="adj" fmla="val 9524"/>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47" name="Shape 22">
            <a:extLst>
              <a:ext uri="{FF2B5EF4-FFF2-40B4-BE49-F238E27FC236}">
                <a16:creationId xmlns:a16="http://schemas.microsoft.com/office/drawing/2014/main" id="{68625597-660E-52C9-0F10-E0783C2DB54E}"/>
              </a:ext>
            </a:extLst>
          </p:cNvPr>
          <p:cNvSpPr/>
          <p:nvPr/>
        </p:nvSpPr>
        <p:spPr>
          <a:xfrm>
            <a:off x="778764" y="3246120"/>
            <a:ext cx="301752" cy="301752"/>
          </a:xfrm>
          <a:prstGeom prst="ellipse">
            <a:avLst/>
          </a:prstGeom>
          <a:solidFill>
            <a:srgbClr val="1E2761"/>
          </a:solidFill>
          <a:ln/>
        </p:spPr>
        <p:txBody>
          <a:bodyPr/>
          <a:lstStyle/>
          <a:p>
            <a:endParaRPr lang="en-PH"/>
          </a:p>
        </p:txBody>
      </p:sp>
      <p:sp>
        <p:nvSpPr>
          <p:cNvPr id="49" name="Text 23">
            <a:extLst>
              <a:ext uri="{FF2B5EF4-FFF2-40B4-BE49-F238E27FC236}">
                <a16:creationId xmlns:a16="http://schemas.microsoft.com/office/drawing/2014/main" id="{99CB79D4-A8CC-7E87-8E4B-525454945F8A}"/>
              </a:ext>
            </a:extLst>
          </p:cNvPr>
          <p:cNvSpPr txBox="1"/>
          <p:nvPr/>
        </p:nvSpPr>
        <p:spPr>
          <a:xfrm>
            <a:off x="778764" y="3246120"/>
            <a:ext cx="301752"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1" name="Text 24">
            <a:extLst>
              <a:ext uri="{FF2B5EF4-FFF2-40B4-BE49-F238E27FC236}">
                <a16:creationId xmlns:a16="http://schemas.microsoft.com/office/drawing/2014/main" id="{041578F2-8DEB-BD0C-9AD7-4750CB5801EE}"/>
              </a:ext>
            </a:extLst>
          </p:cNvPr>
          <p:cNvSpPr txBox="1"/>
          <p:nvPr/>
        </p:nvSpPr>
        <p:spPr>
          <a:xfrm>
            <a:off x="1235964" y="3108960"/>
            <a:ext cx="3200400" cy="576072"/>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Bank-wide Oversight</a:t>
            </a:r>
            <a:endParaRPr lang="en-US" sz="1350" dirty="0"/>
          </a:p>
        </p:txBody>
      </p:sp>
      <p:sp>
        <p:nvSpPr>
          <p:cNvPr id="53" name="Text 25">
            <a:extLst>
              <a:ext uri="{FF2B5EF4-FFF2-40B4-BE49-F238E27FC236}">
                <a16:creationId xmlns:a16="http://schemas.microsoft.com/office/drawing/2014/main" id="{10BA7B96-B509-33C2-EECE-96390A56BB0F}"/>
              </a:ext>
            </a:extLst>
          </p:cNvPr>
          <p:cNvSpPr txBox="1"/>
          <p:nvPr/>
        </p:nvSpPr>
        <p:spPr>
          <a:xfrm>
            <a:off x="4527804" y="3108960"/>
            <a:ext cx="6858000" cy="576072"/>
          </a:xfrm>
          <a:prstGeom prst="rect">
            <a:avLst/>
          </a:prstGeom>
          <a:noFill/>
          <a:ln/>
        </p:spPr>
        <p:txBody>
          <a:bodyPr wrap="square" lIns="0" tIns="0" rIns="0" bIns="0" rtlCol="0" anchor="ctr"/>
          <a:lstStyle/>
          <a:p>
            <a:pPr marL="0" indent="0">
              <a:buNone/>
            </a:pPr>
            <a:r>
              <a:rPr lang="en-US" sz="1150" dirty="0">
                <a:solidFill>
                  <a:srgbClr val="333F50"/>
                </a:solidFill>
                <a:latin typeface="Calibri" pitchFamily="34" charset="0"/>
                <a:ea typeface="Calibri" pitchFamily="34" charset="-122"/>
                <a:cs typeface="Calibri" pitchFamily="34" charset="-120"/>
              </a:rPr>
              <a:t>Section by section: the term, what it means, where it comes from</a:t>
            </a:r>
            <a:endParaRPr lang="en-US" sz="1150" dirty="0"/>
          </a:p>
        </p:txBody>
      </p:sp>
      <p:sp>
        <p:nvSpPr>
          <p:cNvPr id="55" name="Shape 26">
            <a:extLst>
              <a:ext uri="{FF2B5EF4-FFF2-40B4-BE49-F238E27FC236}">
                <a16:creationId xmlns:a16="http://schemas.microsoft.com/office/drawing/2014/main" id="{C49A35FB-F975-346A-324A-1915A0DCCEE3}"/>
              </a:ext>
            </a:extLst>
          </p:cNvPr>
          <p:cNvSpPr/>
          <p:nvPr/>
        </p:nvSpPr>
        <p:spPr>
          <a:xfrm>
            <a:off x="550164" y="3767328"/>
            <a:ext cx="11091672" cy="576072"/>
          </a:xfrm>
          <a:prstGeom prst="roundRect">
            <a:avLst>
              <a:gd name="adj" fmla="val 9524"/>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57" name="Shape 27">
            <a:extLst>
              <a:ext uri="{FF2B5EF4-FFF2-40B4-BE49-F238E27FC236}">
                <a16:creationId xmlns:a16="http://schemas.microsoft.com/office/drawing/2014/main" id="{0B2712B4-F8DE-181D-1C66-29B8F590B701}"/>
              </a:ext>
            </a:extLst>
          </p:cNvPr>
          <p:cNvSpPr/>
          <p:nvPr/>
        </p:nvSpPr>
        <p:spPr>
          <a:xfrm>
            <a:off x="778764" y="3904488"/>
            <a:ext cx="301752" cy="301752"/>
          </a:xfrm>
          <a:prstGeom prst="ellipse">
            <a:avLst/>
          </a:prstGeom>
          <a:solidFill>
            <a:srgbClr val="1E2761"/>
          </a:solidFill>
          <a:ln/>
        </p:spPr>
        <p:txBody>
          <a:bodyPr/>
          <a:lstStyle/>
          <a:p>
            <a:endParaRPr lang="en-PH"/>
          </a:p>
        </p:txBody>
      </p:sp>
      <p:sp>
        <p:nvSpPr>
          <p:cNvPr id="59" name="Text 28">
            <a:extLst>
              <a:ext uri="{FF2B5EF4-FFF2-40B4-BE49-F238E27FC236}">
                <a16:creationId xmlns:a16="http://schemas.microsoft.com/office/drawing/2014/main" id="{73E64A67-9731-9A67-65D1-3C59852EE243}"/>
              </a:ext>
            </a:extLst>
          </p:cNvPr>
          <p:cNvSpPr txBox="1"/>
          <p:nvPr/>
        </p:nvSpPr>
        <p:spPr>
          <a:xfrm>
            <a:off x="778764" y="3904488"/>
            <a:ext cx="301752"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61" name="Text 29">
            <a:extLst>
              <a:ext uri="{FF2B5EF4-FFF2-40B4-BE49-F238E27FC236}">
                <a16:creationId xmlns:a16="http://schemas.microsoft.com/office/drawing/2014/main" id="{6692B72C-90BA-F709-41C4-20F2978905DE}"/>
              </a:ext>
            </a:extLst>
          </p:cNvPr>
          <p:cNvSpPr txBox="1"/>
          <p:nvPr/>
        </p:nvSpPr>
        <p:spPr>
          <a:xfrm>
            <a:off x="1235964" y="3767328"/>
            <a:ext cx="3200400" cy="576072"/>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Department Insights</a:t>
            </a:r>
            <a:endParaRPr lang="en-US" sz="1350" dirty="0"/>
          </a:p>
        </p:txBody>
      </p:sp>
      <p:sp>
        <p:nvSpPr>
          <p:cNvPr id="63" name="Text 30">
            <a:extLst>
              <a:ext uri="{FF2B5EF4-FFF2-40B4-BE49-F238E27FC236}">
                <a16:creationId xmlns:a16="http://schemas.microsoft.com/office/drawing/2014/main" id="{26512EC2-400B-F365-C1AC-ADBC08179144}"/>
              </a:ext>
            </a:extLst>
          </p:cNvPr>
          <p:cNvSpPr txBox="1"/>
          <p:nvPr/>
        </p:nvSpPr>
        <p:spPr>
          <a:xfrm>
            <a:off x="4527804" y="3767328"/>
            <a:ext cx="6858000" cy="576072"/>
          </a:xfrm>
          <a:prstGeom prst="rect">
            <a:avLst/>
          </a:prstGeom>
          <a:noFill/>
          <a:ln/>
        </p:spPr>
        <p:txBody>
          <a:bodyPr wrap="square" lIns="0" tIns="0" rIns="0" bIns="0" rtlCol="0" anchor="ctr"/>
          <a:lstStyle/>
          <a:p>
            <a:pPr marL="0" indent="0">
              <a:buNone/>
            </a:pPr>
            <a:r>
              <a:rPr lang="en-US" sz="1150" dirty="0">
                <a:solidFill>
                  <a:srgbClr val="333F50"/>
                </a:solidFill>
                <a:latin typeface="Calibri" pitchFamily="34" charset="0"/>
                <a:ea typeface="Calibri" pitchFamily="34" charset="-122"/>
                <a:cs typeface="Calibri" pitchFamily="34" charset="-120"/>
              </a:rPr>
              <a:t>Section by section: the term, what it means, where it comes from</a:t>
            </a:r>
            <a:endParaRPr lang="en-US" sz="1150" dirty="0"/>
          </a:p>
        </p:txBody>
      </p:sp>
      <p:sp>
        <p:nvSpPr>
          <p:cNvPr id="65" name="Shape 31">
            <a:extLst>
              <a:ext uri="{FF2B5EF4-FFF2-40B4-BE49-F238E27FC236}">
                <a16:creationId xmlns:a16="http://schemas.microsoft.com/office/drawing/2014/main" id="{32B14E05-D099-B494-9892-0012B926B848}"/>
              </a:ext>
            </a:extLst>
          </p:cNvPr>
          <p:cNvSpPr/>
          <p:nvPr/>
        </p:nvSpPr>
        <p:spPr>
          <a:xfrm>
            <a:off x="550164" y="4425696"/>
            <a:ext cx="11091672" cy="576072"/>
          </a:xfrm>
          <a:prstGeom prst="roundRect">
            <a:avLst>
              <a:gd name="adj" fmla="val 9524"/>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67" name="Shape 32">
            <a:extLst>
              <a:ext uri="{FF2B5EF4-FFF2-40B4-BE49-F238E27FC236}">
                <a16:creationId xmlns:a16="http://schemas.microsoft.com/office/drawing/2014/main" id="{0E37F55E-12CA-A8B2-F612-E9C66D8E3038}"/>
              </a:ext>
            </a:extLst>
          </p:cNvPr>
          <p:cNvSpPr/>
          <p:nvPr/>
        </p:nvSpPr>
        <p:spPr>
          <a:xfrm>
            <a:off x="778764" y="4562856"/>
            <a:ext cx="301752" cy="301752"/>
          </a:xfrm>
          <a:prstGeom prst="ellipse">
            <a:avLst/>
          </a:prstGeom>
          <a:solidFill>
            <a:srgbClr val="1E2761"/>
          </a:solidFill>
          <a:ln/>
        </p:spPr>
        <p:txBody>
          <a:bodyPr/>
          <a:lstStyle/>
          <a:p>
            <a:endParaRPr lang="en-PH"/>
          </a:p>
        </p:txBody>
      </p:sp>
      <p:sp>
        <p:nvSpPr>
          <p:cNvPr id="69" name="Text 33">
            <a:extLst>
              <a:ext uri="{FF2B5EF4-FFF2-40B4-BE49-F238E27FC236}">
                <a16:creationId xmlns:a16="http://schemas.microsoft.com/office/drawing/2014/main" id="{45FF7FC0-809E-F005-CBD8-CC05D5EEC7BE}"/>
              </a:ext>
            </a:extLst>
          </p:cNvPr>
          <p:cNvSpPr txBox="1"/>
          <p:nvPr/>
        </p:nvSpPr>
        <p:spPr>
          <a:xfrm>
            <a:off x="778764" y="4562856"/>
            <a:ext cx="301752"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71" name="Text 34">
            <a:extLst>
              <a:ext uri="{FF2B5EF4-FFF2-40B4-BE49-F238E27FC236}">
                <a16:creationId xmlns:a16="http://schemas.microsoft.com/office/drawing/2014/main" id="{39F8C53C-DD23-0C84-BEB2-9B2F6764FF72}"/>
              </a:ext>
            </a:extLst>
          </p:cNvPr>
          <p:cNvSpPr txBox="1"/>
          <p:nvPr/>
        </p:nvSpPr>
        <p:spPr>
          <a:xfrm>
            <a:off x="1235964" y="4425696"/>
            <a:ext cx="3200400" cy="576072"/>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Terminology to confirm</a:t>
            </a:r>
            <a:endParaRPr lang="en-US" sz="1350" dirty="0"/>
          </a:p>
        </p:txBody>
      </p:sp>
      <p:sp>
        <p:nvSpPr>
          <p:cNvPr id="73" name="Text 35">
            <a:extLst>
              <a:ext uri="{FF2B5EF4-FFF2-40B4-BE49-F238E27FC236}">
                <a16:creationId xmlns:a16="http://schemas.microsoft.com/office/drawing/2014/main" id="{D48BB262-6D74-86AB-8493-4C79FA9A1F5E}"/>
              </a:ext>
            </a:extLst>
          </p:cNvPr>
          <p:cNvSpPr txBox="1"/>
          <p:nvPr/>
        </p:nvSpPr>
        <p:spPr>
          <a:xfrm>
            <a:off x="4527804" y="4425696"/>
            <a:ext cx="6858000" cy="576072"/>
          </a:xfrm>
          <a:prstGeom prst="rect">
            <a:avLst/>
          </a:prstGeom>
          <a:noFill/>
          <a:ln/>
        </p:spPr>
        <p:txBody>
          <a:bodyPr wrap="square" lIns="0" tIns="0" rIns="0" bIns="0" rtlCol="0" anchor="ctr"/>
          <a:lstStyle/>
          <a:p>
            <a:pPr marL="0" indent="0">
              <a:buNone/>
            </a:pPr>
            <a:r>
              <a:rPr lang="en-US" sz="1150" dirty="0">
                <a:solidFill>
                  <a:srgbClr val="333F50"/>
                </a:solidFill>
                <a:latin typeface="Calibri" pitchFamily="34" charset="0"/>
                <a:ea typeface="Calibri" pitchFamily="34" charset="-122"/>
                <a:cs typeface="Calibri" pitchFamily="34" charset="-120"/>
              </a:rPr>
              <a:t>Words that change the figure depending on how you read them</a:t>
            </a:r>
            <a:endParaRPr lang="en-US" sz="1150" dirty="0"/>
          </a:p>
        </p:txBody>
      </p:sp>
      <p:sp>
        <p:nvSpPr>
          <p:cNvPr id="75" name="Shape 36">
            <a:extLst>
              <a:ext uri="{FF2B5EF4-FFF2-40B4-BE49-F238E27FC236}">
                <a16:creationId xmlns:a16="http://schemas.microsoft.com/office/drawing/2014/main" id="{B29181BD-2E82-D8C1-A3DC-20C3CF006BB4}"/>
              </a:ext>
            </a:extLst>
          </p:cNvPr>
          <p:cNvSpPr/>
          <p:nvPr/>
        </p:nvSpPr>
        <p:spPr>
          <a:xfrm>
            <a:off x="550164" y="5084064"/>
            <a:ext cx="11091672" cy="576072"/>
          </a:xfrm>
          <a:prstGeom prst="roundRect">
            <a:avLst>
              <a:gd name="adj" fmla="val 9524"/>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77" name="Shape 37">
            <a:extLst>
              <a:ext uri="{FF2B5EF4-FFF2-40B4-BE49-F238E27FC236}">
                <a16:creationId xmlns:a16="http://schemas.microsoft.com/office/drawing/2014/main" id="{59BD658A-DA18-6508-AA86-2D212081CD32}"/>
              </a:ext>
            </a:extLst>
          </p:cNvPr>
          <p:cNvSpPr/>
          <p:nvPr/>
        </p:nvSpPr>
        <p:spPr>
          <a:xfrm>
            <a:off x="778764" y="5221224"/>
            <a:ext cx="301752" cy="301752"/>
          </a:xfrm>
          <a:prstGeom prst="ellipse">
            <a:avLst/>
          </a:prstGeom>
          <a:solidFill>
            <a:srgbClr val="1E2761"/>
          </a:solidFill>
          <a:ln/>
        </p:spPr>
        <p:txBody>
          <a:bodyPr/>
          <a:lstStyle/>
          <a:p>
            <a:endParaRPr lang="en-PH"/>
          </a:p>
        </p:txBody>
      </p:sp>
      <p:sp>
        <p:nvSpPr>
          <p:cNvPr id="79" name="Text 38">
            <a:extLst>
              <a:ext uri="{FF2B5EF4-FFF2-40B4-BE49-F238E27FC236}">
                <a16:creationId xmlns:a16="http://schemas.microsoft.com/office/drawing/2014/main" id="{167F6F3F-1BF7-A226-CA59-D776D95E3566}"/>
              </a:ext>
            </a:extLst>
          </p:cNvPr>
          <p:cNvSpPr txBox="1"/>
          <p:nvPr/>
        </p:nvSpPr>
        <p:spPr>
          <a:xfrm>
            <a:off x="778764" y="5221224"/>
            <a:ext cx="301752"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81" name="Text 39">
            <a:extLst>
              <a:ext uri="{FF2B5EF4-FFF2-40B4-BE49-F238E27FC236}">
                <a16:creationId xmlns:a16="http://schemas.microsoft.com/office/drawing/2014/main" id="{7508D1F4-0432-5A14-35B2-E1D63B41897B}"/>
              </a:ext>
            </a:extLst>
          </p:cNvPr>
          <p:cNvSpPr txBox="1"/>
          <p:nvPr/>
        </p:nvSpPr>
        <p:spPr>
          <a:xfrm>
            <a:off x="1235964" y="5084064"/>
            <a:ext cx="3200400" cy="576072"/>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Next steps and decisions</a:t>
            </a:r>
            <a:endParaRPr lang="en-US" sz="1350" dirty="0"/>
          </a:p>
        </p:txBody>
      </p:sp>
      <p:sp>
        <p:nvSpPr>
          <p:cNvPr id="83" name="Text 40">
            <a:extLst>
              <a:ext uri="{FF2B5EF4-FFF2-40B4-BE49-F238E27FC236}">
                <a16:creationId xmlns:a16="http://schemas.microsoft.com/office/drawing/2014/main" id="{6D26785F-9830-669F-B4C4-C4C1E6998EA4}"/>
              </a:ext>
            </a:extLst>
          </p:cNvPr>
          <p:cNvSpPr txBox="1"/>
          <p:nvPr/>
        </p:nvSpPr>
        <p:spPr>
          <a:xfrm>
            <a:off x="4527804" y="5084064"/>
            <a:ext cx="6858000" cy="576072"/>
          </a:xfrm>
          <a:prstGeom prst="rect">
            <a:avLst/>
          </a:prstGeom>
          <a:noFill/>
          <a:ln/>
        </p:spPr>
        <p:txBody>
          <a:bodyPr wrap="square" lIns="0" tIns="0" rIns="0" bIns="0" rtlCol="0" anchor="ctr"/>
          <a:lstStyle/>
          <a:p>
            <a:pPr marL="0" indent="0">
              <a:buNone/>
            </a:pPr>
            <a:r>
              <a:rPr lang="en-US" sz="1150" dirty="0">
                <a:solidFill>
                  <a:srgbClr val="333F50"/>
                </a:solidFill>
                <a:latin typeface="Calibri" pitchFamily="34" charset="0"/>
                <a:ea typeface="Calibri" pitchFamily="34" charset="-122"/>
                <a:cs typeface="Calibri" pitchFamily="34" charset="-120"/>
              </a:rPr>
              <a:t>What we need from each party, and by when</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7FDFB-B9F7-2970-8667-D63602B33052}"/>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A26A5F39-AB81-5B70-9635-51634A4A9989}"/>
              </a:ext>
            </a:extLst>
          </p:cNvPr>
          <p:cNvSpPr/>
          <p:nvPr/>
        </p:nvSpPr>
        <p:spPr>
          <a:xfrm>
            <a:off x="325991" y="49059"/>
            <a:ext cx="11216640" cy="658368"/>
          </a:xfrm>
          <a:prstGeom prst="rect">
            <a:avLst/>
          </a:prstGeom>
          <a:noFill/>
          <a:ln/>
        </p:spPr>
        <p:txBody>
          <a:bodyPr wrap="square" lIns="0" tIns="0" rIns="0" bIns="0" rtlCol="0" anchor="ctr"/>
          <a:lstStyle/>
          <a:p>
            <a:r>
              <a:rPr lang="en-US" sz="3600" b="1" dirty="0">
                <a:solidFill>
                  <a:srgbClr val="44546A"/>
                </a:solidFill>
                <a:latin typeface="Cambria" pitchFamily="34" charset="0"/>
                <a:ea typeface="Cambria" pitchFamily="34" charset="-122"/>
                <a:cs typeface="Cambria" pitchFamily="34" charset="-120"/>
              </a:rPr>
              <a:t>Two dashboards as the MVP for this release</a:t>
            </a:r>
            <a:endParaRPr lang="en-US" sz="3600" dirty="0"/>
          </a:p>
        </p:txBody>
      </p:sp>
      <p:sp>
        <p:nvSpPr>
          <p:cNvPr id="3" name="Text 2">
            <a:extLst>
              <a:ext uri="{FF2B5EF4-FFF2-40B4-BE49-F238E27FC236}">
                <a16:creationId xmlns:a16="http://schemas.microsoft.com/office/drawing/2014/main" id="{B80F2932-7E21-734A-1991-D004F5081383}"/>
              </a:ext>
            </a:extLst>
          </p:cNvPr>
          <p:cNvSpPr txBox="1"/>
          <p:nvPr/>
        </p:nvSpPr>
        <p:spPr>
          <a:xfrm>
            <a:off x="397764" y="841248"/>
            <a:ext cx="11091672" cy="274320"/>
          </a:xfrm>
          <a:prstGeom prst="rect">
            <a:avLst/>
          </a:prstGeom>
          <a:noFill/>
          <a:ln/>
        </p:spPr>
        <p:txBody>
          <a:bodyPr wrap="square" lIns="0" tIns="0" rIns="0" bIns="0" rtlCol="0" anchor="ctr"/>
          <a:lstStyle/>
          <a:p>
            <a:pPr marL="0" indent="0">
              <a:buNone/>
            </a:pPr>
            <a:r>
              <a:rPr lang="en-US" sz="1250" dirty="0">
                <a:solidFill>
                  <a:srgbClr val="333F50"/>
                </a:solidFill>
                <a:latin typeface="Calibri" pitchFamily="34" charset="0"/>
                <a:ea typeface="Calibri" pitchFamily="34" charset="-122"/>
                <a:cs typeface="Calibri" pitchFamily="34" charset="-120"/>
              </a:rPr>
              <a:t>Nothing is removed from scope. The remaining four are parked for a future release.</a:t>
            </a:r>
            <a:endParaRPr lang="en-US" sz="1250" dirty="0"/>
          </a:p>
        </p:txBody>
      </p:sp>
      <p:sp>
        <p:nvSpPr>
          <p:cNvPr id="8" name="Shape 3">
            <a:extLst>
              <a:ext uri="{FF2B5EF4-FFF2-40B4-BE49-F238E27FC236}">
                <a16:creationId xmlns:a16="http://schemas.microsoft.com/office/drawing/2014/main" id="{E80B0500-A40D-DA02-5B62-14BDB6FFA2AD}"/>
              </a:ext>
            </a:extLst>
          </p:cNvPr>
          <p:cNvSpPr/>
          <p:nvPr/>
        </p:nvSpPr>
        <p:spPr>
          <a:xfrm>
            <a:off x="397764" y="1261872"/>
            <a:ext cx="5577840" cy="2331720"/>
          </a:xfrm>
          <a:prstGeom prst="roundRect">
            <a:avLst>
              <a:gd name="adj" fmla="val 2353"/>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12" name="Text 4">
            <a:extLst>
              <a:ext uri="{FF2B5EF4-FFF2-40B4-BE49-F238E27FC236}">
                <a16:creationId xmlns:a16="http://schemas.microsoft.com/office/drawing/2014/main" id="{EC1201CA-0463-1DB4-C5AD-ED1010618A18}"/>
              </a:ext>
            </a:extLst>
          </p:cNvPr>
          <p:cNvSpPr txBox="1"/>
          <p:nvPr/>
        </p:nvSpPr>
        <p:spPr>
          <a:xfrm>
            <a:off x="717804" y="1444752"/>
            <a:ext cx="4937760" cy="219456"/>
          </a:xfrm>
          <a:prstGeom prst="rect">
            <a:avLst/>
          </a:prstGeom>
          <a:noFill/>
          <a:ln/>
        </p:spPr>
        <p:txBody>
          <a:bodyPr wrap="square" lIns="0" tIns="0" rIns="0" bIns="0" rtlCol="0" anchor="ctr"/>
          <a:lstStyle/>
          <a:p>
            <a:pPr marL="0" indent="0">
              <a:buNone/>
            </a:pPr>
            <a:r>
              <a:rPr lang="en-US" sz="1000" b="1" kern="0" spc="140" dirty="0">
                <a:solidFill>
                  <a:srgbClr val="6B7A90"/>
                </a:solidFill>
                <a:latin typeface="Calibri" pitchFamily="34" charset="0"/>
                <a:ea typeface="Calibri" pitchFamily="34" charset="-122"/>
                <a:cs typeface="Calibri" pitchFamily="34" charset="-120"/>
              </a:rPr>
              <a:t>IN THIS RELEASE</a:t>
            </a:r>
            <a:endParaRPr lang="en-US" sz="1000" dirty="0"/>
          </a:p>
        </p:txBody>
      </p:sp>
      <p:sp>
        <p:nvSpPr>
          <p:cNvPr id="16" name="Shape 5">
            <a:extLst>
              <a:ext uri="{FF2B5EF4-FFF2-40B4-BE49-F238E27FC236}">
                <a16:creationId xmlns:a16="http://schemas.microsoft.com/office/drawing/2014/main" id="{1C0171DD-CC10-C335-6FFB-EE3957AFE651}"/>
              </a:ext>
            </a:extLst>
          </p:cNvPr>
          <p:cNvSpPr/>
          <p:nvPr/>
        </p:nvSpPr>
        <p:spPr>
          <a:xfrm>
            <a:off x="717804" y="1783080"/>
            <a:ext cx="329184" cy="329184"/>
          </a:xfrm>
          <a:prstGeom prst="ellipse">
            <a:avLst/>
          </a:prstGeom>
          <a:solidFill>
            <a:srgbClr val="1E2761"/>
          </a:solidFill>
          <a:ln/>
        </p:spPr>
        <p:txBody>
          <a:bodyPr/>
          <a:lstStyle/>
          <a:p>
            <a:endParaRPr lang="en-PH"/>
          </a:p>
        </p:txBody>
      </p:sp>
      <p:sp>
        <p:nvSpPr>
          <p:cNvPr id="20" name="Text 6">
            <a:extLst>
              <a:ext uri="{FF2B5EF4-FFF2-40B4-BE49-F238E27FC236}">
                <a16:creationId xmlns:a16="http://schemas.microsoft.com/office/drawing/2014/main" id="{358C7936-1487-6BA1-1E43-4E1B88DD607D}"/>
              </a:ext>
            </a:extLst>
          </p:cNvPr>
          <p:cNvSpPr txBox="1"/>
          <p:nvPr/>
        </p:nvSpPr>
        <p:spPr>
          <a:xfrm>
            <a:off x="717804" y="1783080"/>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4" name="Text 7">
            <a:extLst>
              <a:ext uri="{FF2B5EF4-FFF2-40B4-BE49-F238E27FC236}">
                <a16:creationId xmlns:a16="http://schemas.microsoft.com/office/drawing/2014/main" id="{912921D4-15B0-3EB5-53BB-386575186DD9}"/>
              </a:ext>
            </a:extLst>
          </p:cNvPr>
          <p:cNvSpPr txBox="1"/>
          <p:nvPr/>
        </p:nvSpPr>
        <p:spPr>
          <a:xfrm>
            <a:off x="1202436" y="1783080"/>
            <a:ext cx="4480560" cy="329184"/>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Bank-wide Oversight</a:t>
            </a:r>
            <a:endParaRPr lang="en-US" sz="1500" dirty="0"/>
          </a:p>
        </p:txBody>
      </p:sp>
      <p:sp>
        <p:nvSpPr>
          <p:cNvPr id="28" name="Shape 8">
            <a:extLst>
              <a:ext uri="{FF2B5EF4-FFF2-40B4-BE49-F238E27FC236}">
                <a16:creationId xmlns:a16="http://schemas.microsoft.com/office/drawing/2014/main" id="{6A0D1ED0-0ABF-5452-4EAA-2BEE519ED78D}"/>
              </a:ext>
            </a:extLst>
          </p:cNvPr>
          <p:cNvSpPr/>
          <p:nvPr/>
        </p:nvSpPr>
        <p:spPr>
          <a:xfrm>
            <a:off x="717804" y="2331720"/>
            <a:ext cx="329184" cy="329184"/>
          </a:xfrm>
          <a:prstGeom prst="ellipse">
            <a:avLst/>
          </a:prstGeom>
          <a:solidFill>
            <a:srgbClr val="1E2761"/>
          </a:solidFill>
          <a:ln/>
        </p:spPr>
        <p:txBody>
          <a:bodyPr/>
          <a:lstStyle/>
          <a:p>
            <a:endParaRPr lang="en-PH"/>
          </a:p>
        </p:txBody>
      </p:sp>
      <p:sp>
        <p:nvSpPr>
          <p:cNvPr id="32" name="Text 9">
            <a:extLst>
              <a:ext uri="{FF2B5EF4-FFF2-40B4-BE49-F238E27FC236}">
                <a16:creationId xmlns:a16="http://schemas.microsoft.com/office/drawing/2014/main" id="{ACC8E64D-2470-1430-C302-1E311565C26C}"/>
              </a:ext>
            </a:extLst>
          </p:cNvPr>
          <p:cNvSpPr txBox="1"/>
          <p:nvPr/>
        </p:nvSpPr>
        <p:spPr>
          <a:xfrm>
            <a:off x="717804" y="2331720"/>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6" name="Text 10">
            <a:extLst>
              <a:ext uri="{FF2B5EF4-FFF2-40B4-BE49-F238E27FC236}">
                <a16:creationId xmlns:a16="http://schemas.microsoft.com/office/drawing/2014/main" id="{E3A1CB64-1964-88A0-DD41-6808EDD3D526}"/>
              </a:ext>
            </a:extLst>
          </p:cNvPr>
          <p:cNvSpPr txBox="1"/>
          <p:nvPr/>
        </p:nvSpPr>
        <p:spPr>
          <a:xfrm>
            <a:off x="1202436" y="2331720"/>
            <a:ext cx="4480560" cy="329184"/>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Department Insights</a:t>
            </a:r>
            <a:endParaRPr lang="en-US" sz="1500" dirty="0"/>
          </a:p>
        </p:txBody>
      </p:sp>
      <p:sp>
        <p:nvSpPr>
          <p:cNvPr id="40" name="Text 11">
            <a:extLst>
              <a:ext uri="{FF2B5EF4-FFF2-40B4-BE49-F238E27FC236}">
                <a16:creationId xmlns:a16="http://schemas.microsoft.com/office/drawing/2014/main" id="{CF9AB9A6-459A-801A-AFA8-A02F2E1CF0B1}"/>
              </a:ext>
            </a:extLst>
          </p:cNvPr>
          <p:cNvSpPr txBox="1"/>
          <p:nvPr/>
        </p:nvSpPr>
        <p:spPr>
          <a:xfrm>
            <a:off x="717804" y="2907792"/>
            <a:ext cx="4937760" cy="621792"/>
          </a:xfrm>
          <a:prstGeom prst="rect">
            <a:avLst/>
          </a:prstGeom>
          <a:noFill/>
          <a:ln/>
        </p:spPr>
        <p:txBody>
          <a:bodyPr wrap="square" lIns="0" tIns="0" rIns="0" bIns="0" rtlCol="0" anchor="ctr"/>
          <a:lstStyle/>
          <a:p>
            <a:pPr marL="342900" indent="-342900">
              <a:spcAft>
                <a:spcPts val="400"/>
              </a:spcAft>
              <a:buSzPct val="100000"/>
              <a:buChar char="•"/>
            </a:pPr>
            <a:r>
              <a:rPr lang="en-US" sz="1150" dirty="0">
                <a:solidFill>
                  <a:srgbClr val="333F50"/>
                </a:solidFill>
                <a:latin typeface="Calibri" pitchFamily="34" charset="0"/>
                <a:ea typeface="Calibri" pitchFamily="34" charset="-122"/>
                <a:cs typeface="Calibri" pitchFamily="34" charset="-120"/>
              </a:rPr>
              <a:t>Available from the sources we hold today</a:t>
            </a:r>
            <a:endParaRPr lang="en-US" sz="1150" dirty="0"/>
          </a:p>
          <a:p>
            <a:pPr marL="342900" indent="-342900">
              <a:spcAft>
                <a:spcPts val="400"/>
              </a:spcAft>
              <a:buSzPct val="100000"/>
              <a:buChar char="•"/>
            </a:pPr>
            <a:r>
              <a:rPr lang="en-US" sz="1150" dirty="0">
                <a:solidFill>
                  <a:srgbClr val="333F50"/>
                </a:solidFill>
                <a:latin typeface="Calibri" pitchFamily="34" charset="0"/>
                <a:ea typeface="Calibri" pitchFamily="34" charset="-122"/>
                <a:cs typeface="Calibri" pitchFamily="34" charset="-120"/>
              </a:rPr>
              <a:t>The two the team most needs to use now</a:t>
            </a:r>
            <a:endParaRPr lang="en-US" sz="1150" dirty="0"/>
          </a:p>
          <a:p>
            <a:pPr marL="342900" indent="-342900">
              <a:spcAft>
                <a:spcPts val="400"/>
              </a:spcAft>
              <a:buSzPct val="100000"/>
              <a:buChar char="•"/>
            </a:pPr>
            <a:r>
              <a:rPr lang="en-US" sz="1150" dirty="0">
                <a:solidFill>
                  <a:srgbClr val="333F50"/>
                </a:solidFill>
                <a:latin typeface="Calibri" pitchFamily="34" charset="0"/>
                <a:ea typeface="Calibri" pitchFamily="34" charset="-122"/>
                <a:cs typeface="Calibri" pitchFamily="34" charset="-120"/>
              </a:rPr>
              <a:t>Delivered to a finished standard, not a partial one</a:t>
            </a:r>
            <a:endParaRPr lang="en-US" sz="1150" dirty="0"/>
          </a:p>
        </p:txBody>
      </p:sp>
      <p:sp>
        <p:nvSpPr>
          <p:cNvPr id="44" name="Shape 12">
            <a:extLst>
              <a:ext uri="{FF2B5EF4-FFF2-40B4-BE49-F238E27FC236}">
                <a16:creationId xmlns:a16="http://schemas.microsoft.com/office/drawing/2014/main" id="{E2695AE9-49BF-6D52-9C6C-A0EC176124F7}"/>
              </a:ext>
            </a:extLst>
          </p:cNvPr>
          <p:cNvSpPr/>
          <p:nvPr/>
        </p:nvSpPr>
        <p:spPr>
          <a:xfrm>
            <a:off x="6185916" y="1261872"/>
            <a:ext cx="5303520" cy="2331720"/>
          </a:xfrm>
          <a:prstGeom prst="roundRect">
            <a:avLst>
              <a:gd name="adj" fmla="val 2353"/>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48" name="Text 13">
            <a:extLst>
              <a:ext uri="{FF2B5EF4-FFF2-40B4-BE49-F238E27FC236}">
                <a16:creationId xmlns:a16="http://schemas.microsoft.com/office/drawing/2014/main" id="{739435E1-3879-5BC6-6C3A-781FF0B6C0A8}"/>
              </a:ext>
            </a:extLst>
          </p:cNvPr>
          <p:cNvSpPr txBox="1"/>
          <p:nvPr/>
        </p:nvSpPr>
        <p:spPr>
          <a:xfrm>
            <a:off x="6505956" y="1444752"/>
            <a:ext cx="4663440" cy="219456"/>
          </a:xfrm>
          <a:prstGeom prst="rect">
            <a:avLst/>
          </a:prstGeom>
          <a:noFill/>
          <a:ln/>
        </p:spPr>
        <p:txBody>
          <a:bodyPr wrap="square" lIns="0" tIns="0" rIns="0" bIns="0" rtlCol="0" anchor="ctr"/>
          <a:lstStyle/>
          <a:p>
            <a:pPr marL="0" indent="0">
              <a:buNone/>
            </a:pPr>
            <a:r>
              <a:rPr lang="en-US" sz="1000" b="1" kern="0" spc="140" dirty="0">
                <a:solidFill>
                  <a:srgbClr val="6B7A90"/>
                </a:solidFill>
                <a:latin typeface="Calibri" pitchFamily="34" charset="0"/>
                <a:ea typeface="Calibri" pitchFamily="34" charset="-122"/>
                <a:cs typeface="Calibri" pitchFamily="34" charset="-120"/>
              </a:rPr>
              <a:t>PARKED, STILL IN SCOPE</a:t>
            </a:r>
            <a:endParaRPr lang="en-US" sz="1000" dirty="0"/>
          </a:p>
        </p:txBody>
      </p:sp>
      <p:sp>
        <p:nvSpPr>
          <p:cNvPr id="52" name="Text 14">
            <a:extLst>
              <a:ext uri="{FF2B5EF4-FFF2-40B4-BE49-F238E27FC236}">
                <a16:creationId xmlns:a16="http://schemas.microsoft.com/office/drawing/2014/main" id="{1464E37A-343D-8926-371C-B8897556B1C1}"/>
              </a:ext>
            </a:extLst>
          </p:cNvPr>
          <p:cNvSpPr txBox="1"/>
          <p:nvPr/>
        </p:nvSpPr>
        <p:spPr>
          <a:xfrm>
            <a:off x="6505956" y="1783080"/>
            <a:ext cx="2331720" cy="402336"/>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Project Insights</a:t>
            </a:r>
            <a:endParaRPr lang="en-US" sz="1200" dirty="0"/>
          </a:p>
        </p:txBody>
      </p:sp>
      <p:sp>
        <p:nvSpPr>
          <p:cNvPr id="56" name="Text 15">
            <a:extLst>
              <a:ext uri="{FF2B5EF4-FFF2-40B4-BE49-F238E27FC236}">
                <a16:creationId xmlns:a16="http://schemas.microsoft.com/office/drawing/2014/main" id="{CBC35EC9-047A-E9B0-1D32-72755B4588C8}"/>
              </a:ext>
            </a:extLst>
          </p:cNvPr>
          <p:cNvSpPr txBox="1"/>
          <p:nvPr/>
        </p:nvSpPr>
        <p:spPr>
          <a:xfrm>
            <a:off x="8901684" y="1783080"/>
            <a:ext cx="2377440" cy="402336"/>
          </a:xfrm>
          <a:prstGeom prst="rect">
            <a:avLst/>
          </a:prstGeom>
          <a:noFill/>
          <a:ln/>
        </p:spPr>
        <p:txBody>
          <a:bodyPr wrap="square" lIns="0" tIns="0" rIns="0" bIns="0" rtlCol="0" anchor="ctr"/>
          <a:lstStyle/>
          <a:p>
            <a:pPr marL="0" indent="0">
              <a:buNone/>
            </a:pPr>
            <a:r>
              <a:rPr lang="en-US" sz="1000" dirty="0">
                <a:solidFill>
                  <a:srgbClr val="6B7A90"/>
                </a:solidFill>
                <a:latin typeface="Calibri" pitchFamily="34" charset="0"/>
                <a:ea typeface="Calibri" pitchFamily="34" charset="-122"/>
                <a:cs typeface="Calibri" pitchFamily="34" charset="-120"/>
              </a:rPr>
              <a:t>Waits on a site to project register</a:t>
            </a:r>
            <a:endParaRPr lang="en-US" sz="1000" dirty="0"/>
          </a:p>
        </p:txBody>
      </p:sp>
      <p:sp>
        <p:nvSpPr>
          <p:cNvPr id="60" name="Text 16">
            <a:extLst>
              <a:ext uri="{FF2B5EF4-FFF2-40B4-BE49-F238E27FC236}">
                <a16:creationId xmlns:a16="http://schemas.microsoft.com/office/drawing/2014/main" id="{02B1DE99-1BF0-97DB-C0A0-A66212EACF10}"/>
              </a:ext>
            </a:extLst>
          </p:cNvPr>
          <p:cNvSpPr txBox="1"/>
          <p:nvPr/>
        </p:nvSpPr>
        <p:spPr>
          <a:xfrm>
            <a:off x="6505956" y="2203704"/>
            <a:ext cx="2331720" cy="402336"/>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Institutional File Plan</a:t>
            </a:r>
            <a:endParaRPr lang="en-US" sz="1200" dirty="0"/>
          </a:p>
        </p:txBody>
      </p:sp>
      <p:sp>
        <p:nvSpPr>
          <p:cNvPr id="64" name="Text 17">
            <a:extLst>
              <a:ext uri="{FF2B5EF4-FFF2-40B4-BE49-F238E27FC236}">
                <a16:creationId xmlns:a16="http://schemas.microsoft.com/office/drawing/2014/main" id="{4519F25D-C07C-A826-438A-199890DF6DCF}"/>
              </a:ext>
            </a:extLst>
          </p:cNvPr>
          <p:cNvSpPr txBox="1"/>
          <p:nvPr/>
        </p:nvSpPr>
        <p:spPr>
          <a:xfrm>
            <a:off x="8901684" y="2203704"/>
            <a:ext cx="2377440" cy="402336"/>
          </a:xfrm>
          <a:prstGeom prst="rect">
            <a:avLst/>
          </a:prstGeom>
          <a:noFill/>
          <a:ln/>
        </p:spPr>
        <p:txBody>
          <a:bodyPr wrap="square" lIns="0" tIns="0" rIns="0" bIns="0" rtlCol="0" anchor="ctr"/>
          <a:lstStyle/>
          <a:p>
            <a:pPr marL="0" indent="0">
              <a:buNone/>
            </a:pPr>
            <a:r>
              <a:rPr lang="en-US" sz="1000" dirty="0">
                <a:solidFill>
                  <a:srgbClr val="6B7A90"/>
                </a:solidFill>
                <a:latin typeface="Calibri" pitchFamily="34" charset="0"/>
                <a:ea typeface="Calibri" pitchFamily="34" charset="-122"/>
                <a:cs typeface="Calibri" pitchFamily="34" charset="-120"/>
              </a:rPr>
              <a:t>Waits on the file plan term list</a:t>
            </a:r>
            <a:endParaRPr lang="en-US" sz="1000" dirty="0"/>
          </a:p>
        </p:txBody>
      </p:sp>
      <p:sp>
        <p:nvSpPr>
          <p:cNvPr id="68" name="Text 18">
            <a:extLst>
              <a:ext uri="{FF2B5EF4-FFF2-40B4-BE49-F238E27FC236}">
                <a16:creationId xmlns:a16="http://schemas.microsoft.com/office/drawing/2014/main" id="{0CECDA11-1DA5-09E2-D298-7C638B34451D}"/>
              </a:ext>
            </a:extLst>
          </p:cNvPr>
          <p:cNvSpPr txBox="1"/>
          <p:nvPr/>
        </p:nvSpPr>
        <p:spPr>
          <a:xfrm>
            <a:off x="6505956" y="2624328"/>
            <a:ext cx="2331720" cy="402336"/>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Retention and Disposal</a:t>
            </a:r>
            <a:endParaRPr lang="en-US" sz="1200" dirty="0"/>
          </a:p>
        </p:txBody>
      </p:sp>
      <p:sp>
        <p:nvSpPr>
          <p:cNvPr id="72" name="Text 19">
            <a:extLst>
              <a:ext uri="{FF2B5EF4-FFF2-40B4-BE49-F238E27FC236}">
                <a16:creationId xmlns:a16="http://schemas.microsoft.com/office/drawing/2014/main" id="{E0F6AAF0-5D64-D693-72D1-C04545AB2E43}"/>
              </a:ext>
            </a:extLst>
          </p:cNvPr>
          <p:cNvSpPr txBox="1"/>
          <p:nvPr/>
        </p:nvSpPr>
        <p:spPr>
          <a:xfrm>
            <a:off x="8901684" y="2624328"/>
            <a:ext cx="2377440" cy="402336"/>
          </a:xfrm>
          <a:prstGeom prst="rect">
            <a:avLst/>
          </a:prstGeom>
          <a:noFill/>
          <a:ln/>
        </p:spPr>
        <p:txBody>
          <a:bodyPr wrap="square" lIns="0" tIns="0" rIns="0" bIns="0" rtlCol="0" anchor="ctr"/>
          <a:lstStyle/>
          <a:p>
            <a:pPr marL="0" indent="0">
              <a:buNone/>
            </a:pPr>
            <a:r>
              <a:rPr lang="en-US" sz="1000" dirty="0">
                <a:solidFill>
                  <a:srgbClr val="6B7A90"/>
                </a:solidFill>
                <a:latin typeface="Calibri" pitchFamily="34" charset="0"/>
                <a:ea typeface="Calibri" pitchFamily="34" charset="-122"/>
                <a:cs typeface="Calibri" pitchFamily="34" charset="-120"/>
              </a:rPr>
              <a:t>Retention works. Disposal has its own release</a:t>
            </a:r>
            <a:endParaRPr lang="en-US" sz="1000" dirty="0"/>
          </a:p>
        </p:txBody>
      </p:sp>
      <p:sp>
        <p:nvSpPr>
          <p:cNvPr id="76" name="Text 20">
            <a:extLst>
              <a:ext uri="{FF2B5EF4-FFF2-40B4-BE49-F238E27FC236}">
                <a16:creationId xmlns:a16="http://schemas.microsoft.com/office/drawing/2014/main" id="{A1111FF3-1989-62B8-466D-F9A06B07C425}"/>
              </a:ext>
            </a:extLst>
          </p:cNvPr>
          <p:cNvSpPr txBox="1"/>
          <p:nvPr/>
        </p:nvSpPr>
        <p:spPr>
          <a:xfrm>
            <a:off x="6505956" y="3044952"/>
            <a:ext cx="2331720" cy="402336"/>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Records and Archives Holdings</a:t>
            </a:r>
            <a:endParaRPr lang="en-US" sz="1200" dirty="0"/>
          </a:p>
        </p:txBody>
      </p:sp>
      <p:sp>
        <p:nvSpPr>
          <p:cNvPr id="80" name="Text 21">
            <a:extLst>
              <a:ext uri="{FF2B5EF4-FFF2-40B4-BE49-F238E27FC236}">
                <a16:creationId xmlns:a16="http://schemas.microsoft.com/office/drawing/2014/main" id="{B2B708AB-8B1E-1F51-0239-9991AE7FA28A}"/>
              </a:ext>
            </a:extLst>
          </p:cNvPr>
          <p:cNvSpPr txBox="1"/>
          <p:nvPr/>
        </p:nvSpPr>
        <p:spPr>
          <a:xfrm>
            <a:off x="8901684" y="3044952"/>
            <a:ext cx="2377440" cy="402336"/>
          </a:xfrm>
          <a:prstGeom prst="rect">
            <a:avLst/>
          </a:prstGeom>
          <a:noFill/>
          <a:ln/>
        </p:spPr>
        <p:txBody>
          <a:bodyPr wrap="square" lIns="0" tIns="0" rIns="0" bIns="0" rtlCol="0" anchor="ctr"/>
          <a:lstStyle/>
          <a:p>
            <a:pPr marL="0" indent="0">
              <a:buNone/>
            </a:pPr>
            <a:r>
              <a:rPr lang="en-US" sz="1000" dirty="0">
                <a:solidFill>
                  <a:srgbClr val="6B7A90"/>
                </a:solidFill>
                <a:latin typeface="Calibri" pitchFamily="34" charset="0"/>
                <a:ea typeface="Calibri" pitchFamily="34" charset="-122"/>
                <a:cs typeface="Calibri" pitchFamily="34" charset="-120"/>
              </a:rPr>
              <a:t>Waits on a physical archive system</a:t>
            </a:r>
            <a:endParaRPr lang="en-US" sz="1000" dirty="0"/>
          </a:p>
        </p:txBody>
      </p:sp>
      <p:sp>
        <p:nvSpPr>
          <p:cNvPr id="84" name="Shape 22">
            <a:extLst>
              <a:ext uri="{FF2B5EF4-FFF2-40B4-BE49-F238E27FC236}">
                <a16:creationId xmlns:a16="http://schemas.microsoft.com/office/drawing/2014/main" id="{27C7E1BD-FD41-01BD-8BD8-245E1364AD37}"/>
              </a:ext>
            </a:extLst>
          </p:cNvPr>
          <p:cNvSpPr/>
          <p:nvPr/>
        </p:nvSpPr>
        <p:spPr>
          <a:xfrm>
            <a:off x="397764" y="3767328"/>
            <a:ext cx="11091672" cy="2011680"/>
          </a:xfrm>
          <a:prstGeom prst="roundRect">
            <a:avLst>
              <a:gd name="adj" fmla="val 2727"/>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86" name="Text 23">
            <a:extLst>
              <a:ext uri="{FF2B5EF4-FFF2-40B4-BE49-F238E27FC236}">
                <a16:creationId xmlns:a16="http://schemas.microsoft.com/office/drawing/2014/main" id="{03349081-669D-A5D5-3984-B58D53D93680}"/>
              </a:ext>
            </a:extLst>
          </p:cNvPr>
          <p:cNvSpPr txBox="1"/>
          <p:nvPr/>
        </p:nvSpPr>
        <p:spPr>
          <a:xfrm>
            <a:off x="717804" y="3931920"/>
            <a:ext cx="10424160" cy="237744"/>
          </a:xfrm>
          <a:prstGeom prst="rect">
            <a:avLst/>
          </a:prstGeom>
          <a:noFill/>
          <a:ln/>
        </p:spPr>
        <p:txBody>
          <a:bodyPr wrap="square" lIns="0" tIns="0" rIns="0" bIns="0" rtlCol="0" anchor="ctr"/>
          <a:lstStyle/>
          <a:p>
            <a:pPr marL="0" indent="0">
              <a:buNone/>
            </a:pPr>
            <a:r>
              <a:rPr lang="en-US" sz="1050" b="1" kern="0" spc="140" dirty="0">
                <a:solidFill>
                  <a:srgbClr val="6B7A90"/>
                </a:solidFill>
                <a:latin typeface="Calibri" pitchFamily="34" charset="0"/>
                <a:ea typeface="Calibri" pitchFamily="34" charset="-122"/>
                <a:cs typeface="Calibri" pitchFamily="34" charset="-120"/>
              </a:rPr>
              <a:t>THE DECISION WE NEED TODAY</a:t>
            </a:r>
            <a:endParaRPr lang="en-US" sz="1050" dirty="0"/>
          </a:p>
        </p:txBody>
      </p:sp>
      <p:sp>
        <p:nvSpPr>
          <p:cNvPr id="88" name="Shape 24">
            <a:extLst>
              <a:ext uri="{FF2B5EF4-FFF2-40B4-BE49-F238E27FC236}">
                <a16:creationId xmlns:a16="http://schemas.microsoft.com/office/drawing/2014/main" id="{A562BD8B-D4D4-3A95-C6C7-E8085B096EF5}"/>
              </a:ext>
            </a:extLst>
          </p:cNvPr>
          <p:cNvSpPr/>
          <p:nvPr/>
        </p:nvSpPr>
        <p:spPr>
          <a:xfrm>
            <a:off x="717804" y="4224528"/>
            <a:ext cx="5074920" cy="1371600"/>
          </a:xfrm>
          <a:prstGeom prst="roundRect">
            <a:avLst>
              <a:gd name="adj" fmla="val 3333"/>
            </a:avLst>
          </a:prstGeom>
          <a:solidFill>
            <a:srgbClr val="E8F0E9"/>
          </a:solidFill>
          <a:ln w="12700">
            <a:solidFill>
              <a:srgbClr val="1F6B3B"/>
            </a:solidFill>
            <a:prstDash val="solid"/>
          </a:ln>
        </p:spPr>
        <p:txBody>
          <a:bodyPr/>
          <a:lstStyle/>
          <a:p>
            <a:endParaRPr lang="en-PH"/>
          </a:p>
        </p:txBody>
      </p:sp>
      <p:sp>
        <p:nvSpPr>
          <p:cNvPr id="90" name="Text 25">
            <a:extLst>
              <a:ext uri="{FF2B5EF4-FFF2-40B4-BE49-F238E27FC236}">
                <a16:creationId xmlns:a16="http://schemas.microsoft.com/office/drawing/2014/main" id="{A236B47E-F778-801A-C274-8D89DE3459C9}"/>
              </a:ext>
            </a:extLst>
          </p:cNvPr>
          <p:cNvSpPr txBox="1"/>
          <p:nvPr/>
        </p:nvSpPr>
        <p:spPr>
          <a:xfrm>
            <a:off x="946404" y="4334256"/>
            <a:ext cx="4572000" cy="256032"/>
          </a:xfrm>
          <a:prstGeom prst="rect">
            <a:avLst/>
          </a:prstGeom>
          <a:noFill/>
          <a:ln/>
        </p:spPr>
        <p:txBody>
          <a:bodyPr wrap="square" lIns="0" tIns="0" rIns="0" bIns="0" rtlCol="0" anchor="ctr"/>
          <a:lstStyle/>
          <a:p>
            <a:pPr marL="0" indent="0">
              <a:buNone/>
            </a:pPr>
            <a:r>
              <a:rPr lang="en-US" sz="1200" b="1" dirty="0">
                <a:solidFill>
                  <a:srgbClr val="1F6B3B"/>
                </a:solidFill>
                <a:latin typeface="Calibri" pitchFamily="34" charset="0"/>
                <a:ea typeface="Calibri" pitchFamily="34" charset="-122"/>
                <a:cs typeface="Calibri" pitchFamily="34" charset="-120"/>
              </a:rPr>
              <a:t>Option A</a:t>
            </a:r>
            <a:endParaRPr lang="en-US" sz="1200" dirty="0"/>
          </a:p>
        </p:txBody>
      </p:sp>
      <p:sp>
        <p:nvSpPr>
          <p:cNvPr id="92" name="Text 26">
            <a:extLst>
              <a:ext uri="{FF2B5EF4-FFF2-40B4-BE49-F238E27FC236}">
                <a16:creationId xmlns:a16="http://schemas.microsoft.com/office/drawing/2014/main" id="{622BD0F2-F0AC-DBA0-0095-08531C5E041B}"/>
              </a:ext>
            </a:extLst>
          </p:cNvPr>
          <p:cNvSpPr txBox="1"/>
          <p:nvPr/>
        </p:nvSpPr>
        <p:spPr>
          <a:xfrm>
            <a:off x="946404" y="4608576"/>
            <a:ext cx="4617720" cy="868680"/>
          </a:xfrm>
          <a:prstGeom prst="rect">
            <a:avLst/>
          </a:prstGeom>
          <a:noFill/>
          <a:ln/>
        </p:spPr>
        <p:txBody>
          <a:bodyPr wrap="square" lIns="0" tIns="0" rIns="0" bIns="0" rtlCol="0" anchor="ctr"/>
          <a:lstStyle/>
          <a:p>
            <a:pPr marL="0" indent="0">
              <a:buNone/>
            </a:pPr>
            <a:r>
              <a:rPr lang="en-US" sz="1150" dirty="0">
                <a:solidFill>
                  <a:srgbClr val="333F50"/>
                </a:solidFill>
                <a:latin typeface="Calibri" pitchFamily="34" charset="0"/>
                <a:ea typeface="Calibri" pitchFamily="34" charset="-122"/>
                <a:cs typeface="Calibri" pitchFamily="34" charset="-120"/>
              </a:rPr>
              <a:t>Bank-wide Oversight and Department Insights as the MVP for this release, with the other four parked in scope for a future release.</a:t>
            </a:r>
            <a:endParaRPr lang="en-US" sz="1150" dirty="0"/>
          </a:p>
        </p:txBody>
      </p:sp>
      <p:sp>
        <p:nvSpPr>
          <p:cNvPr id="94" name="Shape 27">
            <a:extLst>
              <a:ext uri="{FF2B5EF4-FFF2-40B4-BE49-F238E27FC236}">
                <a16:creationId xmlns:a16="http://schemas.microsoft.com/office/drawing/2014/main" id="{35B073EA-BA3F-E8AD-9329-C8B7E8CD93FB}"/>
              </a:ext>
            </a:extLst>
          </p:cNvPr>
          <p:cNvSpPr/>
          <p:nvPr/>
        </p:nvSpPr>
        <p:spPr>
          <a:xfrm>
            <a:off x="6094476" y="4224528"/>
            <a:ext cx="5074920" cy="1371600"/>
          </a:xfrm>
          <a:prstGeom prst="roundRect">
            <a:avLst>
              <a:gd name="adj" fmla="val 3333"/>
            </a:avLst>
          </a:prstGeom>
          <a:solidFill>
            <a:srgbClr val="F3F5F9"/>
          </a:solidFill>
          <a:ln w="12700">
            <a:solidFill>
              <a:srgbClr val="AAB6C8"/>
            </a:solidFill>
            <a:prstDash val="solid"/>
          </a:ln>
        </p:spPr>
        <p:txBody>
          <a:bodyPr/>
          <a:lstStyle/>
          <a:p>
            <a:endParaRPr lang="en-PH"/>
          </a:p>
        </p:txBody>
      </p:sp>
      <p:sp>
        <p:nvSpPr>
          <p:cNvPr id="96" name="Text 28">
            <a:extLst>
              <a:ext uri="{FF2B5EF4-FFF2-40B4-BE49-F238E27FC236}">
                <a16:creationId xmlns:a16="http://schemas.microsoft.com/office/drawing/2014/main" id="{ED7869A6-DC4B-51A1-1673-2F4FD396A4BB}"/>
              </a:ext>
            </a:extLst>
          </p:cNvPr>
          <p:cNvSpPr txBox="1"/>
          <p:nvPr/>
        </p:nvSpPr>
        <p:spPr>
          <a:xfrm>
            <a:off x="6323076" y="4334256"/>
            <a:ext cx="4572000" cy="256032"/>
          </a:xfrm>
          <a:prstGeom prst="rect">
            <a:avLst/>
          </a:prstGeom>
          <a:noFill/>
          <a:ln/>
        </p:spPr>
        <p:txBody>
          <a:bodyPr wrap="square" lIns="0" tIns="0" rIns="0" bIns="0" rtlCol="0" anchor="ctr"/>
          <a:lstStyle/>
          <a:p>
            <a:pPr marL="0" indent="0">
              <a:buNone/>
            </a:pPr>
            <a:r>
              <a:rPr lang="en-US" sz="1200" b="1" dirty="0">
                <a:solidFill>
                  <a:srgbClr val="333F50"/>
                </a:solidFill>
                <a:latin typeface="Calibri" pitchFamily="34" charset="0"/>
                <a:ea typeface="Calibri" pitchFamily="34" charset="-122"/>
                <a:cs typeface="Calibri" pitchFamily="34" charset="-120"/>
              </a:rPr>
              <a:t>Option B</a:t>
            </a:r>
            <a:endParaRPr lang="en-US" sz="1200" dirty="0"/>
          </a:p>
        </p:txBody>
      </p:sp>
      <p:sp>
        <p:nvSpPr>
          <p:cNvPr id="98" name="Text 29">
            <a:extLst>
              <a:ext uri="{FF2B5EF4-FFF2-40B4-BE49-F238E27FC236}">
                <a16:creationId xmlns:a16="http://schemas.microsoft.com/office/drawing/2014/main" id="{B6F75A89-C41C-7E39-A1EE-FDFCDE3D2FFB}"/>
              </a:ext>
            </a:extLst>
          </p:cNvPr>
          <p:cNvSpPr txBox="1"/>
          <p:nvPr/>
        </p:nvSpPr>
        <p:spPr>
          <a:xfrm>
            <a:off x="6323076" y="4608576"/>
            <a:ext cx="4617720" cy="868680"/>
          </a:xfrm>
          <a:prstGeom prst="rect">
            <a:avLst/>
          </a:prstGeom>
          <a:noFill/>
          <a:ln/>
        </p:spPr>
        <p:txBody>
          <a:bodyPr wrap="square" lIns="0" tIns="0" rIns="0" bIns="0" rtlCol="0" anchor="ctr"/>
          <a:lstStyle/>
          <a:p>
            <a:pPr marL="0" indent="0">
              <a:buNone/>
            </a:pPr>
            <a:r>
              <a:rPr lang="en-US" sz="1150" dirty="0">
                <a:solidFill>
                  <a:srgbClr val="333F50"/>
                </a:solidFill>
                <a:latin typeface="Calibri" pitchFamily="34" charset="0"/>
                <a:ea typeface="Calibri" pitchFamily="34" charset="-122"/>
                <a:cs typeface="Calibri" pitchFamily="34" charset="-120"/>
              </a:rPr>
              <a:t>All six dashboards in one release.</a:t>
            </a:r>
            <a:endParaRPr lang="en-US" sz="1150" dirty="0"/>
          </a:p>
        </p:txBody>
      </p:sp>
      <p:sp>
        <p:nvSpPr>
          <p:cNvPr id="100" name="Text 0">
            <a:extLst>
              <a:ext uri="{FF2B5EF4-FFF2-40B4-BE49-F238E27FC236}">
                <a16:creationId xmlns:a16="http://schemas.microsoft.com/office/drawing/2014/main" id="{C0E48A15-CCE0-B8CB-5A43-D56A58B6E32F}"/>
              </a:ext>
            </a:extLst>
          </p:cNvPr>
          <p:cNvSpPr txBox="1"/>
          <p:nvPr/>
        </p:nvSpPr>
        <p:spPr>
          <a:xfrm>
            <a:off x="397764" y="561594"/>
            <a:ext cx="11219688" cy="219456"/>
          </a:xfrm>
          <a:prstGeom prst="rect">
            <a:avLst/>
          </a:prstGeom>
          <a:noFill/>
          <a:ln/>
        </p:spPr>
        <p:txBody>
          <a:bodyPr wrap="square" lIns="0" tIns="0" rIns="0" bIns="0" rtlCol="0" anchor="ctr"/>
          <a:lstStyle/>
          <a:p>
            <a:pPr marL="0" indent="0">
              <a:buNone/>
            </a:pPr>
            <a:r>
              <a:rPr lang="en-US" sz="1050" b="1" kern="0" spc="160" dirty="0">
                <a:solidFill>
                  <a:srgbClr val="6B7A90"/>
                </a:solidFill>
                <a:latin typeface="Calibri" pitchFamily="34" charset="0"/>
                <a:ea typeface="Calibri" pitchFamily="34" charset="-122"/>
                <a:cs typeface="Calibri" pitchFamily="34" charset="-120"/>
              </a:rPr>
              <a:t>THE PROPOSAL</a:t>
            </a:r>
            <a:endParaRPr lang="en-US" sz="1050" dirty="0"/>
          </a:p>
        </p:txBody>
      </p:sp>
    </p:spTree>
    <p:extLst>
      <p:ext uri="{BB962C8B-B14F-4D97-AF65-F5344CB8AC3E}">
        <p14:creationId xmlns:p14="http://schemas.microsoft.com/office/powerpoint/2010/main" val="37473040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8A454-F990-5AD7-94E3-90CD51DD7221}"/>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7999183A-99D0-26B8-3FF4-874705334FE8}"/>
              </a:ext>
            </a:extLst>
          </p:cNvPr>
          <p:cNvSpPr/>
          <p:nvPr/>
        </p:nvSpPr>
        <p:spPr>
          <a:xfrm>
            <a:off x="325991" y="49059"/>
            <a:ext cx="11216640" cy="658368"/>
          </a:xfrm>
          <a:prstGeom prst="rect">
            <a:avLst/>
          </a:prstGeom>
          <a:noFill/>
          <a:ln/>
        </p:spPr>
        <p:txBody>
          <a:bodyPr wrap="square" lIns="0" tIns="0" rIns="0" bIns="0" rtlCol="0" anchor="ctr"/>
          <a:lstStyle/>
          <a:p>
            <a:r>
              <a:rPr lang="en-US" sz="3600" b="1" dirty="0">
                <a:solidFill>
                  <a:srgbClr val="44546A"/>
                </a:solidFill>
                <a:latin typeface="Cambria" pitchFamily="34" charset="0"/>
                <a:ea typeface="Cambria" pitchFamily="34" charset="-122"/>
                <a:cs typeface="Cambria" pitchFamily="34" charset="-120"/>
              </a:rPr>
              <a:t>The four sources we have today</a:t>
            </a:r>
            <a:endParaRPr lang="en-US" sz="3600" dirty="0"/>
          </a:p>
        </p:txBody>
      </p:sp>
      <p:sp>
        <p:nvSpPr>
          <p:cNvPr id="5" name="Text 2">
            <a:extLst>
              <a:ext uri="{FF2B5EF4-FFF2-40B4-BE49-F238E27FC236}">
                <a16:creationId xmlns:a16="http://schemas.microsoft.com/office/drawing/2014/main" id="{62C69D70-2A5F-E66E-CD25-A6F60F726EAC}"/>
              </a:ext>
            </a:extLst>
          </p:cNvPr>
          <p:cNvSpPr txBox="1"/>
          <p:nvPr/>
        </p:nvSpPr>
        <p:spPr>
          <a:xfrm>
            <a:off x="550164" y="1666818"/>
            <a:ext cx="11091672" cy="274320"/>
          </a:xfrm>
          <a:prstGeom prst="rect">
            <a:avLst/>
          </a:prstGeom>
          <a:noFill/>
          <a:ln/>
        </p:spPr>
        <p:txBody>
          <a:bodyPr wrap="square" lIns="0" tIns="0" rIns="0" bIns="0" rtlCol="0" anchor="ctr"/>
          <a:lstStyle/>
          <a:p>
            <a:pPr marL="0" indent="0">
              <a:buNone/>
            </a:pPr>
            <a:r>
              <a:rPr lang="en-US" sz="1250" dirty="0">
                <a:solidFill>
                  <a:srgbClr val="333F50"/>
                </a:solidFill>
                <a:latin typeface="Calibri" pitchFamily="34" charset="0"/>
                <a:ea typeface="Calibri" pitchFamily="34" charset="-122"/>
                <a:cs typeface="Calibri" pitchFamily="34" charset="-120"/>
              </a:rPr>
              <a:t>Everything on the two MVP dashboards is built from these. Nothing else is assumed.</a:t>
            </a:r>
            <a:endParaRPr lang="en-US" sz="1250" dirty="0"/>
          </a:p>
        </p:txBody>
      </p:sp>
      <p:graphicFrame>
        <p:nvGraphicFramePr>
          <p:cNvPr id="7" name="Table 0">
            <a:extLst>
              <a:ext uri="{FF2B5EF4-FFF2-40B4-BE49-F238E27FC236}">
                <a16:creationId xmlns:a16="http://schemas.microsoft.com/office/drawing/2014/main" id="{A16A4CEF-759E-0BD9-A171-9E0AF22D2DBE}"/>
              </a:ext>
            </a:extLst>
          </p:cNvPr>
          <p:cNvGraphicFramePr>
            <a:graphicFrameLocks noGrp="1"/>
          </p:cNvGraphicFramePr>
          <p:nvPr>
            <p:extLst>
              <p:ext uri="{D42A27DB-BD31-4B8C-83A1-F6EECF244321}">
                <p14:modId xmlns:p14="http://schemas.microsoft.com/office/powerpoint/2010/main" val="1392454704"/>
              </p:ext>
            </p:extLst>
          </p:nvPr>
        </p:nvGraphicFramePr>
        <p:xfrm>
          <a:off x="550164" y="2060010"/>
          <a:ext cx="11091672" cy="1836420"/>
        </p:xfrm>
        <a:graphic>
          <a:graphicData uri="http://schemas.openxmlformats.org/drawingml/2006/table">
            <a:tbl>
              <a:tblPr/>
              <a:tblGrid>
                <a:gridCol w="187452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3246120">
                  <a:extLst>
                    <a:ext uri="{9D8B030D-6E8A-4147-A177-3AD203B41FA5}">
                      <a16:colId xmlns:a16="http://schemas.microsoft.com/office/drawing/2014/main" val="20002"/>
                    </a:ext>
                  </a:extLst>
                </a:gridCol>
                <a:gridCol w="2679192">
                  <a:extLst>
                    <a:ext uri="{9D8B030D-6E8A-4147-A177-3AD203B41FA5}">
                      <a16:colId xmlns:a16="http://schemas.microsoft.com/office/drawing/2014/main" val="20003"/>
                    </a:ext>
                  </a:extLst>
                </a:gridCol>
              </a:tblGrid>
              <a:tr h="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Source</a:t>
                      </a:r>
                      <a:endParaRPr lang="en-US" sz="10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What it gives us</a:t>
                      </a:r>
                      <a:endParaRPr lang="en-US" sz="10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How it is produced</a:t>
                      </a:r>
                      <a:endParaRPr lang="en-US" sz="10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How current</a:t>
                      </a:r>
                      <a:endParaRPr lang="en-US" sz="10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EDRMS Database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Declared records, physical counterparts, retention labels, disposal due dates, who declared and when</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Written by EDRMS itself as records are declared. Read directly by query.</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Live. No manual step.</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AvePoint</a:t>
                      </a:r>
                      <a:endParaRPr lang="en-US" sz="1000" dirty="0">
                        <a:latin typeface="Calibri" charset="0"/>
                        <a:ea typeface="Calibri" charset="0"/>
                        <a:cs typeface="Calibri" charset="0"/>
                      </a:endParaRPr>
                    </a:p>
                    <a:p>
                      <a:pPr marL="0" indent="0">
                        <a:buNone/>
                      </a:pPr>
                      <a:r>
                        <a:rPr lang="en-US" sz="1000" b="1" dirty="0">
                          <a:solidFill>
                            <a:srgbClr val="333F50"/>
                          </a:solidFill>
                          <a:latin typeface="Calibri" pitchFamily="34" charset="0"/>
                          <a:ea typeface="Calibri" pitchFamily="34" charset="-122"/>
                          <a:cs typeface="Calibri" pitchFamily="34" charset="-120"/>
                        </a:rPr>
                        <a:t>Cloud Governance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The EDRMS compliant site list, department, site owner, site status, storage used, last active time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Cloud Governance &gt; Directory &gt; Workspace report &gt; Export report</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On demand today. Can be scheduled.</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Microsoft 365</a:t>
                      </a:r>
                      <a:endParaRPr lang="en-US" sz="1000" dirty="0">
                        <a:latin typeface="Calibri" charset="0"/>
                        <a:ea typeface="Calibri" charset="0"/>
                        <a:cs typeface="Calibri" charset="0"/>
                      </a:endParaRPr>
                    </a:p>
                    <a:p>
                      <a:pPr marL="0" indent="0">
                        <a:buNone/>
                      </a:pPr>
                      <a:r>
                        <a:rPr lang="en-US" sz="1000" b="1" dirty="0">
                          <a:solidFill>
                            <a:srgbClr val="333F50"/>
                          </a:solidFill>
                          <a:latin typeface="Calibri" pitchFamily="34" charset="0"/>
                          <a:ea typeface="Calibri" pitchFamily="34" charset="-122"/>
                          <a:cs typeface="Calibri" pitchFamily="34" charset="-120"/>
                        </a:rPr>
                        <a:t>SharePoint reports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Site usage: file count, page views, visited pages, storage.</a:t>
                      </a:r>
                      <a:endParaRPr lang="en-US" sz="1000" dirty="0">
                        <a:latin typeface="Calibri" charset="0"/>
                        <a:ea typeface="Calibri" charset="0"/>
                        <a:cs typeface="Calibri" charset="0"/>
                      </a:endParaRPr>
                    </a:p>
                    <a:p>
                      <a:pPr marL="0" indent="0">
                        <a:buNone/>
                      </a:pPr>
                      <a:r>
                        <a:rPr lang="en-US" sz="1000" dirty="0">
                          <a:solidFill>
                            <a:srgbClr val="333F50"/>
                          </a:solidFill>
                          <a:latin typeface="Calibri" pitchFamily="34" charset="0"/>
                          <a:ea typeface="Calibri" pitchFamily="34" charset="-122"/>
                          <a:cs typeface="Calibri" pitchFamily="34" charset="-120"/>
                        </a:rPr>
                        <a:t>Activity: per user last activity date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M365 admin centre &gt; Reports &gt; Usage &gt; SharePoint site usage, and SharePoint activity</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Windows of 7, 30, 90 or 180 days. Nothing longer is offered.</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Site lookup file</a:t>
                      </a:r>
                      <a:endParaRPr lang="en-US" sz="1000" dirty="0">
                        <a:latin typeface="Calibri" charset="0"/>
                        <a:ea typeface="Calibri" charset="0"/>
                        <a:cs typeface="Calibri" charset="0"/>
                      </a:endParaRPr>
                    </a:p>
                    <a:p>
                      <a:pPr marL="0" indent="0">
                        <a:buNone/>
                      </a:pPr>
                      <a:r>
                        <a:rPr lang="en-US" sz="1000" b="1" dirty="0">
                          <a:solidFill>
                            <a:srgbClr val="333F50"/>
                          </a:solidFill>
                          <a:latin typeface="Calibri" pitchFamily="34" charset="0"/>
                          <a:ea typeface="Calibri" pitchFamily="34" charset="-122"/>
                          <a:cs typeface="Calibri" pitchFamily="34" charset="-120"/>
                        </a:rPr>
                        <a:t>(from ITD)</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Site to department, division and library mapping, plus a production flag separating live sites from demo and UAT</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Maintained by the BA team. Currently an Excel file on the project site.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marL="0" indent="0">
                        <a:buNone/>
                      </a:pPr>
                      <a:r>
                        <a:rPr lang="en-US" sz="1000" b="1" dirty="0">
                          <a:solidFill>
                            <a:srgbClr val="8A5A00"/>
                          </a:solidFill>
                          <a:latin typeface="Calibri" pitchFamily="34" charset="0"/>
                          <a:ea typeface="Calibri" pitchFamily="34" charset="-122"/>
                          <a:cs typeface="Calibri" pitchFamily="34" charset="-120"/>
                        </a:rPr>
                        <a:t>Manual. This is the one that can go stale.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0" name="Shape 3">
            <a:extLst>
              <a:ext uri="{FF2B5EF4-FFF2-40B4-BE49-F238E27FC236}">
                <a16:creationId xmlns:a16="http://schemas.microsoft.com/office/drawing/2014/main" id="{BC963945-40E3-F689-0F5E-06F2B807A0B4}"/>
              </a:ext>
            </a:extLst>
          </p:cNvPr>
          <p:cNvSpPr/>
          <p:nvPr/>
        </p:nvSpPr>
        <p:spPr>
          <a:xfrm>
            <a:off x="550164" y="5025059"/>
            <a:ext cx="11091672" cy="841248"/>
          </a:xfrm>
          <a:prstGeom prst="roundRect">
            <a:avLst>
              <a:gd name="adj" fmla="val 6522"/>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13" name="Text 4">
            <a:extLst>
              <a:ext uri="{FF2B5EF4-FFF2-40B4-BE49-F238E27FC236}">
                <a16:creationId xmlns:a16="http://schemas.microsoft.com/office/drawing/2014/main" id="{FB3AC2EE-DA3F-BF6B-69FE-B7C7C304F746}"/>
              </a:ext>
            </a:extLst>
          </p:cNvPr>
          <p:cNvSpPr txBox="1"/>
          <p:nvPr/>
        </p:nvSpPr>
        <p:spPr>
          <a:xfrm>
            <a:off x="870204" y="5180507"/>
            <a:ext cx="10424160" cy="27432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Sample of each report:  </a:t>
            </a:r>
            <a:r>
              <a:rPr lang="en-US" sz="1200" b="1" dirty="0">
                <a:solidFill>
                  <a:srgbClr val="8A5A00"/>
                </a:solidFill>
                <a:latin typeface="Calibri" pitchFamily="34" charset="0"/>
                <a:ea typeface="Calibri" pitchFamily="34" charset="-122"/>
                <a:cs typeface="Calibri" pitchFamily="34" charset="-120"/>
              </a:rPr>
              <a:t>[ LINK TO BE PASTED HERE ]</a:t>
            </a:r>
            <a:r>
              <a:rPr lang="en-US" sz="1200" dirty="0">
                <a:solidFill>
                  <a:srgbClr val="333F50"/>
                </a:solidFill>
                <a:latin typeface="Calibri" pitchFamily="34" charset="0"/>
                <a:ea typeface="Calibri" pitchFamily="34" charset="-122"/>
                <a:cs typeface="Calibri" pitchFamily="34" charset="-120"/>
              </a:rPr>
              <a:t>   so you can see the columns each one returns and how it is generated.</a:t>
            </a:r>
            <a:endParaRPr lang="en-US" sz="1200" dirty="0"/>
          </a:p>
        </p:txBody>
      </p:sp>
      <p:sp>
        <p:nvSpPr>
          <p:cNvPr id="15" name="Text 5">
            <a:extLst>
              <a:ext uri="{FF2B5EF4-FFF2-40B4-BE49-F238E27FC236}">
                <a16:creationId xmlns:a16="http://schemas.microsoft.com/office/drawing/2014/main" id="{DD2B912C-2540-BD12-62AD-A97B0C9C1D07}"/>
              </a:ext>
            </a:extLst>
          </p:cNvPr>
          <p:cNvSpPr txBox="1"/>
          <p:nvPr/>
        </p:nvSpPr>
        <p:spPr>
          <a:xfrm>
            <a:off x="870204" y="5473115"/>
            <a:ext cx="10424160" cy="292608"/>
          </a:xfrm>
          <a:prstGeom prst="rect">
            <a:avLst/>
          </a:prstGeom>
          <a:noFill/>
          <a:ln/>
        </p:spPr>
        <p:txBody>
          <a:bodyPr wrap="square" lIns="0" tIns="0" rIns="0" bIns="0" rtlCol="0" anchor="ctr"/>
          <a:lstStyle/>
          <a:p>
            <a:pPr marL="0" indent="0">
              <a:buNone/>
            </a:pPr>
            <a:r>
              <a:rPr lang="en-US" sz="1100" dirty="0">
                <a:solidFill>
                  <a:srgbClr val="6B7A90"/>
                </a:solidFill>
                <a:latin typeface="Calibri" pitchFamily="34" charset="0"/>
                <a:ea typeface="Calibri" pitchFamily="34" charset="-122"/>
                <a:cs typeface="Calibri" pitchFamily="34" charset="-120"/>
              </a:rPr>
              <a:t>The lookup file currently covers 92 sites, of which 38 are production. Extending it to the full estate is the single request that most increases what we can report on.</a:t>
            </a:r>
            <a:endParaRPr lang="en-US" sz="1100" dirty="0"/>
          </a:p>
        </p:txBody>
      </p:sp>
      <p:sp>
        <p:nvSpPr>
          <p:cNvPr id="18" name="Text 0">
            <a:extLst>
              <a:ext uri="{FF2B5EF4-FFF2-40B4-BE49-F238E27FC236}">
                <a16:creationId xmlns:a16="http://schemas.microsoft.com/office/drawing/2014/main" id="{2D088647-891C-9417-434E-C7F1322B990C}"/>
              </a:ext>
            </a:extLst>
          </p:cNvPr>
          <p:cNvSpPr txBox="1"/>
          <p:nvPr/>
        </p:nvSpPr>
        <p:spPr>
          <a:xfrm>
            <a:off x="397764" y="561594"/>
            <a:ext cx="11219688" cy="219456"/>
          </a:xfrm>
          <a:prstGeom prst="rect">
            <a:avLst/>
          </a:prstGeom>
          <a:noFill/>
          <a:ln/>
        </p:spPr>
        <p:txBody>
          <a:bodyPr wrap="square" lIns="0" tIns="0" rIns="0" bIns="0" rtlCol="0" anchor="ctr"/>
          <a:lstStyle/>
          <a:p>
            <a:r>
              <a:rPr lang="en-US" sz="1050" b="1" kern="0" spc="160" dirty="0">
                <a:solidFill>
                  <a:srgbClr val="6B7A90"/>
                </a:solidFill>
                <a:latin typeface="Calibri" pitchFamily="34" charset="0"/>
                <a:ea typeface="Calibri" pitchFamily="34" charset="-122"/>
                <a:cs typeface="Calibri" pitchFamily="34" charset="-120"/>
              </a:rPr>
              <a:t>AVAILABLE DATA</a:t>
            </a:r>
            <a:endParaRPr lang="en-US" sz="1050" dirty="0"/>
          </a:p>
        </p:txBody>
      </p:sp>
    </p:spTree>
    <p:extLst>
      <p:ext uri="{BB962C8B-B14F-4D97-AF65-F5344CB8AC3E}">
        <p14:creationId xmlns:p14="http://schemas.microsoft.com/office/powerpoint/2010/main" val="38665067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E3529-1A44-797E-19D0-DAE5A215392B}"/>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58277942-E658-CDD9-0E9A-3226BBC63567}"/>
              </a:ext>
            </a:extLst>
          </p:cNvPr>
          <p:cNvSpPr/>
          <p:nvPr/>
        </p:nvSpPr>
        <p:spPr>
          <a:xfrm>
            <a:off x="325991" y="49059"/>
            <a:ext cx="11216640" cy="658368"/>
          </a:xfrm>
          <a:prstGeom prst="rect">
            <a:avLst/>
          </a:prstGeom>
          <a:noFill/>
          <a:ln/>
        </p:spPr>
        <p:txBody>
          <a:bodyPr wrap="square" lIns="0" tIns="0" rIns="0" bIns="0" rtlCol="0" anchor="ctr"/>
          <a:lstStyle/>
          <a:p>
            <a:r>
              <a:rPr lang="en-US" sz="3600" b="1" dirty="0">
                <a:solidFill>
                  <a:srgbClr val="44546A"/>
                </a:solidFill>
                <a:latin typeface="Cambria" pitchFamily="34" charset="0"/>
                <a:ea typeface="Cambria" pitchFamily="34" charset="-122"/>
                <a:cs typeface="Cambria" pitchFamily="34" charset="-120"/>
              </a:rPr>
              <a:t>How the report is fed, and who keeps it current</a:t>
            </a:r>
            <a:endParaRPr lang="en-US" sz="3600" dirty="0"/>
          </a:p>
        </p:txBody>
      </p:sp>
      <p:sp>
        <p:nvSpPr>
          <p:cNvPr id="3" name="Text 2">
            <a:extLst>
              <a:ext uri="{FF2B5EF4-FFF2-40B4-BE49-F238E27FC236}">
                <a16:creationId xmlns:a16="http://schemas.microsoft.com/office/drawing/2014/main" id="{8A7E8F30-6347-F858-ECDB-13835DE05A72}"/>
              </a:ext>
            </a:extLst>
          </p:cNvPr>
          <p:cNvSpPr txBox="1"/>
          <p:nvPr/>
        </p:nvSpPr>
        <p:spPr>
          <a:xfrm>
            <a:off x="576072" y="841248"/>
            <a:ext cx="11091672" cy="274320"/>
          </a:xfrm>
          <a:prstGeom prst="rect">
            <a:avLst/>
          </a:prstGeom>
          <a:noFill/>
          <a:ln/>
        </p:spPr>
        <p:txBody>
          <a:bodyPr wrap="square" lIns="0" tIns="0" rIns="0" bIns="0" rtlCol="0" anchor="ctr"/>
          <a:lstStyle/>
          <a:p>
            <a:pPr marL="0" indent="0">
              <a:buNone/>
            </a:pPr>
            <a:r>
              <a:rPr lang="en-US" sz="1250" dirty="0">
                <a:solidFill>
                  <a:srgbClr val="333F50"/>
                </a:solidFill>
                <a:latin typeface="Calibri" pitchFamily="34" charset="0"/>
                <a:ea typeface="Calibri" pitchFamily="34" charset="-122"/>
                <a:cs typeface="Calibri" pitchFamily="34" charset="-120"/>
              </a:rPr>
              <a:t>Every figure is a join between these sources. The join key is the site.</a:t>
            </a:r>
            <a:endParaRPr lang="en-US" sz="1250" dirty="0"/>
          </a:p>
        </p:txBody>
      </p:sp>
      <p:sp>
        <p:nvSpPr>
          <p:cNvPr id="6" name="Shape 3">
            <a:extLst>
              <a:ext uri="{FF2B5EF4-FFF2-40B4-BE49-F238E27FC236}">
                <a16:creationId xmlns:a16="http://schemas.microsoft.com/office/drawing/2014/main" id="{D812D4C2-DA31-F35E-07E2-E2820CF94AC4}"/>
              </a:ext>
            </a:extLst>
          </p:cNvPr>
          <p:cNvSpPr/>
          <p:nvPr/>
        </p:nvSpPr>
        <p:spPr>
          <a:xfrm>
            <a:off x="576072" y="1261872"/>
            <a:ext cx="2615184" cy="1188720"/>
          </a:xfrm>
          <a:prstGeom prst="roundRect">
            <a:avLst>
              <a:gd name="adj" fmla="val 4615"/>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8" name="Text 4">
            <a:extLst>
              <a:ext uri="{FF2B5EF4-FFF2-40B4-BE49-F238E27FC236}">
                <a16:creationId xmlns:a16="http://schemas.microsoft.com/office/drawing/2014/main" id="{09B40C2E-8D22-B687-678D-9D9B84F4732A}"/>
              </a:ext>
            </a:extLst>
          </p:cNvPr>
          <p:cNvSpPr txBox="1"/>
          <p:nvPr/>
        </p:nvSpPr>
        <p:spPr>
          <a:xfrm>
            <a:off x="758952" y="1389888"/>
            <a:ext cx="2249424" cy="27432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EDRMS Database</a:t>
            </a:r>
            <a:endParaRPr lang="en-US" sz="1200" dirty="0"/>
          </a:p>
        </p:txBody>
      </p:sp>
      <p:sp>
        <p:nvSpPr>
          <p:cNvPr id="10" name="Text 5">
            <a:extLst>
              <a:ext uri="{FF2B5EF4-FFF2-40B4-BE49-F238E27FC236}">
                <a16:creationId xmlns:a16="http://schemas.microsoft.com/office/drawing/2014/main" id="{8EBB5209-E4EB-A862-EF7D-0578D43177B9}"/>
              </a:ext>
            </a:extLst>
          </p:cNvPr>
          <p:cNvSpPr txBox="1"/>
          <p:nvPr/>
        </p:nvSpPr>
        <p:spPr>
          <a:xfrm>
            <a:off x="758952" y="1682496"/>
            <a:ext cx="2249424" cy="676656"/>
          </a:xfrm>
          <a:prstGeom prst="rect">
            <a:avLst/>
          </a:prstGeom>
          <a:noFill/>
          <a:ln/>
        </p:spPr>
        <p:txBody>
          <a:bodyPr wrap="square" lIns="0" tIns="0" rIns="0" bIns="0" rtlCol="0" anchor="ctr"/>
          <a:lstStyle/>
          <a:p>
            <a:pPr marL="0" indent="0">
              <a:buNone/>
            </a:pPr>
            <a:r>
              <a:rPr lang="en-US" sz="1000" dirty="0">
                <a:solidFill>
                  <a:srgbClr val="6B7A90"/>
                </a:solidFill>
                <a:latin typeface="Calibri" pitchFamily="34" charset="0"/>
                <a:ea typeface="Calibri" pitchFamily="34" charset="-122"/>
                <a:cs typeface="Calibri" pitchFamily="34" charset="-120"/>
              </a:rPr>
              <a:t>Records, counterparts,</a:t>
            </a:r>
            <a:endParaRPr lang="en-US" sz="1000" dirty="0"/>
          </a:p>
          <a:p>
            <a:pPr marL="0" indent="0">
              <a:buNone/>
            </a:pPr>
            <a:r>
              <a:rPr lang="en-US" sz="1000" dirty="0">
                <a:solidFill>
                  <a:srgbClr val="6B7A90"/>
                </a:solidFill>
                <a:latin typeface="Calibri" pitchFamily="34" charset="0"/>
                <a:ea typeface="Calibri" pitchFamily="34" charset="-122"/>
                <a:cs typeface="Calibri" pitchFamily="34" charset="-120"/>
              </a:rPr>
              <a:t>retention, disposal dates</a:t>
            </a:r>
            <a:endParaRPr lang="en-US" sz="1000" dirty="0"/>
          </a:p>
        </p:txBody>
      </p:sp>
      <p:sp>
        <p:nvSpPr>
          <p:cNvPr id="12" name="Shape 6">
            <a:extLst>
              <a:ext uri="{FF2B5EF4-FFF2-40B4-BE49-F238E27FC236}">
                <a16:creationId xmlns:a16="http://schemas.microsoft.com/office/drawing/2014/main" id="{12FC4327-24DF-5005-D675-66CCFAD179A1}"/>
              </a:ext>
            </a:extLst>
          </p:cNvPr>
          <p:cNvSpPr/>
          <p:nvPr/>
        </p:nvSpPr>
        <p:spPr>
          <a:xfrm>
            <a:off x="3410712" y="1261872"/>
            <a:ext cx="2615184" cy="1188720"/>
          </a:xfrm>
          <a:prstGeom prst="roundRect">
            <a:avLst>
              <a:gd name="adj" fmla="val 4615"/>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14" name="Text 7">
            <a:extLst>
              <a:ext uri="{FF2B5EF4-FFF2-40B4-BE49-F238E27FC236}">
                <a16:creationId xmlns:a16="http://schemas.microsoft.com/office/drawing/2014/main" id="{497ECE2D-2FBD-3035-CAC4-7BC8D4B96973}"/>
              </a:ext>
            </a:extLst>
          </p:cNvPr>
          <p:cNvSpPr txBox="1"/>
          <p:nvPr/>
        </p:nvSpPr>
        <p:spPr>
          <a:xfrm>
            <a:off x="3593592" y="1389888"/>
            <a:ext cx="2249424" cy="27432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Cloud Governance</a:t>
            </a:r>
            <a:endParaRPr lang="en-US" sz="1200" dirty="0"/>
          </a:p>
        </p:txBody>
      </p:sp>
      <p:sp>
        <p:nvSpPr>
          <p:cNvPr id="16" name="Text 8">
            <a:extLst>
              <a:ext uri="{FF2B5EF4-FFF2-40B4-BE49-F238E27FC236}">
                <a16:creationId xmlns:a16="http://schemas.microsoft.com/office/drawing/2014/main" id="{A82FC9B3-22AD-3058-5EBC-91FED0B446B8}"/>
              </a:ext>
            </a:extLst>
          </p:cNvPr>
          <p:cNvSpPr txBox="1"/>
          <p:nvPr/>
        </p:nvSpPr>
        <p:spPr>
          <a:xfrm>
            <a:off x="3593592" y="1682496"/>
            <a:ext cx="2249424" cy="676656"/>
          </a:xfrm>
          <a:prstGeom prst="rect">
            <a:avLst/>
          </a:prstGeom>
          <a:noFill/>
          <a:ln/>
        </p:spPr>
        <p:txBody>
          <a:bodyPr wrap="square" lIns="0" tIns="0" rIns="0" bIns="0" rtlCol="0" anchor="ctr"/>
          <a:lstStyle/>
          <a:p>
            <a:pPr marL="0" indent="0">
              <a:buNone/>
            </a:pPr>
            <a:r>
              <a:rPr lang="en-US" sz="1000" dirty="0">
                <a:solidFill>
                  <a:srgbClr val="6B7A90"/>
                </a:solidFill>
                <a:latin typeface="Calibri" pitchFamily="34" charset="0"/>
                <a:ea typeface="Calibri" pitchFamily="34" charset="-122"/>
                <a:cs typeface="Calibri" pitchFamily="34" charset="-120"/>
              </a:rPr>
              <a:t>Site list, department,</a:t>
            </a:r>
            <a:endParaRPr lang="en-US" sz="1000" dirty="0"/>
          </a:p>
          <a:p>
            <a:pPr marL="0" indent="0">
              <a:buNone/>
            </a:pPr>
            <a:r>
              <a:rPr lang="en-US" sz="1000" dirty="0">
                <a:solidFill>
                  <a:srgbClr val="6B7A90"/>
                </a:solidFill>
                <a:latin typeface="Calibri" pitchFamily="34" charset="0"/>
                <a:ea typeface="Calibri" pitchFamily="34" charset="-122"/>
                <a:cs typeface="Calibri" pitchFamily="34" charset="-120"/>
              </a:rPr>
              <a:t>owner, status, storage</a:t>
            </a:r>
            <a:endParaRPr lang="en-US" sz="1000" dirty="0"/>
          </a:p>
        </p:txBody>
      </p:sp>
      <p:sp>
        <p:nvSpPr>
          <p:cNvPr id="18" name="Shape 9">
            <a:extLst>
              <a:ext uri="{FF2B5EF4-FFF2-40B4-BE49-F238E27FC236}">
                <a16:creationId xmlns:a16="http://schemas.microsoft.com/office/drawing/2014/main" id="{2593AE7C-BEEF-96EA-79FD-E99FEE801DB4}"/>
              </a:ext>
            </a:extLst>
          </p:cNvPr>
          <p:cNvSpPr/>
          <p:nvPr/>
        </p:nvSpPr>
        <p:spPr>
          <a:xfrm>
            <a:off x="6245352" y="1261872"/>
            <a:ext cx="2615184" cy="1188720"/>
          </a:xfrm>
          <a:prstGeom prst="roundRect">
            <a:avLst>
              <a:gd name="adj" fmla="val 4615"/>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20" name="Text 10">
            <a:extLst>
              <a:ext uri="{FF2B5EF4-FFF2-40B4-BE49-F238E27FC236}">
                <a16:creationId xmlns:a16="http://schemas.microsoft.com/office/drawing/2014/main" id="{0E2B0337-CE36-4DBC-27A1-6D09FB6CD46F}"/>
              </a:ext>
            </a:extLst>
          </p:cNvPr>
          <p:cNvSpPr txBox="1"/>
          <p:nvPr/>
        </p:nvSpPr>
        <p:spPr>
          <a:xfrm>
            <a:off x="6428232" y="1389888"/>
            <a:ext cx="2249424" cy="27432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Microsoft 365</a:t>
            </a:r>
            <a:endParaRPr lang="en-US" sz="1200" dirty="0"/>
          </a:p>
        </p:txBody>
      </p:sp>
      <p:sp>
        <p:nvSpPr>
          <p:cNvPr id="22" name="Text 11">
            <a:extLst>
              <a:ext uri="{FF2B5EF4-FFF2-40B4-BE49-F238E27FC236}">
                <a16:creationId xmlns:a16="http://schemas.microsoft.com/office/drawing/2014/main" id="{C584F2E1-591B-A58C-587C-61CCABD879ED}"/>
              </a:ext>
            </a:extLst>
          </p:cNvPr>
          <p:cNvSpPr txBox="1"/>
          <p:nvPr/>
        </p:nvSpPr>
        <p:spPr>
          <a:xfrm>
            <a:off x="6428232" y="1682496"/>
            <a:ext cx="2249424" cy="676656"/>
          </a:xfrm>
          <a:prstGeom prst="rect">
            <a:avLst/>
          </a:prstGeom>
          <a:noFill/>
          <a:ln/>
        </p:spPr>
        <p:txBody>
          <a:bodyPr wrap="square" lIns="0" tIns="0" rIns="0" bIns="0" rtlCol="0" anchor="ctr"/>
          <a:lstStyle/>
          <a:p>
            <a:pPr marL="0" indent="0">
              <a:buNone/>
            </a:pPr>
            <a:r>
              <a:rPr lang="en-US" sz="1000" dirty="0">
                <a:solidFill>
                  <a:srgbClr val="6B7A90"/>
                </a:solidFill>
                <a:latin typeface="Calibri" pitchFamily="34" charset="0"/>
                <a:ea typeface="Calibri" pitchFamily="34" charset="-122"/>
                <a:cs typeface="Calibri" pitchFamily="34" charset="-120"/>
              </a:rPr>
              <a:t>Usage and activity,</a:t>
            </a:r>
            <a:endParaRPr lang="en-US" sz="1000" dirty="0"/>
          </a:p>
          <a:p>
            <a:pPr marL="0" indent="0">
              <a:buNone/>
            </a:pPr>
            <a:r>
              <a:rPr lang="en-US" sz="1000" dirty="0">
                <a:solidFill>
                  <a:srgbClr val="6B7A90"/>
                </a:solidFill>
                <a:latin typeface="Calibri" pitchFamily="34" charset="0"/>
                <a:ea typeface="Calibri" pitchFamily="34" charset="-122"/>
                <a:cs typeface="Calibri" pitchFamily="34" charset="-120"/>
              </a:rPr>
              <a:t>7 to 180 day windows</a:t>
            </a:r>
            <a:endParaRPr lang="en-US" sz="1000" dirty="0"/>
          </a:p>
        </p:txBody>
      </p:sp>
      <p:sp>
        <p:nvSpPr>
          <p:cNvPr id="24" name="Shape 12">
            <a:extLst>
              <a:ext uri="{FF2B5EF4-FFF2-40B4-BE49-F238E27FC236}">
                <a16:creationId xmlns:a16="http://schemas.microsoft.com/office/drawing/2014/main" id="{1A8C5997-A49B-4298-EA0A-A48A2160F071}"/>
              </a:ext>
            </a:extLst>
          </p:cNvPr>
          <p:cNvSpPr/>
          <p:nvPr/>
        </p:nvSpPr>
        <p:spPr>
          <a:xfrm>
            <a:off x="9079992" y="1261872"/>
            <a:ext cx="2615184" cy="1188720"/>
          </a:xfrm>
          <a:prstGeom prst="roundRect">
            <a:avLst>
              <a:gd name="adj" fmla="val 4615"/>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26" name="Text 13">
            <a:extLst>
              <a:ext uri="{FF2B5EF4-FFF2-40B4-BE49-F238E27FC236}">
                <a16:creationId xmlns:a16="http://schemas.microsoft.com/office/drawing/2014/main" id="{898F3FB7-DA09-DF2B-EBBD-0019C008415B}"/>
              </a:ext>
            </a:extLst>
          </p:cNvPr>
          <p:cNvSpPr txBox="1"/>
          <p:nvPr/>
        </p:nvSpPr>
        <p:spPr>
          <a:xfrm>
            <a:off x="9262872" y="1389888"/>
            <a:ext cx="2249424" cy="27432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ITD lookup file</a:t>
            </a:r>
            <a:endParaRPr lang="en-US" sz="1200" dirty="0"/>
          </a:p>
        </p:txBody>
      </p:sp>
      <p:sp>
        <p:nvSpPr>
          <p:cNvPr id="28" name="Text 14">
            <a:extLst>
              <a:ext uri="{FF2B5EF4-FFF2-40B4-BE49-F238E27FC236}">
                <a16:creationId xmlns:a16="http://schemas.microsoft.com/office/drawing/2014/main" id="{1178AC4A-AB75-5B2C-F4BF-298B2A7AF1D2}"/>
              </a:ext>
            </a:extLst>
          </p:cNvPr>
          <p:cNvSpPr txBox="1"/>
          <p:nvPr/>
        </p:nvSpPr>
        <p:spPr>
          <a:xfrm>
            <a:off x="9262872" y="1682496"/>
            <a:ext cx="2249424" cy="676656"/>
          </a:xfrm>
          <a:prstGeom prst="rect">
            <a:avLst/>
          </a:prstGeom>
          <a:noFill/>
          <a:ln/>
        </p:spPr>
        <p:txBody>
          <a:bodyPr wrap="square" lIns="0" tIns="0" rIns="0" bIns="0" rtlCol="0" anchor="ctr"/>
          <a:lstStyle/>
          <a:p>
            <a:pPr marL="0" indent="0">
              <a:buNone/>
            </a:pPr>
            <a:r>
              <a:rPr lang="en-US" sz="1000" dirty="0">
                <a:solidFill>
                  <a:srgbClr val="6B7A90"/>
                </a:solidFill>
                <a:latin typeface="Calibri" pitchFamily="34" charset="0"/>
                <a:ea typeface="Calibri" pitchFamily="34" charset="-122"/>
                <a:cs typeface="Calibri" pitchFamily="34" charset="-120"/>
              </a:rPr>
              <a:t>Department, division,</a:t>
            </a:r>
            <a:endParaRPr lang="en-US" sz="1000" dirty="0"/>
          </a:p>
          <a:p>
            <a:pPr marL="0" indent="0">
              <a:buNone/>
            </a:pPr>
            <a:r>
              <a:rPr lang="en-US" sz="1000" dirty="0">
                <a:solidFill>
                  <a:srgbClr val="6B7A90"/>
                </a:solidFill>
                <a:latin typeface="Calibri" pitchFamily="34" charset="0"/>
                <a:ea typeface="Calibri" pitchFamily="34" charset="-122"/>
                <a:cs typeface="Calibri" pitchFamily="34" charset="-120"/>
              </a:rPr>
              <a:t>library, production flag</a:t>
            </a:r>
            <a:endParaRPr lang="en-US" sz="1000" dirty="0"/>
          </a:p>
        </p:txBody>
      </p:sp>
      <p:sp>
        <p:nvSpPr>
          <p:cNvPr id="30" name="Shape 15">
            <a:extLst>
              <a:ext uri="{FF2B5EF4-FFF2-40B4-BE49-F238E27FC236}">
                <a16:creationId xmlns:a16="http://schemas.microsoft.com/office/drawing/2014/main" id="{E91AC983-FD49-D649-532E-929BEE29B271}"/>
              </a:ext>
            </a:extLst>
          </p:cNvPr>
          <p:cNvSpPr/>
          <p:nvPr/>
        </p:nvSpPr>
        <p:spPr>
          <a:xfrm>
            <a:off x="576072" y="2651760"/>
            <a:ext cx="11091672" cy="566928"/>
          </a:xfrm>
          <a:prstGeom prst="roundRect">
            <a:avLst>
              <a:gd name="adj" fmla="val 9677"/>
            </a:avLst>
          </a:prstGeom>
          <a:solidFill>
            <a:srgbClr val="1E2761"/>
          </a:solidFill>
          <a:ln/>
        </p:spPr>
        <p:txBody>
          <a:bodyPr/>
          <a:lstStyle/>
          <a:p>
            <a:endParaRPr lang="en-PH"/>
          </a:p>
        </p:txBody>
      </p:sp>
      <p:sp>
        <p:nvSpPr>
          <p:cNvPr id="32" name="Text 16">
            <a:extLst>
              <a:ext uri="{FF2B5EF4-FFF2-40B4-BE49-F238E27FC236}">
                <a16:creationId xmlns:a16="http://schemas.microsoft.com/office/drawing/2014/main" id="{189B10E0-B80C-A751-C709-57B054D69ED7}"/>
              </a:ext>
            </a:extLst>
          </p:cNvPr>
          <p:cNvSpPr txBox="1"/>
          <p:nvPr/>
        </p:nvSpPr>
        <p:spPr>
          <a:xfrm>
            <a:off x="576072" y="2651760"/>
            <a:ext cx="11091672" cy="5669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Joined on the site, then grouped by department or division</a:t>
            </a:r>
            <a:endParaRPr lang="en-US" sz="1300" dirty="0"/>
          </a:p>
        </p:txBody>
      </p:sp>
      <p:sp>
        <p:nvSpPr>
          <p:cNvPr id="34" name="Shape 17">
            <a:extLst>
              <a:ext uri="{FF2B5EF4-FFF2-40B4-BE49-F238E27FC236}">
                <a16:creationId xmlns:a16="http://schemas.microsoft.com/office/drawing/2014/main" id="{DF4ED6CA-40BA-0395-2EA0-B55AA9CBBDEE}"/>
              </a:ext>
            </a:extLst>
          </p:cNvPr>
          <p:cNvSpPr/>
          <p:nvPr/>
        </p:nvSpPr>
        <p:spPr>
          <a:xfrm>
            <a:off x="576072" y="3383280"/>
            <a:ext cx="11091672" cy="502920"/>
          </a:xfrm>
          <a:prstGeom prst="roundRect">
            <a:avLst>
              <a:gd name="adj" fmla="val 10909"/>
            </a:avLst>
          </a:prstGeom>
          <a:solidFill>
            <a:srgbClr val="CADCFC"/>
          </a:solidFill>
          <a:ln/>
        </p:spPr>
        <p:txBody>
          <a:bodyPr/>
          <a:lstStyle/>
          <a:p>
            <a:endParaRPr lang="en-PH"/>
          </a:p>
        </p:txBody>
      </p:sp>
      <p:sp>
        <p:nvSpPr>
          <p:cNvPr id="36" name="Text 18">
            <a:extLst>
              <a:ext uri="{FF2B5EF4-FFF2-40B4-BE49-F238E27FC236}">
                <a16:creationId xmlns:a16="http://schemas.microsoft.com/office/drawing/2014/main" id="{5C678503-2B08-4EB3-8671-0D0D4F499A8E}"/>
              </a:ext>
            </a:extLst>
          </p:cNvPr>
          <p:cNvSpPr txBox="1"/>
          <p:nvPr/>
        </p:nvSpPr>
        <p:spPr>
          <a:xfrm>
            <a:off x="576072" y="3383280"/>
            <a:ext cx="11091672" cy="502920"/>
          </a:xfrm>
          <a:prstGeom prst="rect">
            <a:avLst/>
          </a:prstGeom>
          <a:noFill/>
          <a:ln/>
        </p:spPr>
        <p:txBody>
          <a:bodyPr wrap="square" lIns="0" tIns="0" rIns="0" bIns="0"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Bank-wide Oversight   and   Department Insights</a:t>
            </a:r>
            <a:endParaRPr lang="en-US" sz="1300" dirty="0"/>
          </a:p>
        </p:txBody>
      </p:sp>
      <p:graphicFrame>
        <p:nvGraphicFramePr>
          <p:cNvPr id="38" name="Table 0">
            <a:extLst>
              <a:ext uri="{FF2B5EF4-FFF2-40B4-BE49-F238E27FC236}">
                <a16:creationId xmlns:a16="http://schemas.microsoft.com/office/drawing/2014/main" id="{55BC71ED-78F0-C2A3-F796-99D544EF749E}"/>
              </a:ext>
            </a:extLst>
          </p:cNvPr>
          <p:cNvGraphicFramePr>
            <a:graphicFrameLocks noGrp="1"/>
          </p:cNvGraphicFramePr>
          <p:nvPr>
            <p:extLst>
              <p:ext uri="{D42A27DB-BD31-4B8C-83A1-F6EECF244321}">
                <p14:modId xmlns:p14="http://schemas.microsoft.com/office/powerpoint/2010/main" val="559059949"/>
              </p:ext>
            </p:extLst>
          </p:nvPr>
        </p:nvGraphicFramePr>
        <p:xfrm>
          <a:off x="576072" y="4096512"/>
          <a:ext cx="11091672" cy="1531620"/>
        </p:xfrm>
        <a:graphic>
          <a:graphicData uri="http://schemas.openxmlformats.org/drawingml/2006/table">
            <a:tbl>
              <a:tblPr/>
              <a:tblGrid>
                <a:gridCol w="237744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5879592">
                  <a:extLst>
                    <a:ext uri="{9D8B030D-6E8A-4147-A177-3AD203B41FA5}">
                      <a16:colId xmlns:a16="http://schemas.microsoft.com/office/drawing/2014/main" val="20002"/>
                    </a:ext>
                  </a:extLst>
                </a:gridCol>
              </a:tblGrid>
              <a:tr h="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Source</a:t>
                      </a:r>
                      <a:endParaRPr lang="en-US" sz="10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Who keeps it current</a:t>
                      </a:r>
                      <a:endParaRPr lang="en-US" sz="10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What that person has to do</a:t>
                      </a:r>
                      <a:endParaRPr lang="en-US" sz="10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0">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EDRMS Database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Nobody. EDRMS writes it.</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Nothing. The figure appears because a record was declared.</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Cloud Governance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Whoever provisions the site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marL="0" indent="0">
                        <a:buNone/>
                      </a:pPr>
                      <a:r>
                        <a:rPr lang="en-US" sz="1000" dirty="0">
                          <a:solidFill>
                            <a:srgbClr val="8A5A00"/>
                          </a:solidFill>
                          <a:latin typeface="Calibri" pitchFamily="34" charset="0"/>
                          <a:ea typeface="Calibri" pitchFamily="34" charset="-122"/>
                          <a:cs typeface="Calibri" pitchFamily="34" charset="-120"/>
                        </a:rPr>
                        <a:t>Set department and division when a site is created. Left blank, that site drops out of every departmental figure without any error showing.</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Microsoft 365</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Nobody. Microsoft generates it.</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Nothing, but the window cannot be widened beyond 180 days.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ITD lookup file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BA team today</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marL="0" indent="0">
                        <a:buNone/>
                      </a:pPr>
                      <a:r>
                        <a:rPr lang="en-US" sz="1000" dirty="0">
                          <a:solidFill>
                            <a:srgbClr val="8A5A00"/>
                          </a:solidFill>
                          <a:latin typeface="Calibri" pitchFamily="34" charset="0"/>
                          <a:ea typeface="Calibri" pitchFamily="34" charset="-122"/>
                          <a:cs typeface="Calibri" pitchFamily="34" charset="-120"/>
                        </a:rPr>
                        <a:t>Keep the mapping current as sites are created, renamed or retired. Proposed to move into the EDRMS database with an admin page so RAC can maintain it.</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0" name="Text 0">
            <a:extLst>
              <a:ext uri="{FF2B5EF4-FFF2-40B4-BE49-F238E27FC236}">
                <a16:creationId xmlns:a16="http://schemas.microsoft.com/office/drawing/2014/main" id="{A4B6BC62-7F06-7604-7A93-504B11175EAF}"/>
              </a:ext>
            </a:extLst>
          </p:cNvPr>
          <p:cNvSpPr txBox="1"/>
          <p:nvPr/>
        </p:nvSpPr>
        <p:spPr>
          <a:xfrm>
            <a:off x="397764" y="561594"/>
            <a:ext cx="11219688" cy="219456"/>
          </a:xfrm>
          <a:prstGeom prst="rect">
            <a:avLst/>
          </a:prstGeom>
          <a:noFill/>
          <a:ln/>
        </p:spPr>
        <p:txBody>
          <a:bodyPr wrap="square" lIns="0" tIns="0" rIns="0" bIns="0" rtlCol="0" anchor="ctr"/>
          <a:lstStyle/>
          <a:p>
            <a:r>
              <a:rPr lang="en-US" sz="1050" b="1" kern="0" spc="160" dirty="0">
                <a:solidFill>
                  <a:srgbClr val="6B7A90"/>
                </a:solidFill>
                <a:latin typeface="Calibri" pitchFamily="34" charset="0"/>
                <a:ea typeface="Calibri" pitchFamily="34" charset="-122"/>
                <a:cs typeface="Calibri" pitchFamily="34" charset="-120"/>
              </a:rPr>
              <a:t>THE PIPELINE</a:t>
            </a:r>
            <a:endParaRPr lang="en-US" sz="1050" dirty="0"/>
          </a:p>
        </p:txBody>
      </p:sp>
    </p:spTree>
    <p:extLst>
      <p:ext uri="{BB962C8B-B14F-4D97-AF65-F5344CB8AC3E}">
        <p14:creationId xmlns:p14="http://schemas.microsoft.com/office/powerpoint/2010/main" val="1237221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B6A99-B506-9608-D60D-74ED9E1DAF25}"/>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E6644565-203F-E75C-C688-DA22156734A5}"/>
              </a:ext>
            </a:extLst>
          </p:cNvPr>
          <p:cNvSpPr/>
          <p:nvPr/>
        </p:nvSpPr>
        <p:spPr>
          <a:xfrm>
            <a:off x="325991" y="49059"/>
            <a:ext cx="11216640" cy="658368"/>
          </a:xfrm>
          <a:prstGeom prst="rect">
            <a:avLst/>
          </a:prstGeom>
          <a:noFill/>
          <a:ln/>
        </p:spPr>
        <p:txBody>
          <a:bodyPr wrap="square" lIns="0" tIns="0" rIns="0" bIns="0" rtlCol="0" anchor="ctr"/>
          <a:lstStyle/>
          <a:p>
            <a:r>
              <a:rPr lang="en-US" sz="3600" b="1" dirty="0">
                <a:solidFill>
                  <a:srgbClr val="44546A"/>
                </a:solidFill>
                <a:latin typeface="Cambria" pitchFamily="34" charset="0"/>
                <a:ea typeface="Cambria" pitchFamily="34" charset="-122"/>
                <a:cs typeface="Cambria" pitchFamily="34" charset="-120"/>
              </a:rPr>
              <a:t>Bank-wide Oversight</a:t>
            </a:r>
            <a:endParaRPr lang="en-US" sz="3600" dirty="0"/>
          </a:p>
        </p:txBody>
      </p:sp>
      <p:sp>
        <p:nvSpPr>
          <p:cNvPr id="3" name="Text 2">
            <a:extLst>
              <a:ext uri="{FF2B5EF4-FFF2-40B4-BE49-F238E27FC236}">
                <a16:creationId xmlns:a16="http://schemas.microsoft.com/office/drawing/2014/main" id="{BF5DA691-9948-2789-F8FD-427D223A4AF4}"/>
              </a:ext>
            </a:extLst>
          </p:cNvPr>
          <p:cNvSpPr txBox="1"/>
          <p:nvPr/>
        </p:nvSpPr>
        <p:spPr>
          <a:xfrm>
            <a:off x="554591" y="969264"/>
            <a:ext cx="5932842" cy="274320"/>
          </a:xfrm>
          <a:prstGeom prst="rect">
            <a:avLst/>
          </a:prstGeom>
          <a:noFill/>
          <a:ln/>
        </p:spPr>
        <p:txBody>
          <a:bodyPr wrap="square" lIns="0" tIns="0" rIns="0" bIns="0" rtlCol="0" anchor="ctr"/>
          <a:lstStyle/>
          <a:p>
            <a:pPr marL="0" indent="0">
              <a:buNone/>
            </a:pPr>
            <a:r>
              <a:rPr lang="en-US" sz="1300" dirty="0">
                <a:solidFill>
                  <a:srgbClr val="333F50"/>
                </a:solidFill>
                <a:latin typeface="Calibri" pitchFamily="34" charset="0"/>
                <a:ea typeface="Calibri" pitchFamily="34" charset="-122"/>
                <a:cs typeface="Calibri" pitchFamily="34" charset="-120"/>
              </a:rPr>
              <a:t>How much is in EDRMS, and who is using it, for the whole bank on one page.</a:t>
            </a:r>
            <a:endParaRPr lang="en-US" sz="1300" dirty="0"/>
          </a:p>
        </p:txBody>
      </p:sp>
      <p:pic>
        <p:nvPicPr>
          <p:cNvPr id="52" name="Picture 51">
            <a:extLst>
              <a:ext uri="{FF2B5EF4-FFF2-40B4-BE49-F238E27FC236}">
                <a16:creationId xmlns:a16="http://schemas.microsoft.com/office/drawing/2014/main" id="{D099BE45-E8E1-FBD0-D17B-10CF83F76BEC}"/>
              </a:ext>
            </a:extLst>
          </p:cNvPr>
          <p:cNvPicPr>
            <a:picLocks noChangeAspect="1"/>
          </p:cNvPicPr>
          <p:nvPr/>
        </p:nvPicPr>
        <p:blipFill>
          <a:blip r:embed="rId3"/>
          <a:stretch>
            <a:fillRect/>
          </a:stretch>
        </p:blipFill>
        <p:spPr>
          <a:xfrm>
            <a:off x="7097234" y="75953"/>
            <a:ext cx="3772135" cy="6698034"/>
          </a:xfrm>
          <a:prstGeom prst="rect">
            <a:avLst/>
          </a:prstGeom>
          <a:ln>
            <a:noFill/>
          </a:ln>
          <a:effectLst>
            <a:outerShdw blurRad="190500" algn="tl" rotWithShape="0">
              <a:srgbClr val="000000">
                <a:alpha val="70000"/>
              </a:srgbClr>
            </a:outerShdw>
          </a:effectLst>
        </p:spPr>
      </p:pic>
      <p:sp>
        <p:nvSpPr>
          <p:cNvPr id="54" name="Shape 6">
            <a:extLst>
              <a:ext uri="{FF2B5EF4-FFF2-40B4-BE49-F238E27FC236}">
                <a16:creationId xmlns:a16="http://schemas.microsoft.com/office/drawing/2014/main" id="{025770D9-0E07-ABA8-77EA-E8E5464C9A5A}"/>
              </a:ext>
            </a:extLst>
          </p:cNvPr>
          <p:cNvSpPr/>
          <p:nvPr/>
        </p:nvSpPr>
        <p:spPr>
          <a:xfrm>
            <a:off x="554591" y="1353312"/>
            <a:ext cx="4142232" cy="932688"/>
          </a:xfrm>
          <a:prstGeom prst="roundRect">
            <a:avLst>
              <a:gd name="adj" fmla="val 5882"/>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56" name="Shape 7">
            <a:extLst>
              <a:ext uri="{FF2B5EF4-FFF2-40B4-BE49-F238E27FC236}">
                <a16:creationId xmlns:a16="http://schemas.microsoft.com/office/drawing/2014/main" id="{36AF9CE6-3932-C6A9-6F64-7D5139721007}"/>
              </a:ext>
            </a:extLst>
          </p:cNvPr>
          <p:cNvSpPr/>
          <p:nvPr/>
        </p:nvSpPr>
        <p:spPr>
          <a:xfrm>
            <a:off x="783191" y="1499616"/>
            <a:ext cx="274320" cy="274320"/>
          </a:xfrm>
          <a:prstGeom prst="ellipse">
            <a:avLst/>
          </a:prstGeom>
          <a:solidFill>
            <a:srgbClr val="1E2761"/>
          </a:solidFill>
          <a:ln/>
        </p:spPr>
        <p:txBody>
          <a:bodyPr/>
          <a:lstStyle/>
          <a:p>
            <a:endParaRPr lang="en-PH"/>
          </a:p>
        </p:txBody>
      </p:sp>
      <p:sp>
        <p:nvSpPr>
          <p:cNvPr id="58" name="Text 8">
            <a:extLst>
              <a:ext uri="{FF2B5EF4-FFF2-40B4-BE49-F238E27FC236}">
                <a16:creationId xmlns:a16="http://schemas.microsoft.com/office/drawing/2014/main" id="{C70C4652-5329-953A-C19B-4BD2552C62AD}"/>
              </a:ext>
            </a:extLst>
          </p:cNvPr>
          <p:cNvSpPr txBox="1"/>
          <p:nvPr/>
        </p:nvSpPr>
        <p:spPr>
          <a:xfrm>
            <a:off x="783191" y="1499616"/>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60" name="Text 9">
            <a:extLst>
              <a:ext uri="{FF2B5EF4-FFF2-40B4-BE49-F238E27FC236}">
                <a16:creationId xmlns:a16="http://schemas.microsoft.com/office/drawing/2014/main" id="{D501FEC4-8045-D3ED-CB9E-5D29486949E6}"/>
              </a:ext>
            </a:extLst>
          </p:cNvPr>
          <p:cNvSpPr txBox="1"/>
          <p:nvPr/>
        </p:nvSpPr>
        <p:spPr>
          <a:xfrm>
            <a:off x="1194671" y="1472184"/>
            <a:ext cx="3291840" cy="27432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Top panel</a:t>
            </a:r>
            <a:endParaRPr lang="en-US" sz="1200" dirty="0"/>
          </a:p>
        </p:txBody>
      </p:sp>
      <p:sp>
        <p:nvSpPr>
          <p:cNvPr id="62" name="Text 10">
            <a:extLst>
              <a:ext uri="{FF2B5EF4-FFF2-40B4-BE49-F238E27FC236}">
                <a16:creationId xmlns:a16="http://schemas.microsoft.com/office/drawing/2014/main" id="{BFDB5116-94D6-0456-9311-C8FC0CF2D744}"/>
              </a:ext>
            </a:extLst>
          </p:cNvPr>
          <p:cNvSpPr txBox="1"/>
          <p:nvPr/>
        </p:nvSpPr>
        <p:spPr>
          <a:xfrm>
            <a:off x="1194671" y="1755648"/>
            <a:ext cx="3291840" cy="475488"/>
          </a:xfrm>
          <a:prstGeom prst="rect">
            <a:avLst/>
          </a:prstGeom>
          <a:noFill/>
          <a:ln/>
        </p:spPr>
        <p:txBody>
          <a:bodyPr wrap="square" lIns="0" tIns="0" rIns="0" bIns="0" rtlCol="0" anchor="ctr"/>
          <a:lstStyle/>
          <a:p>
            <a:pPr marL="0" indent="0">
              <a:buNone/>
            </a:pPr>
            <a:r>
              <a:rPr lang="en-US" sz="950" dirty="0">
                <a:solidFill>
                  <a:srgbClr val="6B7A90"/>
                </a:solidFill>
                <a:latin typeface="Calibri" pitchFamily="34" charset="0"/>
                <a:ea typeface="Calibri" pitchFamily="34" charset="-122"/>
                <a:cs typeface="Calibri" pitchFamily="34" charset="-120"/>
              </a:rPr>
              <a:t>Ten tiles. Eight open a table below. Two navigate to another dashboard.</a:t>
            </a:r>
            <a:endParaRPr lang="en-US" sz="950" dirty="0"/>
          </a:p>
        </p:txBody>
      </p:sp>
      <p:sp>
        <p:nvSpPr>
          <p:cNvPr id="64" name="Shape 11">
            <a:extLst>
              <a:ext uri="{FF2B5EF4-FFF2-40B4-BE49-F238E27FC236}">
                <a16:creationId xmlns:a16="http://schemas.microsoft.com/office/drawing/2014/main" id="{CB0B844A-268D-E55B-656B-8F8AA6E268F4}"/>
              </a:ext>
            </a:extLst>
          </p:cNvPr>
          <p:cNvSpPr/>
          <p:nvPr/>
        </p:nvSpPr>
        <p:spPr>
          <a:xfrm>
            <a:off x="554591" y="2404872"/>
            <a:ext cx="4142232" cy="932688"/>
          </a:xfrm>
          <a:prstGeom prst="roundRect">
            <a:avLst>
              <a:gd name="adj" fmla="val 5882"/>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66" name="Shape 12">
            <a:extLst>
              <a:ext uri="{FF2B5EF4-FFF2-40B4-BE49-F238E27FC236}">
                <a16:creationId xmlns:a16="http://schemas.microsoft.com/office/drawing/2014/main" id="{3BD1C33D-F8A2-50B9-31AD-09DECF94DE78}"/>
              </a:ext>
            </a:extLst>
          </p:cNvPr>
          <p:cNvSpPr/>
          <p:nvPr/>
        </p:nvSpPr>
        <p:spPr>
          <a:xfrm>
            <a:off x="783191" y="2551176"/>
            <a:ext cx="274320" cy="274320"/>
          </a:xfrm>
          <a:prstGeom prst="ellipse">
            <a:avLst/>
          </a:prstGeom>
          <a:solidFill>
            <a:srgbClr val="1E2761"/>
          </a:solidFill>
          <a:ln/>
        </p:spPr>
        <p:txBody>
          <a:bodyPr/>
          <a:lstStyle/>
          <a:p>
            <a:endParaRPr lang="en-PH"/>
          </a:p>
        </p:txBody>
      </p:sp>
      <p:sp>
        <p:nvSpPr>
          <p:cNvPr id="68" name="Text 13">
            <a:extLst>
              <a:ext uri="{FF2B5EF4-FFF2-40B4-BE49-F238E27FC236}">
                <a16:creationId xmlns:a16="http://schemas.microsoft.com/office/drawing/2014/main" id="{32049796-6961-877B-AC49-071BC4D46836}"/>
              </a:ext>
            </a:extLst>
          </p:cNvPr>
          <p:cNvSpPr txBox="1"/>
          <p:nvPr/>
        </p:nvSpPr>
        <p:spPr>
          <a:xfrm>
            <a:off x="783191" y="2551176"/>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70" name="Text 14">
            <a:extLst>
              <a:ext uri="{FF2B5EF4-FFF2-40B4-BE49-F238E27FC236}">
                <a16:creationId xmlns:a16="http://schemas.microsoft.com/office/drawing/2014/main" id="{BD8F5382-A5A0-7491-DF38-B4326875F8F6}"/>
              </a:ext>
            </a:extLst>
          </p:cNvPr>
          <p:cNvSpPr txBox="1"/>
          <p:nvPr/>
        </p:nvSpPr>
        <p:spPr>
          <a:xfrm>
            <a:off x="1194671" y="2523744"/>
            <a:ext cx="3291840" cy="27432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Overview of EDRMS sites</a:t>
            </a:r>
            <a:endParaRPr lang="en-US" sz="1200" dirty="0"/>
          </a:p>
        </p:txBody>
      </p:sp>
      <p:sp>
        <p:nvSpPr>
          <p:cNvPr id="72" name="Text 15">
            <a:extLst>
              <a:ext uri="{FF2B5EF4-FFF2-40B4-BE49-F238E27FC236}">
                <a16:creationId xmlns:a16="http://schemas.microsoft.com/office/drawing/2014/main" id="{9C52264A-E302-36E5-C8D5-EF5F47097777}"/>
              </a:ext>
            </a:extLst>
          </p:cNvPr>
          <p:cNvSpPr txBox="1"/>
          <p:nvPr/>
        </p:nvSpPr>
        <p:spPr>
          <a:xfrm>
            <a:off x="1194671" y="2807208"/>
            <a:ext cx="3291840" cy="475488"/>
          </a:xfrm>
          <a:prstGeom prst="rect">
            <a:avLst/>
          </a:prstGeom>
          <a:noFill/>
          <a:ln/>
        </p:spPr>
        <p:txBody>
          <a:bodyPr wrap="square" lIns="0" tIns="0" rIns="0" bIns="0" rtlCol="0" anchor="ctr"/>
          <a:lstStyle/>
          <a:p>
            <a:pPr marL="0" indent="0">
              <a:buNone/>
            </a:pPr>
            <a:r>
              <a:rPr lang="en-US" sz="950" dirty="0">
                <a:solidFill>
                  <a:srgbClr val="6B7A90"/>
                </a:solidFill>
                <a:latin typeface="Calibri" pitchFamily="34" charset="0"/>
                <a:ea typeface="Calibri" pitchFamily="34" charset="-122"/>
                <a:cs typeface="Calibri" pitchFamily="34" charset="-120"/>
              </a:rPr>
              <a:t>Every department, office and RM with its sites, documents, records and counterparts.</a:t>
            </a:r>
            <a:endParaRPr lang="en-US" sz="950" dirty="0"/>
          </a:p>
        </p:txBody>
      </p:sp>
      <p:sp>
        <p:nvSpPr>
          <p:cNvPr id="74" name="Shape 16">
            <a:extLst>
              <a:ext uri="{FF2B5EF4-FFF2-40B4-BE49-F238E27FC236}">
                <a16:creationId xmlns:a16="http://schemas.microsoft.com/office/drawing/2014/main" id="{516E06F8-B604-354A-3B0C-33BD0E17929E}"/>
              </a:ext>
            </a:extLst>
          </p:cNvPr>
          <p:cNvSpPr/>
          <p:nvPr/>
        </p:nvSpPr>
        <p:spPr>
          <a:xfrm>
            <a:off x="554591" y="3456432"/>
            <a:ext cx="4142232" cy="932688"/>
          </a:xfrm>
          <a:prstGeom prst="roundRect">
            <a:avLst>
              <a:gd name="adj" fmla="val 5882"/>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76" name="Shape 17">
            <a:extLst>
              <a:ext uri="{FF2B5EF4-FFF2-40B4-BE49-F238E27FC236}">
                <a16:creationId xmlns:a16="http://schemas.microsoft.com/office/drawing/2014/main" id="{79255396-F306-0351-66E4-33322D354552}"/>
              </a:ext>
            </a:extLst>
          </p:cNvPr>
          <p:cNvSpPr/>
          <p:nvPr/>
        </p:nvSpPr>
        <p:spPr>
          <a:xfrm>
            <a:off x="783191" y="3602736"/>
            <a:ext cx="274320" cy="274320"/>
          </a:xfrm>
          <a:prstGeom prst="ellipse">
            <a:avLst/>
          </a:prstGeom>
          <a:solidFill>
            <a:srgbClr val="1E2761"/>
          </a:solidFill>
          <a:ln/>
        </p:spPr>
        <p:txBody>
          <a:bodyPr/>
          <a:lstStyle/>
          <a:p>
            <a:endParaRPr lang="en-PH"/>
          </a:p>
        </p:txBody>
      </p:sp>
      <p:sp>
        <p:nvSpPr>
          <p:cNvPr id="78" name="Text 18">
            <a:extLst>
              <a:ext uri="{FF2B5EF4-FFF2-40B4-BE49-F238E27FC236}">
                <a16:creationId xmlns:a16="http://schemas.microsoft.com/office/drawing/2014/main" id="{CB18617A-F6FF-E38E-D152-F28FAFAC0C11}"/>
              </a:ext>
            </a:extLst>
          </p:cNvPr>
          <p:cNvSpPr txBox="1"/>
          <p:nvPr/>
        </p:nvSpPr>
        <p:spPr>
          <a:xfrm>
            <a:off x="783191" y="3602736"/>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80" name="Text 19">
            <a:extLst>
              <a:ext uri="{FF2B5EF4-FFF2-40B4-BE49-F238E27FC236}">
                <a16:creationId xmlns:a16="http://schemas.microsoft.com/office/drawing/2014/main" id="{151EC51C-FE76-7B39-831C-9CC4824EC2B7}"/>
              </a:ext>
            </a:extLst>
          </p:cNvPr>
          <p:cNvSpPr txBox="1"/>
          <p:nvPr/>
        </p:nvSpPr>
        <p:spPr>
          <a:xfrm>
            <a:off x="1194671" y="3575304"/>
            <a:ext cx="3291840" cy="27432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Comparison</a:t>
            </a:r>
            <a:endParaRPr lang="en-US" sz="1200" dirty="0"/>
          </a:p>
        </p:txBody>
      </p:sp>
      <p:sp>
        <p:nvSpPr>
          <p:cNvPr id="82" name="Text 20">
            <a:extLst>
              <a:ext uri="{FF2B5EF4-FFF2-40B4-BE49-F238E27FC236}">
                <a16:creationId xmlns:a16="http://schemas.microsoft.com/office/drawing/2014/main" id="{054C39A5-C63A-9866-C8CC-7F61C5BB2E3C}"/>
              </a:ext>
            </a:extLst>
          </p:cNvPr>
          <p:cNvSpPr txBox="1"/>
          <p:nvPr/>
        </p:nvSpPr>
        <p:spPr>
          <a:xfrm>
            <a:off x="1194671" y="3858768"/>
            <a:ext cx="3291840" cy="475488"/>
          </a:xfrm>
          <a:prstGeom prst="rect">
            <a:avLst/>
          </a:prstGeom>
          <a:noFill/>
          <a:ln/>
        </p:spPr>
        <p:txBody>
          <a:bodyPr wrap="square" lIns="0" tIns="0" rIns="0" bIns="0" rtlCol="0" anchor="ctr"/>
          <a:lstStyle/>
          <a:p>
            <a:pPr marL="0" indent="0">
              <a:buNone/>
            </a:pPr>
            <a:r>
              <a:rPr lang="en-US" sz="950" dirty="0">
                <a:solidFill>
                  <a:srgbClr val="6B7A90"/>
                </a:solidFill>
                <a:latin typeface="Calibri" pitchFamily="34" charset="0"/>
                <a:ea typeface="Calibri" pitchFamily="34" charset="-122"/>
                <a:cs typeface="Calibri" pitchFamily="34" charset="-120"/>
              </a:rPr>
              <a:t>Documents set against records declared, so you can see who is storing but not declaring.</a:t>
            </a:r>
            <a:endParaRPr lang="en-US" sz="950" dirty="0"/>
          </a:p>
        </p:txBody>
      </p:sp>
      <p:sp>
        <p:nvSpPr>
          <p:cNvPr id="84" name="Shape 21">
            <a:extLst>
              <a:ext uri="{FF2B5EF4-FFF2-40B4-BE49-F238E27FC236}">
                <a16:creationId xmlns:a16="http://schemas.microsoft.com/office/drawing/2014/main" id="{A7E6BBC2-DBFE-C826-F069-CAB5BF7FEC9D}"/>
              </a:ext>
            </a:extLst>
          </p:cNvPr>
          <p:cNvSpPr/>
          <p:nvPr/>
        </p:nvSpPr>
        <p:spPr>
          <a:xfrm>
            <a:off x="554591" y="4507992"/>
            <a:ext cx="4142232" cy="932688"/>
          </a:xfrm>
          <a:prstGeom prst="roundRect">
            <a:avLst>
              <a:gd name="adj" fmla="val 5882"/>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86" name="Shape 22">
            <a:extLst>
              <a:ext uri="{FF2B5EF4-FFF2-40B4-BE49-F238E27FC236}">
                <a16:creationId xmlns:a16="http://schemas.microsoft.com/office/drawing/2014/main" id="{482DBAD1-70A3-2268-0235-5066D3C706EA}"/>
              </a:ext>
            </a:extLst>
          </p:cNvPr>
          <p:cNvSpPr/>
          <p:nvPr/>
        </p:nvSpPr>
        <p:spPr>
          <a:xfrm>
            <a:off x="783191" y="4654296"/>
            <a:ext cx="274320" cy="274320"/>
          </a:xfrm>
          <a:prstGeom prst="ellipse">
            <a:avLst/>
          </a:prstGeom>
          <a:solidFill>
            <a:srgbClr val="1E2761"/>
          </a:solidFill>
          <a:ln/>
        </p:spPr>
        <p:txBody>
          <a:bodyPr/>
          <a:lstStyle/>
          <a:p>
            <a:endParaRPr lang="en-PH"/>
          </a:p>
        </p:txBody>
      </p:sp>
      <p:sp>
        <p:nvSpPr>
          <p:cNvPr id="88" name="Text 23">
            <a:extLst>
              <a:ext uri="{FF2B5EF4-FFF2-40B4-BE49-F238E27FC236}">
                <a16:creationId xmlns:a16="http://schemas.microsoft.com/office/drawing/2014/main" id="{78CF65EB-F5AB-CE49-2A72-CC228387BEBC}"/>
              </a:ext>
            </a:extLst>
          </p:cNvPr>
          <p:cNvSpPr txBox="1"/>
          <p:nvPr/>
        </p:nvSpPr>
        <p:spPr>
          <a:xfrm>
            <a:off x="783191" y="4654296"/>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90" name="Text 24">
            <a:extLst>
              <a:ext uri="{FF2B5EF4-FFF2-40B4-BE49-F238E27FC236}">
                <a16:creationId xmlns:a16="http://schemas.microsoft.com/office/drawing/2014/main" id="{DA0F4E3D-90A8-6787-74AF-F439040BF6E3}"/>
              </a:ext>
            </a:extLst>
          </p:cNvPr>
          <p:cNvSpPr txBox="1"/>
          <p:nvPr/>
        </p:nvSpPr>
        <p:spPr>
          <a:xfrm>
            <a:off x="1194671" y="4626864"/>
            <a:ext cx="3291840" cy="27432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Records declaration trend</a:t>
            </a:r>
            <a:endParaRPr lang="en-US" sz="1200" dirty="0"/>
          </a:p>
        </p:txBody>
      </p:sp>
      <p:sp>
        <p:nvSpPr>
          <p:cNvPr id="92" name="Text 25">
            <a:extLst>
              <a:ext uri="{FF2B5EF4-FFF2-40B4-BE49-F238E27FC236}">
                <a16:creationId xmlns:a16="http://schemas.microsoft.com/office/drawing/2014/main" id="{D99E9BC2-896B-7D69-3628-CB5F1D62CFAE}"/>
              </a:ext>
            </a:extLst>
          </p:cNvPr>
          <p:cNvSpPr txBox="1"/>
          <p:nvPr/>
        </p:nvSpPr>
        <p:spPr>
          <a:xfrm>
            <a:off x="1194671" y="4910328"/>
            <a:ext cx="3291840" cy="475488"/>
          </a:xfrm>
          <a:prstGeom prst="rect">
            <a:avLst/>
          </a:prstGeom>
          <a:noFill/>
          <a:ln/>
        </p:spPr>
        <p:txBody>
          <a:bodyPr wrap="square" lIns="0" tIns="0" rIns="0" bIns="0" rtlCol="0" anchor="ctr"/>
          <a:lstStyle/>
          <a:p>
            <a:pPr marL="0" indent="0">
              <a:buNone/>
            </a:pPr>
            <a:r>
              <a:rPr lang="en-US" sz="950" dirty="0">
                <a:solidFill>
                  <a:srgbClr val="6B7A90"/>
                </a:solidFill>
                <a:latin typeface="Calibri" pitchFamily="34" charset="0"/>
                <a:ea typeface="Calibri" pitchFamily="34" charset="-122"/>
                <a:cs typeface="Calibri" pitchFamily="34" charset="-120"/>
              </a:rPr>
              <a:t>A running total over time, with a date range you choose.</a:t>
            </a:r>
            <a:endParaRPr lang="en-US" sz="950" dirty="0"/>
          </a:p>
        </p:txBody>
      </p:sp>
      <p:sp>
        <p:nvSpPr>
          <p:cNvPr id="98" name="Shape 7">
            <a:extLst>
              <a:ext uri="{FF2B5EF4-FFF2-40B4-BE49-F238E27FC236}">
                <a16:creationId xmlns:a16="http://schemas.microsoft.com/office/drawing/2014/main" id="{CBDBCE2B-79D9-099E-86C6-C642447919E4}"/>
              </a:ext>
            </a:extLst>
          </p:cNvPr>
          <p:cNvSpPr/>
          <p:nvPr/>
        </p:nvSpPr>
        <p:spPr>
          <a:xfrm>
            <a:off x="10931680" y="660979"/>
            <a:ext cx="274320" cy="274320"/>
          </a:xfrm>
          <a:prstGeom prst="ellipse">
            <a:avLst/>
          </a:prstGeom>
          <a:solidFill>
            <a:srgbClr val="C00000"/>
          </a:solidFill>
          <a:ln/>
        </p:spPr>
        <p:txBody>
          <a:bodyPr/>
          <a:lstStyle/>
          <a:p>
            <a:endParaRPr lang="en-PH"/>
          </a:p>
        </p:txBody>
      </p:sp>
      <p:sp>
        <p:nvSpPr>
          <p:cNvPr id="100" name="Text 8">
            <a:extLst>
              <a:ext uri="{FF2B5EF4-FFF2-40B4-BE49-F238E27FC236}">
                <a16:creationId xmlns:a16="http://schemas.microsoft.com/office/drawing/2014/main" id="{865406F9-4852-96AF-84D6-E4C31F1C247E}"/>
              </a:ext>
            </a:extLst>
          </p:cNvPr>
          <p:cNvSpPr txBox="1"/>
          <p:nvPr/>
        </p:nvSpPr>
        <p:spPr>
          <a:xfrm>
            <a:off x="10931680" y="655174"/>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07" name="Shape 7">
            <a:extLst>
              <a:ext uri="{FF2B5EF4-FFF2-40B4-BE49-F238E27FC236}">
                <a16:creationId xmlns:a16="http://schemas.microsoft.com/office/drawing/2014/main" id="{AD5ADB8B-F082-F02F-3205-3246F6FABEA6}"/>
              </a:ext>
            </a:extLst>
          </p:cNvPr>
          <p:cNvSpPr/>
          <p:nvPr/>
        </p:nvSpPr>
        <p:spPr>
          <a:xfrm>
            <a:off x="10942630" y="1947672"/>
            <a:ext cx="274320" cy="274320"/>
          </a:xfrm>
          <a:prstGeom prst="ellipse">
            <a:avLst/>
          </a:prstGeom>
          <a:solidFill>
            <a:srgbClr val="C00000"/>
          </a:solidFill>
          <a:ln/>
        </p:spPr>
        <p:txBody>
          <a:bodyPr/>
          <a:lstStyle/>
          <a:p>
            <a:endParaRPr lang="en-PH"/>
          </a:p>
        </p:txBody>
      </p:sp>
      <p:sp>
        <p:nvSpPr>
          <p:cNvPr id="109" name="Text 8">
            <a:extLst>
              <a:ext uri="{FF2B5EF4-FFF2-40B4-BE49-F238E27FC236}">
                <a16:creationId xmlns:a16="http://schemas.microsoft.com/office/drawing/2014/main" id="{F73D1B5B-8E84-81AF-F57A-EFF11142CBB2}"/>
              </a:ext>
            </a:extLst>
          </p:cNvPr>
          <p:cNvSpPr txBox="1"/>
          <p:nvPr/>
        </p:nvSpPr>
        <p:spPr>
          <a:xfrm>
            <a:off x="10942630" y="1941867"/>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11" name="Shape 7">
            <a:extLst>
              <a:ext uri="{FF2B5EF4-FFF2-40B4-BE49-F238E27FC236}">
                <a16:creationId xmlns:a16="http://schemas.microsoft.com/office/drawing/2014/main" id="{BD19DF4F-AB9C-2AB3-9F97-3FB927E02011}"/>
              </a:ext>
            </a:extLst>
          </p:cNvPr>
          <p:cNvSpPr/>
          <p:nvPr/>
        </p:nvSpPr>
        <p:spPr>
          <a:xfrm>
            <a:off x="10946920" y="3937579"/>
            <a:ext cx="274320" cy="274320"/>
          </a:xfrm>
          <a:prstGeom prst="ellipse">
            <a:avLst/>
          </a:prstGeom>
          <a:solidFill>
            <a:srgbClr val="C00000"/>
          </a:solidFill>
          <a:ln/>
        </p:spPr>
        <p:txBody>
          <a:bodyPr/>
          <a:lstStyle/>
          <a:p>
            <a:endParaRPr lang="en-PH"/>
          </a:p>
        </p:txBody>
      </p:sp>
      <p:sp>
        <p:nvSpPr>
          <p:cNvPr id="113" name="Text 8">
            <a:extLst>
              <a:ext uri="{FF2B5EF4-FFF2-40B4-BE49-F238E27FC236}">
                <a16:creationId xmlns:a16="http://schemas.microsoft.com/office/drawing/2014/main" id="{D30FD58E-7ECA-F148-B4C4-F7B79B65F48C}"/>
              </a:ext>
            </a:extLst>
          </p:cNvPr>
          <p:cNvSpPr txBox="1"/>
          <p:nvPr/>
        </p:nvSpPr>
        <p:spPr>
          <a:xfrm>
            <a:off x="10946920" y="3931774"/>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15" name="Shape 7">
            <a:extLst>
              <a:ext uri="{FF2B5EF4-FFF2-40B4-BE49-F238E27FC236}">
                <a16:creationId xmlns:a16="http://schemas.microsoft.com/office/drawing/2014/main" id="{60DA1E11-8C4F-09ED-7A2B-573D963B6E9F}"/>
              </a:ext>
            </a:extLst>
          </p:cNvPr>
          <p:cNvSpPr/>
          <p:nvPr/>
        </p:nvSpPr>
        <p:spPr>
          <a:xfrm>
            <a:off x="10946920" y="6007679"/>
            <a:ext cx="274320" cy="274320"/>
          </a:xfrm>
          <a:prstGeom prst="ellipse">
            <a:avLst/>
          </a:prstGeom>
          <a:solidFill>
            <a:srgbClr val="C00000"/>
          </a:solidFill>
          <a:ln/>
        </p:spPr>
        <p:txBody>
          <a:bodyPr/>
          <a:lstStyle/>
          <a:p>
            <a:endParaRPr lang="en-PH"/>
          </a:p>
        </p:txBody>
      </p:sp>
      <p:sp>
        <p:nvSpPr>
          <p:cNvPr id="117" name="Text 8">
            <a:extLst>
              <a:ext uri="{FF2B5EF4-FFF2-40B4-BE49-F238E27FC236}">
                <a16:creationId xmlns:a16="http://schemas.microsoft.com/office/drawing/2014/main" id="{DFF88E3E-27C4-6943-1158-18C897963DD4}"/>
              </a:ext>
            </a:extLst>
          </p:cNvPr>
          <p:cNvSpPr txBox="1"/>
          <p:nvPr/>
        </p:nvSpPr>
        <p:spPr>
          <a:xfrm>
            <a:off x="10946920" y="6001874"/>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19" name="Text 0">
            <a:extLst>
              <a:ext uri="{FF2B5EF4-FFF2-40B4-BE49-F238E27FC236}">
                <a16:creationId xmlns:a16="http://schemas.microsoft.com/office/drawing/2014/main" id="{D346780F-4B08-5743-37EF-0635E33FD430}"/>
              </a:ext>
            </a:extLst>
          </p:cNvPr>
          <p:cNvSpPr txBox="1"/>
          <p:nvPr/>
        </p:nvSpPr>
        <p:spPr>
          <a:xfrm>
            <a:off x="397764" y="561594"/>
            <a:ext cx="11219688" cy="219456"/>
          </a:xfrm>
          <a:prstGeom prst="rect">
            <a:avLst/>
          </a:prstGeom>
          <a:noFill/>
          <a:ln/>
        </p:spPr>
        <p:txBody>
          <a:bodyPr wrap="square" lIns="0" tIns="0" rIns="0" bIns="0" rtlCol="0" anchor="ctr"/>
          <a:lstStyle/>
          <a:p>
            <a:r>
              <a:rPr lang="en-US" sz="1050" b="1" kern="0" spc="160" dirty="0">
                <a:solidFill>
                  <a:srgbClr val="6B7A90"/>
                </a:solidFill>
                <a:latin typeface="Calibri" pitchFamily="34" charset="0"/>
                <a:ea typeface="Calibri" pitchFamily="34" charset="-122"/>
                <a:cs typeface="Calibri" pitchFamily="34" charset="-120"/>
              </a:rPr>
              <a:t>MVP DASHBOARD 1</a:t>
            </a:r>
            <a:endParaRPr lang="en-US" sz="1050" dirty="0"/>
          </a:p>
        </p:txBody>
      </p:sp>
    </p:spTree>
    <p:extLst>
      <p:ext uri="{BB962C8B-B14F-4D97-AF65-F5344CB8AC3E}">
        <p14:creationId xmlns:p14="http://schemas.microsoft.com/office/powerpoint/2010/main" val="13471285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B6CAA-9AE3-5FFA-C02A-565143500369}"/>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D675645D-5F3B-093F-2F29-2398E5AFA9A2}"/>
              </a:ext>
            </a:extLst>
          </p:cNvPr>
          <p:cNvSpPr/>
          <p:nvPr/>
        </p:nvSpPr>
        <p:spPr>
          <a:xfrm>
            <a:off x="325991" y="49059"/>
            <a:ext cx="11216640" cy="658368"/>
          </a:xfrm>
          <a:prstGeom prst="rect">
            <a:avLst/>
          </a:prstGeom>
          <a:noFill/>
          <a:ln/>
        </p:spPr>
        <p:txBody>
          <a:bodyPr wrap="square" lIns="0" tIns="0" rIns="0" bIns="0" rtlCol="0" anchor="ctr"/>
          <a:lstStyle/>
          <a:p>
            <a:r>
              <a:rPr lang="en-US" sz="3600" b="1" dirty="0">
                <a:solidFill>
                  <a:srgbClr val="44546A"/>
                </a:solidFill>
                <a:latin typeface="Cambria" pitchFamily="34" charset="0"/>
                <a:ea typeface="Cambria" pitchFamily="34" charset="-122"/>
                <a:cs typeface="Cambria" pitchFamily="34" charset="-120"/>
              </a:rPr>
              <a:t>Bank-wide Oversight: the top panel</a:t>
            </a:r>
            <a:endParaRPr lang="en-US" sz="3600" dirty="0"/>
          </a:p>
        </p:txBody>
      </p:sp>
      <p:graphicFrame>
        <p:nvGraphicFramePr>
          <p:cNvPr id="3" name="Table 0">
            <a:extLst>
              <a:ext uri="{FF2B5EF4-FFF2-40B4-BE49-F238E27FC236}">
                <a16:creationId xmlns:a16="http://schemas.microsoft.com/office/drawing/2014/main" id="{105FADD8-5A83-F84F-2AB1-C9BF5A8CFCA5}"/>
              </a:ext>
            </a:extLst>
          </p:cNvPr>
          <p:cNvGraphicFramePr>
            <a:graphicFrameLocks noGrp="1"/>
          </p:cNvGraphicFramePr>
          <p:nvPr>
            <p:extLst>
              <p:ext uri="{D42A27DB-BD31-4B8C-83A1-F6EECF244321}">
                <p14:modId xmlns:p14="http://schemas.microsoft.com/office/powerpoint/2010/main" val="765587004"/>
              </p:ext>
            </p:extLst>
          </p:nvPr>
        </p:nvGraphicFramePr>
        <p:xfrm>
          <a:off x="550164" y="1272008"/>
          <a:ext cx="11091672" cy="2110740"/>
        </p:xfrm>
        <a:graphic>
          <a:graphicData uri="http://schemas.openxmlformats.org/drawingml/2006/table">
            <a:tbl>
              <a:tblPr/>
              <a:tblGrid>
                <a:gridCol w="233172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3913632">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tblGrid>
              <a:tr h="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Your term</a:t>
                      </a:r>
                      <a:endParaRPr lang="en-US" sz="10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What it counts</a:t>
                      </a:r>
                      <a:endParaRPr lang="en-US" sz="10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Source</a:t>
                      </a:r>
                      <a:endParaRPr lang="en-US" sz="10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Status</a:t>
                      </a:r>
                      <a:endParaRPr lang="en-US" sz="10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Active EDRMS SharePoint sites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EDRMS sites, grouped by department, office or RM</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Cloud Governance, with department and division backfilled</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lgn="ctr">
                        <a:buNone/>
                      </a:pPr>
                      <a:r>
                        <a:rPr lang="en-US" sz="1000" b="1" dirty="0">
                          <a:solidFill>
                            <a:srgbClr val="8A5A00"/>
                          </a:solidFill>
                          <a:latin typeface="Calibri" pitchFamily="34" charset="0"/>
                          <a:ea typeface="Calibri" pitchFamily="34" charset="-122"/>
                          <a:cs typeface="Calibri" pitchFamily="34" charset="-120"/>
                        </a:rPr>
                        <a:t>Define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extLst>
                  <a:ext uri="{0D108BD9-81ED-4DB2-BD59-A6C34878D82A}">
                    <a16:rowId xmlns:a16="http://schemas.microsoft.com/office/drawing/2014/main" val="10001"/>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Total number of EDRMS users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People with recorded SharePoint activity in the window</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SharePoint activity log</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lgn="ctr">
                        <a:buNone/>
                      </a:pPr>
                      <a:r>
                        <a:rPr lang="en-US" sz="1000" b="1" dirty="0">
                          <a:solidFill>
                            <a:srgbClr val="8A5A00"/>
                          </a:solidFill>
                          <a:latin typeface="Calibri" pitchFamily="34" charset="0"/>
                          <a:ea typeface="Calibri" pitchFamily="34" charset="-122"/>
                          <a:cs typeface="Calibri" pitchFamily="34" charset="-120"/>
                        </a:rPr>
                        <a:t>Define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extLst>
                  <a:ext uri="{0D108BD9-81ED-4DB2-BD59-A6C34878D82A}">
                    <a16:rowId xmlns:a16="http://schemas.microsoft.com/office/drawing/2014/main" val="10002"/>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Total number of documents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File count per site, rolled up</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SharePoint site usage, joined to the Cloud Governance site list</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lgn="ctr">
                        <a:buNone/>
                      </a:pPr>
                      <a:r>
                        <a:rPr lang="en-US" sz="1000" b="1" dirty="0">
                          <a:solidFill>
                            <a:srgbClr val="1F6B3B"/>
                          </a:solidFill>
                          <a:latin typeface="Calibri" pitchFamily="34" charset="0"/>
                          <a:ea typeface="Calibri" pitchFamily="34" charset="-122"/>
                          <a:cs typeface="Calibri" pitchFamily="34" charset="-120"/>
                        </a:rPr>
                        <a:t>Available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extLst>
                  <a:ext uri="{0D108BD9-81ED-4DB2-BD59-A6C34878D82A}">
                    <a16:rowId xmlns:a16="http://schemas.microsoft.com/office/drawing/2014/main" val="10003"/>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Total number of records declared</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Declared records, counted once each</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EDRMS database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lgn="ctr">
                        <a:buNone/>
                      </a:pPr>
                      <a:r>
                        <a:rPr lang="en-US" sz="1000" b="1" dirty="0">
                          <a:solidFill>
                            <a:srgbClr val="1F6B3B"/>
                          </a:solidFill>
                          <a:latin typeface="Calibri" pitchFamily="34" charset="0"/>
                          <a:ea typeface="Calibri" pitchFamily="34" charset="-122"/>
                          <a:cs typeface="Calibri" pitchFamily="34" charset="-120"/>
                        </a:rPr>
                        <a:t>Available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extLst>
                  <a:ext uri="{0D108BD9-81ED-4DB2-BD59-A6C34878D82A}">
                    <a16:rowId xmlns:a16="http://schemas.microsoft.com/office/drawing/2014/main" val="10004"/>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Total physical counterparts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Declared records flagged as having a paper counterpart</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EDRMS database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lgn="ctr">
                        <a:buNone/>
                      </a:pPr>
                      <a:r>
                        <a:rPr lang="en-US" sz="1000" b="1" dirty="0">
                          <a:solidFill>
                            <a:srgbClr val="1F6B3B"/>
                          </a:solidFill>
                          <a:latin typeface="Calibri" pitchFamily="34" charset="0"/>
                          <a:ea typeface="Calibri" pitchFamily="34" charset="-122"/>
                          <a:cs typeface="Calibri" pitchFamily="34" charset="-120"/>
                        </a:rPr>
                        <a:t>Available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extLst>
                  <a:ext uri="{0D108BD9-81ED-4DB2-BD59-A6C34878D82A}">
                    <a16:rowId xmlns:a16="http://schemas.microsoft.com/office/drawing/2014/main" val="10005"/>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Records due for disposal</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Records reaching their disposal due date in a window</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EDRMS database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lgn="ctr">
                        <a:buNone/>
                      </a:pPr>
                      <a:r>
                        <a:rPr lang="en-US" sz="1000" b="1" dirty="0">
                          <a:solidFill>
                            <a:srgbClr val="8A5A00"/>
                          </a:solidFill>
                          <a:latin typeface="Calibri" pitchFamily="34" charset="0"/>
                          <a:ea typeface="Calibri" pitchFamily="34" charset="-122"/>
                          <a:cs typeface="Calibri" pitchFamily="34" charset="-120"/>
                        </a:rPr>
                        <a:t>Define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extLst>
                  <a:ext uri="{0D108BD9-81ED-4DB2-BD59-A6C34878D82A}">
                    <a16:rowId xmlns:a16="http://schemas.microsoft.com/office/drawing/2014/main" val="10006"/>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Sovereign and nonsovereign project sites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Sites belonging to a project</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No source. Out of scope for this release.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marL="0" indent="0" algn="ctr">
                        <a:buNone/>
                      </a:pPr>
                      <a:r>
                        <a:rPr lang="en-US" sz="1000" b="1" dirty="0">
                          <a:solidFill>
                            <a:srgbClr val="9C2B2B"/>
                          </a:solidFill>
                          <a:latin typeface="Calibri" pitchFamily="34" charset="0"/>
                          <a:ea typeface="Calibri" pitchFamily="34" charset="-122"/>
                          <a:cs typeface="Calibri" pitchFamily="34" charset="-120"/>
                        </a:rPr>
                        <a:t>No source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extLst>
                  <a:ext uri="{0D108BD9-81ED-4DB2-BD59-A6C34878D82A}">
                    <a16:rowId xmlns:a16="http://schemas.microsoft.com/office/drawing/2014/main" val="10007"/>
                  </a:ext>
                </a:extLst>
              </a:tr>
            </a:tbl>
          </a:graphicData>
        </a:graphic>
      </p:graphicFrame>
      <p:sp>
        <p:nvSpPr>
          <p:cNvPr id="6" name="Shape 2">
            <a:extLst>
              <a:ext uri="{FF2B5EF4-FFF2-40B4-BE49-F238E27FC236}">
                <a16:creationId xmlns:a16="http://schemas.microsoft.com/office/drawing/2014/main" id="{DF0CB8DB-BE00-40BA-2551-CED2600ACBC0}"/>
              </a:ext>
            </a:extLst>
          </p:cNvPr>
          <p:cNvSpPr/>
          <p:nvPr/>
        </p:nvSpPr>
        <p:spPr>
          <a:xfrm>
            <a:off x="550164" y="3999206"/>
            <a:ext cx="11091672" cy="1188720"/>
          </a:xfrm>
          <a:prstGeom prst="roundRect">
            <a:avLst>
              <a:gd name="adj" fmla="val 4615"/>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8" name="Text 3">
            <a:extLst>
              <a:ext uri="{FF2B5EF4-FFF2-40B4-BE49-F238E27FC236}">
                <a16:creationId xmlns:a16="http://schemas.microsoft.com/office/drawing/2014/main" id="{02C63F10-20C3-574A-56E9-B36516D9FDEE}"/>
              </a:ext>
            </a:extLst>
          </p:cNvPr>
          <p:cNvSpPr txBox="1"/>
          <p:nvPr/>
        </p:nvSpPr>
        <p:spPr>
          <a:xfrm>
            <a:off x="870204" y="4154654"/>
            <a:ext cx="10424160" cy="237744"/>
          </a:xfrm>
          <a:prstGeom prst="rect">
            <a:avLst/>
          </a:prstGeom>
          <a:noFill/>
          <a:ln/>
        </p:spPr>
        <p:txBody>
          <a:bodyPr wrap="square" lIns="0" tIns="0" rIns="0" bIns="0" rtlCol="0" anchor="ctr"/>
          <a:lstStyle/>
          <a:p>
            <a:pPr marL="0" indent="0">
              <a:buNone/>
            </a:pPr>
            <a:r>
              <a:rPr lang="en-US" sz="1050" b="1" kern="0" spc="140" dirty="0">
                <a:solidFill>
                  <a:srgbClr val="6B7A90"/>
                </a:solidFill>
                <a:latin typeface="Calibri" pitchFamily="34" charset="0"/>
                <a:ea typeface="Calibri" pitchFamily="34" charset="-122"/>
                <a:cs typeface="Calibri" pitchFamily="34" charset="-120"/>
              </a:rPr>
              <a:t>Raised by your own review</a:t>
            </a:r>
            <a:endParaRPr lang="en-US" sz="1050" dirty="0"/>
          </a:p>
        </p:txBody>
      </p:sp>
      <p:sp>
        <p:nvSpPr>
          <p:cNvPr id="10" name="Text 4">
            <a:extLst>
              <a:ext uri="{FF2B5EF4-FFF2-40B4-BE49-F238E27FC236}">
                <a16:creationId xmlns:a16="http://schemas.microsoft.com/office/drawing/2014/main" id="{D5B02B93-3760-8B90-3EA1-26C1C2EAE901}"/>
              </a:ext>
            </a:extLst>
          </p:cNvPr>
          <p:cNvSpPr txBox="1"/>
          <p:nvPr/>
        </p:nvSpPr>
        <p:spPr>
          <a:xfrm>
            <a:off x="870204" y="4410686"/>
            <a:ext cx="10424160" cy="685800"/>
          </a:xfrm>
          <a:prstGeom prst="rect">
            <a:avLst/>
          </a:prstGeom>
          <a:noFill/>
          <a:ln/>
        </p:spPr>
        <p:txBody>
          <a:bodyPr wrap="square" lIns="0" tIns="0" rIns="0" bIns="0" rtlCol="0" anchor="ctr"/>
          <a:lstStyle/>
          <a:p>
            <a:pPr marL="0" indent="0">
              <a:buNone/>
            </a:pPr>
            <a:r>
              <a:rPr lang="en-US" sz="1100" i="1" dirty="0">
                <a:solidFill>
                  <a:srgbClr val="333F50"/>
                </a:solidFill>
                <a:latin typeface="Calibri" pitchFamily="34" charset="0"/>
                <a:ea typeface="Calibri" pitchFamily="34" charset="-122"/>
                <a:cs typeface="Calibri" pitchFamily="34" charset="-120"/>
              </a:rPr>
              <a:t>“All records have a due date for disposal. What does due for disposal mean? Due in the next 30, 60 or 90 days?”</a:t>
            </a:r>
            <a:endParaRPr lang="en-US" sz="1100" dirty="0"/>
          </a:p>
          <a:p>
            <a:pPr marL="0" indent="0">
              <a:buNone/>
            </a:pPr>
            <a:r>
              <a:rPr lang="en-US" sz="1100" i="1" dirty="0">
                <a:solidFill>
                  <a:srgbClr val="333F50"/>
                </a:solidFill>
                <a:latin typeface="Calibri" pitchFamily="34" charset="0"/>
                <a:ea typeface="Calibri" pitchFamily="34" charset="-122"/>
                <a:cs typeface="Calibri" pitchFamily="34" charset="-120"/>
              </a:rPr>
              <a:t>“Is this user with access to EDRMS sites?”</a:t>
            </a:r>
            <a:endParaRPr lang="en-US" sz="1100" dirty="0"/>
          </a:p>
          <a:p>
            <a:pPr marL="0" indent="0">
              <a:buNone/>
            </a:pPr>
            <a:r>
              <a:rPr lang="en-US" sz="1100" b="1" dirty="0">
                <a:solidFill>
                  <a:srgbClr val="333F50"/>
                </a:solidFill>
                <a:latin typeface="Calibri" pitchFamily="34" charset="0"/>
                <a:ea typeface="Calibri" pitchFamily="34" charset="-122"/>
                <a:cs typeface="Calibri" pitchFamily="34" charset="-120"/>
              </a:rPr>
              <a:t>Both change the figure entirely. We need one answer each before these tiles can be built.</a:t>
            </a:r>
            <a:endParaRPr lang="en-US" sz="1100" dirty="0"/>
          </a:p>
        </p:txBody>
      </p:sp>
      <p:sp>
        <p:nvSpPr>
          <p:cNvPr id="12" name="Shape 5">
            <a:extLst>
              <a:ext uri="{FF2B5EF4-FFF2-40B4-BE49-F238E27FC236}">
                <a16:creationId xmlns:a16="http://schemas.microsoft.com/office/drawing/2014/main" id="{BE8BC1CF-0383-A132-ADF0-F83CF5F82EC9}"/>
              </a:ext>
            </a:extLst>
          </p:cNvPr>
          <p:cNvSpPr/>
          <p:nvPr/>
        </p:nvSpPr>
        <p:spPr>
          <a:xfrm>
            <a:off x="550164" y="5471390"/>
            <a:ext cx="868680" cy="237744"/>
          </a:xfrm>
          <a:prstGeom prst="roundRect">
            <a:avLst>
              <a:gd name="adj" fmla="val 19231"/>
            </a:avLst>
          </a:prstGeom>
          <a:solidFill>
            <a:srgbClr val="DCEDE2"/>
          </a:solidFill>
          <a:ln w="9525">
            <a:solidFill>
              <a:srgbClr val="1F6B3B"/>
            </a:solidFill>
            <a:prstDash val="solid"/>
          </a:ln>
        </p:spPr>
        <p:txBody>
          <a:bodyPr/>
          <a:lstStyle/>
          <a:p>
            <a:endParaRPr lang="en-PH"/>
          </a:p>
        </p:txBody>
      </p:sp>
      <p:sp>
        <p:nvSpPr>
          <p:cNvPr id="14" name="Text 6">
            <a:extLst>
              <a:ext uri="{FF2B5EF4-FFF2-40B4-BE49-F238E27FC236}">
                <a16:creationId xmlns:a16="http://schemas.microsoft.com/office/drawing/2014/main" id="{812529C4-0BEB-0087-6A75-011BE8029BA7}"/>
              </a:ext>
            </a:extLst>
          </p:cNvPr>
          <p:cNvSpPr txBox="1"/>
          <p:nvPr/>
        </p:nvSpPr>
        <p:spPr>
          <a:xfrm>
            <a:off x="550164" y="5471390"/>
            <a:ext cx="868680" cy="237744"/>
          </a:xfrm>
          <a:prstGeom prst="rect">
            <a:avLst/>
          </a:prstGeom>
          <a:noFill/>
          <a:ln/>
        </p:spPr>
        <p:txBody>
          <a:bodyPr wrap="square" lIns="0" tIns="0" rIns="0" bIns="0" rtlCol="0" anchor="ctr"/>
          <a:lstStyle/>
          <a:p>
            <a:pPr marL="0" indent="0" algn="ctr">
              <a:buNone/>
            </a:pPr>
            <a:r>
              <a:rPr lang="en-US" sz="900" b="1" dirty="0">
                <a:solidFill>
                  <a:srgbClr val="1F6B3B"/>
                </a:solidFill>
                <a:latin typeface="Calibri" pitchFamily="34" charset="0"/>
                <a:ea typeface="Calibri" pitchFamily="34" charset="-122"/>
                <a:cs typeface="Calibri" pitchFamily="34" charset="-120"/>
              </a:rPr>
              <a:t>Available</a:t>
            </a:r>
            <a:endParaRPr lang="en-US" sz="900" dirty="0"/>
          </a:p>
        </p:txBody>
      </p:sp>
      <p:sp>
        <p:nvSpPr>
          <p:cNvPr id="16" name="Text 7">
            <a:extLst>
              <a:ext uri="{FF2B5EF4-FFF2-40B4-BE49-F238E27FC236}">
                <a16:creationId xmlns:a16="http://schemas.microsoft.com/office/drawing/2014/main" id="{52A4D1E0-0D03-8051-8FEF-CB01F4A94A2F}"/>
              </a:ext>
            </a:extLst>
          </p:cNvPr>
          <p:cNvSpPr txBox="1"/>
          <p:nvPr/>
        </p:nvSpPr>
        <p:spPr>
          <a:xfrm>
            <a:off x="1510284" y="5471390"/>
            <a:ext cx="2788920" cy="237744"/>
          </a:xfrm>
          <a:prstGeom prst="rect">
            <a:avLst/>
          </a:prstGeom>
          <a:noFill/>
          <a:ln/>
        </p:spPr>
        <p:txBody>
          <a:bodyPr wrap="square" lIns="0" tIns="0" rIns="0" bIns="0" rtlCol="0" anchor="ctr"/>
          <a:lstStyle/>
          <a:p>
            <a:pPr marL="0" indent="0">
              <a:buNone/>
            </a:pPr>
            <a:r>
              <a:rPr lang="en-US" sz="900" dirty="0">
                <a:solidFill>
                  <a:srgbClr val="6B7A90"/>
                </a:solidFill>
                <a:latin typeface="Calibri" pitchFamily="34" charset="0"/>
                <a:ea typeface="Calibri" pitchFamily="34" charset="-122"/>
                <a:cs typeface="Calibri" pitchFamily="34" charset="-120"/>
              </a:rPr>
              <a:t>Sourced and buildable today</a:t>
            </a:r>
            <a:endParaRPr lang="en-US" sz="900" dirty="0"/>
          </a:p>
        </p:txBody>
      </p:sp>
      <p:sp>
        <p:nvSpPr>
          <p:cNvPr id="18" name="Shape 8">
            <a:extLst>
              <a:ext uri="{FF2B5EF4-FFF2-40B4-BE49-F238E27FC236}">
                <a16:creationId xmlns:a16="http://schemas.microsoft.com/office/drawing/2014/main" id="{619CE920-A780-97C1-3AFF-95F62D983F9F}"/>
              </a:ext>
            </a:extLst>
          </p:cNvPr>
          <p:cNvSpPr/>
          <p:nvPr/>
        </p:nvSpPr>
        <p:spPr>
          <a:xfrm>
            <a:off x="4344924" y="5471390"/>
            <a:ext cx="868680" cy="237744"/>
          </a:xfrm>
          <a:prstGeom prst="roundRect">
            <a:avLst>
              <a:gd name="adj" fmla="val 19231"/>
            </a:avLst>
          </a:prstGeom>
          <a:solidFill>
            <a:srgbClr val="FBEFD4"/>
          </a:solidFill>
          <a:ln w="9525">
            <a:solidFill>
              <a:srgbClr val="8A5A00"/>
            </a:solidFill>
            <a:prstDash val="solid"/>
          </a:ln>
        </p:spPr>
        <p:txBody>
          <a:bodyPr/>
          <a:lstStyle/>
          <a:p>
            <a:endParaRPr lang="en-PH"/>
          </a:p>
        </p:txBody>
      </p:sp>
      <p:sp>
        <p:nvSpPr>
          <p:cNvPr id="20" name="Text 9">
            <a:extLst>
              <a:ext uri="{FF2B5EF4-FFF2-40B4-BE49-F238E27FC236}">
                <a16:creationId xmlns:a16="http://schemas.microsoft.com/office/drawing/2014/main" id="{25732697-B8A8-8090-1F9D-9DDFC4A472DA}"/>
              </a:ext>
            </a:extLst>
          </p:cNvPr>
          <p:cNvSpPr txBox="1"/>
          <p:nvPr/>
        </p:nvSpPr>
        <p:spPr>
          <a:xfrm>
            <a:off x="4344924" y="5471390"/>
            <a:ext cx="868680" cy="237744"/>
          </a:xfrm>
          <a:prstGeom prst="rect">
            <a:avLst/>
          </a:prstGeom>
          <a:noFill/>
          <a:ln/>
        </p:spPr>
        <p:txBody>
          <a:bodyPr wrap="square" lIns="0" tIns="0" rIns="0" bIns="0" rtlCol="0" anchor="ctr"/>
          <a:lstStyle/>
          <a:p>
            <a:pPr marL="0" indent="0" algn="ctr">
              <a:buNone/>
            </a:pPr>
            <a:r>
              <a:rPr lang="en-US" sz="900" b="1" dirty="0">
                <a:solidFill>
                  <a:srgbClr val="8A5A00"/>
                </a:solidFill>
                <a:latin typeface="Calibri" pitchFamily="34" charset="0"/>
                <a:ea typeface="Calibri" pitchFamily="34" charset="-122"/>
                <a:cs typeface="Calibri" pitchFamily="34" charset="-120"/>
              </a:rPr>
              <a:t>Define</a:t>
            </a:r>
            <a:endParaRPr lang="en-US" sz="900" dirty="0"/>
          </a:p>
        </p:txBody>
      </p:sp>
      <p:sp>
        <p:nvSpPr>
          <p:cNvPr id="22" name="Text 10">
            <a:extLst>
              <a:ext uri="{FF2B5EF4-FFF2-40B4-BE49-F238E27FC236}">
                <a16:creationId xmlns:a16="http://schemas.microsoft.com/office/drawing/2014/main" id="{FFA03D31-68DE-088F-6406-4AD7B1053098}"/>
              </a:ext>
            </a:extLst>
          </p:cNvPr>
          <p:cNvSpPr txBox="1"/>
          <p:nvPr/>
        </p:nvSpPr>
        <p:spPr>
          <a:xfrm>
            <a:off x="5305044" y="5471390"/>
            <a:ext cx="2788920" cy="237744"/>
          </a:xfrm>
          <a:prstGeom prst="rect">
            <a:avLst/>
          </a:prstGeom>
          <a:noFill/>
          <a:ln/>
        </p:spPr>
        <p:txBody>
          <a:bodyPr wrap="square" lIns="0" tIns="0" rIns="0" bIns="0" rtlCol="0" anchor="ctr"/>
          <a:lstStyle/>
          <a:p>
            <a:pPr marL="0" indent="0">
              <a:buNone/>
            </a:pPr>
            <a:r>
              <a:rPr lang="en-US" sz="900" dirty="0">
                <a:solidFill>
                  <a:srgbClr val="6B7A90"/>
                </a:solidFill>
                <a:latin typeface="Calibri" pitchFamily="34" charset="0"/>
                <a:ea typeface="Calibri" pitchFamily="34" charset="-122"/>
                <a:cs typeface="Calibri" pitchFamily="34" charset="-120"/>
              </a:rPr>
              <a:t>Term is ambiguous. What it means changes the figure</a:t>
            </a:r>
            <a:endParaRPr lang="en-US" sz="900" dirty="0"/>
          </a:p>
        </p:txBody>
      </p:sp>
      <p:sp>
        <p:nvSpPr>
          <p:cNvPr id="24" name="Shape 11">
            <a:extLst>
              <a:ext uri="{FF2B5EF4-FFF2-40B4-BE49-F238E27FC236}">
                <a16:creationId xmlns:a16="http://schemas.microsoft.com/office/drawing/2014/main" id="{1D9AE84B-EE61-C7C2-F338-DC5C619BF289}"/>
              </a:ext>
            </a:extLst>
          </p:cNvPr>
          <p:cNvSpPr/>
          <p:nvPr/>
        </p:nvSpPr>
        <p:spPr>
          <a:xfrm>
            <a:off x="8139684" y="5471390"/>
            <a:ext cx="868680" cy="237744"/>
          </a:xfrm>
          <a:prstGeom prst="roundRect">
            <a:avLst>
              <a:gd name="adj" fmla="val 19231"/>
            </a:avLst>
          </a:prstGeom>
          <a:solidFill>
            <a:srgbClr val="F7E0E0"/>
          </a:solidFill>
          <a:ln w="9525">
            <a:solidFill>
              <a:srgbClr val="9C2B2B"/>
            </a:solidFill>
            <a:prstDash val="solid"/>
          </a:ln>
        </p:spPr>
        <p:txBody>
          <a:bodyPr/>
          <a:lstStyle/>
          <a:p>
            <a:endParaRPr lang="en-PH"/>
          </a:p>
        </p:txBody>
      </p:sp>
      <p:sp>
        <p:nvSpPr>
          <p:cNvPr id="26" name="Text 12">
            <a:extLst>
              <a:ext uri="{FF2B5EF4-FFF2-40B4-BE49-F238E27FC236}">
                <a16:creationId xmlns:a16="http://schemas.microsoft.com/office/drawing/2014/main" id="{E32E4780-4D59-4582-B792-946DD6D48DC3}"/>
              </a:ext>
            </a:extLst>
          </p:cNvPr>
          <p:cNvSpPr txBox="1"/>
          <p:nvPr/>
        </p:nvSpPr>
        <p:spPr>
          <a:xfrm>
            <a:off x="8139684" y="5471390"/>
            <a:ext cx="868680" cy="237744"/>
          </a:xfrm>
          <a:prstGeom prst="rect">
            <a:avLst/>
          </a:prstGeom>
          <a:noFill/>
          <a:ln/>
        </p:spPr>
        <p:txBody>
          <a:bodyPr wrap="square" lIns="0" tIns="0" rIns="0" bIns="0" rtlCol="0" anchor="ctr"/>
          <a:lstStyle/>
          <a:p>
            <a:pPr marL="0" indent="0" algn="ctr">
              <a:buNone/>
            </a:pPr>
            <a:r>
              <a:rPr lang="en-US" sz="900" b="1" dirty="0">
                <a:solidFill>
                  <a:srgbClr val="9C2B2B"/>
                </a:solidFill>
                <a:latin typeface="Calibri" pitchFamily="34" charset="0"/>
                <a:ea typeface="Calibri" pitchFamily="34" charset="-122"/>
                <a:cs typeface="Calibri" pitchFamily="34" charset="-120"/>
              </a:rPr>
              <a:t>No source</a:t>
            </a:r>
            <a:endParaRPr lang="en-US" sz="900" dirty="0"/>
          </a:p>
        </p:txBody>
      </p:sp>
      <p:sp>
        <p:nvSpPr>
          <p:cNvPr id="28" name="Text 13">
            <a:extLst>
              <a:ext uri="{FF2B5EF4-FFF2-40B4-BE49-F238E27FC236}">
                <a16:creationId xmlns:a16="http://schemas.microsoft.com/office/drawing/2014/main" id="{3E5E9D17-DAFA-A291-7D16-B0465443315E}"/>
              </a:ext>
            </a:extLst>
          </p:cNvPr>
          <p:cNvSpPr txBox="1"/>
          <p:nvPr/>
        </p:nvSpPr>
        <p:spPr>
          <a:xfrm>
            <a:off x="9099804" y="5471390"/>
            <a:ext cx="2788920" cy="237744"/>
          </a:xfrm>
          <a:prstGeom prst="rect">
            <a:avLst/>
          </a:prstGeom>
          <a:noFill/>
          <a:ln/>
        </p:spPr>
        <p:txBody>
          <a:bodyPr wrap="square" lIns="0" tIns="0" rIns="0" bIns="0" rtlCol="0" anchor="ctr"/>
          <a:lstStyle/>
          <a:p>
            <a:pPr marL="0" indent="0">
              <a:buNone/>
            </a:pPr>
            <a:r>
              <a:rPr lang="en-US" sz="900" dirty="0">
                <a:solidFill>
                  <a:srgbClr val="6B7A90"/>
                </a:solidFill>
                <a:latin typeface="Calibri" pitchFamily="34" charset="0"/>
                <a:ea typeface="Calibri" pitchFamily="34" charset="-122"/>
                <a:cs typeface="Calibri" pitchFamily="34" charset="-120"/>
              </a:rPr>
              <a:t>Nothing available produces this</a:t>
            </a:r>
            <a:endParaRPr lang="en-US" sz="900" dirty="0"/>
          </a:p>
        </p:txBody>
      </p:sp>
      <p:sp>
        <p:nvSpPr>
          <p:cNvPr id="32" name="Text 0">
            <a:extLst>
              <a:ext uri="{FF2B5EF4-FFF2-40B4-BE49-F238E27FC236}">
                <a16:creationId xmlns:a16="http://schemas.microsoft.com/office/drawing/2014/main" id="{099E73FE-1ABF-7A0F-5D98-53076047F536}"/>
              </a:ext>
            </a:extLst>
          </p:cNvPr>
          <p:cNvSpPr txBox="1"/>
          <p:nvPr/>
        </p:nvSpPr>
        <p:spPr>
          <a:xfrm>
            <a:off x="325991" y="643419"/>
            <a:ext cx="11219688" cy="219456"/>
          </a:xfrm>
          <a:prstGeom prst="rect">
            <a:avLst/>
          </a:prstGeom>
          <a:noFill/>
          <a:ln/>
        </p:spPr>
        <p:txBody>
          <a:bodyPr wrap="square" lIns="0" tIns="0" rIns="0" bIns="0" rtlCol="0" anchor="ctr"/>
          <a:lstStyle/>
          <a:p>
            <a:r>
              <a:rPr lang="en-US" sz="1050" b="1" kern="0" spc="160" dirty="0">
                <a:solidFill>
                  <a:srgbClr val="6B7A90"/>
                </a:solidFill>
                <a:latin typeface="Calibri" pitchFamily="34" charset="0"/>
                <a:ea typeface="Calibri" pitchFamily="34" charset="-122"/>
                <a:cs typeface="Calibri" pitchFamily="34" charset="-120"/>
              </a:rPr>
              <a:t>WHAT EACH ITEM MEANS AND WHERE IT COMES FROM</a:t>
            </a:r>
            <a:endParaRPr lang="en-US" sz="1050" dirty="0"/>
          </a:p>
        </p:txBody>
      </p:sp>
    </p:spTree>
    <p:extLst>
      <p:ext uri="{BB962C8B-B14F-4D97-AF65-F5344CB8AC3E}">
        <p14:creationId xmlns:p14="http://schemas.microsoft.com/office/powerpoint/2010/main" val="11699125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972E0-636E-2286-7BF4-7E8921663C5F}"/>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A7F3E89A-7192-3623-D252-78F1C541953C}"/>
              </a:ext>
            </a:extLst>
          </p:cNvPr>
          <p:cNvSpPr/>
          <p:nvPr/>
        </p:nvSpPr>
        <p:spPr>
          <a:xfrm>
            <a:off x="325991" y="49059"/>
            <a:ext cx="11216640" cy="658368"/>
          </a:xfrm>
          <a:prstGeom prst="rect">
            <a:avLst/>
          </a:prstGeom>
          <a:noFill/>
          <a:ln/>
        </p:spPr>
        <p:txBody>
          <a:bodyPr wrap="square" lIns="0" tIns="0" rIns="0" bIns="0" rtlCol="0" anchor="ctr"/>
          <a:lstStyle/>
          <a:p>
            <a:r>
              <a:rPr lang="en-US" sz="3600" b="1" dirty="0">
                <a:solidFill>
                  <a:srgbClr val="44546A"/>
                </a:solidFill>
                <a:latin typeface="Cambria" pitchFamily="34" charset="0"/>
                <a:ea typeface="Cambria" pitchFamily="34" charset="-122"/>
                <a:cs typeface="Cambria" pitchFamily="34" charset="-120"/>
              </a:rPr>
              <a:t>Bank-wide Oversight: tables, indicators and trend</a:t>
            </a:r>
            <a:endParaRPr lang="en-US" sz="3600" dirty="0"/>
          </a:p>
        </p:txBody>
      </p:sp>
      <p:graphicFrame>
        <p:nvGraphicFramePr>
          <p:cNvPr id="3" name="Table 0">
            <a:extLst>
              <a:ext uri="{FF2B5EF4-FFF2-40B4-BE49-F238E27FC236}">
                <a16:creationId xmlns:a16="http://schemas.microsoft.com/office/drawing/2014/main" id="{DCC37F41-64ED-8B79-F914-2F7CCBAB1317}"/>
              </a:ext>
            </a:extLst>
          </p:cNvPr>
          <p:cNvGraphicFramePr>
            <a:graphicFrameLocks noGrp="1"/>
          </p:cNvGraphicFramePr>
          <p:nvPr>
            <p:extLst>
              <p:ext uri="{D42A27DB-BD31-4B8C-83A1-F6EECF244321}">
                <p14:modId xmlns:p14="http://schemas.microsoft.com/office/powerpoint/2010/main" val="2859312745"/>
              </p:ext>
            </p:extLst>
          </p:nvPr>
        </p:nvGraphicFramePr>
        <p:xfrm>
          <a:off x="534924" y="1345708"/>
          <a:ext cx="11091672" cy="2354580"/>
        </p:xfrm>
        <a:graphic>
          <a:graphicData uri="http://schemas.openxmlformats.org/drawingml/2006/table">
            <a:tbl>
              <a:tblPr/>
              <a:tblGrid>
                <a:gridCol w="233172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3913632">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tblGrid>
              <a:tr h="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Your term</a:t>
                      </a:r>
                      <a:endParaRPr lang="en-US" sz="10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What it counts</a:t>
                      </a:r>
                      <a:endParaRPr lang="en-US" sz="10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Source</a:t>
                      </a:r>
                      <a:endParaRPr lang="en-US" sz="10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Status</a:t>
                      </a:r>
                      <a:endParaRPr lang="en-US" sz="10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Department / office / RM</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The owning unit of each site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Cloud Governance. Department is set at provisioning; division needs backfilling</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lgn="ctr">
                        <a:buNone/>
                      </a:pPr>
                      <a:r>
                        <a:rPr lang="en-US" sz="1000" b="1" dirty="0">
                          <a:solidFill>
                            <a:srgbClr val="8A5A00"/>
                          </a:solidFill>
                          <a:latin typeface="Calibri" pitchFamily="34" charset="0"/>
                          <a:ea typeface="Calibri" pitchFamily="34" charset="-122"/>
                          <a:cs typeface="Calibri" pitchFamily="34" charset="-120"/>
                        </a:rPr>
                        <a:t>Define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extLst>
                  <a:ext uri="{0D108BD9-81ED-4DB2-BD59-A6C34878D82A}">
                    <a16:rowId xmlns:a16="http://schemas.microsoft.com/office/drawing/2014/main" val="10001"/>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Sites created, deleted, archived</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Site lifecycle counts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Cloud Governance site status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lgn="ctr">
                        <a:buNone/>
                      </a:pPr>
                      <a:r>
                        <a:rPr lang="en-US" sz="1000" b="1" dirty="0">
                          <a:solidFill>
                            <a:srgbClr val="8A5A00"/>
                          </a:solidFill>
                          <a:latin typeface="Calibri" pitchFamily="34" charset="0"/>
                          <a:ea typeface="Calibri" pitchFamily="34" charset="-122"/>
                          <a:cs typeface="Calibri" pitchFamily="34" charset="-120"/>
                        </a:rPr>
                        <a:t>Define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extLst>
                  <a:ext uri="{0D108BD9-81ED-4DB2-BD59-A6C34878D82A}">
                    <a16:rowId xmlns:a16="http://schemas.microsoft.com/office/drawing/2014/main" val="10002"/>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Inactive site for 90 days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Sites with no activity in the window</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SharePoint site usage, last activity date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lgn="ctr">
                        <a:buNone/>
                      </a:pPr>
                      <a:r>
                        <a:rPr lang="en-US" sz="1000" b="1" dirty="0">
                          <a:solidFill>
                            <a:srgbClr val="1F6B3B"/>
                          </a:solidFill>
                          <a:latin typeface="Calibri" pitchFamily="34" charset="0"/>
                          <a:ea typeface="Calibri" pitchFamily="34" charset="-122"/>
                          <a:cs typeface="Calibri" pitchFamily="34" charset="-120"/>
                        </a:rPr>
                        <a:t>Available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extLst>
                  <a:ext uri="{0D108BD9-81ED-4DB2-BD59-A6C34878D82A}">
                    <a16:rowId xmlns:a16="http://schemas.microsoft.com/office/drawing/2014/main" val="10003"/>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Never accessed EDRMS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People with access to a site who have never opened it</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Site permissions checked against the activity log</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lgn="ctr">
                        <a:buNone/>
                      </a:pPr>
                      <a:r>
                        <a:rPr lang="en-US" sz="1000" b="1" dirty="0">
                          <a:solidFill>
                            <a:srgbClr val="8A5A00"/>
                          </a:solidFill>
                          <a:latin typeface="Calibri" pitchFamily="34" charset="0"/>
                          <a:ea typeface="Calibri" pitchFamily="34" charset="-122"/>
                          <a:cs typeface="Calibri" pitchFamily="34" charset="-120"/>
                        </a:rPr>
                        <a:t>Define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extLst>
                  <a:ext uri="{0D108BD9-81ED-4DB2-BD59-A6C34878D82A}">
                    <a16:rowId xmlns:a16="http://schemas.microsoft.com/office/drawing/2014/main" val="10004"/>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Staff, contractors, consultants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Users split by employment type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No source. Needs a user register with employment type.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marL="0" indent="0" algn="ctr">
                        <a:buNone/>
                      </a:pPr>
                      <a:r>
                        <a:rPr lang="en-US" sz="1000" b="1" dirty="0">
                          <a:solidFill>
                            <a:srgbClr val="9C2B2B"/>
                          </a:solidFill>
                          <a:latin typeface="Calibri" pitchFamily="34" charset="0"/>
                          <a:ea typeface="Calibri" pitchFamily="34" charset="-122"/>
                          <a:cs typeface="Calibri" pitchFamily="34" charset="-120"/>
                        </a:rPr>
                        <a:t>No source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extLst>
                  <a:ext uri="{0D108BD9-81ED-4DB2-BD59-A6C34878D82A}">
                    <a16:rowId xmlns:a16="http://schemas.microsoft.com/office/drawing/2014/main" val="10005"/>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Completion of training</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Users who completed EDRMS training</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Held by the learning team. Owner identified, file not yet supplied.</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marL="0" indent="0" algn="ctr">
                        <a:buNone/>
                      </a:pPr>
                      <a:r>
                        <a:rPr lang="en-US" sz="1000" b="1" dirty="0">
                          <a:solidFill>
                            <a:srgbClr val="9C2B2B"/>
                          </a:solidFill>
                          <a:latin typeface="Calibri" pitchFamily="34" charset="0"/>
                          <a:ea typeface="Calibri" pitchFamily="34" charset="-122"/>
                          <a:cs typeface="Calibri" pitchFamily="34" charset="-120"/>
                        </a:rPr>
                        <a:t>No source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extLst>
                  <a:ext uri="{0D108BD9-81ED-4DB2-BD59-A6C34878D82A}">
                    <a16:rowId xmlns:a16="http://schemas.microsoft.com/office/drawing/2014/main" val="10006"/>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New documents month on month</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Documents added in each month</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Needs a document level scan that does not exist yet</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marL="0" indent="0" algn="ctr">
                        <a:buNone/>
                      </a:pPr>
                      <a:r>
                        <a:rPr lang="en-US" sz="1000" b="1" dirty="0">
                          <a:solidFill>
                            <a:srgbClr val="9C2B2B"/>
                          </a:solidFill>
                          <a:latin typeface="Calibri" pitchFamily="34" charset="0"/>
                          <a:ea typeface="Calibri" pitchFamily="34" charset="-122"/>
                          <a:cs typeface="Calibri" pitchFamily="34" charset="-120"/>
                        </a:rPr>
                        <a:t>No source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extLst>
                  <a:ext uri="{0D108BD9-81ED-4DB2-BD59-A6C34878D82A}">
                    <a16:rowId xmlns:a16="http://schemas.microsoft.com/office/drawing/2014/main" val="10007"/>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Records declaration trend</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Declared records as a running total over time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EDRMS database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lgn="ctr">
                        <a:buNone/>
                      </a:pPr>
                      <a:r>
                        <a:rPr lang="en-US" sz="1000" b="1" dirty="0">
                          <a:solidFill>
                            <a:srgbClr val="1F6B3B"/>
                          </a:solidFill>
                          <a:latin typeface="Calibri" pitchFamily="34" charset="0"/>
                          <a:ea typeface="Calibri" pitchFamily="34" charset="-122"/>
                          <a:cs typeface="Calibri" pitchFamily="34" charset="-120"/>
                        </a:rPr>
                        <a:t>Available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extLst>
                  <a:ext uri="{0D108BD9-81ED-4DB2-BD59-A6C34878D82A}">
                    <a16:rowId xmlns:a16="http://schemas.microsoft.com/office/drawing/2014/main" val="10008"/>
                  </a:ext>
                </a:extLst>
              </a:tr>
            </a:tbl>
          </a:graphicData>
        </a:graphic>
      </p:graphicFrame>
      <p:sp>
        <p:nvSpPr>
          <p:cNvPr id="6" name="Shape 2">
            <a:extLst>
              <a:ext uri="{FF2B5EF4-FFF2-40B4-BE49-F238E27FC236}">
                <a16:creationId xmlns:a16="http://schemas.microsoft.com/office/drawing/2014/main" id="{3FDDBAF7-49DA-010D-85A6-0E09FA30DF1A}"/>
              </a:ext>
            </a:extLst>
          </p:cNvPr>
          <p:cNvSpPr/>
          <p:nvPr/>
        </p:nvSpPr>
        <p:spPr>
          <a:xfrm>
            <a:off x="548640" y="4338569"/>
            <a:ext cx="11091672" cy="868680"/>
          </a:xfrm>
          <a:prstGeom prst="roundRect">
            <a:avLst>
              <a:gd name="adj" fmla="val 6316"/>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8" name="Text 3">
            <a:extLst>
              <a:ext uri="{FF2B5EF4-FFF2-40B4-BE49-F238E27FC236}">
                <a16:creationId xmlns:a16="http://schemas.microsoft.com/office/drawing/2014/main" id="{DBE1A9DF-2B06-7CB5-41FA-0F2BD6BAA7F0}"/>
              </a:ext>
            </a:extLst>
          </p:cNvPr>
          <p:cNvSpPr txBox="1"/>
          <p:nvPr/>
        </p:nvSpPr>
        <p:spPr>
          <a:xfrm>
            <a:off x="868680" y="4494017"/>
            <a:ext cx="10424160" cy="566928"/>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Never accessed:  </a:t>
            </a:r>
            <a:r>
              <a:rPr lang="en-US" sz="1150" dirty="0">
                <a:solidFill>
                  <a:srgbClr val="333F50"/>
                </a:solidFill>
                <a:latin typeface="Calibri" pitchFamily="34" charset="0"/>
                <a:ea typeface="Calibri" pitchFamily="34" charset="-122"/>
                <a:cs typeface="Calibri" pitchFamily="34" charset="-120"/>
              </a:rPr>
              <a:t>agreed in the technical session that this means people who have access to the site and have never opened it, checked against the site's own members, owners and visitors rather than the whole tenant. Please confirm that is your intent.</a:t>
            </a:r>
            <a:endParaRPr lang="en-US" sz="1150" dirty="0"/>
          </a:p>
        </p:txBody>
      </p:sp>
      <p:sp>
        <p:nvSpPr>
          <p:cNvPr id="10" name="Shape 4">
            <a:extLst>
              <a:ext uri="{FF2B5EF4-FFF2-40B4-BE49-F238E27FC236}">
                <a16:creationId xmlns:a16="http://schemas.microsoft.com/office/drawing/2014/main" id="{F16716CC-E10C-35D1-E751-432463F064E5}"/>
              </a:ext>
            </a:extLst>
          </p:cNvPr>
          <p:cNvSpPr/>
          <p:nvPr/>
        </p:nvSpPr>
        <p:spPr>
          <a:xfrm>
            <a:off x="548640" y="5444993"/>
            <a:ext cx="868680" cy="237744"/>
          </a:xfrm>
          <a:prstGeom prst="roundRect">
            <a:avLst>
              <a:gd name="adj" fmla="val 19231"/>
            </a:avLst>
          </a:prstGeom>
          <a:solidFill>
            <a:srgbClr val="DCEDE2"/>
          </a:solidFill>
          <a:ln w="9525">
            <a:solidFill>
              <a:srgbClr val="1F6B3B"/>
            </a:solidFill>
            <a:prstDash val="solid"/>
          </a:ln>
        </p:spPr>
        <p:txBody>
          <a:bodyPr/>
          <a:lstStyle/>
          <a:p>
            <a:endParaRPr lang="en-PH"/>
          </a:p>
        </p:txBody>
      </p:sp>
      <p:sp>
        <p:nvSpPr>
          <p:cNvPr id="12" name="Text 5">
            <a:extLst>
              <a:ext uri="{FF2B5EF4-FFF2-40B4-BE49-F238E27FC236}">
                <a16:creationId xmlns:a16="http://schemas.microsoft.com/office/drawing/2014/main" id="{C4998CC8-86DD-AF44-CE8E-CE7CDBD780B4}"/>
              </a:ext>
            </a:extLst>
          </p:cNvPr>
          <p:cNvSpPr txBox="1"/>
          <p:nvPr/>
        </p:nvSpPr>
        <p:spPr>
          <a:xfrm>
            <a:off x="548640" y="5444993"/>
            <a:ext cx="868680" cy="237744"/>
          </a:xfrm>
          <a:prstGeom prst="rect">
            <a:avLst/>
          </a:prstGeom>
          <a:noFill/>
          <a:ln/>
        </p:spPr>
        <p:txBody>
          <a:bodyPr wrap="square" lIns="0" tIns="0" rIns="0" bIns="0" rtlCol="0" anchor="ctr"/>
          <a:lstStyle/>
          <a:p>
            <a:pPr marL="0" indent="0" algn="ctr">
              <a:buNone/>
            </a:pPr>
            <a:r>
              <a:rPr lang="en-US" sz="900" b="1" dirty="0">
                <a:solidFill>
                  <a:srgbClr val="1F6B3B"/>
                </a:solidFill>
                <a:latin typeface="Calibri" pitchFamily="34" charset="0"/>
                <a:ea typeface="Calibri" pitchFamily="34" charset="-122"/>
                <a:cs typeface="Calibri" pitchFamily="34" charset="-120"/>
              </a:rPr>
              <a:t>Available</a:t>
            </a:r>
            <a:endParaRPr lang="en-US" sz="900" dirty="0"/>
          </a:p>
        </p:txBody>
      </p:sp>
      <p:sp>
        <p:nvSpPr>
          <p:cNvPr id="14" name="Text 6">
            <a:extLst>
              <a:ext uri="{FF2B5EF4-FFF2-40B4-BE49-F238E27FC236}">
                <a16:creationId xmlns:a16="http://schemas.microsoft.com/office/drawing/2014/main" id="{AAB01738-9843-21FE-A0FC-076D4759FA66}"/>
              </a:ext>
            </a:extLst>
          </p:cNvPr>
          <p:cNvSpPr txBox="1"/>
          <p:nvPr/>
        </p:nvSpPr>
        <p:spPr>
          <a:xfrm>
            <a:off x="1508760" y="5444993"/>
            <a:ext cx="2788920" cy="237744"/>
          </a:xfrm>
          <a:prstGeom prst="rect">
            <a:avLst/>
          </a:prstGeom>
          <a:noFill/>
          <a:ln/>
        </p:spPr>
        <p:txBody>
          <a:bodyPr wrap="square" lIns="0" tIns="0" rIns="0" bIns="0" rtlCol="0" anchor="ctr"/>
          <a:lstStyle/>
          <a:p>
            <a:pPr marL="0" indent="0">
              <a:buNone/>
            </a:pPr>
            <a:r>
              <a:rPr lang="en-US" sz="900" dirty="0">
                <a:solidFill>
                  <a:srgbClr val="6B7A90"/>
                </a:solidFill>
                <a:latin typeface="Calibri" pitchFamily="34" charset="0"/>
                <a:ea typeface="Calibri" pitchFamily="34" charset="-122"/>
                <a:cs typeface="Calibri" pitchFamily="34" charset="-120"/>
              </a:rPr>
              <a:t>Sourced and buildable today</a:t>
            </a:r>
            <a:endParaRPr lang="en-US" sz="900" dirty="0"/>
          </a:p>
        </p:txBody>
      </p:sp>
      <p:sp>
        <p:nvSpPr>
          <p:cNvPr id="16" name="Shape 7">
            <a:extLst>
              <a:ext uri="{FF2B5EF4-FFF2-40B4-BE49-F238E27FC236}">
                <a16:creationId xmlns:a16="http://schemas.microsoft.com/office/drawing/2014/main" id="{C0EF9EF9-DE5D-AEA4-7203-4A1EC7579B76}"/>
              </a:ext>
            </a:extLst>
          </p:cNvPr>
          <p:cNvSpPr/>
          <p:nvPr/>
        </p:nvSpPr>
        <p:spPr>
          <a:xfrm>
            <a:off x="4343400" y="5444993"/>
            <a:ext cx="868680" cy="237744"/>
          </a:xfrm>
          <a:prstGeom prst="roundRect">
            <a:avLst>
              <a:gd name="adj" fmla="val 19231"/>
            </a:avLst>
          </a:prstGeom>
          <a:solidFill>
            <a:srgbClr val="FBEFD4"/>
          </a:solidFill>
          <a:ln w="9525">
            <a:solidFill>
              <a:srgbClr val="8A5A00"/>
            </a:solidFill>
            <a:prstDash val="solid"/>
          </a:ln>
        </p:spPr>
        <p:txBody>
          <a:bodyPr/>
          <a:lstStyle/>
          <a:p>
            <a:endParaRPr lang="en-PH"/>
          </a:p>
        </p:txBody>
      </p:sp>
      <p:sp>
        <p:nvSpPr>
          <p:cNvPr id="18" name="Text 8">
            <a:extLst>
              <a:ext uri="{FF2B5EF4-FFF2-40B4-BE49-F238E27FC236}">
                <a16:creationId xmlns:a16="http://schemas.microsoft.com/office/drawing/2014/main" id="{17A5D092-4BF5-BADB-83E4-BCC0DDDA35A7}"/>
              </a:ext>
            </a:extLst>
          </p:cNvPr>
          <p:cNvSpPr txBox="1"/>
          <p:nvPr/>
        </p:nvSpPr>
        <p:spPr>
          <a:xfrm>
            <a:off x="4343400" y="5444993"/>
            <a:ext cx="868680" cy="237744"/>
          </a:xfrm>
          <a:prstGeom prst="rect">
            <a:avLst/>
          </a:prstGeom>
          <a:noFill/>
          <a:ln/>
        </p:spPr>
        <p:txBody>
          <a:bodyPr wrap="square" lIns="0" tIns="0" rIns="0" bIns="0" rtlCol="0" anchor="ctr"/>
          <a:lstStyle/>
          <a:p>
            <a:pPr marL="0" indent="0" algn="ctr">
              <a:buNone/>
            </a:pPr>
            <a:r>
              <a:rPr lang="en-US" sz="900" b="1" dirty="0">
                <a:solidFill>
                  <a:srgbClr val="8A5A00"/>
                </a:solidFill>
                <a:latin typeface="Calibri" pitchFamily="34" charset="0"/>
                <a:ea typeface="Calibri" pitchFamily="34" charset="-122"/>
                <a:cs typeface="Calibri" pitchFamily="34" charset="-120"/>
              </a:rPr>
              <a:t>Define</a:t>
            </a:r>
            <a:endParaRPr lang="en-US" sz="900" dirty="0"/>
          </a:p>
        </p:txBody>
      </p:sp>
      <p:sp>
        <p:nvSpPr>
          <p:cNvPr id="20" name="Text 9">
            <a:extLst>
              <a:ext uri="{FF2B5EF4-FFF2-40B4-BE49-F238E27FC236}">
                <a16:creationId xmlns:a16="http://schemas.microsoft.com/office/drawing/2014/main" id="{6C49A5D3-624F-8113-E55A-47084BE0AF40}"/>
              </a:ext>
            </a:extLst>
          </p:cNvPr>
          <p:cNvSpPr txBox="1"/>
          <p:nvPr/>
        </p:nvSpPr>
        <p:spPr>
          <a:xfrm>
            <a:off x="5303520" y="5444993"/>
            <a:ext cx="2788920" cy="237744"/>
          </a:xfrm>
          <a:prstGeom prst="rect">
            <a:avLst/>
          </a:prstGeom>
          <a:noFill/>
          <a:ln/>
        </p:spPr>
        <p:txBody>
          <a:bodyPr wrap="square" lIns="0" tIns="0" rIns="0" bIns="0" rtlCol="0" anchor="ctr"/>
          <a:lstStyle/>
          <a:p>
            <a:pPr marL="0" indent="0">
              <a:buNone/>
            </a:pPr>
            <a:r>
              <a:rPr lang="en-US" sz="900" dirty="0">
                <a:solidFill>
                  <a:srgbClr val="6B7A90"/>
                </a:solidFill>
                <a:latin typeface="Calibri" pitchFamily="34" charset="0"/>
                <a:ea typeface="Calibri" pitchFamily="34" charset="-122"/>
                <a:cs typeface="Calibri" pitchFamily="34" charset="-120"/>
              </a:rPr>
              <a:t>Term is ambiguous. What it means changes the figure</a:t>
            </a:r>
            <a:endParaRPr lang="en-US" sz="900" dirty="0"/>
          </a:p>
        </p:txBody>
      </p:sp>
      <p:sp>
        <p:nvSpPr>
          <p:cNvPr id="22" name="Shape 10">
            <a:extLst>
              <a:ext uri="{FF2B5EF4-FFF2-40B4-BE49-F238E27FC236}">
                <a16:creationId xmlns:a16="http://schemas.microsoft.com/office/drawing/2014/main" id="{78E1AD72-C512-901F-EBC5-292E3F816959}"/>
              </a:ext>
            </a:extLst>
          </p:cNvPr>
          <p:cNvSpPr/>
          <p:nvPr/>
        </p:nvSpPr>
        <p:spPr>
          <a:xfrm>
            <a:off x="8138160" y="5444993"/>
            <a:ext cx="868680" cy="237744"/>
          </a:xfrm>
          <a:prstGeom prst="roundRect">
            <a:avLst>
              <a:gd name="adj" fmla="val 19231"/>
            </a:avLst>
          </a:prstGeom>
          <a:solidFill>
            <a:srgbClr val="F7E0E0"/>
          </a:solidFill>
          <a:ln w="9525">
            <a:solidFill>
              <a:srgbClr val="9C2B2B"/>
            </a:solidFill>
            <a:prstDash val="solid"/>
          </a:ln>
        </p:spPr>
        <p:txBody>
          <a:bodyPr/>
          <a:lstStyle/>
          <a:p>
            <a:endParaRPr lang="en-PH"/>
          </a:p>
        </p:txBody>
      </p:sp>
      <p:sp>
        <p:nvSpPr>
          <p:cNvPr id="24" name="Text 11">
            <a:extLst>
              <a:ext uri="{FF2B5EF4-FFF2-40B4-BE49-F238E27FC236}">
                <a16:creationId xmlns:a16="http://schemas.microsoft.com/office/drawing/2014/main" id="{F3DE447A-94A9-7FD0-9916-50EAEBCE2232}"/>
              </a:ext>
            </a:extLst>
          </p:cNvPr>
          <p:cNvSpPr txBox="1"/>
          <p:nvPr/>
        </p:nvSpPr>
        <p:spPr>
          <a:xfrm>
            <a:off x="8138160" y="5444993"/>
            <a:ext cx="868680" cy="237744"/>
          </a:xfrm>
          <a:prstGeom prst="rect">
            <a:avLst/>
          </a:prstGeom>
          <a:noFill/>
          <a:ln/>
        </p:spPr>
        <p:txBody>
          <a:bodyPr wrap="square" lIns="0" tIns="0" rIns="0" bIns="0" rtlCol="0" anchor="ctr"/>
          <a:lstStyle/>
          <a:p>
            <a:pPr marL="0" indent="0" algn="ctr">
              <a:buNone/>
            </a:pPr>
            <a:r>
              <a:rPr lang="en-US" sz="900" b="1" dirty="0">
                <a:solidFill>
                  <a:srgbClr val="9C2B2B"/>
                </a:solidFill>
                <a:latin typeface="Calibri" pitchFamily="34" charset="0"/>
                <a:ea typeface="Calibri" pitchFamily="34" charset="-122"/>
                <a:cs typeface="Calibri" pitchFamily="34" charset="-120"/>
              </a:rPr>
              <a:t>No source</a:t>
            </a:r>
            <a:endParaRPr lang="en-US" sz="900" dirty="0"/>
          </a:p>
        </p:txBody>
      </p:sp>
      <p:sp>
        <p:nvSpPr>
          <p:cNvPr id="26" name="Text 12">
            <a:extLst>
              <a:ext uri="{FF2B5EF4-FFF2-40B4-BE49-F238E27FC236}">
                <a16:creationId xmlns:a16="http://schemas.microsoft.com/office/drawing/2014/main" id="{743C1F0C-D479-06C9-D914-C428DAA971A0}"/>
              </a:ext>
            </a:extLst>
          </p:cNvPr>
          <p:cNvSpPr txBox="1"/>
          <p:nvPr/>
        </p:nvSpPr>
        <p:spPr>
          <a:xfrm>
            <a:off x="9098280" y="5444993"/>
            <a:ext cx="2788920" cy="237744"/>
          </a:xfrm>
          <a:prstGeom prst="rect">
            <a:avLst/>
          </a:prstGeom>
          <a:noFill/>
          <a:ln/>
        </p:spPr>
        <p:txBody>
          <a:bodyPr wrap="square" lIns="0" tIns="0" rIns="0" bIns="0" rtlCol="0" anchor="ctr"/>
          <a:lstStyle/>
          <a:p>
            <a:pPr marL="0" indent="0">
              <a:buNone/>
            </a:pPr>
            <a:r>
              <a:rPr lang="en-US" sz="900" dirty="0">
                <a:solidFill>
                  <a:srgbClr val="6B7A90"/>
                </a:solidFill>
                <a:latin typeface="Calibri" pitchFamily="34" charset="0"/>
                <a:ea typeface="Calibri" pitchFamily="34" charset="-122"/>
                <a:cs typeface="Calibri" pitchFamily="34" charset="-120"/>
              </a:rPr>
              <a:t>Nothing available produces this</a:t>
            </a:r>
            <a:endParaRPr lang="en-US" sz="900" dirty="0"/>
          </a:p>
        </p:txBody>
      </p:sp>
      <p:sp>
        <p:nvSpPr>
          <p:cNvPr id="28" name="Text 0">
            <a:extLst>
              <a:ext uri="{FF2B5EF4-FFF2-40B4-BE49-F238E27FC236}">
                <a16:creationId xmlns:a16="http://schemas.microsoft.com/office/drawing/2014/main" id="{70C575CF-CE4A-8BB0-D5CC-1B333153CE04}"/>
              </a:ext>
            </a:extLst>
          </p:cNvPr>
          <p:cNvSpPr txBox="1"/>
          <p:nvPr/>
        </p:nvSpPr>
        <p:spPr>
          <a:xfrm>
            <a:off x="325991" y="637069"/>
            <a:ext cx="11219688" cy="219456"/>
          </a:xfrm>
          <a:prstGeom prst="rect">
            <a:avLst/>
          </a:prstGeom>
          <a:noFill/>
          <a:ln/>
        </p:spPr>
        <p:txBody>
          <a:bodyPr wrap="square" lIns="0" tIns="0" rIns="0" bIns="0" rtlCol="0" anchor="ctr"/>
          <a:lstStyle/>
          <a:p>
            <a:r>
              <a:rPr lang="en-US" sz="1050" b="1" kern="0" spc="160" dirty="0">
                <a:solidFill>
                  <a:srgbClr val="6B7A90"/>
                </a:solidFill>
                <a:latin typeface="Calibri" pitchFamily="34" charset="0"/>
                <a:ea typeface="Calibri" pitchFamily="34" charset="-122"/>
                <a:cs typeface="Calibri" pitchFamily="34" charset="-120"/>
              </a:rPr>
              <a:t>WHAT EACH ITEM MEANS AND WHERE IT COMES FROM</a:t>
            </a:r>
            <a:endParaRPr lang="en-US" sz="1050" dirty="0"/>
          </a:p>
        </p:txBody>
      </p:sp>
    </p:spTree>
    <p:extLst>
      <p:ext uri="{BB962C8B-B14F-4D97-AF65-F5344CB8AC3E}">
        <p14:creationId xmlns:p14="http://schemas.microsoft.com/office/powerpoint/2010/main" val="2117719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58159-C357-5E7D-B2D1-C1E92E3E2273}"/>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ED70E86D-7E16-5F30-41C2-8CC2FE1B8C0F}"/>
              </a:ext>
            </a:extLst>
          </p:cNvPr>
          <p:cNvSpPr/>
          <p:nvPr/>
        </p:nvSpPr>
        <p:spPr>
          <a:xfrm>
            <a:off x="325991" y="49059"/>
            <a:ext cx="11216640" cy="658368"/>
          </a:xfrm>
          <a:prstGeom prst="rect">
            <a:avLst/>
          </a:prstGeom>
          <a:noFill/>
          <a:ln/>
        </p:spPr>
        <p:txBody>
          <a:bodyPr wrap="square" lIns="0" tIns="0" rIns="0" bIns="0" rtlCol="0" anchor="ctr"/>
          <a:lstStyle/>
          <a:p>
            <a:r>
              <a:rPr lang="en-US" sz="3600" b="1" dirty="0">
                <a:solidFill>
                  <a:srgbClr val="44546A"/>
                </a:solidFill>
                <a:latin typeface="Cambria" pitchFamily="34" charset="0"/>
                <a:ea typeface="Cambria" pitchFamily="34" charset="-122"/>
                <a:cs typeface="Cambria" pitchFamily="34" charset="-120"/>
              </a:rPr>
              <a:t>Department Insights</a:t>
            </a:r>
            <a:endParaRPr lang="en-US" sz="3600" dirty="0"/>
          </a:p>
        </p:txBody>
      </p:sp>
      <p:sp>
        <p:nvSpPr>
          <p:cNvPr id="3" name="Text 2">
            <a:extLst>
              <a:ext uri="{FF2B5EF4-FFF2-40B4-BE49-F238E27FC236}">
                <a16:creationId xmlns:a16="http://schemas.microsoft.com/office/drawing/2014/main" id="{5B98A459-5AD5-3F72-460B-2804C7AB8307}"/>
              </a:ext>
            </a:extLst>
          </p:cNvPr>
          <p:cNvSpPr txBox="1"/>
          <p:nvPr/>
        </p:nvSpPr>
        <p:spPr>
          <a:xfrm>
            <a:off x="550164" y="1083855"/>
            <a:ext cx="4413722" cy="406908"/>
          </a:xfrm>
          <a:prstGeom prst="rect">
            <a:avLst/>
          </a:prstGeom>
          <a:noFill/>
          <a:ln/>
        </p:spPr>
        <p:txBody>
          <a:bodyPr wrap="square" lIns="0" tIns="0" rIns="0" bIns="0" rtlCol="0" anchor="ctr"/>
          <a:lstStyle/>
          <a:p>
            <a:pPr marL="0" indent="0">
              <a:buNone/>
            </a:pPr>
            <a:r>
              <a:rPr lang="en-US" sz="1300" dirty="0">
                <a:solidFill>
                  <a:srgbClr val="333F50"/>
                </a:solidFill>
                <a:latin typeface="Calibri" pitchFamily="34" charset="0"/>
                <a:ea typeface="Calibri" pitchFamily="34" charset="-122"/>
                <a:cs typeface="Calibri" pitchFamily="34" charset="-120"/>
              </a:rPr>
              <a:t>One unit's own view. Pick a department, office or RM and everything below refreshes for it.</a:t>
            </a:r>
            <a:endParaRPr lang="en-US" sz="1300" dirty="0"/>
          </a:p>
        </p:txBody>
      </p:sp>
      <p:sp>
        <p:nvSpPr>
          <p:cNvPr id="12" name="Shape 6">
            <a:extLst>
              <a:ext uri="{FF2B5EF4-FFF2-40B4-BE49-F238E27FC236}">
                <a16:creationId xmlns:a16="http://schemas.microsoft.com/office/drawing/2014/main" id="{E2498BBA-0598-31E8-EDBD-C10D1FEAA85C}"/>
              </a:ext>
            </a:extLst>
          </p:cNvPr>
          <p:cNvSpPr/>
          <p:nvPr/>
        </p:nvSpPr>
        <p:spPr>
          <a:xfrm>
            <a:off x="550164" y="1626653"/>
            <a:ext cx="4142232" cy="932688"/>
          </a:xfrm>
          <a:prstGeom prst="roundRect">
            <a:avLst>
              <a:gd name="adj" fmla="val 5882"/>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14" name="Shape 7">
            <a:extLst>
              <a:ext uri="{FF2B5EF4-FFF2-40B4-BE49-F238E27FC236}">
                <a16:creationId xmlns:a16="http://schemas.microsoft.com/office/drawing/2014/main" id="{9583112F-A5A1-0DD3-3FBD-20CAF2B80001}"/>
              </a:ext>
            </a:extLst>
          </p:cNvPr>
          <p:cNvSpPr/>
          <p:nvPr/>
        </p:nvSpPr>
        <p:spPr>
          <a:xfrm>
            <a:off x="778764" y="1772957"/>
            <a:ext cx="274320" cy="274320"/>
          </a:xfrm>
          <a:prstGeom prst="ellipse">
            <a:avLst/>
          </a:prstGeom>
          <a:solidFill>
            <a:srgbClr val="1E2761"/>
          </a:solidFill>
          <a:ln/>
        </p:spPr>
        <p:txBody>
          <a:bodyPr/>
          <a:lstStyle/>
          <a:p>
            <a:endParaRPr lang="en-PH"/>
          </a:p>
        </p:txBody>
      </p:sp>
      <p:sp>
        <p:nvSpPr>
          <p:cNvPr id="16" name="Text 8">
            <a:extLst>
              <a:ext uri="{FF2B5EF4-FFF2-40B4-BE49-F238E27FC236}">
                <a16:creationId xmlns:a16="http://schemas.microsoft.com/office/drawing/2014/main" id="{23BA2A6F-065B-7A2E-9EF7-7CC3FB04D340}"/>
              </a:ext>
            </a:extLst>
          </p:cNvPr>
          <p:cNvSpPr txBox="1"/>
          <p:nvPr/>
        </p:nvSpPr>
        <p:spPr>
          <a:xfrm>
            <a:off x="778764" y="1772957"/>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8" name="Text 9">
            <a:extLst>
              <a:ext uri="{FF2B5EF4-FFF2-40B4-BE49-F238E27FC236}">
                <a16:creationId xmlns:a16="http://schemas.microsoft.com/office/drawing/2014/main" id="{7AB98AA3-85A4-3F3D-214E-F28799C9C2E5}"/>
              </a:ext>
            </a:extLst>
          </p:cNvPr>
          <p:cNvSpPr txBox="1"/>
          <p:nvPr/>
        </p:nvSpPr>
        <p:spPr>
          <a:xfrm>
            <a:off x="1190244" y="1745525"/>
            <a:ext cx="3291840" cy="27432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Department profile</a:t>
            </a:r>
            <a:endParaRPr lang="en-US" sz="1200" dirty="0"/>
          </a:p>
        </p:txBody>
      </p:sp>
      <p:sp>
        <p:nvSpPr>
          <p:cNvPr id="20" name="Text 10">
            <a:extLst>
              <a:ext uri="{FF2B5EF4-FFF2-40B4-BE49-F238E27FC236}">
                <a16:creationId xmlns:a16="http://schemas.microsoft.com/office/drawing/2014/main" id="{63579579-0648-0BA8-C576-2D35E23D9054}"/>
              </a:ext>
            </a:extLst>
          </p:cNvPr>
          <p:cNvSpPr txBox="1"/>
          <p:nvPr/>
        </p:nvSpPr>
        <p:spPr>
          <a:xfrm>
            <a:off x="1190244" y="2028989"/>
            <a:ext cx="3291840" cy="475488"/>
          </a:xfrm>
          <a:prstGeom prst="rect">
            <a:avLst/>
          </a:prstGeom>
          <a:noFill/>
          <a:ln/>
        </p:spPr>
        <p:txBody>
          <a:bodyPr wrap="square" lIns="0" tIns="0" rIns="0" bIns="0" rtlCol="0" anchor="ctr"/>
          <a:lstStyle/>
          <a:p>
            <a:pPr marL="0" indent="0">
              <a:buNone/>
            </a:pPr>
            <a:r>
              <a:rPr lang="en-US" sz="950" dirty="0">
                <a:solidFill>
                  <a:srgbClr val="6B7A90"/>
                </a:solidFill>
                <a:latin typeface="Calibri" pitchFamily="34" charset="0"/>
                <a:ea typeface="Calibri" pitchFamily="34" charset="-122"/>
                <a:cs typeface="Calibri" pitchFamily="34" charset="-120"/>
              </a:rPr>
              <a:t>Seven tiles for the selected unit, each opening its own table.</a:t>
            </a:r>
            <a:endParaRPr lang="en-US" sz="950" dirty="0"/>
          </a:p>
        </p:txBody>
      </p:sp>
      <p:sp>
        <p:nvSpPr>
          <p:cNvPr id="22" name="Shape 11">
            <a:extLst>
              <a:ext uri="{FF2B5EF4-FFF2-40B4-BE49-F238E27FC236}">
                <a16:creationId xmlns:a16="http://schemas.microsoft.com/office/drawing/2014/main" id="{6A2FFF70-0EA5-8789-8EF4-1471D59CD877}"/>
              </a:ext>
            </a:extLst>
          </p:cNvPr>
          <p:cNvSpPr/>
          <p:nvPr/>
        </p:nvSpPr>
        <p:spPr>
          <a:xfrm>
            <a:off x="550164" y="2678213"/>
            <a:ext cx="4142232" cy="932688"/>
          </a:xfrm>
          <a:prstGeom prst="roundRect">
            <a:avLst>
              <a:gd name="adj" fmla="val 5882"/>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24" name="Shape 12">
            <a:extLst>
              <a:ext uri="{FF2B5EF4-FFF2-40B4-BE49-F238E27FC236}">
                <a16:creationId xmlns:a16="http://schemas.microsoft.com/office/drawing/2014/main" id="{46D7493A-BFE2-D6A5-CE84-75731E8863FE}"/>
              </a:ext>
            </a:extLst>
          </p:cNvPr>
          <p:cNvSpPr/>
          <p:nvPr/>
        </p:nvSpPr>
        <p:spPr>
          <a:xfrm>
            <a:off x="778764" y="2824517"/>
            <a:ext cx="274320" cy="274320"/>
          </a:xfrm>
          <a:prstGeom prst="ellipse">
            <a:avLst/>
          </a:prstGeom>
          <a:solidFill>
            <a:srgbClr val="1E2761"/>
          </a:solidFill>
          <a:ln/>
        </p:spPr>
        <p:txBody>
          <a:bodyPr/>
          <a:lstStyle/>
          <a:p>
            <a:endParaRPr lang="en-PH"/>
          </a:p>
        </p:txBody>
      </p:sp>
      <p:sp>
        <p:nvSpPr>
          <p:cNvPr id="26" name="Text 13">
            <a:extLst>
              <a:ext uri="{FF2B5EF4-FFF2-40B4-BE49-F238E27FC236}">
                <a16:creationId xmlns:a16="http://schemas.microsoft.com/office/drawing/2014/main" id="{E382267E-09FD-F9D0-79A1-D919A62FC621}"/>
              </a:ext>
            </a:extLst>
          </p:cNvPr>
          <p:cNvSpPr txBox="1"/>
          <p:nvPr/>
        </p:nvSpPr>
        <p:spPr>
          <a:xfrm>
            <a:off x="778764" y="2824517"/>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8" name="Text 14">
            <a:extLst>
              <a:ext uri="{FF2B5EF4-FFF2-40B4-BE49-F238E27FC236}">
                <a16:creationId xmlns:a16="http://schemas.microsoft.com/office/drawing/2014/main" id="{6B5C0AFF-40F5-9EA3-7F5D-954059F64EE9}"/>
              </a:ext>
            </a:extLst>
          </p:cNvPr>
          <p:cNvSpPr txBox="1"/>
          <p:nvPr/>
        </p:nvSpPr>
        <p:spPr>
          <a:xfrm>
            <a:off x="1190244" y="2797085"/>
            <a:ext cx="3291840" cy="27432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Overview of EDRMS sites</a:t>
            </a:r>
            <a:endParaRPr lang="en-US" sz="1200" dirty="0"/>
          </a:p>
        </p:txBody>
      </p:sp>
      <p:sp>
        <p:nvSpPr>
          <p:cNvPr id="30" name="Text 15">
            <a:extLst>
              <a:ext uri="{FF2B5EF4-FFF2-40B4-BE49-F238E27FC236}">
                <a16:creationId xmlns:a16="http://schemas.microsoft.com/office/drawing/2014/main" id="{FBB73353-3679-0D06-7DF9-39C8EA065974}"/>
              </a:ext>
            </a:extLst>
          </p:cNvPr>
          <p:cNvSpPr txBox="1"/>
          <p:nvPr/>
        </p:nvSpPr>
        <p:spPr>
          <a:xfrm>
            <a:off x="1190244" y="3080549"/>
            <a:ext cx="3291840" cy="475488"/>
          </a:xfrm>
          <a:prstGeom prst="rect">
            <a:avLst/>
          </a:prstGeom>
          <a:noFill/>
          <a:ln/>
        </p:spPr>
        <p:txBody>
          <a:bodyPr wrap="square" lIns="0" tIns="0" rIns="0" bIns="0" rtlCol="0" anchor="ctr"/>
          <a:lstStyle/>
          <a:p>
            <a:pPr marL="0" indent="0">
              <a:buNone/>
            </a:pPr>
            <a:r>
              <a:rPr lang="en-US" sz="950" dirty="0">
                <a:solidFill>
                  <a:srgbClr val="6B7A90"/>
                </a:solidFill>
                <a:latin typeface="Calibri" pitchFamily="34" charset="0"/>
                <a:ea typeface="Calibri" pitchFamily="34" charset="-122"/>
                <a:cs typeface="Calibri" pitchFamily="34" charset="-120"/>
              </a:rPr>
              <a:t>Every site the unit owns, with its owner, documents, records and counterparts.</a:t>
            </a:r>
            <a:endParaRPr lang="en-US" sz="950" dirty="0"/>
          </a:p>
        </p:txBody>
      </p:sp>
      <p:sp>
        <p:nvSpPr>
          <p:cNvPr id="32" name="Shape 16">
            <a:extLst>
              <a:ext uri="{FF2B5EF4-FFF2-40B4-BE49-F238E27FC236}">
                <a16:creationId xmlns:a16="http://schemas.microsoft.com/office/drawing/2014/main" id="{63836F4F-6325-88A6-D980-D0B45A7DB00E}"/>
              </a:ext>
            </a:extLst>
          </p:cNvPr>
          <p:cNvSpPr/>
          <p:nvPr/>
        </p:nvSpPr>
        <p:spPr>
          <a:xfrm>
            <a:off x="550164" y="3729773"/>
            <a:ext cx="4142232" cy="932688"/>
          </a:xfrm>
          <a:prstGeom prst="roundRect">
            <a:avLst>
              <a:gd name="adj" fmla="val 5882"/>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34" name="Shape 17">
            <a:extLst>
              <a:ext uri="{FF2B5EF4-FFF2-40B4-BE49-F238E27FC236}">
                <a16:creationId xmlns:a16="http://schemas.microsoft.com/office/drawing/2014/main" id="{1CDEB852-84F2-C024-72D6-A283C5A2C69C}"/>
              </a:ext>
            </a:extLst>
          </p:cNvPr>
          <p:cNvSpPr/>
          <p:nvPr/>
        </p:nvSpPr>
        <p:spPr>
          <a:xfrm>
            <a:off x="778764" y="3876077"/>
            <a:ext cx="274320" cy="274320"/>
          </a:xfrm>
          <a:prstGeom prst="ellipse">
            <a:avLst/>
          </a:prstGeom>
          <a:solidFill>
            <a:srgbClr val="1E2761"/>
          </a:solidFill>
          <a:ln/>
        </p:spPr>
        <p:txBody>
          <a:bodyPr/>
          <a:lstStyle/>
          <a:p>
            <a:endParaRPr lang="en-PH"/>
          </a:p>
        </p:txBody>
      </p:sp>
      <p:sp>
        <p:nvSpPr>
          <p:cNvPr id="36" name="Text 18">
            <a:extLst>
              <a:ext uri="{FF2B5EF4-FFF2-40B4-BE49-F238E27FC236}">
                <a16:creationId xmlns:a16="http://schemas.microsoft.com/office/drawing/2014/main" id="{7755A4C3-9C54-3A11-0DE8-19AAD153B8C4}"/>
              </a:ext>
            </a:extLst>
          </p:cNvPr>
          <p:cNvSpPr txBox="1"/>
          <p:nvPr/>
        </p:nvSpPr>
        <p:spPr>
          <a:xfrm>
            <a:off x="778764" y="3876077"/>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8" name="Text 19">
            <a:extLst>
              <a:ext uri="{FF2B5EF4-FFF2-40B4-BE49-F238E27FC236}">
                <a16:creationId xmlns:a16="http://schemas.microsoft.com/office/drawing/2014/main" id="{54F6072A-C2FA-8AA5-BA78-AF4BAE5FFEFD}"/>
              </a:ext>
            </a:extLst>
          </p:cNvPr>
          <p:cNvSpPr txBox="1"/>
          <p:nvPr/>
        </p:nvSpPr>
        <p:spPr>
          <a:xfrm>
            <a:off x="1190244" y="3848645"/>
            <a:ext cx="3291840" cy="27432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Site visits</a:t>
            </a:r>
            <a:endParaRPr lang="en-US" sz="1200" dirty="0"/>
          </a:p>
        </p:txBody>
      </p:sp>
      <p:sp>
        <p:nvSpPr>
          <p:cNvPr id="40" name="Text 20">
            <a:extLst>
              <a:ext uri="{FF2B5EF4-FFF2-40B4-BE49-F238E27FC236}">
                <a16:creationId xmlns:a16="http://schemas.microsoft.com/office/drawing/2014/main" id="{79D26199-39D0-3318-D9B9-DC50B0495677}"/>
              </a:ext>
            </a:extLst>
          </p:cNvPr>
          <p:cNvSpPr txBox="1"/>
          <p:nvPr/>
        </p:nvSpPr>
        <p:spPr>
          <a:xfrm>
            <a:off x="1190244" y="4132109"/>
            <a:ext cx="3291840" cy="475488"/>
          </a:xfrm>
          <a:prstGeom prst="rect">
            <a:avLst/>
          </a:prstGeom>
          <a:noFill/>
          <a:ln/>
        </p:spPr>
        <p:txBody>
          <a:bodyPr wrap="square" lIns="0" tIns="0" rIns="0" bIns="0" rtlCol="0" anchor="ctr"/>
          <a:lstStyle/>
          <a:p>
            <a:pPr marL="0" indent="0">
              <a:buNone/>
            </a:pPr>
            <a:r>
              <a:rPr lang="en-US" sz="950" dirty="0">
                <a:solidFill>
                  <a:srgbClr val="6B7A90"/>
                </a:solidFill>
                <a:latin typeface="Calibri" pitchFamily="34" charset="0"/>
                <a:ea typeface="Calibri" pitchFamily="34" charset="-122"/>
                <a:cs typeface="Calibri" pitchFamily="34" charset="-120"/>
              </a:rPr>
              <a:t>Page views and visited pages per site, over a window you choose.</a:t>
            </a:r>
            <a:endParaRPr lang="en-US" sz="950" dirty="0"/>
          </a:p>
        </p:txBody>
      </p:sp>
      <p:sp>
        <p:nvSpPr>
          <p:cNvPr id="42" name="Shape 21">
            <a:extLst>
              <a:ext uri="{FF2B5EF4-FFF2-40B4-BE49-F238E27FC236}">
                <a16:creationId xmlns:a16="http://schemas.microsoft.com/office/drawing/2014/main" id="{3899330D-30F5-D6C7-58DA-649F76E2666A}"/>
              </a:ext>
            </a:extLst>
          </p:cNvPr>
          <p:cNvSpPr/>
          <p:nvPr/>
        </p:nvSpPr>
        <p:spPr>
          <a:xfrm>
            <a:off x="550164" y="4781333"/>
            <a:ext cx="4142232" cy="932688"/>
          </a:xfrm>
          <a:prstGeom prst="roundRect">
            <a:avLst>
              <a:gd name="adj" fmla="val 5882"/>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44" name="Shape 22">
            <a:extLst>
              <a:ext uri="{FF2B5EF4-FFF2-40B4-BE49-F238E27FC236}">
                <a16:creationId xmlns:a16="http://schemas.microsoft.com/office/drawing/2014/main" id="{F5E49EAE-D65D-494B-8C66-4373A71CC9D3}"/>
              </a:ext>
            </a:extLst>
          </p:cNvPr>
          <p:cNvSpPr/>
          <p:nvPr/>
        </p:nvSpPr>
        <p:spPr>
          <a:xfrm>
            <a:off x="778764" y="4927637"/>
            <a:ext cx="274320" cy="274320"/>
          </a:xfrm>
          <a:prstGeom prst="ellipse">
            <a:avLst/>
          </a:prstGeom>
          <a:solidFill>
            <a:srgbClr val="1E2761"/>
          </a:solidFill>
          <a:ln/>
        </p:spPr>
        <p:txBody>
          <a:bodyPr/>
          <a:lstStyle/>
          <a:p>
            <a:endParaRPr lang="en-PH"/>
          </a:p>
        </p:txBody>
      </p:sp>
      <p:sp>
        <p:nvSpPr>
          <p:cNvPr id="46" name="Text 23">
            <a:extLst>
              <a:ext uri="{FF2B5EF4-FFF2-40B4-BE49-F238E27FC236}">
                <a16:creationId xmlns:a16="http://schemas.microsoft.com/office/drawing/2014/main" id="{09DF9EBD-FC2D-782B-E83E-900284EE27EF}"/>
              </a:ext>
            </a:extLst>
          </p:cNvPr>
          <p:cNvSpPr txBox="1"/>
          <p:nvPr/>
        </p:nvSpPr>
        <p:spPr>
          <a:xfrm>
            <a:off x="778764" y="4927637"/>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48" name="Text 24">
            <a:extLst>
              <a:ext uri="{FF2B5EF4-FFF2-40B4-BE49-F238E27FC236}">
                <a16:creationId xmlns:a16="http://schemas.microsoft.com/office/drawing/2014/main" id="{CFB0D0BA-F9BF-BB17-4FAA-AC22359A9FEE}"/>
              </a:ext>
            </a:extLst>
          </p:cNvPr>
          <p:cNvSpPr txBox="1"/>
          <p:nvPr/>
        </p:nvSpPr>
        <p:spPr>
          <a:xfrm>
            <a:off x="1190244" y="4900205"/>
            <a:ext cx="3291840" cy="27432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Library usage</a:t>
            </a:r>
            <a:endParaRPr lang="en-US" sz="1200" dirty="0"/>
          </a:p>
        </p:txBody>
      </p:sp>
      <p:sp>
        <p:nvSpPr>
          <p:cNvPr id="50" name="Text 25">
            <a:extLst>
              <a:ext uri="{FF2B5EF4-FFF2-40B4-BE49-F238E27FC236}">
                <a16:creationId xmlns:a16="http://schemas.microsoft.com/office/drawing/2014/main" id="{8B67F2FA-936E-B92D-C21C-A63234ECF63D}"/>
              </a:ext>
            </a:extLst>
          </p:cNvPr>
          <p:cNvSpPr txBox="1"/>
          <p:nvPr/>
        </p:nvSpPr>
        <p:spPr>
          <a:xfrm>
            <a:off x="1190244" y="5183669"/>
            <a:ext cx="3291840" cy="475488"/>
          </a:xfrm>
          <a:prstGeom prst="rect">
            <a:avLst/>
          </a:prstGeom>
          <a:noFill/>
          <a:ln/>
        </p:spPr>
        <p:txBody>
          <a:bodyPr wrap="square" lIns="0" tIns="0" rIns="0" bIns="0" rtlCol="0" anchor="ctr"/>
          <a:lstStyle/>
          <a:p>
            <a:pPr marL="0" indent="0">
              <a:buNone/>
            </a:pPr>
            <a:r>
              <a:rPr lang="en-US" sz="950" dirty="0">
                <a:solidFill>
                  <a:srgbClr val="6B7A90"/>
                </a:solidFill>
                <a:latin typeface="Calibri" pitchFamily="34" charset="0"/>
                <a:ea typeface="Calibri" pitchFamily="34" charset="-122"/>
                <a:cs typeface="Calibri" pitchFamily="34" charset="-120"/>
              </a:rPr>
              <a:t>Libraries inside the unit's sites, grouped by file plan category.</a:t>
            </a:r>
            <a:endParaRPr lang="en-US" sz="950" dirty="0"/>
          </a:p>
        </p:txBody>
      </p:sp>
      <p:pic>
        <p:nvPicPr>
          <p:cNvPr id="52" name="Picture 51">
            <a:extLst>
              <a:ext uri="{FF2B5EF4-FFF2-40B4-BE49-F238E27FC236}">
                <a16:creationId xmlns:a16="http://schemas.microsoft.com/office/drawing/2014/main" id="{480B8E92-0F85-9391-34BA-CB2C20BF3978}"/>
              </a:ext>
            </a:extLst>
          </p:cNvPr>
          <p:cNvPicPr>
            <a:picLocks noChangeAspect="1"/>
          </p:cNvPicPr>
          <p:nvPr/>
        </p:nvPicPr>
        <p:blipFill>
          <a:blip r:embed="rId3"/>
          <a:stretch>
            <a:fillRect/>
          </a:stretch>
        </p:blipFill>
        <p:spPr>
          <a:xfrm>
            <a:off x="5757644" y="102580"/>
            <a:ext cx="5069762" cy="6655887"/>
          </a:xfrm>
          <a:prstGeom prst="rect">
            <a:avLst/>
          </a:prstGeom>
          <a:ln>
            <a:noFill/>
          </a:ln>
          <a:effectLst>
            <a:outerShdw blurRad="190500" algn="tl" rotWithShape="0">
              <a:srgbClr val="000000">
                <a:alpha val="70000"/>
              </a:srgbClr>
            </a:outerShdw>
          </a:effectLst>
        </p:spPr>
      </p:pic>
      <p:sp>
        <p:nvSpPr>
          <p:cNvPr id="54" name="Shape 7">
            <a:extLst>
              <a:ext uri="{FF2B5EF4-FFF2-40B4-BE49-F238E27FC236}">
                <a16:creationId xmlns:a16="http://schemas.microsoft.com/office/drawing/2014/main" id="{5B1D958C-9C13-4A1A-AECD-B447FDE76DFC}"/>
              </a:ext>
            </a:extLst>
          </p:cNvPr>
          <p:cNvSpPr/>
          <p:nvPr/>
        </p:nvSpPr>
        <p:spPr>
          <a:xfrm>
            <a:off x="10910698" y="5469345"/>
            <a:ext cx="274320" cy="274320"/>
          </a:xfrm>
          <a:prstGeom prst="ellipse">
            <a:avLst/>
          </a:prstGeom>
          <a:solidFill>
            <a:srgbClr val="C00000"/>
          </a:solidFill>
          <a:ln/>
        </p:spPr>
        <p:txBody>
          <a:bodyPr/>
          <a:lstStyle/>
          <a:p>
            <a:endParaRPr lang="en-PH"/>
          </a:p>
        </p:txBody>
      </p:sp>
      <p:sp>
        <p:nvSpPr>
          <p:cNvPr id="56" name="Text 8">
            <a:extLst>
              <a:ext uri="{FF2B5EF4-FFF2-40B4-BE49-F238E27FC236}">
                <a16:creationId xmlns:a16="http://schemas.microsoft.com/office/drawing/2014/main" id="{5A3686D7-F573-9C31-1250-7E51C7CFFE9F}"/>
              </a:ext>
            </a:extLst>
          </p:cNvPr>
          <p:cNvSpPr txBox="1"/>
          <p:nvPr/>
        </p:nvSpPr>
        <p:spPr>
          <a:xfrm>
            <a:off x="10910698" y="546354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58" name="Shape 7">
            <a:extLst>
              <a:ext uri="{FF2B5EF4-FFF2-40B4-BE49-F238E27FC236}">
                <a16:creationId xmlns:a16="http://schemas.microsoft.com/office/drawing/2014/main" id="{4B3245A4-0575-A3EE-6593-53AEDC68BDAD}"/>
              </a:ext>
            </a:extLst>
          </p:cNvPr>
          <p:cNvSpPr/>
          <p:nvPr/>
        </p:nvSpPr>
        <p:spPr>
          <a:xfrm>
            <a:off x="10910698" y="3411945"/>
            <a:ext cx="274320" cy="274320"/>
          </a:xfrm>
          <a:prstGeom prst="ellipse">
            <a:avLst/>
          </a:prstGeom>
          <a:solidFill>
            <a:srgbClr val="C00000"/>
          </a:solidFill>
          <a:ln/>
        </p:spPr>
        <p:txBody>
          <a:bodyPr/>
          <a:lstStyle/>
          <a:p>
            <a:endParaRPr lang="en-PH"/>
          </a:p>
        </p:txBody>
      </p:sp>
      <p:sp>
        <p:nvSpPr>
          <p:cNvPr id="60" name="Text 8">
            <a:extLst>
              <a:ext uri="{FF2B5EF4-FFF2-40B4-BE49-F238E27FC236}">
                <a16:creationId xmlns:a16="http://schemas.microsoft.com/office/drawing/2014/main" id="{FB73F88B-95B4-B720-6A35-BB848F299187}"/>
              </a:ext>
            </a:extLst>
          </p:cNvPr>
          <p:cNvSpPr txBox="1"/>
          <p:nvPr/>
        </p:nvSpPr>
        <p:spPr>
          <a:xfrm>
            <a:off x="10910698" y="340614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62" name="Shape 7">
            <a:extLst>
              <a:ext uri="{FF2B5EF4-FFF2-40B4-BE49-F238E27FC236}">
                <a16:creationId xmlns:a16="http://schemas.microsoft.com/office/drawing/2014/main" id="{36029FFF-4B72-E7E0-0391-8428C68B5A59}"/>
              </a:ext>
            </a:extLst>
          </p:cNvPr>
          <p:cNvSpPr/>
          <p:nvPr/>
        </p:nvSpPr>
        <p:spPr>
          <a:xfrm>
            <a:off x="10910698" y="2360385"/>
            <a:ext cx="274320" cy="274320"/>
          </a:xfrm>
          <a:prstGeom prst="ellipse">
            <a:avLst/>
          </a:prstGeom>
          <a:solidFill>
            <a:srgbClr val="C00000"/>
          </a:solidFill>
          <a:ln/>
        </p:spPr>
        <p:txBody>
          <a:bodyPr/>
          <a:lstStyle/>
          <a:p>
            <a:endParaRPr lang="en-PH"/>
          </a:p>
        </p:txBody>
      </p:sp>
      <p:sp>
        <p:nvSpPr>
          <p:cNvPr id="64" name="Text 8">
            <a:extLst>
              <a:ext uri="{FF2B5EF4-FFF2-40B4-BE49-F238E27FC236}">
                <a16:creationId xmlns:a16="http://schemas.microsoft.com/office/drawing/2014/main" id="{0FFB8FDC-C162-9BD6-466C-50A975CB746E}"/>
              </a:ext>
            </a:extLst>
          </p:cNvPr>
          <p:cNvSpPr txBox="1"/>
          <p:nvPr/>
        </p:nvSpPr>
        <p:spPr>
          <a:xfrm>
            <a:off x="10910698" y="235458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66" name="Shape 7">
            <a:extLst>
              <a:ext uri="{FF2B5EF4-FFF2-40B4-BE49-F238E27FC236}">
                <a16:creationId xmlns:a16="http://schemas.microsoft.com/office/drawing/2014/main" id="{AC6E87D2-3083-59A1-1311-5242FFED2C6F}"/>
              </a:ext>
            </a:extLst>
          </p:cNvPr>
          <p:cNvSpPr/>
          <p:nvPr/>
        </p:nvSpPr>
        <p:spPr>
          <a:xfrm>
            <a:off x="10910698" y="1083855"/>
            <a:ext cx="274320" cy="274320"/>
          </a:xfrm>
          <a:prstGeom prst="ellipse">
            <a:avLst/>
          </a:prstGeom>
          <a:solidFill>
            <a:srgbClr val="C00000"/>
          </a:solidFill>
          <a:ln/>
        </p:spPr>
        <p:txBody>
          <a:bodyPr/>
          <a:lstStyle/>
          <a:p>
            <a:endParaRPr lang="en-PH"/>
          </a:p>
        </p:txBody>
      </p:sp>
      <p:sp>
        <p:nvSpPr>
          <p:cNvPr id="68" name="Text 8">
            <a:extLst>
              <a:ext uri="{FF2B5EF4-FFF2-40B4-BE49-F238E27FC236}">
                <a16:creationId xmlns:a16="http://schemas.microsoft.com/office/drawing/2014/main" id="{18F67386-1509-E7DF-B790-668D9EBF39D4}"/>
              </a:ext>
            </a:extLst>
          </p:cNvPr>
          <p:cNvSpPr txBox="1"/>
          <p:nvPr/>
        </p:nvSpPr>
        <p:spPr>
          <a:xfrm>
            <a:off x="10910698" y="107805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70" name="Text 0">
            <a:extLst>
              <a:ext uri="{FF2B5EF4-FFF2-40B4-BE49-F238E27FC236}">
                <a16:creationId xmlns:a16="http://schemas.microsoft.com/office/drawing/2014/main" id="{7BF67D1A-8BA0-50D2-D437-49633525CF42}"/>
              </a:ext>
            </a:extLst>
          </p:cNvPr>
          <p:cNvSpPr txBox="1"/>
          <p:nvPr/>
        </p:nvSpPr>
        <p:spPr>
          <a:xfrm>
            <a:off x="325991" y="632169"/>
            <a:ext cx="11219688" cy="219456"/>
          </a:xfrm>
          <a:prstGeom prst="rect">
            <a:avLst/>
          </a:prstGeom>
          <a:noFill/>
          <a:ln/>
        </p:spPr>
        <p:txBody>
          <a:bodyPr wrap="square" lIns="0" tIns="0" rIns="0" bIns="0" rtlCol="0" anchor="ctr"/>
          <a:lstStyle/>
          <a:p>
            <a:r>
              <a:rPr lang="en-US" sz="1050" b="1" kern="0" spc="160" dirty="0">
                <a:solidFill>
                  <a:srgbClr val="6B7A90"/>
                </a:solidFill>
                <a:latin typeface="Calibri" pitchFamily="34" charset="0"/>
                <a:ea typeface="Calibri" pitchFamily="34" charset="-122"/>
                <a:cs typeface="Calibri" pitchFamily="34" charset="-120"/>
              </a:rPr>
              <a:t>MVP DASHBOARD 2</a:t>
            </a:r>
            <a:endParaRPr lang="en-US" sz="1050" dirty="0"/>
          </a:p>
        </p:txBody>
      </p:sp>
    </p:spTree>
    <p:extLst>
      <p:ext uri="{BB962C8B-B14F-4D97-AF65-F5344CB8AC3E}">
        <p14:creationId xmlns:p14="http://schemas.microsoft.com/office/powerpoint/2010/main" val="4985019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9A5F2-39C7-2F5A-48AB-E28FABC40E6A}"/>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24F28E14-DB1C-F6C2-47C9-7444B7C975E3}"/>
              </a:ext>
            </a:extLst>
          </p:cNvPr>
          <p:cNvSpPr/>
          <p:nvPr/>
        </p:nvSpPr>
        <p:spPr>
          <a:xfrm>
            <a:off x="325991" y="49059"/>
            <a:ext cx="11216640" cy="658368"/>
          </a:xfrm>
          <a:prstGeom prst="rect">
            <a:avLst/>
          </a:prstGeom>
          <a:noFill/>
          <a:ln/>
        </p:spPr>
        <p:txBody>
          <a:bodyPr wrap="square" lIns="0" tIns="0" rIns="0" bIns="0" rtlCol="0" anchor="ctr"/>
          <a:lstStyle/>
          <a:p>
            <a:r>
              <a:rPr lang="en-US" sz="3600" b="1" dirty="0">
                <a:solidFill>
                  <a:srgbClr val="44546A"/>
                </a:solidFill>
                <a:latin typeface="Cambria" pitchFamily="34" charset="0"/>
                <a:ea typeface="Cambria" pitchFamily="34" charset="-122"/>
                <a:cs typeface="Cambria" pitchFamily="34" charset="-120"/>
              </a:rPr>
              <a:t>Department Insights: the profile tiles</a:t>
            </a:r>
            <a:endParaRPr lang="en-US" sz="3600" dirty="0"/>
          </a:p>
        </p:txBody>
      </p:sp>
      <p:graphicFrame>
        <p:nvGraphicFramePr>
          <p:cNvPr id="3" name="Table 0">
            <a:extLst>
              <a:ext uri="{FF2B5EF4-FFF2-40B4-BE49-F238E27FC236}">
                <a16:creationId xmlns:a16="http://schemas.microsoft.com/office/drawing/2014/main" id="{3A750FAA-ABC5-FEB2-4913-EE80695520F9}"/>
              </a:ext>
            </a:extLst>
          </p:cNvPr>
          <p:cNvGraphicFramePr>
            <a:graphicFrameLocks noGrp="1"/>
          </p:cNvGraphicFramePr>
          <p:nvPr>
            <p:extLst>
              <p:ext uri="{D42A27DB-BD31-4B8C-83A1-F6EECF244321}">
                <p14:modId xmlns:p14="http://schemas.microsoft.com/office/powerpoint/2010/main" val="3581812446"/>
              </p:ext>
            </p:extLst>
          </p:nvPr>
        </p:nvGraphicFramePr>
        <p:xfrm>
          <a:off x="548640" y="1659377"/>
          <a:ext cx="11091672" cy="2202180"/>
        </p:xfrm>
        <a:graphic>
          <a:graphicData uri="http://schemas.openxmlformats.org/drawingml/2006/table">
            <a:tbl>
              <a:tblPr/>
              <a:tblGrid>
                <a:gridCol w="233172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3913632">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tblGrid>
              <a:tr h="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Your term</a:t>
                      </a:r>
                      <a:endParaRPr lang="en-US" sz="10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What it counts</a:t>
                      </a:r>
                      <a:endParaRPr lang="en-US" sz="10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Source</a:t>
                      </a:r>
                      <a:endParaRPr lang="en-US" sz="10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Status</a:t>
                      </a:r>
                      <a:endParaRPr lang="en-US" sz="10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EDRMS compliant sites created</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Sites provisioned to this unit</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Cloud Governance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lgn="ctr">
                        <a:buNone/>
                      </a:pPr>
                      <a:r>
                        <a:rPr lang="en-US" sz="1000" b="1" dirty="0">
                          <a:solidFill>
                            <a:srgbClr val="8A5A00"/>
                          </a:solidFill>
                          <a:latin typeface="Calibri" pitchFamily="34" charset="0"/>
                          <a:ea typeface="Calibri" pitchFamily="34" charset="-122"/>
                          <a:cs typeface="Calibri" pitchFamily="34" charset="-120"/>
                        </a:rPr>
                        <a:t>Define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extLst>
                  <a:ext uri="{0D108BD9-81ED-4DB2-BD59-A6C34878D82A}">
                    <a16:rowId xmlns:a16="http://schemas.microsoft.com/office/drawing/2014/main" val="10001"/>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Total number of EDRMS users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People with recorded activity for this unit</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SharePoint activity log</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lgn="ctr">
                        <a:buNone/>
                      </a:pPr>
                      <a:r>
                        <a:rPr lang="en-US" sz="1000" b="1" dirty="0">
                          <a:solidFill>
                            <a:srgbClr val="8A5A00"/>
                          </a:solidFill>
                          <a:latin typeface="Calibri" pitchFamily="34" charset="0"/>
                          <a:ea typeface="Calibri" pitchFamily="34" charset="-122"/>
                          <a:cs typeface="Calibri" pitchFamily="34" charset="-120"/>
                        </a:rPr>
                        <a:t>Define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extLst>
                  <a:ext uri="{0D108BD9-81ED-4DB2-BD59-A6C34878D82A}">
                    <a16:rowId xmlns:a16="http://schemas.microsoft.com/office/drawing/2014/main" val="10002"/>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Total number of site visitors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Page views and visited pages, not distinct people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SharePoint site usage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lgn="ctr">
                        <a:buNone/>
                      </a:pPr>
                      <a:r>
                        <a:rPr lang="en-US" sz="1000" b="1" dirty="0">
                          <a:solidFill>
                            <a:srgbClr val="8A5A00"/>
                          </a:solidFill>
                          <a:latin typeface="Calibri" pitchFamily="34" charset="0"/>
                          <a:ea typeface="Calibri" pitchFamily="34" charset="-122"/>
                          <a:cs typeface="Calibri" pitchFamily="34" charset="-120"/>
                        </a:rPr>
                        <a:t>Define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extLst>
                  <a:ext uri="{0D108BD9-81ED-4DB2-BD59-A6C34878D82A}">
                    <a16:rowId xmlns:a16="http://schemas.microsoft.com/office/drawing/2014/main" val="10003"/>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Total number of documents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File count across the unit's sites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SharePoint site usage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lgn="ctr">
                        <a:buNone/>
                      </a:pPr>
                      <a:r>
                        <a:rPr lang="en-US" sz="1000" b="1" dirty="0">
                          <a:solidFill>
                            <a:srgbClr val="1F6B3B"/>
                          </a:solidFill>
                          <a:latin typeface="Calibri" pitchFamily="34" charset="0"/>
                          <a:ea typeface="Calibri" pitchFamily="34" charset="-122"/>
                          <a:cs typeface="Calibri" pitchFamily="34" charset="-120"/>
                        </a:rPr>
                        <a:t>Available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extLst>
                  <a:ext uri="{0D108BD9-81ED-4DB2-BD59-A6C34878D82A}">
                    <a16:rowId xmlns:a16="http://schemas.microsoft.com/office/drawing/2014/main" val="10004"/>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Total number of records declared</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Declared records for the unit's sites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EDRMS database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lgn="ctr">
                        <a:buNone/>
                      </a:pPr>
                      <a:r>
                        <a:rPr lang="en-US" sz="1000" b="1" dirty="0">
                          <a:solidFill>
                            <a:srgbClr val="1F6B3B"/>
                          </a:solidFill>
                          <a:latin typeface="Calibri" pitchFamily="34" charset="0"/>
                          <a:ea typeface="Calibri" pitchFamily="34" charset="-122"/>
                          <a:cs typeface="Calibri" pitchFamily="34" charset="-120"/>
                        </a:rPr>
                        <a:t>Available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extLst>
                  <a:ext uri="{0D108BD9-81ED-4DB2-BD59-A6C34878D82A}">
                    <a16:rowId xmlns:a16="http://schemas.microsoft.com/office/drawing/2014/main" val="10005"/>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Total physical counterparts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Declared records flagged as having a paper counterpart</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EDRMS database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lgn="ctr">
                        <a:buNone/>
                      </a:pPr>
                      <a:r>
                        <a:rPr lang="en-US" sz="1000" b="1" dirty="0">
                          <a:solidFill>
                            <a:srgbClr val="1F6B3B"/>
                          </a:solidFill>
                          <a:latin typeface="Calibri" pitchFamily="34" charset="0"/>
                          <a:ea typeface="Calibri" pitchFamily="34" charset="-122"/>
                          <a:cs typeface="Calibri" pitchFamily="34" charset="-120"/>
                        </a:rPr>
                        <a:t>Available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extLst>
                  <a:ext uri="{0D108BD9-81ED-4DB2-BD59-A6C34878D82A}">
                    <a16:rowId xmlns:a16="http://schemas.microsoft.com/office/drawing/2014/main" val="10006"/>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Records due for disposal</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Records reaching their due date in a window</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EDRMS database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lgn="ctr">
                        <a:buNone/>
                      </a:pPr>
                      <a:r>
                        <a:rPr lang="en-US" sz="1000" b="1" dirty="0">
                          <a:solidFill>
                            <a:srgbClr val="8A5A00"/>
                          </a:solidFill>
                          <a:latin typeface="Calibri" pitchFamily="34" charset="0"/>
                          <a:ea typeface="Calibri" pitchFamily="34" charset="-122"/>
                          <a:cs typeface="Calibri" pitchFamily="34" charset="-120"/>
                        </a:rPr>
                        <a:t>Define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extLst>
                  <a:ext uri="{0D108BD9-81ED-4DB2-BD59-A6C34878D82A}">
                    <a16:rowId xmlns:a16="http://schemas.microsoft.com/office/drawing/2014/main" val="10007"/>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Go-Live date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When the unit went live on EDRMS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No source. Nothing records it.</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marL="0" indent="0" algn="ctr">
                        <a:buNone/>
                      </a:pPr>
                      <a:r>
                        <a:rPr lang="en-US" sz="1000" b="1" dirty="0">
                          <a:solidFill>
                            <a:srgbClr val="9C2B2B"/>
                          </a:solidFill>
                          <a:latin typeface="Calibri" pitchFamily="34" charset="0"/>
                          <a:ea typeface="Calibri" pitchFamily="34" charset="-122"/>
                          <a:cs typeface="Calibri" pitchFamily="34" charset="-120"/>
                        </a:rPr>
                        <a:t>No source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extLst>
                  <a:ext uri="{0D108BD9-81ED-4DB2-BD59-A6C34878D82A}">
                    <a16:rowId xmlns:a16="http://schemas.microsoft.com/office/drawing/2014/main" val="10008"/>
                  </a:ext>
                </a:extLst>
              </a:tr>
            </a:tbl>
          </a:graphicData>
        </a:graphic>
      </p:graphicFrame>
      <p:sp>
        <p:nvSpPr>
          <p:cNvPr id="6" name="Shape 2">
            <a:extLst>
              <a:ext uri="{FF2B5EF4-FFF2-40B4-BE49-F238E27FC236}">
                <a16:creationId xmlns:a16="http://schemas.microsoft.com/office/drawing/2014/main" id="{8E08F0E8-5911-6625-3AE9-D13744244AFB}"/>
              </a:ext>
            </a:extLst>
          </p:cNvPr>
          <p:cNvSpPr/>
          <p:nvPr/>
        </p:nvSpPr>
        <p:spPr>
          <a:xfrm>
            <a:off x="548640" y="4476247"/>
            <a:ext cx="11091672" cy="868680"/>
          </a:xfrm>
          <a:prstGeom prst="roundRect">
            <a:avLst>
              <a:gd name="adj" fmla="val 6316"/>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8" name="Text 3">
            <a:extLst>
              <a:ext uri="{FF2B5EF4-FFF2-40B4-BE49-F238E27FC236}">
                <a16:creationId xmlns:a16="http://schemas.microsoft.com/office/drawing/2014/main" id="{28F27775-161B-C2F3-1D07-3C1236C34E41}"/>
              </a:ext>
            </a:extLst>
          </p:cNvPr>
          <p:cNvSpPr txBox="1"/>
          <p:nvPr/>
        </p:nvSpPr>
        <p:spPr>
          <a:xfrm>
            <a:off x="868680" y="4631695"/>
            <a:ext cx="10424160" cy="566928"/>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Thank you for the review.  </a:t>
            </a:r>
            <a:r>
              <a:rPr lang="en-US" sz="1150" dirty="0">
                <a:solidFill>
                  <a:srgbClr val="333F50"/>
                </a:solidFill>
                <a:latin typeface="Calibri" pitchFamily="34" charset="0"/>
                <a:ea typeface="Calibri" pitchFamily="34" charset="-122"/>
                <a:cs typeface="Calibri" pitchFamily="34" charset="-120"/>
              </a:rPr>
              <a:t>All 79 rows on this dashboard now carry your assessment, and the table above follows it. Most of it agrees with ours. A small number of source attributions differ and we will reconcile those row by row.</a:t>
            </a:r>
            <a:endParaRPr lang="en-US" sz="1150" dirty="0"/>
          </a:p>
        </p:txBody>
      </p:sp>
      <p:sp>
        <p:nvSpPr>
          <p:cNvPr id="10" name="Shape 4">
            <a:extLst>
              <a:ext uri="{FF2B5EF4-FFF2-40B4-BE49-F238E27FC236}">
                <a16:creationId xmlns:a16="http://schemas.microsoft.com/office/drawing/2014/main" id="{94670DD1-43DF-0C51-C54F-B23D61E63F13}"/>
              </a:ext>
            </a:extLst>
          </p:cNvPr>
          <p:cNvSpPr/>
          <p:nvPr/>
        </p:nvSpPr>
        <p:spPr>
          <a:xfrm>
            <a:off x="548640" y="5582671"/>
            <a:ext cx="868680" cy="237744"/>
          </a:xfrm>
          <a:prstGeom prst="roundRect">
            <a:avLst>
              <a:gd name="adj" fmla="val 19231"/>
            </a:avLst>
          </a:prstGeom>
          <a:solidFill>
            <a:srgbClr val="DCEDE2"/>
          </a:solidFill>
          <a:ln w="9525">
            <a:solidFill>
              <a:srgbClr val="1F6B3B"/>
            </a:solidFill>
            <a:prstDash val="solid"/>
          </a:ln>
        </p:spPr>
        <p:txBody>
          <a:bodyPr/>
          <a:lstStyle/>
          <a:p>
            <a:endParaRPr lang="en-PH"/>
          </a:p>
        </p:txBody>
      </p:sp>
      <p:sp>
        <p:nvSpPr>
          <p:cNvPr id="12" name="Text 5">
            <a:extLst>
              <a:ext uri="{FF2B5EF4-FFF2-40B4-BE49-F238E27FC236}">
                <a16:creationId xmlns:a16="http://schemas.microsoft.com/office/drawing/2014/main" id="{9A8D4CDC-70B6-5FFA-AEE0-0462612FF5CE}"/>
              </a:ext>
            </a:extLst>
          </p:cNvPr>
          <p:cNvSpPr txBox="1"/>
          <p:nvPr/>
        </p:nvSpPr>
        <p:spPr>
          <a:xfrm>
            <a:off x="548640" y="5582671"/>
            <a:ext cx="868680" cy="237744"/>
          </a:xfrm>
          <a:prstGeom prst="rect">
            <a:avLst/>
          </a:prstGeom>
          <a:noFill/>
          <a:ln/>
        </p:spPr>
        <p:txBody>
          <a:bodyPr wrap="square" lIns="0" tIns="0" rIns="0" bIns="0" rtlCol="0" anchor="ctr"/>
          <a:lstStyle/>
          <a:p>
            <a:pPr marL="0" indent="0" algn="ctr">
              <a:buNone/>
            </a:pPr>
            <a:r>
              <a:rPr lang="en-US" sz="900" b="1" dirty="0">
                <a:solidFill>
                  <a:srgbClr val="1F6B3B"/>
                </a:solidFill>
                <a:latin typeface="Calibri" pitchFamily="34" charset="0"/>
                <a:ea typeface="Calibri" pitchFamily="34" charset="-122"/>
                <a:cs typeface="Calibri" pitchFamily="34" charset="-120"/>
              </a:rPr>
              <a:t>Available</a:t>
            </a:r>
            <a:endParaRPr lang="en-US" sz="900" dirty="0"/>
          </a:p>
        </p:txBody>
      </p:sp>
      <p:sp>
        <p:nvSpPr>
          <p:cNvPr id="14" name="Text 6">
            <a:extLst>
              <a:ext uri="{FF2B5EF4-FFF2-40B4-BE49-F238E27FC236}">
                <a16:creationId xmlns:a16="http://schemas.microsoft.com/office/drawing/2014/main" id="{7D345FB2-6F61-D195-E37A-12DC7719E8AE}"/>
              </a:ext>
            </a:extLst>
          </p:cNvPr>
          <p:cNvSpPr txBox="1"/>
          <p:nvPr/>
        </p:nvSpPr>
        <p:spPr>
          <a:xfrm>
            <a:off x="1508760" y="5582671"/>
            <a:ext cx="2788920" cy="237744"/>
          </a:xfrm>
          <a:prstGeom prst="rect">
            <a:avLst/>
          </a:prstGeom>
          <a:noFill/>
          <a:ln/>
        </p:spPr>
        <p:txBody>
          <a:bodyPr wrap="square" lIns="0" tIns="0" rIns="0" bIns="0" rtlCol="0" anchor="ctr"/>
          <a:lstStyle/>
          <a:p>
            <a:pPr marL="0" indent="0">
              <a:buNone/>
            </a:pPr>
            <a:r>
              <a:rPr lang="en-US" sz="900" dirty="0">
                <a:solidFill>
                  <a:srgbClr val="6B7A90"/>
                </a:solidFill>
                <a:latin typeface="Calibri" pitchFamily="34" charset="0"/>
                <a:ea typeface="Calibri" pitchFamily="34" charset="-122"/>
                <a:cs typeface="Calibri" pitchFamily="34" charset="-120"/>
              </a:rPr>
              <a:t>Sourced and buildable today</a:t>
            </a:r>
            <a:endParaRPr lang="en-US" sz="900" dirty="0"/>
          </a:p>
        </p:txBody>
      </p:sp>
      <p:sp>
        <p:nvSpPr>
          <p:cNvPr id="16" name="Shape 7">
            <a:extLst>
              <a:ext uri="{FF2B5EF4-FFF2-40B4-BE49-F238E27FC236}">
                <a16:creationId xmlns:a16="http://schemas.microsoft.com/office/drawing/2014/main" id="{7C0E92E4-AFB1-F340-3684-7102C2AA193D}"/>
              </a:ext>
            </a:extLst>
          </p:cNvPr>
          <p:cNvSpPr/>
          <p:nvPr/>
        </p:nvSpPr>
        <p:spPr>
          <a:xfrm>
            <a:off x="4343400" y="5582671"/>
            <a:ext cx="868680" cy="237744"/>
          </a:xfrm>
          <a:prstGeom prst="roundRect">
            <a:avLst>
              <a:gd name="adj" fmla="val 19231"/>
            </a:avLst>
          </a:prstGeom>
          <a:solidFill>
            <a:srgbClr val="FBEFD4"/>
          </a:solidFill>
          <a:ln w="9525">
            <a:solidFill>
              <a:srgbClr val="8A5A00"/>
            </a:solidFill>
            <a:prstDash val="solid"/>
          </a:ln>
        </p:spPr>
        <p:txBody>
          <a:bodyPr/>
          <a:lstStyle/>
          <a:p>
            <a:endParaRPr lang="en-PH"/>
          </a:p>
        </p:txBody>
      </p:sp>
      <p:sp>
        <p:nvSpPr>
          <p:cNvPr id="18" name="Text 8">
            <a:extLst>
              <a:ext uri="{FF2B5EF4-FFF2-40B4-BE49-F238E27FC236}">
                <a16:creationId xmlns:a16="http://schemas.microsoft.com/office/drawing/2014/main" id="{06E2878E-1A19-D79F-58C2-6F0B156F497E}"/>
              </a:ext>
            </a:extLst>
          </p:cNvPr>
          <p:cNvSpPr txBox="1"/>
          <p:nvPr/>
        </p:nvSpPr>
        <p:spPr>
          <a:xfrm>
            <a:off x="4343400" y="5582671"/>
            <a:ext cx="868680" cy="237744"/>
          </a:xfrm>
          <a:prstGeom prst="rect">
            <a:avLst/>
          </a:prstGeom>
          <a:noFill/>
          <a:ln/>
        </p:spPr>
        <p:txBody>
          <a:bodyPr wrap="square" lIns="0" tIns="0" rIns="0" bIns="0" rtlCol="0" anchor="ctr"/>
          <a:lstStyle/>
          <a:p>
            <a:pPr marL="0" indent="0" algn="ctr">
              <a:buNone/>
            </a:pPr>
            <a:r>
              <a:rPr lang="en-US" sz="900" b="1" dirty="0">
                <a:solidFill>
                  <a:srgbClr val="8A5A00"/>
                </a:solidFill>
                <a:latin typeface="Calibri" pitchFamily="34" charset="0"/>
                <a:ea typeface="Calibri" pitchFamily="34" charset="-122"/>
                <a:cs typeface="Calibri" pitchFamily="34" charset="-120"/>
              </a:rPr>
              <a:t>Define</a:t>
            </a:r>
            <a:endParaRPr lang="en-US" sz="900" dirty="0"/>
          </a:p>
        </p:txBody>
      </p:sp>
      <p:sp>
        <p:nvSpPr>
          <p:cNvPr id="20" name="Text 9">
            <a:extLst>
              <a:ext uri="{FF2B5EF4-FFF2-40B4-BE49-F238E27FC236}">
                <a16:creationId xmlns:a16="http://schemas.microsoft.com/office/drawing/2014/main" id="{4BB9C904-133A-D5A4-CA41-B1348DE377DF}"/>
              </a:ext>
            </a:extLst>
          </p:cNvPr>
          <p:cNvSpPr txBox="1"/>
          <p:nvPr/>
        </p:nvSpPr>
        <p:spPr>
          <a:xfrm>
            <a:off x="5303520" y="5582671"/>
            <a:ext cx="2788920" cy="237744"/>
          </a:xfrm>
          <a:prstGeom prst="rect">
            <a:avLst/>
          </a:prstGeom>
          <a:noFill/>
          <a:ln/>
        </p:spPr>
        <p:txBody>
          <a:bodyPr wrap="square" lIns="0" tIns="0" rIns="0" bIns="0" rtlCol="0" anchor="ctr"/>
          <a:lstStyle/>
          <a:p>
            <a:pPr marL="0" indent="0">
              <a:buNone/>
            </a:pPr>
            <a:r>
              <a:rPr lang="en-US" sz="900" dirty="0">
                <a:solidFill>
                  <a:srgbClr val="6B7A90"/>
                </a:solidFill>
                <a:latin typeface="Calibri" pitchFamily="34" charset="0"/>
                <a:ea typeface="Calibri" pitchFamily="34" charset="-122"/>
                <a:cs typeface="Calibri" pitchFamily="34" charset="-120"/>
              </a:rPr>
              <a:t>Term is ambiguous. What it means changes the figure</a:t>
            </a:r>
            <a:endParaRPr lang="en-US" sz="900" dirty="0"/>
          </a:p>
        </p:txBody>
      </p:sp>
      <p:sp>
        <p:nvSpPr>
          <p:cNvPr id="22" name="Shape 10">
            <a:extLst>
              <a:ext uri="{FF2B5EF4-FFF2-40B4-BE49-F238E27FC236}">
                <a16:creationId xmlns:a16="http://schemas.microsoft.com/office/drawing/2014/main" id="{4C47FDB3-6D19-0613-841B-D1661292392E}"/>
              </a:ext>
            </a:extLst>
          </p:cNvPr>
          <p:cNvSpPr/>
          <p:nvPr/>
        </p:nvSpPr>
        <p:spPr>
          <a:xfrm>
            <a:off x="8138160" y="5582671"/>
            <a:ext cx="868680" cy="237744"/>
          </a:xfrm>
          <a:prstGeom prst="roundRect">
            <a:avLst>
              <a:gd name="adj" fmla="val 19231"/>
            </a:avLst>
          </a:prstGeom>
          <a:solidFill>
            <a:srgbClr val="F7E0E0"/>
          </a:solidFill>
          <a:ln w="9525">
            <a:solidFill>
              <a:srgbClr val="9C2B2B"/>
            </a:solidFill>
            <a:prstDash val="solid"/>
          </a:ln>
        </p:spPr>
        <p:txBody>
          <a:bodyPr/>
          <a:lstStyle/>
          <a:p>
            <a:endParaRPr lang="en-PH"/>
          </a:p>
        </p:txBody>
      </p:sp>
      <p:sp>
        <p:nvSpPr>
          <p:cNvPr id="24" name="Text 11">
            <a:extLst>
              <a:ext uri="{FF2B5EF4-FFF2-40B4-BE49-F238E27FC236}">
                <a16:creationId xmlns:a16="http://schemas.microsoft.com/office/drawing/2014/main" id="{4454DFF7-29C9-FB23-E2AA-12553FE35E47}"/>
              </a:ext>
            </a:extLst>
          </p:cNvPr>
          <p:cNvSpPr txBox="1"/>
          <p:nvPr/>
        </p:nvSpPr>
        <p:spPr>
          <a:xfrm>
            <a:off x="8138160" y="5582671"/>
            <a:ext cx="868680" cy="237744"/>
          </a:xfrm>
          <a:prstGeom prst="rect">
            <a:avLst/>
          </a:prstGeom>
          <a:noFill/>
          <a:ln/>
        </p:spPr>
        <p:txBody>
          <a:bodyPr wrap="square" lIns="0" tIns="0" rIns="0" bIns="0" rtlCol="0" anchor="ctr"/>
          <a:lstStyle/>
          <a:p>
            <a:pPr marL="0" indent="0" algn="ctr">
              <a:buNone/>
            </a:pPr>
            <a:r>
              <a:rPr lang="en-US" sz="900" b="1" dirty="0">
                <a:solidFill>
                  <a:srgbClr val="9C2B2B"/>
                </a:solidFill>
                <a:latin typeface="Calibri" pitchFamily="34" charset="0"/>
                <a:ea typeface="Calibri" pitchFamily="34" charset="-122"/>
                <a:cs typeface="Calibri" pitchFamily="34" charset="-120"/>
              </a:rPr>
              <a:t>No source</a:t>
            </a:r>
            <a:endParaRPr lang="en-US" sz="900" dirty="0"/>
          </a:p>
        </p:txBody>
      </p:sp>
      <p:sp>
        <p:nvSpPr>
          <p:cNvPr id="26" name="Text 12">
            <a:extLst>
              <a:ext uri="{FF2B5EF4-FFF2-40B4-BE49-F238E27FC236}">
                <a16:creationId xmlns:a16="http://schemas.microsoft.com/office/drawing/2014/main" id="{B54F5FEA-09CC-DF01-4CFF-887FC2D4E821}"/>
              </a:ext>
            </a:extLst>
          </p:cNvPr>
          <p:cNvSpPr txBox="1"/>
          <p:nvPr/>
        </p:nvSpPr>
        <p:spPr>
          <a:xfrm>
            <a:off x="9098280" y="5582671"/>
            <a:ext cx="2788920" cy="237744"/>
          </a:xfrm>
          <a:prstGeom prst="rect">
            <a:avLst/>
          </a:prstGeom>
          <a:noFill/>
          <a:ln/>
        </p:spPr>
        <p:txBody>
          <a:bodyPr wrap="square" lIns="0" tIns="0" rIns="0" bIns="0" rtlCol="0" anchor="ctr"/>
          <a:lstStyle/>
          <a:p>
            <a:pPr marL="0" indent="0">
              <a:buNone/>
            </a:pPr>
            <a:r>
              <a:rPr lang="en-US" sz="900" dirty="0">
                <a:solidFill>
                  <a:srgbClr val="6B7A90"/>
                </a:solidFill>
                <a:latin typeface="Calibri" pitchFamily="34" charset="0"/>
                <a:ea typeface="Calibri" pitchFamily="34" charset="-122"/>
                <a:cs typeface="Calibri" pitchFamily="34" charset="-120"/>
              </a:rPr>
              <a:t>Nothing available produces this</a:t>
            </a:r>
            <a:endParaRPr lang="en-US" sz="900" dirty="0"/>
          </a:p>
        </p:txBody>
      </p:sp>
      <p:sp>
        <p:nvSpPr>
          <p:cNvPr id="28" name="Text 0">
            <a:extLst>
              <a:ext uri="{FF2B5EF4-FFF2-40B4-BE49-F238E27FC236}">
                <a16:creationId xmlns:a16="http://schemas.microsoft.com/office/drawing/2014/main" id="{1AF28EA7-5C6E-549C-DE93-40AD8801928F}"/>
              </a:ext>
            </a:extLst>
          </p:cNvPr>
          <p:cNvSpPr txBox="1"/>
          <p:nvPr/>
        </p:nvSpPr>
        <p:spPr>
          <a:xfrm>
            <a:off x="325991" y="671322"/>
            <a:ext cx="11219688" cy="219456"/>
          </a:xfrm>
          <a:prstGeom prst="rect">
            <a:avLst/>
          </a:prstGeom>
          <a:noFill/>
          <a:ln/>
        </p:spPr>
        <p:txBody>
          <a:bodyPr wrap="square" lIns="0" tIns="0" rIns="0" bIns="0" rtlCol="0" anchor="ctr"/>
          <a:lstStyle/>
          <a:p>
            <a:r>
              <a:rPr lang="en-US" sz="1050" b="1" kern="0" spc="160" dirty="0">
                <a:solidFill>
                  <a:srgbClr val="6B7A90"/>
                </a:solidFill>
                <a:latin typeface="Calibri" pitchFamily="34" charset="0"/>
                <a:ea typeface="Calibri" pitchFamily="34" charset="-122"/>
                <a:cs typeface="Calibri" pitchFamily="34" charset="-120"/>
              </a:rPr>
              <a:t>WHAT EACH ITEM MEANS AND WHERE IT COMES FROM</a:t>
            </a:r>
            <a:endParaRPr lang="en-US" sz="1050" dirty="0"/>
          </a:p>
        </p:txBody>
      </p:sp>
    </p:spTree>
    <p:extLst>
      <p:ext uri="{BB962C8B-B14F-4D97-AF65-F5344CB8AC3E}">
        <p14:creationId xmlns:p14="http://schemas.microsoft.com/office/powerpoint/2010/main" val="12968082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B9C38-40B8-532F-A077-AD3C6113F35B}"/>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FB83325B-B027-D138-41B8-BECE19A209AE}"/>
              </a:ext>
            </a:extLst>
          </p:cNvPr>
          <p:cNvSpPr/>
          <p:nvPr/>
        </p:nvSpPr>
        <p:spPr>
          <a:xfrm>
            <a:off x="325991" y="49059"/>
            <a:ext cx="11216640" cy="658368"/>
          </a:xfrm>
          <a:prstGeom prst="rect">
            <a:avLst/>
          </a:prstGeom>
          <a:noFill/>
          <a:ln/>
        </p:spPr>
        <p:txBody>
          <a:bodyPr wrap="square" lIns="0" tIns="0" rIns="0" bIns="0" rtlCol="0" anchor="ctr"/>
          <a:lstStyle/>
          <a:p>
            <a:r>
              <a:rPr lang="en-US" sz="3600" b="1" dirty="0">
                <a:solidFill>
                  <a:srgbClr val="44546A"/>
                </a:solidFill>
                <a:latin typeface="Cambria" pitchFamily="34" charset="0"/>
                <a:ea typeface="Cambria" pitchFamily="34" charset="-122"/>
                <a:cs typeface="Cambria" pitchFamily="34" charset="-120"/>
              </a:rPr>
              <a:t>Department Insights: sites, visits and libraries</a:t>
            </a:r>
            <a:endParaRPr lang="en-US" sz="3600" dirty="0"/>
          </a:p>
        </p:txBody>
      </p:sp>
      <p:graphicFrame>
        <p:nvGraphicFramePr>
          <p:cNvPr id="3" name="Table 0">
            <a:extLst>
              <a:ext uri="{FF2B5EF4-FFF2-40B4-BE49-F238E27FC236}">
                <a16:creationId xmlns:a16="http://schemas.microsoft.com/office/drawing/2014/main" id="{24562BBF-4706-EFCD-3068-FECFCBBBFD66}"/>
              </a:ext>
            </a:extLst>
          </p:cNvPr>
          <p:cNvGraphicFramePr>
            <a:graphicFrameLocks noGrp="1"/>
          </p:cNvGraphicFramePr>
          <p:nvPr>
            <p:extLst>
              <p:ext uri="{D42A27DB-BD31-4B8C-83A1-F6EECF244321}">
                <p14:modId xmlns:p14="http://schemas.microsoft.com/office/powerpoint/2010/main" val="3507338318"/>
              </p:ext>
            </p:extLst>
          </p:nvPr>
        </p:nvGraphicFramePr>
        <p:xfrm>
          <a:off x="678036" y="1652355"/>
          <a:ext cx="11091672" cy="2377440"/>
        </p:xfrm>
        <a:graphic>
          <a:graphicData uri="http://schemas.openxmlformats.org/drawingml/2006/table">
            <a:tbl>
              <a:tblPr/>
              <a:tblGrid>
                <a:gridCol w="233172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3913632">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tblGrid>
              <a:tr h="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Your term</a:t>
                      </a:r>
                      <a:endParaRPr lang="en-US" sz="10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What it counts</a:t>
                      </a:r>
                      <a:endParaRPr lang="en-US" sz="10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Source</a:t>
                      </a:r>
                      <a:endParaRPr lang="en-US" sz="10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Status</a:t>
                      </a:r>
                      <a:endParaRPr lang="en-US" sz="10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0">
                <a:tc>
                  <a:txBody>
                    <a:bodyPr/>
                    <a:lstStyle/>
                    <a:p>
                      <a:pPr marL="0" indent="0">
                        <a:buNone/>
                      </a:pPr>
                      <a:r>
                        <a:rPr lang="en-US" sz="950" b="1" dirty="0">
                          <a:solidFill>
                            <a:srgbClr val="333F50"/>
                          </a:solidFill>
                          <a:latin typeface="Calibri" pitchFamily="34" charset="0"/>
                          <a:ea typeface="Calibri" pitchFamily="34" charset="-122"/>
                          <a:cs typeface="Calibri" pitchFamily="34" charset="-120"/>
                        </a:rPr>
                        <a:t>Name of sites, site owners</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buNone/>
                      </a:pPr>
                      <a:r>
                        <a:rPr lang="en-US" sz="950" dirty="0">
                          <a:solidFill>
                            <a:srgbClr val="333F50"/>
                          </a:solidFill>
                          <a:latin typeface="Calibri" pitchFamily="34" charset="0"/>
                          <a:ea typeface="Calibri" pitchFamily="34" charset="-122"/>
                          <a:cs typeface="Calibri" pitchFamily="34" charset="-120"/>
                        </a:rPr>
                        <a:t>Each site the unit owns and who owns it</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buNone/>
                      </a:pPr>
                      <a:r>
                        <a:rPr lang="en-US" sz="950" dirty="0">
                          <a:solidFill>
                            <a:srgbClr val="333F50"/>
                          </a:solidFill>
                          <a:latin typeface="Calibri" pitchFamily="34" charset="0"/>
                          <a:ea typeface="Calibri" pitchFamily="34" charset="-122"/>
                          <a:cs typeface="Calibri" pitchFamily="34" charset="-120"/>
                        </a:rPr>
                        <a:t>Cloud Governance</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lgn="ctr">
                        <a:buNone/>
                      </a:pPr>
                      <a:r>
                        <a:rPr lang="en-US" sz="950" b="1" dirty="0">
                          <a:solidFill>
                            <a:srgbClr val="1F6B3B"/>
                          </a:solidFill>
                          <a:latin typeface="Calibri" pitchFamily="34" charset="0"/>
                          <a:ea typeface="Calibri" pitchFamily="34" charset="-122"/>
                          <a:cs typeface="Calibri" pitchFamily="34" charset="-120"/>
                        </a:rPr>
                        <a:t>Available</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extLst>
                  <a:ext uri="{0D108BD9-81ED-4DB2-BD59-A6C34878D82A}">
                    <a16:rowId xmlns:a16="http://schemas.microsoft.com/office/drawing/2014/main" val="10001"/>
                  </a:ext>
                </a:extLst>
              </a:tr>
              <a:tr h="0">
                <a:tc>
                  <a:txBody>
                    <a:bodyPr/>
                    <a:lstStyle/>
                    <a:p>
                      <a:pPr marL="0" indent="0">
                        <a:buNone/>
                      </a:pPr>
                      <a:r>
                        <a:rPr lang="en-US" sz="950" b="1" dirty="0">
                          <a:solidFill>
                            <a:srgbClr val="333F50"/>
                          </a:solidFill>
                          <a:latin typeface="Calibri" pitchFamily="34" charset="0"/>
                          <a:ea typeface="Calibri" pitchFamily="34" charset="-122"/>
                          <a:cs typeface="Calibri" pitchFamily="34" charset="-120"/>
                        </a:rPr>
                        <a:t>Number of documents per site</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buNone/>
                      </a:pPr>
                      <a:r>
                        <a:rPr lang="en-US" sz="950" dirty="0">
                          <a:solidFill>
                            <a:srgbClr val="333F50"/>
                          </a:solidFill>
                          <a:latin typeface="Calibri" pitchFamily="34" charset="0"/>
                          <a:ea typeface="Calibri" pitchFamily="34" charset="-122"/>
                          <a:cs typeface="Calibri" pitchFamily="34" charset="-120"/>
                        </a:rPr>
                        <a:t>File count for that site</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buNone/>
                      </a:pPr>
                      <a:r>
                        <a:rPr lang="en-US" sz="950" dirty="0">
                          <a:solidFill>
                            <a:srgbClr val="333F50"/>
                          </a:solidFill>
                          <a:latin typeface="Calibri" pitchFamily="34" charset="0"/>
                          <a:ea typeface="Calibri" pitchFamily="34" charset="-122"/>
                          <a:cs typeface="Calibri" pitchFamily="34" charset="-120"/>
                        </a:rPr>
                        <a:t>SharePoint site usage</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lgn="ctr">
                        <a:buNone/>
                      </a:pPr>
                      <a:r>
                        <a:rPr lang="en-US" sz="950" b="1" dirty="0">
                          <a:solidFill>
                            <a:srgbClr val="1F6B3B"/>
                          </a:solidFill>
                          <a:latin typeface="Calibri" pitchFamily="34" charset="0"/>
                          <a:ea typeface="Calibri" pitchFamily="34" charset="-122"/>
                          <a:cs typeface="Calibri" pitchFamily="34" charset="-120"/>
                        </a:rPr>
                        <a:t>Available</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extLst>
                  <a:ext uri="{0D108BD9-81ED-4DB2-BD59-A6C34878D82A}">
                    <a16:rowId xmlns:a16="http://schemas.microsoft.com/office/drawing/2014/main" val="10002"/>
                  </a:ext>
                </a:extLst>
              </a:tr>
              <a:tr h="0">
                <a:tc>
                  <a:txBody>
                    <a:bodyPr/>
                    <a:lstStyle/>
                    <a:p>
                      <a:pPr marL="0" indent="0">
                        <a:buNone/>
                      </a:pPr>
                      <a:r>
                        <a:rPr lang="en-US" sz="950" b="1" dirty="0">
                          <a:solidFill>
                            <a:srgbClr val="333F50"/>
                          </a:solidFill>
                          <a:latin typeface="Calibri" pitchFamily="34" charset="0"/>
                          <a:ea typeface="Calibri" pitchFamily="34" charset="-122"/>
                          <a:cs typeface="Calibri" pitchFamily="34" charset="-120"/>
                        </a:rPr>
                        <a:t>Number of records, counterparts</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buNone/>
                      </a:pPr>
                      <a:r>
                        <a:rPr lang="en-US" sz="950" dirty="0">
                          <a:solidFill>
                            <a:srgbClr val="333F50"/>
                          </a:solidFill>
                          <a:latin typeface="Calibri" pitchFamily="34" charset="0"/>
                          <a:ea typeface="Calibri" pitchFamily="34" charset="-122"/>
                          <a:cs typeface="Calibri" pitchFamily="34" charset="-120"/>
                        </a:rPr>
                        <a:t>Declared records and paper counterparts per site</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buNone/>
                      </a:pPr>
                      <a:r>
                        <a:rPr lang="en-US" sz="950" dirty="0">
                          <a:solidFill>
                            <a:srgbClr val="333F50"/>
                          </a:solidFill>
                          <a:latin typeface="Calibri" pitchFamily="34" charset="0"/>
                          <a:ea typeface="Calibri" pitchFamily="34" charset="-122"/>
                          <a:cs typeface="Calibri" pitchFamily="34" charset="-120"/>
                        </a:rPr>
                        <a:t>EDRMS database</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lgn="ctr">
                        <a:buNone/>
                      </a:pPr>
                      <a:r>
                        <a:rPr lang="en-US" sz="950" b="1" dirty="0">
                          <a:solidFill>
                            <a:srgbClr val="1F6B3B"/>
                          </a:solidFill>
                          <a:latin typeface="Calibri" pitchFamily="34" charset="0"/>
                          <a:ea typeface="Calibri" pitchFamily="34" charset="-122"/>
                          <a:cs typeface="Calibri" pitchFamily="34" charset="-120"/>
                        </a:rPr>
                        <a:t>Available</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extLst>
                  <a:ext uri="{0D108BD9-81ED-4DB2-BD59-A6C34878D82A}">
                    <a16:rowId xmlns:a16="http://schemas.microsoft.com/office/drawing/2014/main" val="10003"/>
                  </a:ext>
                </a:extLst>
              </a:tr>
              <a:tr h="0">
                <a:tc>
                  <a:txBody>
                    <a:bodyPr/>
                    <a:lstStyle/>
                    <a:p>
                      <a:pPr marL="0" indent="0">
                        <a:buNone/>
                      </a:pPr>
                      <a:r>
                        <a:rPr lang="en-US" sz="950" b="1" dirty="0">
                          <a:solidFill>
                            <a:srgbClr val="333F50"/>
                          </a:solidFill>
                          <a:latin typeface="Calibri" pitchFamily="34" charset="0"/>
                          <a:ea typeface="Calibri" pitchFamily="34" charset="-122"/>
                          <a:cs typeface="Calibri" pitchFamily="34" charset="-120"/>
                        </a:rPr>
                        <a:t>Page views, visited pages</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buNone/>
                      </a:pPr>
                      <a:r>
                        <a:rPr lang="en-US" sz="950" dirty="0">
                          <a:solidFill>
                            <a:srgbClr val="333F50"/>
                          </a:solidFill>
                          <a:latin typeface="Calibri" pitchFamily="34" charset="0"/>
                          <a:ea typeface="Calibri" pitchFamily="34" charset="-122"/>
                          <a:cs typeface="Calibri" pitchFamily="34" charset="-120"/>
                        </a:rPr>
                        <a:t>Visit activity per site in the window</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buNone/>
                      </a:pPr>
                      <a:r>
                        <a:rPr lang="en-US" sz="950" dirty="0">
                          <a:solidFill>
                            <a:srgbClr val="333F50"/>
                          </a:solidFill>
                          <a:latin typeface="Calibri" pitchFamily="34" charset="0"/>
                          <a:ea typeface="Calibri" pitchFamily="34" charset="-122"/>
                          <a:cs typeface="Calibri" pitchFamily="34" charset="-120"/>
                        </a:rPr>
                        <a:t>SharePoint site usage, 7 to 180 days</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lgn="ctr">
                        <a:buNone/>
                      </a:pPr>
                      <a:r>
                        <a:rPr lang="en-US" sz="950" b="1" dirty="0">
                          <a:solidFill>
                            <a:srgbClr val="1F6B3B"/>
                          </a:solidFill>
                          <a:latin typeface="Calibri" pitchFamily="34" charset="0"/>
                          <a:ea typeface="Calibri" pitchFamily="34" charset="-122"/>
                          <a:cs typeface="Calibri" pitchFamily="34" charset="-120"/>
                        </a:rPr>
                        <a:t>Available</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extLst>
                  <a:ext uri="{0D108BD9-81ED-4DB2-BD59-A6C34878D82A}">
                    <a16:rowId xmlns:a16="http://schemas.microsoft.com/office/drawing/2014/main" val="10004"/>
                  </a:ext>
                </a:extLst>
              </a:tr>
              <a:tr h="0">
                <a:tc>
                  <a:txBody>
                    <a:bodyPr/>
                    <a:lstStyle/>
                    <a:p>
                      <a:pPr marL="0" indent="0">
                        <a:buNone/>
                      </a:pPr>
                      <a:r>
                        <a:rPr lang="en-US" sz="950" b="1" dirty="0">
                          <a:solidFill>
                            <a:srgbClr val="333F50"/>
                          </a:solidFill>
                          <a:latin typeface="Calibri" pitchFamily="34" charset="0"/>
                          <a:ea typeface="Calibri" pitchFamily="34" charset="-122"/>
                          <a:cs typeface="Calibri" pitchFamily="34" charset="-120"/>
                        </a:rPr>
                        <a:t>Visitors internal and external</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marL="0" indent="0">
                        <a:buNone/>
                      </a:pPr>
                      <a:r>
                        <a:rPr lang="en-US" sz="950" dirty="0">
                          <a:solidFill>
                            <a:srgbClr val="333F50"/>
                          </a:solidFill>
                          <a:latin typeface="Calibri" pitchFamily="34" charset="0"/>
                          <a:ea typeface="Calibri" pitchFamily="34" charset="-122"/>
                          <a:cs typeface="Calibri" pitchFamily="34" charset="-120"/>
                        </a:rPr>
                        <a:t>Visits split by where the person comes from</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marL="0" indent="0">
                        <a:buNone/>
                      </a:pPr>
                      <a:r>
                        <a:rPr lang="en-US" sz="950" dirty="0">
                          <a:solidFill>
                            <a:srgbClr val="333F50"/>
                          </a:solidFill>
                          <a:latin typeface="Calibri" pitchFamily="34" charset="0"/>
                          <a:ea typeface="Calibri" pitchFamily="34" charset="-122"/>
                          <a:cs typeface="Calibri" pitchFamily="34" charset="-120"/>
                        </a:rPr>
                        <a:t>No available report splits this</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marL="0" indent="0" algn="ctr">
                        <a:buNone/>
                      </a:pPr>
                      <a:r>
                        <a:rPr lang="en-US" sz="950" b="1" dirty="0">
                          <a:solidFill>
                            <a:srgbClr val="9C2B2B"/>
                          </a:solidFill>
                          <a:latin typeface="Calibri" pitchFamily="34" charset="0"/>
                          <a:ea typeface="Calibri" pitchFamily="34" charset="-122"/>
                          <a:cs typeface="Calibri" pitchFamily="34" charset="-120"/>
                        </a:rPr>
                        <a:t>No source</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extLst>
                  <a:ext uri="{0D108BD9-81ED-4DB2-BD59-A6C34878D82A}">
                    <a16:rowId xmlns:a16="http://schemas.microsoft.com/office/drawing/2014/main" val="10005"/>
                  </a:ext>
                </a:extLst>
              </a:tr>
              <a:tr h="0">
                <a:tc>
                  <a:txBody>
                    <a:bodyPr/>
                    <a:lstStyle/>
                    <a:p>
                      <a:pPr marL="0" indent="0">
                        <a:buNone/>
                      </a:pPr>
                      <a:r>
                        <a:rPr lang="en-US" sz="950" b="1" dirty="0">
                          <a:solidFill>
                            <a:srgbClr val="333F50"/>
                          </a:solidFill>
                          <a:latin typeface="Calibri" pitchFamily="34" charset="0"/>
                          <a:ea typeface="Calibri" pitchFamily="34" charset="-122"/>
                          <a:cs typeface="Calibri" pitchFamily="34" charset="-120"/>
                        </a:rPr>
                        <a:t>Access requests granted, denied</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950" dirty="0">
                          <a:solidFill>
                            <a:srgbClr val="333F50"/>
                          </a:solidFill>
                          <a:latin typeface="Calibri" pitchFamily="34" charset="0"/>
                          <a:ea typeface="Calibri" pitchFamily="34" charset="-122"/>
                          <a:cs typeface="Calibri" pitchFamily="34" charset="-120"/>
                        </a:rPr>
                        <a:t>Requests to join a site and their outcome</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950" dirty="0">
                          <a:solidFill>
                            <a:srgbClr val="333F50"/>
                          </a:solidFill>
                          <a:latin typeface="Calibri" pitchFamily="34" charset="0"/>
                          <a:ea typeface="Calibri" pitchFamily="34" charset="-122"/>
                          <a:cs typeface="Calibri" pitchFamily="34" charset="-120"/>
                        </a:rPr>
                        <a:t>Site access request summary page, to be confirmed</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lgn="ctr">
                        <a:buNone/>
                      </a:pPr>
                      <a:r>
                        <a:rPr lang="en-US" sz="950" b="1" dirty="0">
                          <a:solidFill>
                            <a:srgbClr val="8A5A00"/>
                          </a:solidFill>
                          <a:latin typeface="Calibri" pitchFamily="34" charset="0"/>
                          <a:ea typeface="Calibri" pitchFamily="34" charset="-122"/>
                          <a:cs typeface="Calibri" pitchFamily="34" charset="-120"/>
                        </a:rPr>
                        <a:t>Define</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extLst>
                  <a:ext uri="{0D108BD9-81ED-4DB2-BD59-A6C34878D82A}">
                    <a16:rowId xmlns:a16="http://schemas.microsoft.com/office/drawing/2014/main" val="10006"/>
                  </a:ext>
                </a:extLst>
              </a:tr>
              <a:tr h="0">
                <a:tc>
                  <a:txBody>
                    <a:bodyPr/>
                    <a:lstStyle/>
                    <a:p>
                      <a:pPr marL="0" indent="0">
                        <a:buNone/>
                      </a:pPr>
                      <a:r>
                        <a:rPr lang="en-US" sz="950" b="1" dirty="0">
                          <a:solidFill>
                            <a:srgbClr val="333F50"/>
                          </a:solidFill>
                          <a:latin typeface="Calibri" pitchFamily="34" charset="0"/>
                          <a:ea typeface="Calibri" pitchFamily="34" charset="-122"/>
                          <a:cs typeface="Calibri" pitchFamily="34" charset="-120"/>
                        </a:rPr>
                        <a:t>Library names</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buNone/>
                      </a:pPr>
                      <a:r>
                        <a:rPr lang="en-US" sz="950" dirty="0">
                          <a:solidFill>
                            <a:srgbClr val="333F50"/>
                          </a:solidFill>
                          <a:latin typeface="Calibri" pitchFamily="34" charset="0"/>
                          <a:ea typeface="Calibri" pitchFamily="34" charset="-122"/>
                          <a:cs typeface="Calibri" pitchFamily="34" charset="-120"/>
                        </a:rPr>
                        <a:t>Libraries inside each site</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buNone/>
                      </a:pPr>
                      <a:r>
                        <a:rPr lang="en-US" sz="950" dirty="0">
                          <a:solidFill>
                            <a:srgbClr val="333F50"/>
                          </a:solidFill>
                          <a:latin typeface="Calibri" pitchFamily="34" charset="0"/>
                          <a:ea typeface="Calibri" pitchFamily="34" charset="-122"/>
                          <a:cs typeface="Calibri" pitchFamily="34" charset="-120"/>
                        </a:rPr>
                        <a:t>ITD lookup file</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lgn="ctr">
                        <a:buNone/>
                      </a:pPr>
                      <a:r>
                        <a:rPr lang="en-US" sz="950" b="1" dirty="0">
                          <a:solidFill>
                            <a:srgbClr val="1F6B3B"/>
                          </a:solidFill>
                          <a:latin typeface="Calibri" pitchFamily="34" charset="0"/>
                          <a:ea typeface="Calibri" pitchFamily="34" charset="-122"/>
                          <a:cs typeface="Calibri" pitchFamily="34" charset="-120"/>
                        </a:rPr>
                        <a:t>Available</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extLst>
                  <a:ext uri="{0D108BD9-81ED-4DB2-BD59-A6C34878D82A}">
                    <a16:rowId xmlns:a16="http://schemas.microsoft.com/office/drawing/2014/main" val="10007"/>
                  </a:ext>
                </a:extLst>
              </a:tr>
              <a:tr h="0">
                <a:tc>
                  <a:txBody>
                    <a:bodyPr/>
                    <a:lstStyle/>
                    <a:p>
                      <a:pPr marL="0" indent="0">
                        <a:buNone/>
                      </a:pPr>
                      <a:r>
                        <a:rPr lang="en-US" sz="950" b="1" dirty="0">
                          <a:solidFill>
                            <a:srgbClr val="333F50"/>
                          </a:solidFill>
                          <a:latin typeface="Calibri" pitchFamily="34" charset="0"/>
                          <a:ea typeface="Calibri" pitchFamily="34" charset="-122"/>
                          <a:cs typeface="Calibri" pitchFamily="34" charset="-120"/>
                        </a:rPr>
                        <a:t>Number of documents per library</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marL="0" indent="0">
                        <a:buNone/>
                      </a:pPr>
                      <a:r>
                        <a:rPr lang="en-US" sz="950" dirty="0">
                          <a:solidFill>
                            <a:srgbClr val="333F50"/>
                          </a:solidFill>
                          <a:latin typeface="Calibri" pitchFamily="34" charset="0"/>
                          <a:ea typeface="Calibri" pitchFamily="34" charset="-122"/>
                          <a:cs typeface="Calibri" pitchFamily="34" charset="-120"/>
                        </a:rPr>
                        <a:t>Documents inside each library</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marL="0" indent="0">
                        <a:buNone/>
                      </a:pPr>
                      <a:r>
                        <a:rPr lang="en-US" sz="950" dirty="0">
                          <a:solidFill>
                            <a:srgbClr val="333F50"/>
                          </a:solidFill>
                          <a:latin typeface="Calibri" pitchFamily="34" charset="0"/>
                          <a:ea typeface="Calibri" pitchFamily="34" charset="-122"/>
                          <a:cs typeface="Calibri" pitchFamily="34" charset="-120"/>
                        </a:rPr>
                        <a:t>Needs a document level scan. Nothing reports below site level today.</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marL="0" indent="0" algn="ctr">
                        <a:buNone/>
                      </a:pPr>
                      <a:r>
                        <a:rPr lang="en-US" sz="950" b="1" dirty="0">
                          <a:solidFill>
                            <a:srgbClr val="9C2B2B"/>
                          </a:solidFill>
                          <a:latin typeface="Calibri" pitchFamily="34" charset="0"/>
                          <a:ea typeface="Calibri" pitchFamily="34" charset="-122"/>
                          <a:cs typeface="Calibri" pitchFamily="34" charset="-120"/>
                        </a:rPr>
                        <a:t>No source</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extLst>
                  <a:ext uri="{0D108BD9-81ED-4DB2-BD59-A6C34878D82A}">
                    <a16:rowId xmlns:a16="http://schemas.microsoft.com/office/drawing/2014/main" val="10008"/>
                  </a:ext>
                </a:extLst>
              </a:tr>
              <a:tr h="0">
                <a:tc>
                  <a:txBody>
                    <a:bodyPr/>
                    <a:lstStyle/>
                    <a:p>
                      <a:pPr marL="0" indent="0">
                        <a:buNone/>
                      </a:pPr>
                      <a:r>
                        <a:rPr lang="en-US" sz="950" b="1" dirty="0">
                          <a:solidFill>
                            <a:srgbClr val="333F50"/>
                          </a:solidFill>
                          <a:latin typeface="Calibri" pitchFamily="34" charset="0"/>
                          <a:ea typeface="Calibri" pitchFamily="34" charset="-122"/>
                          <a:cs typeface="Calibri" pitchFamily="34" charset="-120"/>
                        </a:rPr>
                        <a:t>Number of users per library</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marL="0" indent="0">
                        <a:buNone/>
                      </a:pPr>
                      <a:r>
                        <a:rPr lang="en-US" sz="950" dirty="0">
                          <a:solidFill>
                            <a:srgbClr val="333F50"/>
                          </a:solidFill>
                          <a:latin typeface="Calibri" pitchFamily="34" charset="0"/>
                          <a:ea typeface="Calibri" pitchFamily="34" charset="-122"/>
                          <a:cs typeface="Calibri" pitchFamily="34" charset="-120"/>
                        </a:rPr>
                        <a:t>People using each library</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marL="0" indent="0">
                        <a:buNone/>
                      </a:pPr>
                      <a:r>
                        <a:rPr lang="en-US" sz="950" dirty="0">
                          <a:solidFill>
                            <a:srgbClr val="333F50"/>
                          </a:solidFill>
                          <a:latin typeface="Calibri" pitchFamily="34" charset="0"/>
                          <a:ea typeface="Calibri" pitchFamily="34" charset="-122"/>
                          <a:cs typeface="Calibri" pitchFamily="34" charset="-120"/>
                        </a:rPr>
                        <a:t>No source will ever produce this. Activity is never reported per library.</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marL="0" indent="0" algn="ctr">
                        <a:buNone/>
                      </a:pPr>
                      <a:r>
                        <a:rPr lang="en-US" sz="950" b="1" dirty="0">
                          <a:solidFill>
                            <a:srgbClr val="9C2B2B"/>
                          </a:solidFill>
                          <a:latin typeface="Calibri" pitchFamily="34" charset="0"/>
                          <a:ea typeface="Calibri" pitchFamily="34" charset="-122"/>
                          <a:cs typeface="Calibri" pitchFamily="34" charset="-120"/>
                        </a:rPr>
                        <a:t>No source</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extLst>
                  <a:ext uri="{0D108BD9-81ED-4DB2-BD59-A6C34878D82A}">
                    <a16:rowId xmlns:a16="http://schemas.microsoft.com/office/drawing/2014/main" val="10009"/>
                  </a:ext>
                </a:extLst>
              </a:tr>
            </a:tbl>
          </a:graphicData>
        </a:graphic>
      </p:graphicFrame>
      <p:sp>
        <p:nvSpPr>
          <p:cNvPr id="6" name="Shape 2">
            <a:extLst>
              <a:ext uri="{FF2B5EF4-FFF2-40B4-BE49-F238E27FC236}">
                <a16:creationId xmlns:a16="http://schemas.microsoft.com/office/drawing/2014/main" id="{A97CC102-7BFF-D647-CA81-15111A5785A8}"/>
              </a:ext>
            </a:extLst>
          </p:cNvPr>
          <p:cNvSpPr/>
          <p:nvPr/>
        </p:nvSpPr>
        <p:spPr>
          <a:xfrm>
            <a:off x="678036" y="4631695"/>
            <a:ext cx="11091672" cy="658368"/>
          </a:xfrm>
          <a:prstGeom prst="roundRect">
            <a:avLst>
              <a:gd name="adj" fmla="val 8333"/>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8" name="Text 3">
            <a:extLst>
              <a:ext uri="{FF2B5EF4-FFF2-40B4-BE49-F238E27FC236}">
                <a16:creationId xmlns:a16="http://schemas.microsoft.com/office/drawing/2014/main" id="{39D2669A-9A60-6E41-C83C-FC5462DD107B}"/>
              </a:ext>
            </a:extLst>
          </p:cNvPr>
          <p:cNvSpPr txBox="1"/>
          <p:nvPr/>
        </p:nvSpPr>
        <p:spPr>
          <a:xfrm>
            <a:off x="998076" y="4759711"/>
            <a:ext cx="10424160" cy="402336"/>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Worth a decision now:  </a:t>
            </a:r>
            <a:r>
              <a:rPr lang="en-US" sz="1150" dirty="0">
                <a:solidFill>
                  <a:srgbClr val="333F50"/>
                </a:solidFill>
                <a:latin typeface="Calibri" pitchFamily="34" charset="0"/>
                <a:ea typeface="Calibri" pitchFamily="34" charset="-122"/>
                <a:cs typeface="Calibri" pitchFamily="34" charset="-120"/>
              </a:rPr>
              <a:t>users per library cannot be produced by any source, now or later. We suggest dropping it rather than leaving it open.</a:t>
            </a:r>
            <a:endParaRPr lang="en-US" sz="1150" dirty="0"/>
          </a:p>
        </p:txBody>
      </p:sp>
      <p:sp>
        <p:nvSpPr>
          <p:cNvPr id="10" name="Shape 4">
            <a:extLst>
              <a:ext uri="{FF2B5EF4-FFF2-40B4-BE49-F238E27FC236}">
                <a16:creationId xmlns:a16="http://schemas.microsoft.com/office/drawing/2014/main" id="{DC20D2D4-A4F3-2FDE-9924-58CC303470A2}"/>
              </a:ext>
            </a:extLst>
          </p:cNvPr>
          <p:cNvSpPr/>
          <p:nvPr/>
        </p:nvSpPr>
        <p:spPr>
          <a:xfrm>
            <a:off x="678036" y="5491231"/>
            <a:ext cx="868680" cy="237744"/>
          </a:xfrm>
          <a:prstGeom prst="roundRect">
            <a:avLst>
              <a:gd name="adj" fmla="val 19231"/>
            </a:avLst>
          </a:prstGeom>
          <a:solidFill>
            <a:srgbClr val="DCEDE2"/>
          </a:solidFill>
          <a:ln w="9525">
            <a:solidFill>
              <a:srgbClr val="1F6B3B"/>
            </a:solidFill>
            <a:prstDash val="solid"/>
          </a:ln>
        </p:spPr>
        <p:txBody>
          <a:bodyPr/>
          <a:lstStyle/>
          <a:p>
            <a:endParaRPr lang="en-PH"/>
          </a:p>
        </p:txBody>
      </p:sp>
      <p:sp>
        <p:nvSpPr>
          <p:cNvPr id="12" name="Text 5">
            <a:extLst>
              <a:ext uri="{FF2B5EF4-FFF2-40B4-BE49-F238E27FC236}">
                <a16:creationId xmlns:a16="http://schemas.microsoft.com/office/drawing/2014/main" id="{B5E3CB45-7E23-052B-7CD5-3B52C25FF83F}"/>
              </a:ext>
            </a:extLst>
          </p:cNvPr>
          <p:cNvSpPr txBox="1"/>
          <p:nvPr/>
        </p:nvSpPr>
        <p:spPr>
          <a:xfrm>
            <a:off x="678036" y="5491231"/>
            <a:ext cx="868680" cy="237744"/>
          </a:xfrm>
          <a:prstGeom prst="rect">
            <a:avLst/>
          </a:prstGeom>
          <a:noFill/>
          <a:ln/>
        </p:spPr>
        <p:txBody>
          <a:bodyPr wrap="square" lIns="0" tIns="0" rIns="0" bIns="0" rtlCol="0" anchor="ctr"/>
          <a:lstStyle/>
          <a:p>
            <a:pPr marL="0" indent="0" algn="ctr">
              <a:buNone/>
            </a:pPr>
            <a:r>
              <a:rPr lang="en-US" sz="900" b="1" dirty="0">
                <a:solidFill>
                  <a:srgbClr val="1F6B3B"/>
                </a:solidFill>
                <a:latin typeface="Calibri" pitchFamily="34" charset="0"/>
                <a:ea typeface="Calibri" pitchFamily="34" charset="-122"/>
                <a:cs typeface="Calibri" pitchFamily="34" charset="-120"/>
              </a:rPr>
              <a:t>Available</a:t>
            </a:r>
            <a:endParaRPr lang="en-US" sz="900" dirty="0"/>
          </a:p>
        </p:txBody>
      </p:sp>
      <p:sp>
        <p:nvSpPr>
          <p:cNvPr id="14" name="Text 6">
            <a:extLst>
              <a:ext uri="{FF2B5EF4-FFF2-40B4-BE49-F238E27FC236}">
                <a16:creationId xmlns:a16="http://schemas.microsoft.com/office/drawing/2014/main" id="{CF79F495-0C41-E25C-AD00-4F4CBB2B0D89}"/>
              </a:ext>
            </a:extLst>
          </p:cNvPr>
          <p:cNvSpPr txBox="1"/>
          <p:nvPr/>
        </p:nvSpPr>
        <p:spPr>
          <a:xfrm>
            <a:off x="1638156" y="5491231"/>
            <a:ext cx="2788920" cy="237744"/>
          </a:xfrm>
          <a:prstGeom prst="rect">
            <a:avLst/>
          </a:prstGeom>
          <a:noFill/>
          <a:ln/>
        </p:spPr>
        <p:txBody>
          <a:bodyPr wrap="square" lIns="0" tIns="0" rIns="0" bIns="0" rtlCol="0" anchor="ctr"/>
          <a:lstStyle/>
          <a:p>
            <a:pPr marL="0" indent="0">
              <a:buNone/>
            </a:pPr>
            <a:r>
              <a:rPr lang="en-US" sz="900" dirty="0">
                <a:solidFill>
                  <a:srgbClr val="6B7A90"/>
                </a:solidFill>
                <a:latin typeface="Calibri" pitchFamily="34" charset="0"/>
                <a:ea typeface="Calibri" pitchFamily="34" charset="-122"/>
                <a:cs typeface="Calibri" pitchFamily="34" charset="-120"/>
              </a:rPr>
              <a:t>Sourced and buildable today</a:t>
            </a:r>
            <a:endParaRPr lang="en-US" sz="900" dirty="0"/>
          </a:p>
        </p:txBody>
      </p:sp>
      <p:sp>
        <p:nvSpPr>
          <p:cNvPr id="16" name="Shape 7">
            <a:extLst>
              <a:ext uri="{FF2B5EF4-FFF2-40B4-BE49-F238E27FC236}">
                <a16:creationId xmlns:a16="http://schemas.microsoft.com/office/drawing/2014/main" id="{2C0E986C-75B9-7127-F36A-8D22B142C5D4}"/>
              </a:ext>
            </a:extLst>
          </p:cNvPr>
          <p:cNvSpPr/>
          <p:nvPr/>
        </p:nvSpPr>
        <p:spPr>
          <a:xfrm>
            <a:off x="4472796" y="5491231"/>
            <a:ext cx="868680" cy="237744"/>
          </a:xfrm>
          <a:prstGeom prst="roundRect">
            <a:avLst>
              <a:gd name="adj" fmla="val 19231"/>
            </a:avLst>
          </a:prstGeom>
          <a:solidFill>
            <a:srgbClr val="FBEFD4"/>
          </a:solidFill>
          <a:ln w="9525">
            <a:solidFill>
              <a:srgbClr val="8A5A00"/>
            </a:solidFill>
            <a:prstDash val="solid"/>
          </a:ln>
        </p:spPr>
        <p:txBody>
          <a:bodyPr/>
          <a:lstStyle/>
          <a:p>
            <a:endParaRPr lang="en-PH"/>
          </a:p>
        </p:txBody>
      </p:sp>
      <p:sp>
        <p:nvSpPr>
          <p:cNvPr id="18" name="Text 8">
            <a:extLst>
              <a:ext uri="{FF2B5EF4-FFF2-40B4-BE49-F238E27FC236}">
                <a16:creationId xmlns:a16="http://schemas.microsoft.com/office/drawing/2014/main" id="{2D9E1551-A7B6-F898-D7AD-20429935AB7A}"/>
              </a:ext>
            </a:extLst>
          </p:cNvPr>
          <p:cNvSpPr txBox="1"/>
          <p:nvPr/>
        </p:nvSpPr>
        <p:spPr>
          <a:xfrm>
            <a:off x="4472796" y="5491231"/>
            <a:ext cx="868680" cy="237744"/>
          </a:xfrm>
          <a:prstGeom prst="rect">
            <a:avLst/>
          </a:prstGeom>
          <a:noFill/>
          <a:ln/>
        </p:spPr>
        <p:txBody>
          <a:bodyPr wrap="square" lIns="0" tIns="0" rIns="0" bIns="0" rtlCol="0" anchor="ctr"/>
          <a:lstStyle/>
          <a:p>
            <a:pPr marL="0" indent="0" algn="ctr">
              <a:buNone/>
            </a:pPr>
            <a:r>
              <a:rPr lang="en-US" sz="900" b="1" dirty="0">
                <a:solidFill>
                  <a:srgbClr val="8A5A00"/>
                </a:solidFill>
                <a:latin typeface="Calibri" pitchFamily="34" charset="0"/>
                <a:ea typeface="Calibri" pitchFamily="34" charset="-122"/>
                <a:cs typeface="Calibri" pitchFamily="34" charset="-120"/>
              </a:rPr>
              <a:t>Define</a:t>
            </a:r>
            <a:endParaRPr lang="en-US" sz="900" dirty="0"/>
          </a:p>
        </p:txBody>
      </p:sp>
      <p:sp>
        <p:nvSpPr>
          <p:cNvPr id="20" name="Text 9">
            <a:extLst>
              <a:ext uri="{FF2B5EF4-FFF2-40B4-BE49-F238E27FC236}">
                <a16:creationId xmlns:a16="http://schemas.microsoft.com/office/drawing/2014/main" id="{610C7F13-4370-1B70-AA28-0A5C3676B01B}"/>
              </a:ext>
            </a:extLst>
          </p:cNvPr>
          <p:cNvSpPr txBox="1"/>
          <p:nvPr/>
        </p:nvSpPr>
        <p:spPr>
          <a:xfrm>
            <a:off x="5432916" y="5491231"/>
            <a:ext cx="2788920" cy="237744"/>
          </a:xfrm>
          <a:prstGeom prst="rect">
            <a:avLst/>
          </a:prstGeom>
          <a:noFill/>
          <a:ln/>
        </p:spPr>
        <p:txBody>
          <a:bodyPr wrap="square" lIns="0" tIns="0" rIns="0" bIns="0" rtlCol="0" anchor="ctr"/>
          <a:lstStyle/>
          <a:p>
            <a:pPr marL="0" indent="0">
              <a:buNone/>
            </a:pPr>
            <a:r>
              <a:rPr lang="en-US" sz="900" dirty="0">
                <a:solidFill>
                  <a:srgbClr val="6B7A90"/>
                </a:solidFill>
                <a:latin typeface="Calibri" pitchFamily="34" charset="0"/>
                <a:ea typeface="Calibri" pitchFamily="34" charset="-122"/>
                <a:cs typeface="Calibri" pitchFamily="34" charset="-120"/>
              </a:rPr>
              <a:t>Term is ambiguous. What it means changes the figure</a:t>
            </a:r>
            <a:endParaRPr lang="en-US" sz="900" dirty="0"/>
          </a:p>
        </p:txBody>
      </p:sp>
      <p:sp>
        <p:nvSpPr>
          <p:cNvPr id="22" name="Shape 10">
            <a:extLst>
              <a:ext uri="{FF2B5EF4-FFF2-40B4-BE49-F238E27FC236}">
                <a16:creationId xmlns:a16="http://schemas.microsoft.com/office/drawing/2014/main" id="{F42B3AE3-E7C3-BA4E-9143-19670B27F1B6}"/>
              </a:ext>
            </a:extLst>
          </p:cNvPr>
          <p:cNvSpPr/>
          <p:nvPr/>
        </p:nvSpPr>
        <p:spPr>
          <a:xfrm>
            <a:off x="8267556" y="5491231"/>
            <a:ext cx="868680" cy="237744"/>
          </a:xfrm>
          <a:prstGeom prst="roundRect">
            <a:avLst>
              <a:gd name="adj" fmla="val 19231"/>
            </a:avLst>
          </a:prstGeom>
          <a:solidFill>
            <a:srgbClr val="F7E0E0"/>
          </a:solidFill>
          <a:ln w="9525">
            <a:solidFill>
              <a:srgbClr val="9C2B2B"/>
            </a:solidFill>
            <a:prstDash val="solid"/>
          </a:ln>
        </p:spPr>
        <p:txBody>
          <a:bodyPr/>
          <a:lstStyle/>
          <a:p>
            <a:endParaRPr lang="en-PH"/>
          </a:p>
        </p:txBody>
      </p:sp>
      <p:sp>
        <p:nvSpPr>
          <p:cNvPr id="24" name="Text 11">
            <a:extLst>
              <a:ext uri="{FF2B5EF4-FFF2-40B4-BE49-F238E27FC236}">
                <a16:creationId xmlns:a16="http://schemas.microsoft.com/office/drawing/2014/main" id="{56682FEF-D79E-CE77-7023-44C22B03BED3}"/>
              </a:ext>
            </a:extLst>
          </p:cNvPr>
          <p:cNvSpPr txBox="1"/>
          <p:nvPr/>
        </p:nvSpPr>
        <p:spPr>
          <a:xfrm>
            <a:off x="8267556" y="5491231"/>
            <a:ext cx="868680" cy="237744"/>
          </a:xfrm>
          <a:prstGeom prst="rect">
            <a:avLst/>
          </a:prstGeom>
          <a:noFill/>
          <a:ln/>
        </p:spPr>
        <p:txBody>
          <a:bodyPr wrap="square" lIns="0" tIns="0" rIns="0" bIns="0" rtlCol="0" anchor="ctr"/>
          <a:lstStyle/>
          <a:p>
            <a:pPr marL="0" indent="0" algn="ctr">
              <a:buNone/>
            </a:pPr>
            <a:r>
              <a:rPr lang="en-US" sz="900" b="1" dirty="0">
                <a:solidFill>
                  <a:srgbClr val="9C2B2B"/>
                </a:solidFill>
                <a:latin typeface="Calibri" pitchFamily="34" charset="0"/>
                <a:ea typeface="Calibri" pitchFamily="34" charset="-122"/>
                <a:cs typeface="Calibri" pitchFamily="34" charset="-120"/>
              </a:rPr>
              <a:t>No source</a:t>
            </a:r>
            <a:endParaRPr lang="en-US" sz="900" dirty="0"/>
          </a:p>
        </p:txBody>
      </p:sp>
      <p:sp>
        <p:nvSpPr>
          <p:cNvPr id="26" name="Text 12">
            <a:extLst>
              <a:ext uri="{FF2B5EF4-FFF2-40B4-BE49-F238E27FC236}">
                <a16:creationId xmlns:a16="http://schemas.microsoft.com/office/drawing/2014/main" id="{16756DA5-B7E9-2443-5752-E8C4DAE9723C}"/>
              </a:ext>
            </a:extLst>
          </p:cNvPr>
          <p:cNvSpPr txBox="1"/>
          <p:nvPr/>
        </p:nvSpPr>
        <p:spPr>
          <a:xfrm>
            <a:off x="9227676" y="5491231"/>
            <a:ext cx="2788920" cy="237744"/>
          </a:xfrm>
          <a:prstGeom prst="rect">
            <a:avLst/>
          </a:prstGeom>
          <a:noFill/>
          <a:ln/>
        </p:spPr>
        <p:txBody>
          <a:bodyPr wrap="square" lIns="0" tIns="0" rIns="0" bIns="0" rtlCol="0" anchor="ctr"/>
          <a:lstStyle/>
          <a:p>
            <a:pPr marL="0" indent="0">
              <a:buNone/>
            </a:pPr>
            <a:r>
              <a:rPr lang="en-US" sz="900" dirty="0">
                <a:solidFill>
                  <a:srgbClr val="6B7A90"/>
                </a:solidFill>
                <a:latin typeface="Calibri" pitchFamily="34" charset="0"/>
                <a:ea typeface="Calibri" pitchFamily="34" charset="-122"/>
                <a:cs typeface="Calibri" pitchFamily="34" charset="-120"/>
              </a:rPr>
              <a:t>Nothing available produces this</a:t>
            </a:r>
            <a:endParaRPr lang="en-US" sz="900" dirty="0"/>
          </a:p>
        </p:txBody>
      </p:sp>
      <p:sp>
        <p:nvSpPr>
          <p:cNvPr id="30" name="Text 0">
            <a:extLst>
              <a:ext uri="{FF2B5EF4-FFF2-40B4-BE49-F238E27FC236}">
                <a16:creationId xmlns:a16="http://schemas.microsoft.com/office/drawing/2014/main" id="{CFF162F8-EE3A-2A4C-3B0D-7D546670ED15}"/>
              </a:ext>
            </a:extLst>
          </p:cNvPr>
          <p:cNvSpPr txBox="1"/>
          <p:nvPr/>
        </p:nvSpPr>
        <p:spPr>
          <a:xfrm>
            <a:off x="325991" y="671322"/>
            <a:ext cx="11219688" cy="219456"/>
          </a:xfrm>
          <a:prstGeom prst="rect">
            <a:avLst/>
          </a:prstGeom>
          <a:noFill/>
          <a:ln/>
        </p:spPr>
        <p:txBody>
          <a:bodyPr wrap="square" lIns="0" tIns="0" rIns="0" bIns="0" rtlCol="0" anchor="ctr"/>
          <a:lstStyle/>
          <a:p>
            <a:r>
              <a:rPr lang="en-US" sz="1050" b="1" kern="0" spc="160" dirty="0">
                <a:solidFill>
                  <a:srgbClr val="6B7A90"/>
                </a:solidFill>
                <a:latin typeface="Calibri" pitchFamily="34" charset="0"/>
                <a:ea typeface="Calibri" pitchFamily="34" charset="-122"/>
                <a:cs typeface="Calibri" pitchFamily="34" charset="-120"/>
              </a:rPr>
              <a:t>WHAT EACH ITEM MEANS AND WHERE IT COMES FROM</a:t>
            </a:r>
            <a:endParaRPr lang="en-US" sz="1050" dirty="0"/>
          </a:p>
        </p:txBody>
      </p:sp>
    </p:spTree>
    <p:extLst>
      <p:ext uri="{BB962C8B-B14F-4D97-AF65-F5344CB8AC3E}">
        <p14:creationId xmlns:p14="http://schemas.microsoft.com/office/powerpoint/2010/main" val="18825947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8C3A2-FF03-C55D-ABA6-3059F9357ECA}"/>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60ACFACE-554B-368C-2104-9EA8D78FD209}"/>
              </a:ext>
            </a:extLst>
          </p:cNvPr>
          <p:cNvSpPr/>
          <p:nvPr/>
        </p:nvSpPr>
        <p:spPr>
          <a:xfrm>
            <a:off x="325991" y="49059"/>
            <a:ext cx="11216640" cy="658368"/>
          </a:xfrm>
          <a:prstGeom prst="rect">
            <a:avLst/>
          </a:prstGeom>
          <a:noFill/>
          <a:ln/>
        </p:spPr>
        <p:txBody>
          <a:bodyPr wrap="square" lIns="0" tIns="0" rIns="0" bIns="0" rtlCol="0" anchor="ctr"/>
          <a:lstStyle/>
          <a:p>
            <a:r>
              <a:rPr lang="en-US" sz="3600" b="1" dirty="0">
                <a:solidFill>
                  <a:srgbClr val="44546A"/>
                </a:solidFill>
                <a:latin typeface="Cambria" pitchFamily="34" charset="0"/>
                <a:ea typeface="Cambria" pitchFamily="34" charset="-122"/>
                <a:cs typeface="Cambria" pitchFamily="34" charset="-120"/>
              </a:rPr>
              <a:t>Terminology to confirm</a:t>
            </a:r>
            <a:endParaRPr lang="en-US" sz="3600" dirty="0"/>
          </a:p>
        </p:txBody>
      </p:sp>
      <p:sp>
        <p:nvSpPr>
          <p:cNvPr id="3" name="Text 2">
            <a:extLst>
              <a:ext uri="{FF2B5EF4-FFF2-40B4-BE49-F238E27FC236}">
                <a16:creationId xmlns:a16="http://schemas.microsoft.com/office/drawing/2014/main" id="{78E7F3C6-0023-B6D3-B7CE-D8A3FE7EC78C}"/>
              </a:ext>
            </a:extLst>
          </p:cNvPr>
          <p:cNvSpPr txBox="1"/>
          <p:nvPr/>
        </p:nvSpPr>
        <p:spPr>
          <a:xfrm>
            <a:off x="548640" y="1298448"/>
            <a:ext cx="11091672" cy="274320"/>
          </a:xfrm>
          <a:prstGeom prst="rect">
            <a:avLst/>
          </a:prstGeom>
          <a:noFill/>
          <a:ln/>
        </p:spPr>
        <p:txBody>
          <a:bodyPr wrap="square" lIns="0" tIns="0" rIns="0" bIns="0" rtlCol="0" anchor="ctr"/>
          <a:lstStyle/>
          <a:p>
            <a:pPr marL="0" indent="0">
              <a:buNone/>
            </a:pPr>
            <a:r>
              <a:rPr lang="en-US" sz="1250" dirty="0">
                <a:solidFill>
                  <a:srgbClr val="333F50"/>
                </a:solidFill>
                <a:latin typeface="Calibri" pitchFamily="34" charset="0"/>
                <a:ea typeface="Calibri" pitchFamily="34" charset="-122"/>
                <a:cs typeface="Calibri" pitchFamily="34" charset="-120"/>
              </a:rPr>
              <a:t>Each of these reads more than one way. Which one you mean decides what the report counts.</a:t>
            </a:r>
            <a:endParaRPr lang="en-US" sz="1250" dirty="0"/>
          </a:p>
        </p:txBody>
      </p:sp>
      <p:graphicFrame>
        <p:nvGraphicFramePr>
          <p:cNvPr id="6" name="Table 0">
            <a:extLst>
              <a:ext uri="{FF2B5EF4-FFF2-40B4-BE49-F238E27FC236}">
                <a16:creationId xmlns:a16="http://schemas.microsoft.com/office/drawing/2014/main" id="{7438A313-2AE8-3F9A-EFBD-B0BE585A6352}"/>
              </a:ext>
            </a:extLst>
          </p:cNvPr>
          <p:cNvGraphicFramePr>
            <a:graphicFrameLocks noGrp="1"/>
          </p:cNvGraphicFramePr>
          <p:nvPr>
            <p:extLst>
              <p:ext uri="{D42A27DB-BD31-4B8C-83A1-F6EECF244321}">
                <p14:modId xmlns:p14="http://schemas.microsoft.com/office/powerpoint/2010/main" val="1575542035"/>
              </p:ext>
            </p:extLst>
          </p:nvPr>
        </p:nvGraphicFramePr>
        <p:xfrm>
          <a:off x="548640" y="1664208"/>
          <a:ext cx="11091672" cy="2659380"/>
        </p:xfrm>
        <a:graphic>
          <a:graphicData uri="http://schemas.openxmlformats.org/drawingml/2006/table">
            <a:tbl>
              <a:tblPr/>
              <a:tblGrid>
                <a:gridCol w="2240280">
                  <a:extLst>
                    <a:ext uri="{9D8B030D-6E8A-4147-A177-3AD203B41FA5}">
                      <a16:colId xmlns:a16="http://schemas.microsoft.com/office/drawing/2014/main" val="20000"/>
                    </a:ext>
                  </a:extLst>
                </a:gridCol>
                <a:gridCol w="5074920">
                  <a:extLst>
                    <a:ext uri="{9D8B030D-6E8A-4147-A177-3AD203B41FA5}">
                      <a16:colId xmlns:a16="http://schemas.microsoft.com/office/drawing/2014/main" val="20001"/>
                    </a:ext>
                  </a:extLst>
                </a:gridCol>
                <a:gridCol w="3776472">
                  <a:extLst>
                    <a:ext uri="{9D8B030D-6E8A-4147-A177-3AD203B41FA5}">
                      <a16:colId xmlns:a16="http://schemas.microsoft.com/office/drawing/2014/main" val="20002"/>
                    </a:ext>
                  </a:extLst>
                </a:gridCol>
              </a:tblGrid>
              <a:tr h="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Term</a:t>
                      </a:r>
                      <a:endParaRPr lang="en-US" sz="10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It could mean</a:t>
                      </a:r>
                      <a:endParaRPr lang="en-US" sz="10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Our proposal</a:t>
                      </a:r>
                      <a:endParaRPr lang="en-US" sz="10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EDRMS user</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Anyone with access to an EDRMS site  ·  anyone who used it  ·  anyone who declared a record</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Someone who declared a record. It is the only one countable today.</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extLst>
                  <a:ext uri="{0D108BD9-81ED-4DB2-BD59-A6C34878D82A}">
                    <a16:rowId xmlns:a16="http://schemas.microsoft.com/office/drawing/2014/main" val="10001"/>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Due for disposal</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Every record has a due date, so all of them are due eventually. In 30, 60, 90 days, or overdue?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Show it in windows: due within 30 days, 90 days and 12 months.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extLst>
                  <a:ext uri="{0D108BD9-81ED-4DB2-BD59-A6C34878D82A}">
                    <a16:rowId xmlns:a16="http://schemas.microsoft.com/office/drawing/2014/main" val="10002"/>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Never accessed</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Never at all  ·  not in the last 180 days, which is as far back as the report reaches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People with access to the site who have never opened it, from site permissions.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extLst>
                  <a:ext uri="{0D108BD9-81ED-4DB2-BD59-A6C34878D82A}">
                    <a16:rowId xmlns:a16="http://schemas.microsoft.com/office/drawing/2014/main" val="10003"/>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Department</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The HQ office only  ·  the whole department including its RMs, offices and divisions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Two levels: department, then division. Countries, RMs and offices are divisions.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extLst>
                  <a:ext uri="{0D108BD9-81ED-4DB2-BD59-A6C34878D82A}">
                    <a16:rowId xmlns:a16="http://schemas.microsoft.com/office/drawing/2014/main" val="10004"/>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Sites created, deleted, archived</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All SharePoint sites  ·  EDRMS compliant sites only</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EDRMS sites only. Confirmed in the workshop that the other sites stay out.</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extLst>
                  <a:ext uri="{0D108BD9-81ED-4DB2-BD59-A6C34878D82A}">
                    <a16:rowId xmlns:a16="http://schemas.microsoft.com/office/drawing/2014/main" val="10005"/>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Visitors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Distinct people who came  ·  the number of visits, which is what the report counts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Site visits, and label it that way.</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extLst>
                  <a:ext uri="{0D108BD9-81ED-4DB2-BD59-A6C34878D82A}">
                    <a16:rowId xmlns:a16="http://schemas.microsoft.com/office/drawing/2014/main" val="10006"/>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Users creating documents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People who created a document  ·  people who uploaded one  ·  both</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Needs your answer before it can be built either way.</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extLst>
                  <a:ext uri="{0D108BD9-81ED-4DB2-BD59-A6C34878D82A}">
                    <a16:rowId xmlns:a16="http://schemas.microsoft.com/office/drawing/2014/main" val="10007"/>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Unit</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Your own review asks what unit means in “clickable into that unit's dashboard”</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We read it as the department, office or RM on that row.</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extLst>
                  <a:ext uri="{0D108BD9-81ED-4DB2-BD59-A6C34878D82A}">
                    <a16:rowId xmlns:a16="http://schemas.microsoft.com/office/drawing/2014/main" val="10008"/>
                  </a:ext>
                </a:extLst>
              </a:tr>
            </a:tbl>
          </a:graphicData>
        </a:graphic>
      </p:graphicFrame>
      <p:sp>
        <p:nvSpPr>
          <p:cNvPr id="10" name="Text 0">
            <a:extLst>
              <a:ext uri="{FF2B5EF4-FFF2-40B4-BE49-F238E27FC236}">
                <a16:creationId xmlns:a16="http://schemas.microsoft.com/office/drawing/2014/main" id="{3026FBBE-1D86-B5DB-90D7-78597E7C8A3D}"/>
              </a:ext>
            </a:extLst>
          </p:cNvPr>
          <p:cNvSpPr txBox="1"/>
          <p:nvPr/>
        </p:nvSpPr>
        <p:spPr>
          <a:xfrm>
            <a:off x="370441" y="707427"/>
            <a:ext cx="11219688" cy="219456"/>
          </a:xfrm>
          <a:prstGeom prst="rect">
            <a:avLst/>
          </a:prstGeom>
          <a:noFill/>
          <a:ln/>
        </p:spPr>
        <p:txBody>
          <a:bodyPr wrap="square" lIns="0" tIns="0" rIns="0" bIns="0" rtlCol="0" anchor="ctr"/>
          <a:lstStyle/>
          <a:p>
            <a:r>
              <a:rPr lang="en-US" sz="1050" b="1" kern="0" spc="160" dirty="0">
                <a:solidFill>
                  <a:srgbClr val="6B7A90"/>
                </a:solidFill>
                <a:latin typeface="Calibri" pitchFamily="34" charset="0"/>
                <a:ea typeface="Calibri" pitchFamily="34" charset="-122"/>
                <a:cs typeface="Calibri" pitchFamily="34" charset="-120"/>
              </a:rPr>
              <a:t>WORDS THAT CHANGE THE FIGURE</a:t>
            </a:r>
            <a:endParaRPr lang="en-US" sz="1050" dirty="0"/>
          </a:p>
        </p:txBody>
      </p:sp>
    </p:spTree>
    <p:extLst>
      <p:ext uri="{BB962C8B-B14F-4D97-AF65-F5344CB8AC3E}">
        <p14:creationId xmlns:p14="http://schemas.microsoft.com/office/powerpoint/2010/main" val="4829631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C366D-E2EC-E9F8-593F-91D90A6A6E57}"/>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48374FB1-87B7-A706-3837-2CA33F450D55}"/>
              </a:ext>
            </a:extLst>
          </p:cNvPr>
          <p:cNvSpPr/>
          <p:nvPr/>
        </p:nvSpPr>
        <p:spPr>
          <a:xfrm>
            <a:off x="325991" y="49059"/>
            <a:ext cx="11216640" cy="658368"/>
          </a:xfrm>
          <a:prstGeom prst="rect">
            <a:avLst/>
          </a:prstGeom>
          <a:noFill/>
          <a:ln/>
        </p:spPr>
        <p:txBody>
          <a:bodyPr wrap="square" lIns="0" tIns="0" rIns="0" bIns="0" rtlCol="0" anchor="ctr"/>
          <a:lstStyle/>
          <a:p>
            <a:r>
              <a:rPr lang="en-US" sz="3600" b="1" dirty="0">
                <a:solidFill>
                  <a:srgbClr val="44546A"/>
                </a:solidFill>
                <a:latin typeface="Cambria" pitchFamily="34" charset="0"/>
                <a:ea typeface="Cambria" pitchFamily="34" charset="-122"/>
                <a:cs typeface="Cambria" pitchFamily="34" charset="-120"/>
              </a:rPr>
              <a:t>Next Steps</a:t>
            </a:r>
            <a:endParaRPr lang="en-US" sz="3600" dirty="0"/>
          </a:p>
        </p:txBody>
      </p:sp>
      <p:sp>
        <p:nvSpPr>
          <p:cNvPr id="3" name="Shape 2">
            <a:extLst>
              <a:ext uri="{FF2B5EF4-FFF2-40B4-BE49-F238E27FC236}">
                <a16:creationId xmlns:a16="http://schemas.microsoft.com/office/drawing/2014/main" id="{C3F07178-FA11-810F-63C2-6B731545FE24}"/>
              </a:ext>
            </a:extLst>
          </p:cNvPr>
          <p:cNvSpPr/>
          <p:nvPr/>
        </p:nvSpPr>
        <p:spPr>
          <a:xfrm>
            <a:off x="548640" y="989622"/>
            <a:ext cx="11091672" cy="859536"/>
          </a:xfrm>
          <a:prstGeom prst="roundRect">
            <a:avLst>
              <a:gd name="adj" fmla="val 6383"/>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6" name="Shape 3">
            <a:extLst>
              <a:ext uri="{FF2B5EF4-FFF2-40B4-BE49-F238E27FC236}">
                <a16:creationId xmlns:a16="http://schemas.microsoft.com/office/drawing/2014/main" id="{F50F5644-2635-44A5-68AF-A2AD2663A05F}"/>
              </a:ext>
            </a:extLst>
          </p:cNvPr>
          <p:cNvSpPr/>
          <p:nvPr/>
        </p:nvSpPr>
        <p:spPr>
          <a:xfrm>
            <a:off x="841248" y="1245654"/>
            <a:ext cx="347472" cy="347472"/>
          </a:xfrm>
          <a:prstGeom prst="ellipse">
            <a:avLst/>
          </a:prstGeom>
          <a:solidFill>
            <a:srgbClr val="1E2761"/>
          </a:solidFill>
          <a:ln/>
        </p:spPr>
        <p:txBody>
          <a:bodyPr/>
          <a:lstStyle/>
          <a:p>
            <a:endParaRPr lang="en-PH"/>
          </a:p>
        </p:txBody>
      </p:sp>
      <p:sp>
        <p:nvSpPr>
          <p:cNvPr id="8" name="Text 4">
            <a:extLst>
              <a:ext uri="{FF2B5EF4-FFF2-40B4-BE49-F238E27FC236}">
                <a16:creationId xmlns:a16="http://schemas.microsoft.com/office/drawing/2014/main" id="{A249D9F2-0074-651B-D445-9C0A92854FFE}"/>
              </a:ext>
            </a:extLst>
          </p:cNvPr>
          <p:cNvSpPr txBox="1"/>
          <p:nvPr/>
        </p:nvSpPr>
        <p:spPr>
          <a:xfrm>
            <a:off x="841248" y="124565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5">
            <a:extLst>
              <a:ext uri="{FF2B5EF4-FFF2-40B4-BE49-F238E27FC236}">
                <a16:creationId xmlns:a16="http://schemas.microsoft.com/office/drawing/2014/main" id="{8430A45C-2294-2598-B547-1CF26CBF3F9B}"/>
              </a:ext>
            </a:extLst>
          </p:cNvPr>
          <p:cNvSpPr txBox="1"/>
          <p:nvPr/>
        </p:nvSpPr>
        <p:spPr>
          <a:xfrm>
            <a:off x="1389888" y="989622"/>
            <a:ext cx="3977640" cy="859536"/>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RAC reviews the two MVP dashboards</a:t>
            </a:r>
            <a:endParaRPr lang="en-US" sz="1300" dirty="0"/>
          </a:p>
        </p:txBody>
      </p:sp>
      <p:sp>
        <p:nvSpPr>
          <p:cNvPr id="12" name="Text 6">
            <a:extLst>
              <a:ext uri="{FF2B5EF4-FFF2-40B4-BE49-F238E27FC236}">
                <a16:creationId xmlns:a16="http://schemas.microsoft.com/office/drawing/2014/main" id="{F3E29C87-0C16-6145-3112-BC8017B6B1A0}"/>
              </a:ext>
            </a:extLst>
          </p:cNvPr>
          <p:cNvSpPr txBox="1"/>
          <p:nvPr/>
        </p:nvSpPr>
        <p:spPr>
          <a:xfrm>
            <a:off x="5486400" y="989622"/>
            <a:ext cx="5897880" cy="859536"/>
          </a:xfrm>
          <a:prstGeom prst="rect">
            <a:avLst/>
          </a:prstGeom>
          <a:noFill/>
          <a:ln/>
        </p:spPr>
        <p:txBody>
          <a:bodyPr wrap="square" lIns="0" tIns="0" rIns="0" bIns="0" rtlCol="0" anchor="ctr"/>
          <a:lstStyle/>
          <a:p>
            <a:pPr marL="0" indent="0">
              <a:buNone/>
            </a:pPr>
            <a:r>
              <a:rPr lang="en-US" sz="1100" dirty="0">
                <a:solidFill>
                  <a:srgbClr val="333F50"/>
                </a:solidFill>
                <a:latin typeface="Calibri" pitchFamily="34" charset="0"/>
                <a:ea typeface="Calibri" pitchFamily="34" charset="-122"/>
                <a:cs typeface="Calibri" pitchFamily="34" charset="-120"/>
              </a:rPr>
              <a:t>The review pack lists every item with its source and what it costs to maintain. Comments go in the two response columns.</a:t>
            </a:r>
            <a:endParaRPr lang="en-US" sz="1100" dirty="0"/>
          </a:p>
        </p:txBody>
      </p:sp>
      <p:sp>
        <p:nvSpPr>
          <p:cNvPr id="14" name="Shape 7">
            <a:extLst>
              <a:ext uri="{FF2B5EF4-FFF2-40B4-BE49-F238E27FC236}">
                <a16:creationId xmlns:a16="http://schemas.microsoft.com/office/drawing/2014/main" id="{3208BDA0-956B-8478-990C-253B18C1F143}"/>
              </a:ext>
            </a:extLst>
          </p:cNvPr>
          <p:cNvSpPr/>
          <p:nvPr/>
        </p:nvSpPr>
        <p:spPr>
          <a:xfrm>
            <a:off x="548640" y="1922310"/>
            <a:ext cx="11091672" cy="859536"/>
          </a:xfrm>
          <a:prstGeom prst="roundRect">
            <a:avLst>
              <a:gd name="adj" fmla="val 6383"/>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16" name="Shape 8">
            <a:extLst>
              <a:ext uri="{FF2B5EF4-FFF2-40B4-BE49-F238E27FC236}">
                <a16:creationId xmlns:a16="http://schemas.microsoft.com/office/drawing/2014/main" id="{0E1AA0F5-F383-4A6B-A299-36214735E05F}"/>
              </a:ext>
            </a:extLst>
          </p:cNvPr>
          <p:cNvSpPr/>
          <p:nvPr/>
        </p:nvSpPr>
        <p:spPr>
          <a:xfrm>
            <a:off x="841248" y="2178342"/>
            <a:ext cx="347472" cy="347472"/>
          </a:xfrm>
          <a:prstGeom prst="ellipse">
            <a:avLst/>
          </a:prstGeom>
          <a:solidFill>
            <a:srgbClr val="1E2761"/>
          </a:solidFill>
          <a:ln/>
        </p:spPr>
        <p:txBody>
          <a:bodyPr/>
          <a:lstStyle/>
          <a:p>
            <a:endParaRPr lang="en-PH"/>
          </a:p>
        </p:txBody>
      </p:sp>
      <p:sp>
        <p:nvSpPr>
          <p:cNvPr id="18" name="Text 9">
            <a:extLst>
              <a:ext uri="{FF2B5EF4-FFF2-40B4-BE49-F238E27FC236}">
                <a16:creationId xmlns:a16="http://schemas.microsoft.com/office/drawing/2014/main" id="{36D970A0-3103-A89F-5D4C-A529F7271815}"/>
              </a:ext>
            </a:extLst>
          </p:cNvPr>
          <p:cNvSpPr txBox="1"/>
          <p:nvPr/>
        </p:nvSpPr>
        <p:spPr>
          <a:xfrm>
            <a:off x="841248" y="2178342"/>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0" name="Text 10">
            <a:extLst>
              <a:ext uri="{FF2B5EF4-FFF2-40B4-BE49-F238E27FC236}">
                <a16:creationId xmlns:a16="http://schemas.microsoft.com/office/drawing/2014/main" id="{BAA20C95-E3BE-4BD6-E1C6-FFFD97B19E91}"/>
              </a:ext>
            </a:extLst>
          </p:cNvPr>
          <p:cNvSpPr txBox="1"/>
          <p:nvPr/>
        </p:nvSpPr>
        <p:spPr>
          <a:xfrm>
            <a:off x="1389888" y="1922310"/>
            <a:ext cx="3977640" cy="859536"/>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RAC settles the terminology</a:t>
            </a:r>
            <a:endParaRPr lang="en-US" sz="1300" dirty="0"/>
          </a:p>
        </p:txBody>
      </p:sp>
      <p:sp>
        <p:nvSpPr>
          <p:cNvPr id="22" name="Text 11">
            <a:extLst>
              <a:ext uri="{FF2B5EF4-FFF2-40B4-BE49-F238E27FC236}">
                <a16:creationId xmlns:a16="http://schemas.microsoft.com/office/drawing/2014/main" id="{92E51E8F-CEA5-C59D-394B-BECEEA9FC35E}"/>
              </a:ext>
            </a:extLst>
          </p:cNvPr>
          <p:cNvSpPr txBox="1"/>
          <p:nvPr/>
        </p:nvSpPr>
        <p:spPr>
          <a:xfrm>
            <a:off x="5486400" y="1922310"/>
            <a:ext cx="5897880" cy="859536"/>
          </a:xfrm>
          <a:prstGeom prst="rect">
            <a:avLst/>
          </a:prstGeom>
          <a:noFill/>
          <a:ln/>
        </p:spPr>
        <p:txBody>
          <a:bodyPr wrap="square" lIns="0" tIns="0" rIns="0" bIns="0" rtlCol="0" anchor="ctr"/>
          <a:lstStyle/>
          <a:p>
            <a:pPr marL="0" indent="0">
              <a:buNone/>
            </a:pPr>
            <a:r>
              <a:rPr lang="en-US" sz="1100" dirty="0">
                <a:solidFill>
                  <a:srgbClr val="333F50"/>
                </a:solidFill>
                <a:latin typeface="Calibri" pitchFamily="34" charset="0"/>
                <a:ea typeface="Calibri" pitchFamily="34" charset="-122"/>
                <a:cs typeface="Calibri" pitchFamily="34" charset="-120"/>
              </a:rPr>
              <a:t>The eight terms on the previous slide. Each one decides what a figure counts.</a:t>
            </a:r>
            <a:endParaRPr lang="en-US" sz="1100" dirty="0"/>
          </a:p>
        </p:txBody>
      </p:sp>
      <p:sp>
        <p:nvSpPr>
          <p:cNvPr id="24" name="Shape 12">
            <a:extLst>
              <a:ext uri="{FF2B5EF4-FFF2-40B4-BE49-F238E27FC236}">
                <a16:creationId xmlns:a16="http://schemas.microsoft.com/office/drawing/2014/main" id="{9FFD2F04-E558-CB15-F3B6-3844467D433B}"/>
              </a:ext>
            </a:extLst>
          </p:cNvPr>
          <p:cNvSpPr/>
          <p:nvPr/>
        </p:nvSpPr>
        <p:spPr>
          <a:xfrm>
            <a:off x="548640" y="2854998"/>
            <a:ext cx="11091672" cy="859536"/>
          </a:xfrm>
          <a:prstGeom prst="roundRect">
            <a:avLst>
              <a:gd name="adj" fmla="val 6383"/>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26" name="Shape 13">
            <a:extLst>
              <a:ext uri="{FF2B5EF4-FFF2-40B4-BE49-F238E27FC236}">
                <a16:creationId xmlns:a16="http://schemas.microsoft.com/office/drawing/2014/main" id="{99189022-6694-A556-3400-E76E17E6CC05}"/>
              </a:ext>
            </a:extLst>
          </p:cNvPr>
          <p:cNvSpPr/>
          <p:nvPr/>
        </p:nvSpPr>
        <p:spPr>
          <a:xfrm>
            <a:off x="841248" y="3111030"/>
            <a:ext cx="347472" cy="347472"/>
          </a:xfrm>
          <a:prstGeom prst="ellipse">
            <a:avLst/>
          </a:prstGeom>
          <a:solidFill>
            <a:srgbClr val="1E2761"/>
          </a:solidFill>
          <a:ln/>
        </p:spPr>
        <p:txBody>
          <a:bodyPr/>
          <a:lstStyle/>
          <a:p>
            <a:endParaRPr lang="en-PH"/>
          </a:p>
        </p:txBody>
      </p:sp>
      <p:sp>
        <p:nvSpPr>
          <p:cNvPr id="28" name="Text 14">
            <a:extLst>
              <a:ext uri="{FF2B5EF4-FFF2-40B4-BE49-F238E27FC236}">
                <a16:creationId xmlns:a16="http://schemas.microsoft.com/office/drawing/2014/main" id="{4F1A72C9-C980-1C23-7E2B-130DB5926777}"/>
              </a:ext>
            </a:extLst>
          </p:cNvPr>
          <p:cNvSpPr txBox="1"/>
          <p:nvPr/>
        </p:nvSpPr>
        <p:spPr>
          <a:xfrm>
            <a:off x="841248" y="3111030"/>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0" name="Text 15">
            <a:extLst>
              <a:ext uri="{FF2B5EF4-FFF2-40B4-BE49-F238E27FC236}">
                <a16:creationId xmlns:a16="http://schemas.microsoft.com/office/drawing/2014/main" id="{47B9B628-565A-BBFE-B0F5-FBAE5C214190}"/>
              </a:ext>
            </a:extLst>
          </p:cNvPr>
          <p:cNvSpPr txBox="1"/>
          <p:nvPr/>
        </p:nvSpPr>
        <p:spPr>
          <a:xfrm>
            <a:off x="1389888" y="2854998"/>
            <a:ext cx="3977640" cy="859536"/>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ITD confirms the lookup file</a:t>
            </a:r>
            <a:endParaRPr lang="en-US" sz="1300" dirty="0"/>
          </a:p>
        </p:txBody>
      </p:sp>
      <p:sp>
        <p:nvSpPr>
          <p:cNvPr id="32" name="Text 16">
            <a:extLst>
              <a:ext uri="{FF2B5EF4-FFF2-40B4-BE49-F238E27FC236}">
                <a16:creationId xmlns:a16="http://schemas.microsoft.com/office/drawing/2014/main" id="{4CB15976-845F-6BC4-82D3-D12BCBDF89A5}"/>
              </a:ext>
            </a:extLst>
          </p:cNvPr>
          <p:cNvSpPr txBox="1"/>
          <p:nvPr/>
        </p:nvSpPr>
        <p:spPr>
          <a:xfrm>
            <a:off x="5486400" y="2854998"/>
            <a:ext cx="5897880" cy="859536"/>
          </a:xfrm>
          <a:prstGeom prst="rect">
            <a:avLst/>
          </a:prstGeom>
          <a:noFill/>
          <a:ln/>
        </p:spPr>
        <p:txBody>
          <a:bodyPr wrap="square" lIns="0" tIns="0" rIns="0" bIns="0" rtlCol="0" anchor="ctr"/>
          <a:lstStyle/>
          <a:p>
            <a:pPr marL="0" indent="0">
              <a:buNone/>
            </a:pPr>
            <a:r>
              <a:rPr lang="en-US" sz="1100" dirty="0">
                <a:solidFill>
                  <a:srgbClr val="333F50"/>
                </a:solidFill>
                <a:latin typeface="Calibri" pitchFamily="34" charset="0"/>
                <a:ea typeface="Calibri" pitchFamily="34" charset="-122"/>
                <a:cs typeface="Calibri" pitchFamily="34" charset="-120"/>
              </a:rPr>
              <a:t>Extend it to the full estate, add the site identifier, and agree where it lives and who maintains it.</a:t>
            </a:r>
            <a:endParaRPr lang="en-US" sz="1100" dirty="0"/>
          </a:p>
        </p:txBody>
      </p:sp>
      <p:sp>
        <p:nvSpPr>
          <p:cNvPr id="34" name="Shape 17">
            <a:extLst>
              <a:ext uri="{FF2B5EF4-FFF2-40B4-BE49-F238E27FC236}">
                <a16:creationId xmlns:a16="http://schemas.microsoft.com/office/drawing/2014/main" id="{93878EC5-9C25-EBAA-6D48-20FDEB855763}"/>
              </a:ext>
            </a:extLst>
          </p:cNvPr>
          <p:cNvSpPr/>
          <p:nvPr/>
        </p:nvSpPr>
        <p:spPr>
          <a:xfrm>
            <a:off x="548640" y="3787686"/>
            <a:ext cx="11091672" cy="859536"/>
          </a:xfrm>
          <a:prstGeom prst="roundRect">
            <a:avLst>
              <a:gd name="adj" fmla="val 6383"/>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36" name="Shape 18">
            <a:extLst>
              <a:ext uri="{FF2B5EF4-FFF2-40B4-BE49-F238E27FC236}">
                <a16:creationId xmlns:a16="http://schemas.microsoft.com/office/drawing/2014/main" id="{94E8EAFE-6BA0-556A-68C9-6F47549C9F01}"/>
              </a:ext>
            </a:extLst>
          </p:cNvPr>
          <p:cNvSpPr/>
          <p:nvPr/>
        </p:nvSpPr>
        <p:spPr>
          <a:xfrm>
            <a:off x="841248" y="4043718"/>
            <a:ext cx="347472" cy="347472"/>
          </a:xfrm>
          <a:prstGeom prst="ellipse">
            <a:avLst/>
          </a:prstGeom>
          <a:solidFill>
            <a:srgbClr val="1E2761"/>
          </a:solidFill>
          <a:ln/>
        </p:spPr>
        <p:txBody>
          <a:bodyPr/>
          <a:lstStyle/>
          <a:p>
            <a:endParaRPr lang="en-PH"/>
          </a:p>
        </p:txBody>
      </p:sp>
      <p:sp>
        <p:nvSpPr>
          <p:cNvPr id="38" name="Text 19">
            <a:extLst>
              <a:ext uri="{FF2B5EF4-FFF2-40B4-BE49-F238E27FC236}">
                <a16:creationId xmlns:a16="http://schemas.microsoft.com/office/drawing/2014/main" id="{D9E3664B-FD93-8487-8746-51800486A940}"/>
              </a:ext>
            </a:extLst>
          </p:cNvPr>
          <p:cNvSpPr txBox="1"/>
          <p:nvPr/>
        </p:nvSpPr>
        <p:spPr>
          <a:xfrm>
            <a:off x="841248" y="4043718"/>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0" name="Text 20">
            <a:extLst>
              <a:ext uri="{FF2B5EF4-FFF2-40B4-BE49-F238E27FC236}">
                <a16:creationId xmlns:a16="http://schemas.microsoft.com/office/drawing/2014/main" id="{77D6FAD6-58C8-2046-213B-0B93BEAEACAD}"/>
              </a:ext>
            </a:extLst>
          </p:cNvPr>
          <p:cNvSpPr txBox="1"/>
          <p:nvPr/>
        </p:nvSpPr>
        <p:spPr>
          <a:xfrm>
            <a:off x="1389888" y="3787686"/>
            <a:ext cx="3977640" cy="859536"/>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We match requirements to sources</a:t>
            </a:r>
            <a:endParaRPr lang="en-US" sz="1300" dirty="0"/>
          </a:p>
        </p:txBody>
      </p:sp>
      <p:sp>
        <p:nvSpPr>
          <p:cNvPr id="42" name="Text 21">
            <a:extLst>
              <a:ext uri="{FF2B5EF4-FFF2-40B4-BE49-F238E27FC236}">
                <a16:creationId xmlns:a16="http://schemas.microsoft.com/office/drawing/2014/main" id="{CFBADAEC-4ACA-EE8B-CF6E-B88CA03CD416}"/>
              </a:ext>
            </a:extLst>
          </p:cNvPr>
          <p:cNvSpPr txBox="1"/>
          <p:nvPr/>
        </p:nvSpPr>
        <p:spPr>
          <a:xfrm>
            <a:off x="5486400" y="3787686"/>
            <a:ext cx="5897880" cy="859536"/>
          </a:xfrm>
          <a:prstGeom prst="rect">
            <a:avLst/>
          </a:prstGeom>
          <a:noFill/>
          <a:ln/>
        </p:spPr>
        <p:txBody>
          <a:bodyPr wrap="square" lIns="0" tIns="0" rIns="0" bIns="0" rtlCol="0" anchor="ctr"/>
          <a:lstStyle/>
          <a:p>
            <a:pPr marL="0" indent="0">
              <a:buNone/>
            </a:pPr>
            <a:r>
              <a:rPr lang="en-US" sz="1100" dirty="0">
                <a:solidFill>
                  <a:srgbClr val="333F50"/>
                </a:solidFill>
                <a:latin typeface="Calibri" pitchFamily="34" charset="0"/>
                <a:ea typeface="Calibri" pitchFamily="34" charset="-122"/>
                <a:cs typeface="Calibri" pitchFamily="34" charset="-120"/>
              </a:rPr>
              <a:t>Every item is marked available, needs a definition, or has no source.</a:t>
            </a:r>
            <a:endParaRPr lang="en-US" sz="1100" dirty="0"/>
          </a:p>
        </p:txBody>
      </p:sp>
      <p:sp>
        <p:nvSpPr>
          <p:cNvPr id="44" name="Shape 22">
            <a:extLst>
              <a:ext uri="{FF2B5EF4-FFF2-40B4-BE49-F238E27FC236}">
                <a16:creationId xmlns:a16="http://schemas.microsoft.com/office/drawing/2014/main" id="{904DB795-FCBF-981F-55B5-DD08FAF02E4C}"/>
              </a:ext>
            </a:extLst>
          </p:cNvPr>
          <p:cNvSpPr/>
          <p:nvPr/>
        </p:nvSpPr>
        <p:spPr>
          <a:xfrm>
            <a:off x="548640" y="4720374"/>
            <a:ext cx="11091672" cy="859536"/>
          </a:xfrm>
          <a:prstGeom prst="roundRect">
            <a:avLst>
              <a:gd name="adj" fmla="val 6383"/>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46" name="Shape 23">
            <a:extLst>
              <a:ext uri="{FF2B5EF4-FFF2-40B4-BE49-F238E27FC236}">
                <a16:creationId xmlns:a16="http://schemas.microsoft.com/office/drawing/2014/main" id="{65B5199B-4107-2739-AF09-B605B5742913}"/>
              </a:ext>
            </a:extLst>
          </p:cNvPr>
          <p:cNvSpPr/>
          <p:nvPr/>
        </p:nvSpPr>
        <p:spPr>
          <a:xfrm>
            <a:off x="841248" y="4976406"/>
            <a:ext cx="347472" cy="347472"/>
          </a:xfrm>
          <a:prstGeom prst="ellipse">
            <a:avLst/>
          </a:prstGeom>
          <a:solidFill>
            <a:srgbClr val="1E2761"/>
          </a:solidFill>
          <a:ln/>
        </p:spPr>
        <p:txBody>
          <a:bodyPr/>
          <a:lstStyle/>
          <a:p>
            <a:endParaRPr lang="en-PH"/>
          </a:p>
        </p:txBody>
      </p:sp>
      <p:sp>
        <p:nvSpPr>
          <p:cNvPr id="48" name="Text 24">
            <a:extLst>
              <a:ext uri="{FF2B5EF4-FFF2-40B4-BE49-F238E27FC236}">
                <a16:creationId xmlns:a16="http://schemas.microsoft.com/office/drawing/2014/main" id="{FDA6BBBE-B0A0-336E-8799-C31DC0EA438D}"/>
              </a:ext>
            </a:extLst>
          </p:cNvPr>
          <p:cNvSpPr txBox="1"/>
          <p:nvPr/>
        </p:nvSpPr>
        <p:spPr>
          <a:xfrm>
            <a:off x="841248" y="4976406"/>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50" name="Text 25">
            <a:extLst>
              <a:ext uri="{FF2B5EF4-FFF2-40B4-BE49-F238E27FC236}">
                <a16:creationId xmlns:a16="http://schemas.microsoft.com/office/drawing/2014/main" id="{6EA5DA0B-F635-645B-286C-4430F87A3038}"/>
              </a:ext>
            </a:extLst>
          </p:cNvPr>
          <p:cNvSpPr txBox="1"/>
          <p:nvPr/>
        </p:nvSpPr>
        <p:spPr>
          <a:xfrm>
            <a:off x="1389888" y="4720374"/>
            <a:ext cx="3977640" cy="859536"/>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The team decides on what remains</a:t>
            </a:r>
            <a:endParaRPr lang="en-US" sz="1300" dirty="0"/>
          </a:p>
        </p:txBody>
      </p:sp>
      <p:sp>
        <p:nvSpPr>
          <p:cNvPr id="52" name="Text 26">
            <a:extLst>
              <a:ext uri="{FF2B5EF4-FFF2-40B4-BE49-F238E27FC236}">
                <a16:creationId xmlns:a16="http://schemas.microsoft.com/office/drawing/2014/main" id="{F067AD74-1210-1D0E-51D2-9F932FE80D44}"/>
              </a:ext>
            </a:extLst>
          </p:cNvPr>
          <p:cNvSpPr txBox="1"/>
          <p:nvPr/>
        </p:nvSpPr>
        <p:spPr>
          <a:xfrm>
            <a:off x="5486400" y="4720374"/>
            <a:ext cx="5897880" cy="859536"/>
          </a:xfrm>
          <a:prstGeom prst="rect">
            <a:avLst/>
          </a:prstGeom>
          <a:noFill/>
          <a:ln/>
        </p:spPr>
        <p:txBody>
          <a:bodyPr wrap="square" lIns="0" tIns="0" rIns="0" bIns="0" rtlCol="0" anchor="ctr"/>
          <a:lstStyle/>
          <a:p>
            <a:pPr marL="0" indent="0">
              <a:buNone/>
            </a:pPr>
            <a:r>
              <a:rPr lang="en-US" sz="1100" dirty="0">
                <a:solidFill>
                  <a:srgbClr val="333F50"/>
                </a:solidFill>
                <a:latin typeface="Calibri" pitchFamily="34" charset="0"/>
                <a:ea typeface="Calibri" pitchFamily="34" charset="-122"/>
                <a:cs typeface="Calibri" pitchFamily="34" charset="-120"/>
              </a:rPr>
              <a:t>Where no source can be provided, we agree together whether the item is dropped or deferred.</a:t>
            </a:r>
            <a:endParaRPr lang="en-US" sz="1100" dirty="0"/>
          </a:p>
        </p:txBody>
      </p:sp>
    </p:spTree>
    <p:extLst>
      <p:ext uri="{BB962C8B-B14F-4D97-AF65-F5344CB8AC3E}">
        <p14:creationId xmlns:p14="http://schemas.microsoft.com/office/powerpoint/2010/main" val="29239039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51750-A03E-842F-E9C6-AE7B87880471}"/>
              </a:ext>
            </a:extLst>
          </p:cNvPr>
          <p:cNvSpPr>
            <a:spLocks noGrp="1"/>
          </p:cNvSpPr>
          <p:nvPr>
            <p:ph type="ctrTitle"/>
          </p:nvPr>
        </p:nvSpPr>
        <p:spPr>
          <a:xfrm>
            <a:off x="365886" y="2409730"/>
            <a:ext cx="11491705" cy="2387600"/>
          </a:xfrm>
        </p:spPr>
        <p:txBody>
          <a:bodyPr>
            <a:normAutofit/>
          </a:bodyPr>
          <a:lstStyle/>
          <a:p>
            <a:r>
              <a:rPr lang="en-PH" sz="8000" dirty="0">
                <a:cs typeface="Segoe UI Bold"/>
              </a:rPr>
              <a:t>Thank You!</a:t>
            </a:r>
          </a:p>
        </p:txBody>
      </p:sp>
    </p:spTree>
    <p:extLst>
      <p:ext uri="{BB962C8B-B14F-4D97-AF65-F5344CB8AC3E}">
        <p14:creationId xmlns:p14="http://schemas.microsoft.com/office/powerpoint/2010/main" val="9604692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B185C802E1445418CC1F15D76001F91" ma:contentTypeVersion="60" ma:contentTypeDescription="Create a new document." ma:contentTypeScope="" ma:versionID="1d1379d3919b121061b66a1d1456ebde">
  <xsd:schema xmlns:xsd="http://www.w3.org/2001/XMLSchema" xmlns:xs="http://www.w3.org/2001/XMLSchema" xmlns:p="http://schemas.microsoft.com/office/2006/metadata/properties" xmlns:ns2="5996128d-704d-4a9a-b273-f1b0c0083f8c" xmlns:ns3="0e32581f-8e79-45cd-8bd2-0ec6c28fa8bf" targetNamespace="http://schemas.microsoft.com/office/2006/metadata/properties" ma:root="true" ma:fieldsID="df6cf73d66020bc7d9ad15ea09002b62" ns2:_="" ns3:_="">
    <xsd:import namespace="5996128d-704d-4a9a-b273-f1b0c0083f8c"/>
    <xsd:import namespace="0e32581f-8e79-45cd-8bd2-0ec6c28fa8bf"/>
    <xsd:element name="properties">
      <xsd:complexType>
        <xsd:sequence>
          <xsd:element name="documentManagement">
            <xsd:complexType>
              <xsd:all>
                <xsd:element ref="ns2:TaxCatchAll" minOccurs="0"/>
                <xsd:element ref="ns2:j78542b1fffc4a1c84659474212e3133" minOccurs="0"/>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MediaServiceGenerationTime" minOccurs="0"/>
                <xsd:element ref="ns3:MediaServiceEventHashCode" minOccurs="0"/>
                <xsd:element ref="ns3:MediaLengthInSeconds" minOccurs="0"/>
                <xsd:element ref="ns3:MediaServiceOCR"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996128d-704d-4a9a-b273-f1b0c0083f8c" elementFormDefault="qualified">
    <xsd:import namespace="http://schemas.microsoft.com/office/2006/documentManagement/types"/>
    <xsd:import namespace="http://schemas.microsoft.com/office/infopath/2007/PartnerControls"/>
    <xsd:element name="TaxCatchAll" ma:index="9" nillable="true" ma:displayName="Taxonomy Catch All Column" ma:hidden="true" ma:list="{5fae007b-328f-43c9-b43a-e0b43236efad}" ma:internalName="TaxCatchAll" ma:showField="CatchAllData" ma:web="5996128d-704d-4a9a-b273-f1b0c0083f8c">
      <xsd:complexType>
        <xsd:complexContent>
          <xsd:extension base="dms:MultiChoiceLookup">
            <xsd:sequence>
              <xsd:element name="Value" type="dms:Lookup" maxOccurs="unbounded" minOccurs="0" nillable="true"/>
            </xsd:sequence>
          </xsd:extension>
        </xsd:complexContent>
      </xsd:complexType>
    </xsd:element>
    <xsd:element name="j78542b1fffc4a1c84659474212e3133" ma:index="10" nillable="true" ma:taxonomy="true" ma:internalName="j78542b1fffc4a1c84659474212e3133" ma:taxonomyFieldName="ADBContentGroup" ma:displayName="Content Group" ma:readOnly="false" ma:fieldId="{378542b1-fffc-4a1c-8465-9474212e3133}" ma:taxonomyMulti="true" ma:sspId="115af50e-efb3-4a0e-b425-875ff625e09e" ma:termSetId="2a9ffbee-93a5-418b-bcdb-8d6817936e6b"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e32581f-8e79-45cd-8bd2-0ec6c28fa8bf"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BillingMetadata" ma:index="20"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5996128d-704d-4a9a-b273-f1b0c0083f8c">
      <Value>1</Value>
    </TaxCatchAll>
    <j78542b1fffc4a1c84659474212e3133 xmlns="5996128d-704d-4a9a-b273-f1b0c0083f8c">
      <Terms xmlns="http://schemas.microsoft.com/office/infopath/2007/PartnerControls"/>
    </j78542b1fffc4a1c84659474212e3133>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FABB4D3-6AE0-4622-A1BE-3A99E2E613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996128d-704d-4a9a-b273-f1b0c0083f8c"/>
    <ds:schemaRef ds:uri="0e32581f-8e79-45cd-8bd2-0ec6c28fa8b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8028371-00A2-4269-9F7B-86D3E5D81C07}">
  <ds:schemaRefs>
    <ds:schemaRef ds:uri="http://schemas.microsoft.com/office/2006/metadata/properties"/>
    <ds:schemaRef ds:uri="http://schemas.microsoft.com/office/infopath/2007/PartnerControls"/>
    <ds:schemaRef ds:uri="5996128d-704d-4a9a-b273-f1b0c0083f8c"/>
  </ds:schemaRefs>
</ds:datastoreItem>
</file>

<file path=customXml/itemProps3.xml><?xml version="1.0" encoding="utf-8"?>
<ds:datastoreItem xmlns:ds="http://schemas.openxmlformats.org/officeDocument/2006/customXml" ds:itemID="{0D9D918D-5A5A-4249-AAA5-A17A0D61D4E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112</TotalTime>
  <Words>2345</Words>
  <Application>Microsoft Office PowerPoint</Application>
  <PresentationFormat>Widescreen</PresentationFormat>
  <Paragraphs>393</Paragraphs>
  <Slides>14</Slides>
  <Notes>14</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1_Office Theme</vt:lpstr>
      <vt:lpstr>EDRMS Utilization Report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RAC Reporting Suite: MVP Proposal and Next Steps</dc:title>
  <dc:subject>PptxGenJS Presentation</dc:subject>
  <dc:creator>EDRMS Utilization Report</dc:creator>
  <cp:lastModifiedBy>Jimwyl Perez</cp:lastModifiedBy>
  <cp:revision>6</cp:revision>
  <dcterms:created xsi:type="dcterms:W3CDTF">2026-08-31T06:19:49Z</dcterms:created>
  <dcterms:modified xsi:type="dcterms:W3CDTF">2026-09-01T00:51:25Z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0x0101002B185C802E1445418CC1F15D76001F91</vt:lpwstr>
  </property>
  <property fmtid="{D5CDD505-2E9C-101B-9397-08002B2CF9AE}" pid="3" name="h00e4aaaf4624e24a7df7f06faa038c6">
    <vt:lpwstr>English|16ac8743-31bb-43f8-9a73-533a041667d6</vt:lpwstr>
  </property>
  <property fmtid="{D5CDD505-2E9C-101B-9397-08002B2CF9AE}" pid="4" name="MSIP_Label_817d4574-7375-4d17-b29c-6e4c6df0fcb0_Enabled">
    <vt:lpwstr>true</vt:lpwstr>
  </property>
  <property fmtid="{D5CDD505-2E9C-101B-9397-08002B2CF9AE}" pid="5" name="MSIP_Label_817d4574-7375-4d17-b29c-6e4c6df0fcb0_SetDate">
    <vt:lpwstr>2026-09-01T00:50:10Z</vt:lpwstr>
  </property>
  <property fmtid="{D5CDD505-2E9C-101B-9397-08002B2CF9AE}" pid="6" name="MSIP_Label_817d4574-7375-4d17-b29c-6e4c6df0fcb0_Method">
    <vt:lpwstr>Standard</vt:lpwstr>
  </property>
  <property fmtid="{D5CDD505-2E9C-101B-9397-08002B2CF9AE}" pid="7" name="MSIP_Label_817d4574-7375-4d17-b29c-6e4c6df0fcb0_Name">
    <vt:lpwstr>ADB Internal</vt:lpwstr>
  </property>
  <property fmtid="{D5CDD505-2E9C-101B-9397-08002B2CF9AE}" pid="8" name="MSIP_Label_817d4574-7375-4d17-b29c-6e4c6df0fcb0_SiteId">
    <vt:lpwstr>9495d6bb-41c2-4c58-848f-92e52cf3d640</vt:lpwstr>
  </property>
  <property fmtid="{D5CDD505-2E9C-101B-9397-08002B2CF9AE}" pid="9" name="MSIP_Label_817d4574-7375-4d17-b29c-6e4c6df0fcb0_ActionId">
    <vt:lpwstr>45f59b16-1ea9-408c-8903-b87aa5c11830</vt:lpwstr>
  </property>
  <property fmtid="{D5CDD505-2E9C-101B-9397-08002B2CF9AE}" pid="10" name="MSIP_Label_817d4574-7375-4d17-b29c-6e4c6df0fcb0_ContentBits">
    <vt:lpwstr>2</vt:lpwstr>
  </property>
  <property fmtid="{D5CDD505-2E9C-101B-9397-08002B2CF9AE}" pid="11" name="MSIP_Label_817d4574-7375-4d17-b29c-6e4c6df0fcb0_Tag">
    <vt:lpwstr>10, 3, 0, 2</vt:lpwstr>
  </property>
  <property fmtid="{D5CDD505-2E9C-101B-9397-08002B2CF9AE}" pid="12" name="ClassificationContentMarkingFooterLocations">
    <vt:lpwstr>1_Office Theme:3</vt:lpwstr>
  </property>
  <property fmtid="{D5CDD505-2E9C-101B-9397-08002B2CF9AE}" pid="13" name="ClassificationContentMarkingFooterText">
    <vt:lpwstr>INTERNAL. This information is accessible to ADB Management and Staff. It may be shared outside ADB with appropriate permission.</vt:lpwstr>
  </property>
  <property fmtid="{D5CDD505-2E9C-101B-9397-08002B2CF9AE}" pid="14" name="p030e467f78f45b4ae8f7e2c17ea4d82">
    <vt:lpwstr/>
  </property>
  <property fmtid="{D5CDD505-2E9C-101B-9397-08002B2CF9AE}" pid="15" name="ADBContentGroup">
    <vt:lpwstr/>
  </property>
  <property fmtid="{D5CDD505-2E9C-101B-9397-08002B2CF9AE}" pid="16" name="d61536b25a8a4fedb48bb564279be82a">
    <vt:lpwstr/>
  </property>
  <property fmtid="{D5CDD505-2E9C-101B-9397-08002B2CF9AE}" pid="17" name="ADBCountry">
    <vt:lpwstr/>
  </property>
  <property fmtid="{D5CDD505-2E9C-101B-9397-08002B2CF9AE}" pid="18" name="ADBSector">
    <vt:lpwstr/>
  </property>
  <property fmtid="{D5CDD505-2E9C-101B-9397-08002B2CF9AE}" pid="19" name="d01a0ce1b141461dbfb235a3ab729a2c">
    <vt:lpwstr/>
  </property>
  <property fmtid="{D5CDD505-2E9C-101B-9397-08002B2CF9AE}" pid="20" name="ADBDocumentType">
    <vt:lpwstr/>
  </property>
  <property fmtid="{D5CDD505-2E9C-101B-9397-08002B2CF9AE}" pid="21" name="ADBDocumentLanguage">
    <vt:lpwstr>1;#English|16ac8743-31bb-43f8-9a73-533a041667d6</vt:lpwstr>
  </property>
  <property fmtid="{D5CDD505-2E9C-101B-9397-08002B2CF9AE}" pid="22" name="k985dbdc596c44d7acaf8184f33920f0">
    <vt:lpwstr/>
  </property>
  <property fmtid="{D5CDD505-2E9C-101B-9397-08002B2CF9AE}" pid="23" name="ADBDocumentSecurity">
    <vt:lpwstr/>
  </property>
  <property fmtid="{D5CDD505-2E9C-101B-9397-08002B2CF9AE}" pid="24" name="ADBDepartmentOwner">
    <vt:lpwstr/>
  </property>
  <property fmtid="{D5CDD505-2E9C-101B-9397-08002B2CF9AE}" pid="25" name="ADBDivision">
    <vt:lpwstr/>
  </property>
  <property fmtid="{D5CDD505-2E9C-101B-9397-08002B2CF9AE}" pid="26" name="ia017ac09b1942648b563fe0b2b14d52">
    <vt:lpwstr/>
  </property>
  <property fmtid="{D5CDD505-2E9C-101B-9397-08002B2CF9AE}" pid="27" name="a37ff23a602146d4934a49238d370ca5">
    <vt:lpwstr/>
  </property>
</Properties>
</file>