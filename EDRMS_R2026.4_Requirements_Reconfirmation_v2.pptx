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9"/>
  </p:notesMasterIdLst>
  <p:handoutMasterIdLst>
    <p:handoutMasterId r:id="rId30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81" r:id="rId37"/>
    <p:sldId id="280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2832120-A2EA-EDFD-FB6C-11534BFA1158}" name="Jenny Dequina" initials="JD" userId="S::jdequina.contractor@adb.org::786a9c0c-b621-4b74-8c84-8051870fd2f3" providerId="AD"/>
  <p188:author id="{35491430-24D7-8011-DE0F-10F53D01F77F}" name="Sanjay Lollbeharree" initials="SL" userId="S::blollbeharree@adb.org::4530ebb2-fbe6-483f-87c8-bbd462b0de19" providerId="AD"/>
  <p188:author id="{2B32E33E-07C7-2965-3DFE-E1E88F402E7A}" name="Sofia Su" initials="SS" userId="S::sofia.su@avepoint.com::d0c85677-2500-4ba9-94f3-0bf139b17537" providerId="AD"/>
  <p188:author id="{F22D4E46-92FF-3C84-D17D-16BDA4F2FB68}" name="Bill Alison" initials="BA" userId="S::ruebel.alison@avepoint.com::494cdaeb-4835-4105-838e-7a18ac4467d0" providerId="AD"/>
  <p188:author id="{1BE76950-7BCB-EB6C-D8FC-AC9AC5B711A7}" name="Sofia Su" initials="SS" userId="S::ssu3.contractor@adb.org::fc5d6dd5-ac7f-4894-b445-9ceab83208f0" providerId="AD"/>
  <p188:author id="{44467C79-FFFA-A8C3-A922-A689213E4CDD}" name="Sabina I. Ahmad" initials="SA" userId="S::siahmad@adb.org::e84eebad-8493-4abf-9bf2-fee706d8ccf0" providerId="AD"/>
  <p188:author id="{792DBFAD-C65A-BFD6-E36E-D6E823705E6B}" name="Syed Wahiduzzaman" initials="SW" userId="S::swahiduzzaman.contractor@adb.org::45961d3e-f7a2-4c99-8dc6-6cf5e71d7705" providerId="AD"/>
  <p188:author id="{E0246CF9-080E-6700-6DE5-6049717FB2EB}" name="Sofia Su" initials="SS" userId="S::sofia.su_avepoint.com#ext#@asiandevbank.onmicrosoft.com::d2b50a96-32af-43f7-8b2f-593e7716f35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4984"/>
    <a:srgbClr val="D9D9D9"/>
    <a:srgbClr val="7F7F7F"/>
    <a:srgbClr val="7E7E7E"/>
    <a:srgbClr val="797979"/>
    <a:srgbClr val="ACC71E"/>
    <a:srgbClr val="FBCCA9"/>
    <a:srgbClr val="AAC733"/>
    <a:srgbClr val="FCFFE5"/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28" dt="2026-10-13T02:17:13.6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5.xml"/><Relationship Id="rId29" Type="http://schemas.openxmlformats.org/officeDocument/2006/relationships/notesMaster" Target="notesMasters/notesMaster1.xml"/><Relationship Id="rId30" Type="http://schemas.openxmlformats.org/officeDocument/2006/relationships/handoutMaster" Target="handoutMasters/handout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Relationship Id="rId36" Type="http://schemas.microsoft.com/office/2018/10/relationships/authors" Target="authors.xml"/><Relationship Id="rId37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3028BE7-D89A-55FE-2211-4844C7364F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E35B46-59C9-AE45-EB4D-10203FCEADD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C978A-796C-F843-84E6-714013A20B67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B9FA62-3023-D878-7925-3C21451A71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7917AA-05E6-BDF5-2C93-84FB5535C97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1C596-06EB-D947-81DF-6B0662C790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406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1A0D8A-ED10-4A71-8450-9625DE84EE69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16E09-8B40-4ED1-86B7-C94735C58CE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37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2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microsoft.com/office/2007/relationships/hdphoto" Target="../media/hdphoto3.wdp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4.wdp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microsoft.com/office/2007/relationships/hdphoto" Target="../media/hdphoto5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6.wdp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9.png"/><Relationship Id="rId7" Type="http://schemas.microsoft.com/office/2007/relationships/hdphoto" Target="../media/hdphoto7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microsoft.com/office/2007/relationships/hdphoto" Target="../media/hdphoto8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microsoft.com/office/2007/relationships/hdphoto" Target="../media/hdphoto9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microsoft.com/office/2007/relationships/hdphoto" Target="../media/hdphoto10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microsoft.com/office/2007/relationships/hdphoto" Target="../media/hdphoto11.wdp"/><Relationship Id="rId4" Type="http://schemas.openxmlformats.org/officeDocument/2006/relationships/image" Target="../media/image6.png"/><Relationship Id="rId5" Type="http://schemas.openxmlformats.org/officeDocument/2006/relationships/image" Target="../media/image3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yellow and blue wavy lines&#10;&#10;Description automatically generated">
            <a:extLst>
              <a:ext uri="{FF2B5EF4-FFF2-40B4-BE49-F238E27FC236}">
                <a16:creationId xmlns:a16="http://schemas.microsoft.com/office/drawing/2014/main" id="{C0B37FD3-2E43-3CB4-83E1-EEC2F7D0E1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18875C-F4E2-FA32-A18E-102993D4E4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594" y="2573631"/>
            <a:ext cx="11047206" cy="2387600"/>
          </a:xfrm>
        </p:spPr>
        <p:txBody>
          <a:bodyPr anchor="b"/>
          <a:lstStyle>
            <a:lvl1pPr algn="l">
              <a:defRPr sz="6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12FBC6-9031-44CB-301F-04016C7A1C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6593" y="5014685"/>
            <a:ext cx="11047206" cy="98001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23F22-202B-22C5-B9EA-75BED886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0"/>
            <a:ext cx="2743200" cy="365125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A9BAB-EB88-2DD9-82D9-904B108017BF}"/>
              </a:ext>
            </a:extLst>
          </p:cNvPr>
          <p:cNvSpPr/>
          <p:nvPr userDrawn="1"/>
        </p:nvSpPr>
        <p:spPr>
          <a:xfrm>
            <a:off x="164055" y="3374478"/>
            <a:ext cx="45719" cy="15867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2DF671D-3EF5-6E85-6EB3-0D04558FB4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852FBE8F-B070-8109-B023-E060794B8B5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468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wavy lines">
            <a:extLst>
              <a:ext uri="{FF2B5EF4-FFF2-40B4-BE49-F238E27FC236}">
                <a16:creationId xmlns:a16="http://schemas.microsoft.com/office/drawing/2014/main" id="{7B9009FE-A9BF-C878-9F49-E93334916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383553-B2F4-A7DA-7659-3504D95E4EEA}"/>
              </a:ext>
            </a:extLst>
          </p:cNvPr>
          <p:cNvSpPr/>
          <p:nvPr userDrawn="1"/>
        </p:nvSpPr>
        <p:spPr>
          <a:xfrm>
            <a:off x="-43031" y="2560320"/>
            <a:ext cx="12235031" cy="341017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3CA6B-81FA-92D2-8D0A-B13CA73C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87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5ED3D-0DC5-3A28-B7A4-26448284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144" y="4589464"/>
            <a:ext cx="10515600" cy="939968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15AD-84E1-33F7-BE3C-DC0253D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318B4-0B07-E63B-1B33-556C18F774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C8732180-6185-6F47-417A-B406EA4EA59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836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and yellow wavy lines">
            <a:extLst>
              <a:ext uri="{FF2B5EF4-FFF2-40B4-BE49-F238E27FC236}">
                <a16:creationId xmlns:a16="http://schemas.microsoft.com/office/drawing/2014/main" id="{7B9009FE-A9BF-C878-9F49-E9333491647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C1383553-B2F4-A7DA-7659-3504D95E4EEA}"/>
              </a:ext>
            </a:extLst>
          </p:cNvPr>
          <p:cNvSpPr/>
          <p:nvPr userDrawn="1"/>
        </p:nvSpPr>
        <p:spPr>
          <a:xfrm>
            <a:off x="17029" y="2560320"/>
            <a:ext cx="12174971" cy="34101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D3CA6B-81FA-92D2-8D0A-B13CA73CE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87" y="1709738"/>
            <a:ext cx="10515600" cy="2852737"/>
          </a:xfrm>
        </p:spPr>
        <p:txBody>
          <a:bodyPr anchor="b">
            <a:normAutofit/>
          </a:bodyPr>
          <a:lstStyle>
            <a:lvl1pPr>
              <a:defRPr sz="5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A5ED3D-0DC5-3A28-B7A4-26448284A7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144" y="4589464"/>
            <a:ext cx="10515600" cy="939968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4415AD-84E1-33F7-BE3C-DC0253DD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6318B4-0B07-E63B-1B33-556C18F774A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029" y="5793840"/>
            <a:ext cx="4253757" cy="104015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C8732180-6185-6F47-417A-B406EA4EA59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065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lack background&#10;&#10;Description automatically generated">
            <a:extLst>
              <a:ext uri="{FF2B5EF4-FFF2-40B4-BE49-F238E27FC236}">
                <a16:creationId xmlns:a16="http://schemas.microsoft.com/office/drawing/2014/main" id="{D98C54E4-BBD9-B9A8-144E-B0B8FB8E9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4111"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0BD2A-E58A-12B7-BFDE-DEFA7054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365125"/>
            <a:ext cx="11041743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558B-5F9B-1B2A-F0DE-2EFB049E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085" y="1825625"/>
            <a:ext cx="11041743" cy="4139746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ED74-28F0-4005-7C6F-12FACC50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40F2E-1D1D-55B1-29BF-87CFD40B6A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A0CD0736-EB50-330A-55B9-C8741580A3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  <p:pic>
        <p:nvPicPr>
          <p:cNvPr id="5" name="Picture 4" descr="A green and blue gradient&#10;&#10;Description automatically generated">
            <a:extLst>
              <a:ext uri="{FF2B5EF4-FFF2-40B4-BE49-F238E27FC236}">
                <a16:creationId xmlns:a16="http://schemas.microsoft.com/office/drawing/2014/main" id="{2C7E166D-ECFA-286E-2CE6-033F5000AE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8166" y="-7925"/>
            <a:ext cx="5403834" cy="16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833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and black background&#10;&#10;Description automatically generated">
            <a:extLst>
              <a:ext uri="{FF2B5EF4-FFF2-40B4-BE49-F238E27FC236}">
                <a16:creationId xmlns:a16="http://schemas.microsoft.com/office/drawing/2014/main" id="{D98C54E4-BBD9-B9A8-144E-B0B8FB8E9D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600BD2A-E58A-12B7-BFDE-DEFA70545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365125"/>
            <a:ext cx="11041743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558B-5F9B-1B2A-F0DE-2EFB049E6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085" y="1825625"/>
            <a:ext cx="11041743" cy="4139746"/>
          </a:xfrm>
        </p:spPr>
        <p:txBody>
          <a:bodyPr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E0ED74-28F0-4005-7C6F-12FACC50E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B40F2E-1D1D-55B1-29BF-87CFD40B6A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pic>
        <p:nvPicPr>
          <p:cNvPr id="4" name="Picture 3" descr="A blue and white logo&#10;&#10;Description automatically generated">
            <a:extLst>
              <a:ext uri="{FF2B5EF4-FFF2-40B4-BE49-F238E27FC236}">
                <a16:creationId xmlns:a16="http://schemas.microsoft.com/office/drawing/2014/main" id="{A0CD0736-EB50-330A-55B9-C8741580A36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  <p:pic>
        <p:nvPicPr>
          <p:cNvPr id="5" name="Picture 4" descr="A green and blue gradient&#10;&#10;Description automatically generated">
            <a:extLst>
              <a:ext uri="{FF2B5EF4-FFF2-40B4-BE49-F238E27FC236}">
                <a16:creationId xmlns:a16="http://schemas.microsoft.com/office/drawing/2014/main" id="{2C7E166D-ECFA-286E-2CE6-033F5000AE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88166" y="-7925"/>
            <a:ext cx="5403834" cy="169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8557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black background&#10;&#10;Description automatically generated">
            <a:extLst>
              <a:ext uri="{FF2B5EF4-FFF2-40B4-BE49-F238E27FC236}">
                <a16:creationId xmlns:a16="http://schemas.microsoft.com/office/drawing/2014/main" id="{45FF00F1-57A4-6BB7-3C36-9249E2A8D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r="34111"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7940A-D954-B4E7-52A0-8E206093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6" y="365125"/>
            <a:ext cx="11015661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31C3-5528-9AE4-B3B0-776370FB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C1517-D2A0-3390-60D6-B2BB45446C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9A9974-0C06-EC11-9C7A-3C237DD371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067" y="1822225"/>
            <a:ext cx="11015662" cy="4121376"/>
          </a:xfrm>
        </p:spPr>
        <p:txBody>
          <a:bodyPr/>
          <a:lstStyle>
            <a:lvl1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D48AC4AB-80D7-1771-129E-3D31ABB82F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982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yellow and black background&#10;&#10;Description automatically generated">
            <a:extLst>
              <a:ext uri="{FF2B5EF4-FFF2-40B4-BE49-F238E27FC236}">
                <a16:creationId xmlns:a16="http://schemas.microsoft.com/office/drawing/2014/main" id="{45FF00F1-57A4-6BB7-3C36-9249E2A8D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71970" y="5724041"/>
            <a:ext cx="4220029" cy="1190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57940A-D954-B4E7-52A0-8E2060932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386" y="365125"/>
            <a:ext cx="11015661" cy="1325563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3C31C3-5528-9AE4-B3B0-776370FB8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C0C1517-D2A0-3390-60D6-B2BB45446C7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279A9974-0C06-EC11-9C7A-3C237DD371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6067" y="1822225"/>
            <a:ext cx="11015662" cy="4121376"/>
          </a:xfrm>
        </p:spPr>
        <p:txBody>
          <a:bodyPr/>
          <a:lstStyle>
            <a:lvl1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>
              <a:lnSpc>
                <a:spcPct val="100000"/>
              </a:lnSpc>
              <a:defRPr sz="20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lnSpc>
                <a:spcPct val="100000"/>
              </a:lnSpc>
              <a:defRPr sz="18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>
              <a:lnSpc>
                <a:spcPct val="100000"/>
              </a:lnSpc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D48AC4AB-80D7-1771-129E-3D31ABB82F7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8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yellow and blue wave&#10;&#10;Description automatically generated">
            <a:extLst>
              <a:ext uri="{FF2B5EF4-FFF2-40B4-BE49-F238E27FC236}">
                <a16:creationId xmlns:a16="http://schemas.microsoft.com/office/drawing/2014/main" id="{30583331-3C67-687B-8EE8-00406B0D78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6E238-E8CB-3DA3-45BF-7E7375A7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2" y="457200"/>
            <a:ext cx="6954158" cy="1465943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38F64-D73D-78C8-2A94-DE14BFC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E667EA-B10C-50D3-8874-70F471D988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742A6E-BA2C-158D-2A8A-EC4BE2293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63" y="2008188"/>
            <a:ext cx="6370637" cy="387508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496834A2-A802-D293-933D-4E416437E9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464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Dark"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close up of a yellow and blue wave&#10;&#10;Description automatically generated">
            <a:extLst>
              <a:ext uri="{FF2B5EF4-FFF2-40B4-BE49-F238E27FC236}">
                <a16:creationId xmlns:a16="http://schemas.microsoft.com/office/drawing/2014/main" id="{30583331-3C67-687B-8EE8-00406B0D78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69000" y="0"/>
            <a:ext cx="6223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586E238-E8CB-3DA3-45BF-7E7375A7C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342" y="457200"/>
            <a:ext cx="6954158" cy="1465943"/>
          </a:xfrm>
        </p:spPr>
        <p:txBody>
          <a:bodyPr anchor="b">
            <a:normAutofit/>
          </a:bodyPr>
          <a:lstStyle>
            <a:lvl1pPr>
              <a:defRPr sz="3600" b="1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B38F64-D73D-78C8-2A94-DE14BFC51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B0B62103-952B-40C5-BACA-0A1B9F9E1991}" type="slidenum">
              <a:rPr lang="en-PH" smtClean="0"/>
              <a:pPr/>
              <a:t>‹#›</a:t>
            </a:fld>
            <a:endParaRPr lang="en-PH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E667EA-B10C-50D3-8874-70F471D988B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5802276"/>
            <a:ext cx="4291012" cy="1049262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742A6E-BA2C-158D-2A8A-EC4BE22938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7663" y="2008188"/>
            <a:ext cx="6370637" cy="3875087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3" name="Picture 2" descr="A blue and white logo&#10;&#10;Description automatically generated">
            <a:extLst>
              <a:ext uri="{FF2B5EF4-FFF2-40B4-BE49-F238E27FC236}">
                <a16:creationId xmlns:a16="http://schemas.microsoft.com/office/drawing/2014/main" id="{496834A2-A802-D293-933D-4E416437E9E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449152" y="6115990"/>
            <a:ext cx="620717" cy="620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795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465D6C1-0F40-4D04-A07F-E2775247D0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94AC9FA-2D11-4107-A5AB-591F8862B9F2}"/>
              </a:ext>
            </a:extLst>
          </p:cNvPr>
          <p:cNvGrpSpPr/>
          <p:nvPr userDrawn="1"/>
        </p:nvGrpSpPr>
        <p:grpSpPr>
          <a:xfrm>
            <a:off x="11601450" y="6279445"/>
            <a:ext cx="401560" cy="397212"/>
            <a:chOff x="7823763" y="5316316"/>
            <a:chExt cx="569847" cy="563678"/>
          </a:xfrm>
        </p:grpSpPr>
        <p:sp>
          <p:nvSpPr>
            <p:cNvPr id="5" name="Freeform 14">
              <a:extLst>
                <a:ext uri="{FF2B5EF4-FFF2-40B4-BE49-F238E27FC236}">
                  <a16:creationId xmlns:a16="http://schemas.microsoft.com/office/drawing/2014/main" id="{8BF08742-E169-4B88-B961-9B5E5210E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63" y="5316316"/>
              <a:ext cx="569847" cy="563678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C2093820-8D78-418C-A7AA-3FB1C7FE11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1"/>
              <a:ext cx="167662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A6C70B1-DC46-4D42-BA88-BCE4E3455121}"/>
              </a:ext>
            </a:extLst>
          </p:cNvPr>
          <p:cNvSpPr txBox="1">
            <a:spLocks/>
          </p:cNvSpPr>
          <p:nvPr userDrawn="1"/>
        </p:nvSpPr>
        <p:spPr>
          <a:xfrm>
            <a:off x="3611345" y="6445886"/>
            <a:ext cx="4969310" cy="1355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808080"/>
                </a:solidFill>
                <a:latin typeface="+mn-lt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</p:spTree>
    <p:extLst>
      <p:ext uri="{BB962C8B-B14F-4D97-AF65-F5344CB8AC3E}">
        <p14:creationId xmlns:p14="http://schemas.microsoft.com/office/powerpoint/2010/main" val="1809917595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Layout 14_C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519FFC-D729-4625-B37F-F9D4BD2BBDC0}"/>
              </a:ext>
            </a:extLst>
          </p:cNvPr>
          <p:cNvGrpSpPr/>
          <p:nvPr userDrawn="1"/>
        </p:nvGrpSpPr>
        <p:grpSpPr>
          <a:xfrm>
            <a:off x="11476672" y="6129314"/>
            <a:ext cx="405689" cy="401296"/>
            <a:chOff x="7823779" y="5316311"/>
            <a:chExt cx="569848" cy="563677"/>
          </a:xfrm>
        </p:grpSpPr>
        <p:sp>
          <p:nvSpPr>
            <p:cNvPr id="4" name="Freeform 14">
              <a:extLst>
                <a:ext uri="{FF2B5EF4-FFF2-40B4-BE49-F238E27FC236}">
                  <a16:creationId xmlns:a16="http://schemas.microsoft.com/office/drawing/2014/main" id="{F3C1F00E-DD2F-4175-A6E9-78D1FE72424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79" y="5316311"/>
              <a:ext cx="569848" cy="563677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" name="Oval 15">
              <a:extLst>
                <a:ext uri="{FF2B5EF4-FFF2-40B4-BE49-F238E27FC236}">
                  <a16:creationId xmlns:a16="http://schemas.microsoft.com/office/drawing/2014/main" id="{3FBDFF7C-0BB9-4B41-AD9E-F5A8AED8EA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2"/>
              <a:ext cx="167663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3ED76FF-F7E1-4D87-8652-FC81CBBF3222}"/>
              </a:ext>
            </a:extLst>
          </p:cNvPr>
          <p:cNvSpPr txBox="1">
            <a:spLocks/>
          </p:cNvSpPr>
          <p:nvPr userDrawn="1"/>
        </p:nvSpPr>
        <p:spPr>
          <a:xfrm>
            <a:off x="1483242" y="6254303"/>
            <a:ext cx="9214428" cy="365125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4C5966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CB5052-B459-420A-B7F1-7867BFE2930D}"/>
              </a:ext>
            </a:extLst>
          </p:cNvPr>
          <p:cNvSpPr/>
          <p:nvPr userDrawn="1"/>
        </p:nvSpPr>
        <p:spPr bwMode="auto">
          <a:xfrm>
            <a:off x="0" y="0"/>
            <a:ext cx="35887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BBCD62-9D85-4DA1-9775-7FC6B1758D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" y="971400"/>
            <a:ext cx="2828003" cy="166199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8E23338-C00A-4D99-B699-2834CD3D2C7C}"/>
              </a:ext>
            </a:extLst>
          </p:cNvPr>
          <p:cNvSpPr/>
          <p:nvPr userDrawn="1"/>
        </p:nvSpPr>
        <p:spPr bwMode="auto">
          <a:xfrm>
            <a:off x="511277" y="698090"/>
            <a:ext cx="924233" cy="98322"/>
          </a:xfrm>
          <a:prstGeom prst="rect">
            <a:avLst/>
          </a:prstGeom>
          <a:solidFill>
            <a:schemeClr val="tx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<a:prstTxWarp prst="textNoShape">
              <a:avLst/>
            </a:prstTxWarp>
            <a:noAutofit/>
          </a:bodyPr>
          <a:lstStyle/>
          <a:p>
            <a:pPr algn="ctr" defTabSz="914099" fontAlgn="base">
              <a:spcBef>
                <a:spcPct val="0"/>
              </a:spcBef>
              <a:spcAft>
                <a:spcPct val="0"/>
              </a:spcAft>
            </a:pPr>
            <a:endParaRPr lang="en-US" spc="-5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AC45A02-F071-49FF-B89A-F2FD4498C54C}"/>
              </a:ext>
            </a:extLst>
          </p:cNvPr>
          <p:cNvGrpSpPr/>
          <p:nvPr userDrawn="1"/>
        </p:nvGrpSpPr>
        <p:grpSpPr>
          <a:xfrm>
            <a:off x="-1423" y="6697846"/>
            <a:ext cx="12193257" cy="160154"/>
            <a:chOff x="331" y="-1404"/>
            <a:chExt cx="12193257" cy="9471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0D5311D-D145-4EC3-8131-0D3D60687BFA}"/>
                </a:ext>
              </a:extLst>
            </p:cNvPr>
            <p:cNvSpPr/>
            <p:nvPr/>
          </p:nvSpPr>
          <p:spPr bwMode="auto">
            <a:xfrm>
              <a:off x="331" y="-1404"/>
              <a:ext cx="3108960" cy="94710"/>
            </a:xfrm>
            <a:prstGeom prst="rect">
              <a:avLst/>
            </a:prstGeom>
            <a:solidFill>
              <a:srgbClr val="F68D3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D5F174D-7B24-4B10-AE3F-51E24DF849B8}"/>
                </a:ext>
              </a:extLst>
            </p:cNvPr>
            <p:cNvSpPr/>
            <p:nvPr/>
          </p:nvSpPr>
          <p:spPr bwMode="auto">
            <a:xfrm>
              <a:off x="3109368" y="-1404"/>
              <a:ext cx="3108960" cy="94710"/>
            </a:xfrm>
            <a:prstGeom prst="rect">
              <a:avLst/>
            </a:prstGeom>
            <a:solidFill>
              <a:srgbClr val="F0532D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74A5506-FA92-4E2C-81DB-D1288E43057F}"/>
                </a:ext>
              </a:extLst>
            </p:cNvPr>
            <p:cNvSpPr/>
            <p:nvPr/>
          </p:nvSpPr>
          <p:spPr bwMode="auto">
            <a:xfrm>
              <a:off x="6092210" y="-1404"/>
              <a:ext cx="3108960" cy="94710"/>
            </a:xfrm>
            <a:prstGeom prst="rect">
              <a:avLst/>
            </a:prstGeom>
            <a:solidFill>
              <a:srgbClr val="319DA0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908456BD-5C1B-466C-813B-BDE1CD0193C4}"/>
                </a:ext>
              </a:extLst>
            </p:cNvPr>
            <p:cNvSpPr/>
            <p:nvPr/>
          </p:nvSpPr>
          <p:spPr bwMode="auto">
            <a:xfrm>
              <a:off x="9084628" y="-1404"/>
              <a:ext cx="3108960" cy="94710"/>
            </a:xfrm>
            <a:prstGeom prst="rect">
              <a:avLst/>
            </a:prstGeom>
            <a:solidFill>
              <a:srgbClr val="4C5966"/>
            </a:solidFill>
            <a:ln>
              <a:noFill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<a:prstTxWarp prst="textNoShape">
                <a:avLst/>
              </a:prstTxWarp>
              <a:noAutofit/>
            </a:bodyPr>
            <a:lstStyle/>
            <a:p>
              <a:pPr algn="ctr" defTabSz="914099" fontAlgn="base">
                <a:spcBef>
                  <a:spcPct val="0"/>
                </a:spcBef>
                <a:spcAft>
                  <a:spcPct val="0"/>
                </a:spcAft>
              </a:pPr>
              <a:endParaRPr lang="en-US" spc="-50" err="1">
                <a:gradFill>
                  <a:gsLst>
                    <a:gs pos="0">
                      <a:srgbClr val="FFFFFF"/>
                    </a:gs>
                    <a:gs pos="100000">
                      <a:srgbClr val="FFFFFF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7782DEE-42B1-48C0-9183-018EBE506622}"/>
              </a:ext>
            </a:extLst>
          </p:cNvPr>
          <p:cNvGrpSpPr/>
          <p:nvPr userDrawn="1"/>
        </p:nvGrpSpPr>
        <p:grpSpPr>
          <a:xfrm>
            <a:off x="12543692" y="0"/>
            <a:ext cx="1598750" cy="4724401"/>
            <a:chOff x="12543692" y="1430216"/>
            <a:chExt cx="1598750" cy="4724401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4748976B-3409-4C72-A06E-8F90AC8D9E26}"/>
                </a:ext>
              </a:extLst>
            </p:cNvPr>
            <p:cNvGrpSpPr/>
            <p:nvPr userDrawn="1"/>
          </p:nvGrpSpPr>
          <p:grpSpPr>
            <a:xfrm>
              <a:off x="12543692" y="1430216"/>
              <a:ext cx="1575304" cy="2180492"/>
              <a:chOff x="12543692" y="1430216"/>
              <a:chExt cx="1575304" cy="218049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5A6992F-DA16-429F-A2D8-91DC97AC40E0}"/>
                  </a:ext>
                </a:extLst>
              </p:cNvPr>
              <p:cNvGrpSpPr/>
              <p:nvPr userDrawn="1"/>
            </p:nvGrpSpPr>
            <p:grpSpPr>
              <a:xfrm>
                <a:off x="12543692" y="1430216"/>
                <a:ext cx="1324708" cy="2180492"/>
                <a:chOff x="12543692" y="1512278"/>
                <a:chExt cx="1324708" cy="2180492"/>
              </a:xfrm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8ED1111E-D779-4530-B418-AE14F57AFE49}"/>
                    </a:ext>
                  </a:extLst>
                </p:cNvPr>
                <p:cNvGrpSpPr/>
                <p:nvPr userDrawn="1"/>
              </p:nvGrpSpPr>
              <p:grpSpPr>
                <a:xfrm>
                  <a:off x="12656612" y="1600201"/>
                  <a:ext cx="1110189" cy="1997672"/>
                  <a:chOff x="12656612" y="1600201"/>
                  <a:chExt cx="1110189" cy="1997672"/>
                </a:xfrm>
              </p:grpSpPr>
              <p:sp>
                <p:nvSpPr>
                  <p:cNvPr id="29" name="Rectangle 28">
                    <a:extLst>
                      <a:ext uri="{FF2B5EF4-FFF2-40B4-BE49-F238E27FC236}">
                        <a16:creationId xmlns:a16="http://schemas.microsoft.com/office/drawing/2014/main" id="{22CA2EB4-8E31-44B3-AFC1-0B7780F773B9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2656612" y="1608582"/>
                    <a:ext cx="487926" cy="931418"/>
                  </a:xfrm>
                  <a:prstGeom prst="rect">
                    <a:avLst/>
                  </a:prstGeom>
                  <a:solidFill>
                    <a:schemeClr val="tx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76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89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102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30" name="Rectangle 29">
                    <a:extLst>
                      <a:ext uri="{FF2B5EF4-FFF2-40B4-BE49-F238E27FC236}">
                        <a16:creationId xmlns:a16="http://schemas.microsoft.com/office/drawing/2014/main" id="{352A0DE7-9D81-488C-A89F-7FB66C331B8F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3255096" y="1600201"/>
                    <a:ext cx="510623" cy="939942"/>
                  </a:xfrm>
                  <a:prstGeom prst="rect">
                    <a:avLst/>
                  </a:prstGeom>
                  <a:solidFill>
                    <a:schemeClr val="tx2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239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62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45</a:t>
                    </a:r>
                  </a:p>
                </p:txBody>
              </p:sp>
              <p:sp>
                <p:nvSpPr>
                  <p:cNvPr id="31" name="Rectangle 30">
                    <a:extLst>
                      <a:ext uri="{FF2B5EF4-FFF2-40B4-BE49-F238E27FC236}">
                        <a16:creationId xmlns:a16="http://schemas.microsoft.com/office/drawing/2014/main" id="{17A91756-A847-433D-B065-8F47D3341458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2657951" y="2657931"/>
                    <a:ext cx="485249" cy="939942"/>
                  </a:xfrm>
                  <a:prstGeom prst="rect">
                    <a:avLst/>
                  </a:prstGeom>
                  <a:solidFill>
                    <a:schemeClr val="accent3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157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160</a:t>
                    </a:r>
                  </a:p>
                </p:txBody>
              </p:sp>
              <p:sp>
                <p:nvSpPr>
                  <p:cNvPr id="32" name="Rectangle 31">
                    <a:extLst>
                      <a:ext uri="{FF2B5EF4-FFF2-40B4-BE49-F238E27FC236}">
                        <a16:creationId xmlns:a16="http://schemas.microsoft.com/office/drawing/2014/main" id="{0B779625-363B-4627-9E56-0BC68D3F7C74}"/>
                      </a:ext>
                    </a:extLst>
                  </p:cNvPr>
                  <p:cNvSpPr/>
                  <p:nvPr userDrawn="1"/>
                </p:nvSpPr>
                <p:spPr bwMode="auto">
                  <a:xfrm>
                    <a:off x="13253915" y="2657317"/>
                    <a:ext cx="512886" cy="939942"/>
                  </a:xfrm>
                  <a:prstGeom prst="rect">
                    <a:avLst/>
                  </a:prstGeom>
                  <a:solidFill>
                    <a:schemeClr val="accent1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246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141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61</a:t>
                    </a:r>
                  </a:p>
                </p:txBody>
              </p:sp>
            </p:grpSp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9A3ECAB-4F77-4010-81F2-A9F55C26B0FE}"/>
                    </a:ext>
                  </a:extLst>
                </p:cNvPr>
                <p:cNvSpPr/>
                <p:nvPr userDrawn="1"/>
              </p:nvSpPr>
              <p:spPr bwMode="auto">
                <a:xfrm>
                  <a:off x="12543692" y="1512278"/>
                  <a:ext cx="1324708" cy="218049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9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pc="-50" err="1">
                    <a:ln>
                      <a:solidFill>
                        <a:schemeClr val="tx1"/>
                      </a:solidFill>
                    </a:ln>
                    <a:noFill/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A0CF94E-34F4-449D-922C-6F982CE625B6}"/>
                  </a:ext>
                </a:extLst>
              </p:cNvPr>
              <p:cNvSpPr txBox="1"/>
              <p:nvPr userDrawn="1"/>
            </p:nvSpPr>
            <p:spPr>
              <a:xfrm rot="5400000">
                <a:off x="13364309" y="2004645"/>
                <a:ext cx="13247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Primary Colors</a:t>
                </a:r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A2D8A50-D8F7-48B3-ABF8-F5EADDBA67FE}"/>
                </a:ext>
              </a:extLst>
            </p:cNvPr>
            <p:cNvGrpSpPr/>
            <p:nvPr userDrawn="1"/>
          </p:nvGrpSpPr>
          <p:grpSpPr>
            <a:xfrm>
              <a:off x="12543692" y="3974125"/>
              <a:ext cx="1598750" cy="2180492"/>
              <a:chOff x="12543692" y="3974125"/>
              <a:chExt cx="1598750" cy="2180492"/>
            </a:xfrm>
          </p:grpSpPr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2CB5C0CE-86F2-457A-BA24-83C7B151AF98}"/>
                  </a:ext>
                </a:extLst>
              </p:cNvPr>
              <p:cNvGrpSpPr/>
              <p:nvPr userDrawn="1"/>
            </p:nvGrpSpPr>
            <p:grpSpPr>
              <a:xfrm>
                <a:off x="12543692" y="3974125"/>
                <a:ext cx="1324708" cy="2180492"/>
                <a:chOff x="12543692" y="3880340"/>
                <a:chExt cx="1324708" cy="2180492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5FF397D-FEAE-434B-8540-0B40971C8D91}"/>
                    </a:ext>
                  </a:extLst>
                </p:cNvPr>
                <p:cNvGrpSpPr/>
                <p:nvPr userDrawn="1"/>
              </p:nvGrpSpPr>
              <p:grpSpPr>
                <a:xfrm>
                  <a:off x="12654270" y="3972341"/>
                  <a:ext cx="1116910" cy="1999185"/>
                  <a:chOff x="12654270" y="3972341"/>
                  <a:chExt cx="1116910" cy="1999185"/>
                </a:xfrm>
              </p:grpSpPr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B86EEC33-B9C1-435E-AF78-10E09103E37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657074" y="3973712"/>
                    <a:ext cx="487002" cy="939942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240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83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45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2" name="Rectangle 21">
                    <a:extLst>
                      <a:ext uri="{FF2B5EF4-FFF2-40B4-BE49-F238E27FC236}">
                        <a16:creationId xmlns:a16="http://schemas.microsoft.com/office/drawing/2014/main" id="{25F8C24C-8BD7-4E5C-A38A-A3282467F3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251930" y="3972341"/>
                    <a:ext cx="516685" cy="939940"/>
                  </a:xfrm>
                  <a:prstGeom prst="rect">
                    <a:avLst/>
                  </a:prstGeom>
                  <a:solidFill>
                    <a:schemeClr val="accent5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142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184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gradFill>
                          <a:gsLst>
                            <a:gs pos="0">
                              <a:srgbClr val="FFFFFF"/>
                            </a:gs>
                            <a:gs pos="100000">
                              <a:srgbClr val="FFFFFF"/>
                            </a:gs>
                          </a:gsLst>
                          <a:lin ang="5400000" scaled="0"/>
                        </a:gra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201</a:t>
                    </a:r>
                    <a:endParaRPr lang="en-US" sz="1000" spc="-50" baseline="-25000">
                      <a:solidFill>
                        <a:schemeClr val="tx1"/>
                      </a:soli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B53ED53B-CF7B-45E5-B218-E316F9E9427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654270" y="5031584"/>
                    <a:ext cx="492611" cy="939942"/>
                  </a:xfrm>
                  <a:prstGeom prst="rect">
                    <a:avLst/>
                  </a:prstGeom>
                  <a:solidFill>
                    <a:schemeClr val="accent6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219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217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214</a:t>
                    </a:r>
                    <a:endParaRPr lang="en-US" sz="1000" spc="-50" baseline="-25000">
                      <a:gradFill>
                        <a:gsLst>
                          <a:gs pos="0">
                            <a:srgbClr val="FFFFFF"/>
                          </a:gs>
                          <a:gs pos="100000">
                            <a:srgbClr val="FFFFFF"/>
                          </a:gs>
                        </a:gsLst>
                        <a:lin ang="5400000" scaled="0"/>
                      </a:gra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  <p:sp>
                <p:nvSpPr>
                  <p:cNvPr id="24" name="Rectangle 23">
                    <a:extLst>
                      <a:ext uri="{FF2B5EF4-FFF2-40B4-BE49-F238E27FC236}">
                        <a16:creationId xmlns:a16="http://schemas.microsoft.com/office/drawing/2014/main" id="{E5AB06C2-E230-4DB5-9BD8-56AD4E6E04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3249124" y="5029455"/>
                    <a:ext cx="522056" cy="939940"/>
                  </a:xfrm>
                  <a:prstGeom prst="rect">
                    <a:avLst/>
                  </a:prstGeom>
                  <a:solidFill>
                    <a:schemeClr val="accent4"/>
                  </a:solidFill>
                  <a:ln>
                    <a:noFill/>
                    <a:headEnd type="none" w="med" len="med"/>
                    <a:tailEnd type="none" w="med" len="med"/>
                  </a:ln>
                  <a:effectLst/>
                </p:spPr>
                <p:style>
                  <a:lnRef idx="1">
                    <a:schemeClr val="accent2"/>
                  </a:lnRef>
                  <a:fillRef idx="3">
                    <a:schemeClr val="accent2"/>
                  </a:fillRef>
                  <a:effectRef idx="2">
                    <a:schemeClr val="accent2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91440" rIns="45720" bIns="91440" numCol="1" spcCol="0" rtlCol="0" fromWordArt="0" anchor="b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R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202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G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232</a:t>
                    </a:r>
                  </a:p>
                  <a:p>
                    <a:pPr defTabSz="914099" fontAlgn="base"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000" b="1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B</a:t>
                    </a:r>
                    <a:r>
                      <a:rPr lang="en-US" sz="1000" spc="-50">
                        <a:solidFill>
                          <a:schemeClr val="tx1"/>
                        </a:solidFill>
                        <a:latin typeface="Segoe UI" pitchFamily="34" charset="0"/>
                        <a:ea typeface="Segoe UI" pitchFamily="34" charset="0"/>
                        <a:cs typeface="Segoe UI" pitchFamily="34" charset="0"/>
                      </a:rPr>
                      <a:t> 228</a:t>
                    </a:r>
                    <a:endParaRPr lang="en-US" sz="1000" spc="-50" baseline="-25000">
                      <a:solidFill>
                        <a:schemeClr val="tx1"/>
                      </a:solidFill>
                      <a:latin typeface="Segoe UI" pitchFamily="34" charset="0"/>
                      <a:ea typeface="Segoe UI" pitchFamily="34" charset="0"/>
                      <a:cs typeface="Segoe UI" pitchFamily="34" charset="0"/>
                    </a:endParaRP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E96AB078-A744-4F11-A921-09083DCE932D}"/>
                    </a:ext>
                  </a:extLst>
                </p:cNvPr>
                <p:cNvSpPr/>
                <p:nvPr userDrawn="1"/>
              </p:nvSpPr>
              <p:spPr bwMode="auto">
                <a:xfrm>
                  <a:off x="12543692" y="3880340"/>
                  <a:ext cx="1324708" cy="218049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  <a:headEnd type="none" w="med" len="med"/>
                  <a:tailEnd type="none" w="med" len="med"/>
                </a:ln>
                <a:effectLst/>
              </p:spPr>
              <p:style>
                <a:lnRef idx="1">
                  <a:schemeClr val="accent2"/>
                </a:lnRef>
                <a:fillRef idx="3">
                  <a:schemeClr val="accent2"/>
                </a:fillRef>
                <a:effectRef idx="2">
                  <a:schemeClr val="accent2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45720" bIns="91440" numCol="1" spcCol="0" rtlCol="0" fromWordArt="0" anchor="b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 defTabSz="914099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pc="-50" err="1">
                    <a:ln>
                      <a:solidFill>
                        <a:schemeClr val="tx1"/>
                      </a:solidFill>
                    </a:ln>
                    <a:noFill/>
                    <a:latin typeface="Segoe UI" pitchFamily="34" charset="0"/>
                    <a:ea typeface="Segoe UI" pitchFamily="34" charset="0"/>
                    <a:cs typeface="Segoe UI" pitchFamily="34" charset="0"/>
                  </a:endParaRPr>
                </a:p>
              </p:txBody>
            </p:sp>
          </p:grp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3B65617-DE3C-457D-95B2-B08769B069B3}"/>
                  </a:ext>
                </a:extLst>
              </p:cNvPr>
              <p:cNvSpPr txBox="1"/>
              <p:nvPr userDrawn="1"/>
            </p:nvSpPr>
            <p:spPr>
              <a:xfrm rot="5400000">
                <a:off x="13387755" y="4548553"/>
                <a:ext cx="1324708" cy="18466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  <a:latin typeface="Segoe UI Semibold" panose="020B0702040204020203" pitchFamily="34" charset="0"/>
                    <a:cs typeface="Segoe UI Semibold" panose="020B0702040204020203" pitchFamily="34" charset="0"/>
                  </a:rPr>
                  <a:t>Secondary Colors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50595036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you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48B4B3-7BED-714D-BD5F-C9B4B6C6CF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340972"/>
            <a:ext cx="12192000" cy="1931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C3985-3369-4CCE-BBC7-72A2169667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57B0F835-D73C-4D88-9515-22E1AFEE243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95300" y="1838324"/>
            <a:ext cx="11201400" cy="39909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2DC319-3378-42D6-BB6E-01CDE0ABED36}"/>
              </a:ext>
            </a:extLst>
          </p:cNvPr>
          <p:cNvGrpSpPr/>
          <p:nvPr userDrawn="1"/>
        </p:nvGrpSpPr>
        <p:grpSpPr>
          <a:xfrm>
            <a:off x="11601450" y="6279445"/>
            <a:ext cx="401560" cy="397212"/>
            <a:chOff x="7823763" y="5316316"/>
            <a:chExt cx="569847" cy="563678"/>
          </a:xfrm>
        </p:grpSpPr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C6C46203-87C6-477A-B25F-6A6E8F9E4CEC}"/>
                </a:ext>
              </a:extLst>
            </p:cNvPr>
            <p:cNvSpPr>
              <a:spLocks/>
            </p:cNvSpPr>
            <p:nvPr/>
          </p:nvSpPr>
          <p:spPr bwMode="auto">
            <a:xfrm>
              <a:off x="7823763" y="5316316"/>
              <a:ext cx="569847" cy="563678"/>
            </a:xfrm>
            <a:custGeom>
              <a:avLst/>
              <a:gdLst>
                <a:gd name="T0" fmla="*/ 78 w 271"/>
                <a:gd name="T1" fmla="*/ 214 h 265"/>
                <a:gd name="T2" fmla="*/ 135 w 271"/>
                <a:gd name="T3" fmla="*/ 157 h 265"/>
                <a:gd name="T4" fmla="*/ 191 w 271"/>
                <a:gd name="T5" fmla="*/ 214 h 265"/>
                <a:gd name="T6" fmla="*/ 159 w 271"/>
                <a:gd name="T7" fmla="*/ 265 h 265"/>
                <a:gd name="T8" fmla="*/ 271 w 271"/>
                <a:gd name="T9" fmla="*/ 265 h 265"/>
                <a:gd name="T10" fmla="*/ 135 w 271"/>
                <a:gd name="T11" fmla="*/ 0 h 265"/>
                <a:gd name="T12" fmla="*/ 0 w 271"/>
                <a:gd name="T13" fmla="*/ 265 h 265"/>
                <a:gd name="T14" fmla="*/ 111 w 271"/>
                <a:gd name="T15" fmla="*/ 265 h 265"/>
                <a:gd name="T16" fmla="*/ 78 w 271"/>
                <a:gd name="T17" fmla="*/ 214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1" h="265">
                  <a:moveTo>
                    <a:pt x="78" y="214"/>
                  </a:moveTo>
                  <a:cubicBezTo>
                    <a:pt x="78" y="183"/>
                    <a:pt x="104" y="157"/>
                    <a:pt x="135" y="157"/>
                  </a:cubicBezTo>
                  <a:cubicBezTo>
                    <a:pt x="166" y="157"/>
                    <a:pt x="191" y="183"/>
                    <a:pt x="191" y="214"/>
                  </a:cubicBezTo>
                  <a:cubicBezTo>
                    <a:pt x="191" y="237"/>
                    <a:pt x="178" y="256"/>
                    <a:pt x="159" y="265"/>
                  </a:cubicBezTo>
                  <a:cubicBezTo>
                    <a:pt x="271" y="265"/>
                    <a:pt x="271" y="265"/>
                    <a:pt x="271" y="265"/>
                  </a:cubicBezTo>
                  <a:cubicBezTo>
                    <a:pt x="135" y="0"/>
                    <a:pt x="135" y="0"/>
                    <a:pt x="135" y="0"/>
                  </a:cubicBezTo>
                  <a:cubicBezTo>
                    <a:pt x="0" y="265"/>
                    <a:pt x="0" y="265"/>
                    <a:pt x="0" y="265"/>
                  </a:cubicBezTo>
                  <a:cubicBezTo>
                    <a:pt x="111" y="265"/>
                    <a:pt x="111" y="265"/>
                    <a:pt x="111" y="265"/>
                  </a:cubicBezTo>
                  <a:cubicBezTo>
                    <a:pt x="92" y="256"/>
                    <a:pt x="78" y="237"/>
                    <a:pt x="78" y="214"/>
                  </a:cubicBezTo>
                </a:path>
              </a:pathLst>
            </a:cu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2C44F6F-395A-476C-89E9-A474DFBFBF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202306" y="5330711"/>
              <a:ext cx="167662" cy="168692"/>
            </a:xfrm>
            <a:prstGeom prst="ellipse">
              <a:avLst/>
            </a:prstGeom>
            <a:solidFill>
              <a:srgbClr val="EF3E2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325D87A-BC2E-4212-A3B1-512A6CAB1274}"/>
              </a:ext>
            </a:extLst>
          </p:cNvPr>
          <p:cNvSpPr txBox="1">
            <a:spLocks/>
          </p:cNvSpPr>
          <p:nvPr userDrawn="1"/>
        </p:nvSpPr>
        <p:spPr>
          <a:xfrm>
            <a:off x="3611345" y="6445886"/>
            <a:ext cx="4969310" cy="135550"/>
          </a:xfrm>
          <a:prstGeom prst="rect">
            <a:avLst/>
          </a:prstGeom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100"/>
              </a:lnSpc>
            </a:pPr>
            <a:r>
              <a:rPr lang="en-US" sz="900">
                <a:solidFill>
                  <a:srgbClr val="808080"/>
                </a:solidFill>
                <a:latin typeface="+mn-lt"/>
                <a:cs typeface="Segoe UI Semilight" panose="020B0402040204020203" pitchFamily="34" charset="0"/>
              </a:rPr>
              <a:t>©AvePoint, Inc. All rights reserved. Confidential and proprietary information of AvePoint, Inc. </a:t>
            </a:r>
          </a:p>
        </p:txBody>
      </p:sp>
    </p:spTree>
    <p:extLst>
      <p:ext uri="{BB962C8B-B14F-4D97-AF65-F5344CB8AC3E}">
        <p14:creationId xmlns:p14="http://schemas.microsoft.com/office/powerpoint/2010/main" val="4213596968"/>
      </p:ext>
    </p:extLst>
  </p:cSld>
  <p:clrMapOvr>
    <a:masterClrMapping/>
  </p:clrMapOvr>
  <p:transition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8F30BF-EFA8-B21B-4C5C-73DB6282C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93D36-BF80-157F-4A4F-A9EA8DFE55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A747F-F91E-FDDA-C777-5E7B74C96D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6B610E-0849-4B54-8D7A-341BFF9E8172}" type="datetimeFigureOut">
              <a:rPr lang="en-PH" smtClean="0"/>
              <a:t>13/10/2026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0235F-1354-3260-FE70-425C653B6C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D7CFF-4513-7DC8-5BA9-1CB3B36F37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B62103-952B-40C5-BACA-0A1B9F9E1991}" type="slidenum">
              <a:rPr lang="en-PH" smtClean="0"/>
              <a:t>‹#›</a:t>
            </a:fld>
            <a:endParaRPr lang="en-PH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7BB336-2FC9-486F-B15C-3C19A7CD2EC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3379788" y="6672580"/>
            <a:ext cx="5454650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INTERNAL. This information is accessible to ADB Management and staff. It may be shared outside ADB with appropriate permission.</a:t>
            </a:r>
          </a:p>
        </p:txBody>
      </p:sp>
    </p:spTree>
    <p:extLst>
      <p:ext uri="{BB962C8B-B14F-4D97-AF65-F5344CB8AC3E}">
        <p14:creationId xmlns:p14="http://schemas.microsoft.com/office/powerpoint/2010/main" val="2976489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8" r:id="rId3"/>
    <p:sldLayoutId id="2147483650" r:id="rId4"/>
    <p:sldLayoutId id="2147483660" r:id="rId5"/>
    <p:sldLayoutId id="2147483654" r:id="rId6"/>
    <p:sldLayoutId id="2147483661" r:id="rId7"/>
    <p:sldLayoutId id="2147483657" r:id="rId8"/>
    <p:sldLayoutId id="2147483662" r:id="rId9"/>
    <p:sldLayoutId id="2147483666" r:id="rId10"/>
    <p:sldLayoutId id="2147483674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Relationship Id="rId3" Type="http://schemas.openxmlformats.org/officeDocument/2006/relationships/hyperlink" Target="https://asiandevbank.sharepoint.com/teams/prj_3yrc_drm_implem/Docs/Forms/AllItems.aspx?viewid=d4ea26ba%2De1c2%2D4eb4%2Dae0b%2D0dc6e179dd5f&amp;id=%2Fteams%2Fprj%5F3yrc%5Fdrm%5Fimplem%2FDocs%2F02%20%2D%20Requirements%20Gathering%2FRelease%202026%2E4%20Utilization%20Report%2FRequirements%27%20Workshop%2FEDRMS%20Mockups%20V2%2E0%2Epdf&amp;parent=%2Fteams%2Fprj%5F3yrc%5Fdrm%5Fimplem%2FDocs%2F02%20%2D%20Requirements%20Gathering%2FRelease%202026%2E4%20Utilization%20Report%2FRequirements%27%20Worksho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4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/>
              <a:t>EDRMS Utilization Report</a:t>
            </a:r>
          </a:p>
          <a:p>
            <a:r>
              <a:rPr sz="4400"/>
              <a:t>Release 2026.4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Reconfirmation of Requirements  |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5398" y="1093242"/>
            <a:ext cx="5136905" cy="715666"/>
          </a:xfrm>
        </p:spPr>
        <p:txBody>
          <a:bodyPr/>
          <a:lstStyle/>
          <a:p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83080" y="1783080"/>
            <a:ext cx="4754880" cy="2585323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1.  Session Objective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2.  Full Mockup (for reference)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3.  Release 2026.4 Scope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4.  Bank-wide Oversight: Items to Confirm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5.  Department Insights: Items to Confirm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6.  Export Options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002569"/>
                </a:solidFill>
              </a:rPr>
              <a:t>7.  Summary of Inputs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SESSION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27699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 dirty="0">
                <a:solidFill>
                  <a:srgbClr val="595959"/>
                </a:solidFill>
              </a:rPr>
              <a:t>Reconfirm the requirements for Release 2026.4 </a:t>
            </a:r>
            <a:r>
              <a:rPr lang="en-PH" sz="1200" dirty="0">
                <a:solidFill>
                  <a:srgbClr val="595959"/>
                </a:solidFill>
              </a:rPr>
              <a:t>– Utilization Report</a:t>
            </a:r>
            <a:endParaRPr sz="1200" b="0" dirty="0">
              <a:solidFill>
                <a:srgbClr val="595959"/>
              </a:solidFill>
            </a:endParaRPr>
          </a:p>
        </p:txBody>
      </p:sp>
      <p:sp>
        <p:nvSpPr>
          <p:cNvPr id="5" name="Pentagon 4"/>
          <p:cNvSpPr/>
          <p:nvPr/>
        </p:nvSpPr>
        <p:spPr>
          <a:xfrm>
            <a:off x="548640" y="1508760"/>
            <a:ext cx="3520440" cy="502920"/>
          </a:xfrm>
          <a:prstGeom prst="homePlate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REVIEW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306324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1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See the full mockup of Bank-wide Oversight and Department Insights, and say if anything should change.</a:t>
            </a:r>
          </a:p>
        </p:txBody>
      </p:sp>
      <p:sp>
        <p:nvSpPr>
          <p:cNvPr id="8" name="Chevron 7"/>
          <p:cNvSpPr/>
          <p:nvPr/>
        </p:nvSpPr>
        <p:spPr>
          <a:xfrm>
            <a:off x="4343400" y="1508760"/>
            <a:ext cx="3520440" cy="502920"/>
          </a:xfrm>
          <a:prstGeom prst="chevron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CONFIRM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2331720"/>
            <a:ext cx="306324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2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Go item by item: confirm what is agreed and settle the open questions.</a:t>
            </a:r>
          </a:p>
        </p:txBody>
      </p:sp>
      <p:sp>
        <p:nvSpPr>
          <p:cNvPr id="11" name="Chevron 10"/>
          <p:cNvSpPr/>
          <p:nvPr/>
        </p:nvSpPr>
        <p:spPr>
          <a:xfrm>
            <a:off x="8138160" y="1508760"/>
            <a:ext cx="3520440" cy="502920"/>
          </a:xfrm>
          <a:prstGeom prst="chevron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PROVIDE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2240280"/>
            <a:ext cx="3246120" cy="146304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331720"/>
            <a:ext cx="3063240" cy="12801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200"/>
              </a:spcAft>
            </a:pPr>
            <a:r>
              <a:rPr sz="2800" b="1">
                <a:solidFill>
                  <a:srgbClr val="002569"/>
                </a:solidFill>
              </a:rPr>
              <a:t>3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002569"/>
                </a:solidFill>
              </a:rPr>
              <a:t>Agree who provides the remaining lists and links, and by when.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69080"/>
            <a:ext cx="82296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002569"/>
                </a:solidFill>
              </a:rPr>
              <a:t>How each item is marked in this deck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526280"/>
            <a:ext cx="1280160" cy="329184"/>
          </a:xfrm>
          <a:prstGeom prst="roundRect">
            <a:avLst/>
          </a:prstGeom>
          <a:solidFill>
            <a:srgbClr val="E2F0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375623"/>
                </a:solidFill>
              </a:rPr>
              <a:t>Agreed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4480560"/>
            <a:ext cx="2377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Settled earlier. Confirm it still stands.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4526280"/>
            <a:ext cx="1280160" cy="329184"/>
          </a:xfrm>
          <a:prstGeom prst="roundRect">
            <a:avLst/>
          </a:prstGeom>
          <a:solidFill>
            <a:srgbClr val="FFF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7F6000"/>
                </a:solidFill>
              </a:rPr>
              <a:t>To confirm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480560"/>
            <a:ext cx="2377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A decision is needed in this session.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4526280"/>
            <a:ext cx="1280160" cy="329184"/>
          </a:xfrm>
          <a:prstGeom prst="roundRect">
            <a:avLst/>
          </a:prstGeom>
          <a:solidFill>
            <a:srgbClr val="FCE4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C00000"/>
                </a:solidFill>
              </a:rPr>
              <a:t>Input needed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64040" y="4480560"/>
            <a:ext cx="2377440" cy="5486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262626"/>
                </a:solidFill>
              </a:rPr>
              <a:t>A list, link or figure is needed from RAC.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 dirty="0"/>
              <a:t>FULL MOCKUP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Shared for reference: the complete picture of what will be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5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9236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360920" y="1417320"/>
            <a:ext cx="4434840" cy="23317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60920" y="128016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OPEN THE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1600200"/>
            <a:ext cx="4206240" cy="1620957"/>
          </a:xfrm>
          <a:prstGeom prst="rect">
            <a:avLst/>
          </a:prstGeom>
          <a:noFill/>
        </p:spPr>
        <p:txBody>
          <a:bodyPr wrap="square" lIns="73152" tIns="45720" rIns="73152" bIns="45720" anchor="t">
            <a:spAutoFit/>
          </a:bodyPr>
          <a:lstStyle/>
          <a:p>
            <a:pPr>
              <a:spcAft>
                <a:spcPts val="800"/>
              </a:spcAft>
            </a:pPr>
            <a:r>
              <a:rPr sz="1400" b="1" dirty="0">
                <a:solidFill>
                  <a:srgbClr val="002569"/>
                </a:solidFill>
                <a:hlinkClick r:id="rId3"/>
              </a:rPr>
              <a:t>Release 2026.4 mockup (PDF)</a:t>
            </a:r>
          </a:p>
          <a:p>
            <a:pPr marL="228600" indent="-228600">
              <a:spcAft>
                <a:spcPts val="400"/>
              </a:spcAft>
              <a:buFont typeface="Arial"/>
              <a:buChar char="▸"/>
            </a:pPr>
            <a:r>
              <a:rPr sz="1200" b="0" dirty="0">
                <a:solidFill>
                  <a:srgbClr val="002569"/>
                </a:solidFill>
              </a:rPr>
              <a:t>Every page of Bank-wide Oversight and Department Insights, so you can see the full report.</a:t>
            </a:r>
          </a:p>
          <a:p>
            <a:pPr marL="228600" indent="-228600">
              <a:spcAft>
                <a:spcPts val="400"/>
              </a:spcAft>
              <a:buFont typeface="Arial"/>
              <a:buChar char="▸"/>
            </a:pPr>
            <a:r>
              <a:rPr sz="1200" b="0" dirty="0">
                <a:solidFill>
                  <a:srgbClr val="002569"/>
                </a:solidFill>
              </a:rPr>
              <a:t>Names and labels have been revised and shortened, as agreed in our last discussion.</a:t>
            </a:r>
          </a:p>
          <a:p>
            <a:pPr marL="228600" indent="-228600">
              <a:spcAft>
                <a:spcPts val="400"/>
              </a:spcAft>
              <a:buFont typeface="Arial"/>
              <a:buChar char="▸"/>
            </a:pPr>
            <a:r>
              <a:rPr sz="1200" b="0" dirty="0">
                <a:solidFill>
                  <a:srgbClr val="002569"/>
                </a:solidFill>
              </a:rPr>
              <a:t>All figures are sample data. They show layout, not actual EDRMS usage.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60920" y="4069080"/>
            <a:ext cx="4434840" cy="14173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360920" y="393192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52360" y="4297680"/>
            <a:ext cx="4251959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Are you okay with the mockup design?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Is there anything you wish to change, or remove as not needed?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RELEASE 2026.4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Two dashboards are the MVP for this release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2120" y="1280160"/>
            <a:ext cx="6217920" cy="2377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500" b="1" dirty="0">
                <a:solidFill>
                  <a:srgbClr val="002569"/>
                </a:solidFill>
              </a:rPr>
              <a:t>In this release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300" b="0" dirty="0">
                <a:solidFill>
                  <a:srgbClr val="262626"/>
                </a:solidFill>
              </a:rPr>
              <a:t>Bank-wide Oversight</a:t>
            </a:r>
          </a:p>
          <a:p>
            <a:pPr marL="228600" indent="-228600">
              <a:spcAft>
                <a:spcPts val="1000"/>
              </a:spcAft>
              <a:buFont typeface="Arial"/>
              <a:buChar char="▸"/>
            </a:pPr>
            <a:r>
              <a:rPr sz="1300" b="0" dirty="0">
                <a:solidFill>
                  <a:srgbClr val="262626"/>
                </a:solidFill>
              </a:rPr>
              <a:t>Department Insights</a:t>
            </a:r>
          </a:p>
          <a:p>
            <a:pPr>
              <a:spcAft>
                <a:spcPts val="400"/>
              </a:spcAft>
            </a:pPr>
            <a:r>
              <a:rPr sz="1500" b="1" dirty="0">
                <a:solidFill>
                  <a:srgbClr val="002569"/>
                </a:solidFill>
              </a:rPr>
              <a:t>Future release</a:t>
            </a:r>
          </a:p>
          <a:p>
            <a:pPr marL="228600" indent="-228600">
              <a:spcAft>
                <a:spcPts val="400"/>
              </a:spcAft>
              <a:buFont typeface="Arial"/>
              <a:buChar char="▸"/>
            </a:pPr>
            <a:r>
              <a:rPr sz="1300" b="0" dirty="0">
                <a:solidFill>
                  <a:srgbClr val="262626"/>
                </a:solidFill>
              </a:rPr>
              <a:t>Project Insights, Institutional File Plan, Retention &amp; Disposal, Records &amp; Archive Holdings</a:t>
            </a:r>
          </a:p>
        </p:txBody>
      </p:sp>
      <p:sp>
        <p:nvSpPr>
          <p:cNvPr id="8" name="Rectangle 7"/>
          <p:cNvSpPr/>
          <p:nvPr/>
        </p:nvSpPr>
        <p:spPr>
          <a:xfrm>
            <a:off x="5532120" y="3977639"/>
            <a:ext cx="6263640" cy="160020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532120" y="3840479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23559" y="4206240"/>
            <a:ext cx="6080759" cy="13258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For the four future dashboards: Option A, keep them visible but disabled (as in the mockup), or Option B, hide them completely from the Utilization Report site?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1188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B73"/>
                </a:solidFill>
              </a:rPr>
              <a:t>Option A: Disabled</a:t>
            </a:r>
          </a:p>
          <a:p>
            <a:r>
              <a:rPr sz="1000">
                <a:solidFill>
                  <a:srgbClr val="404040"/>
                </a:solidFill>
              </a:rPr>
              <a:t>As in the mockup. Future dashboards are listed, greyed out, and cannot be opened.</a:t>
            </a:r>
          </a:p>
        </p:txBody>
      </p:sp>
      <p:pic>
        <p:nvPicPr>
          <p:cNvPr id="12" name="Picture 11" descr="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2194560"/>
            <a:ext cx="2331720" cy="246126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2816352" y="1188720"/>
            <a:ext cx="2331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B73"/>
                </a:solidFill>
              </a:rPr>
              <a:t>Option B: Hidden</a:t>
            </a:r>
          </a:p>
          <a:p>
            <a:r>
              <a:rPr sz="1000">
                <a:solidFill>
                  <a:srgbClr val="404040"/>
                </a:solidFill>
              </a:rPr>
              <a:t>Only the two live dashboards are shown. Future ones appear when released.</a:t>
            </a:r>
          </a:p>
        </p:txBody>
      </p:sp>
      <p:pic>
        <p:nvPicPr>
          <p:cNvPr id="14" name="Picture 13" descr="c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6352" y="2194560"/>
            <a:ext cx="2331720" cy="246126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071" y="3071167"/>
            <a:ext cx="6000000" cy="715666"/>
          </a:xfrm>
        </p:spPr>
        <p:txBody>
          <a:bodyPr/>
          <a:lstStyle/>
          <a:p>
            <a:pPr algn="l"/>
            <a:r>
              <a:rPr sz="3000" dirty="0"/>
              <a:t>BANK-WIDE OVERSIGHT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657600"/>
            <a:ext cx="530352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Four headline cards and three panels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ACTIVE EDRMS 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1 of 4: compliant, active sites with the Top 10 chart and the sites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55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9236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6139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Active EDRMS sites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Sites marked EDRMS in Cloud Governance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Top 10 by number of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Ranked bars, units with the most EDRMS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by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Searchable, paged table from the Cloud Governance Department field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7F6000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374136"/>
            <a:ext cx="4492447" cy="1630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33488" y="3236976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7" y="3379216"/>
            <a:ext cx="4309567" cy="1513235"/>
          </a:xfrm>
          <a:prstGeom prst="rect">
            <a:avLst/>
          </a:prstGeom>
          <a:noFill/>
        </p:spPr>
        <p:txBody>
          <a:bodyPr wrap="square" lIns="73152" tIns="45720" rIns="73152" bIns="45720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endParaRPr lang="en-US" sz="1200" dirty="0">
              <a:solidFill>
                <a:srgbClr val="002569"/>
              </a:solidFill>
              <a:ea typeface="+mn-lt"/>
              <a:cs typeface="+mn-lt"/>
            </a:endParaRP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200" dirty="0">
                <a:solidFill>
                  <a:srgbClr val="002569"/>
                </a:solidFill>
                <a:ea typeface="+mn-lt"/>
                <a:cs typeface="+mn-lt"/>
              </a:rPr>
              <a:t>RAC requested the label “</a:t>
            </a:r>
            <a:r>
              <a:rPr lang="en-US" sz="1200" b="0" dirty="0">
                <a:solidFill>
                  <a:srgbClr val="002569"/>
                </a:solidFill>
                <a:ea typeface="+mn-lt"/>
                <a:cs typeface="+mn-lt"/>
              </a:rPr>
              <a:t>Department / Office / RM / RO</a:t>
            </a:r>
            <a:r>
              <a:rPr lang="en-US" sz="1200" dirty="0">
                <a:solidFill>
                  <a:srgbClr val="002569"/>
                </a:solidFill>
                <a:ea typeface="+mn-lt"/>
                <a:cs typeface="+mn-lt"/>
              </a:rPr>
              <a:t>.” We received a file already from sir </a:t>
            </a:r>
            <a:r>
              <a:rPr lang="en-US" sz="1200" dirty="0" err="1">
                <a:solidFill>
                  <a:srgbClr val="002569"/>
                </a:solidFill>
                <a:ea typeface="+mn-lt"/>
                <a:cs typeface="+mn-lt"/>
              </a:rPr>
              <a:t>Rotsen</a:t>
            </a:r>
            <a:r>
              <a:rPr lang="en-US" sz="1200" dirty="0">
                <a:solidFill>
                  <a:srgbClr val="002569"/>
                </a:solidFill>
                <a:ea typeface="+mn-lt"/>
                <a:cs typeface="+mn-lt"/>
              </a:rPr>
              <a:t> for all the list of the departments.</a:t>
            </a: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200">
                <a:solidFill>
                  <a:srgbClr val="002569"/>
                </a:solidFill>
                <a:ea typeface="+mn-lt"/>
                <a:cs typeface="+mn-lt"/>
              </a:rPr>
              <a:t>Can you confirm that “Department / Office / RM / RO” is only a label, and there is no separate list for Offices</a:t>
            </a:r>
            <a:r>
              <a:rPr lang="en-US" sz="1200" b="0">
                <a:solidFill>
                  <a:srgbClr val="002569"/>
                </a:solidFill>
                <a:ea typeface="+mn-lt"/>
                <a:cs typeface="+mn-lt"/>
              </a:rPr>
              <a:t>, RMs and ROs?</a:t>
            </a:r>
            <a:endParaRPr lang="en-US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EDRMS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2 of 4: approximate workforce headcount, users active, no access and training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69513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62198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3458259"/>
              </p:ext>
            </p:extLst>
          </p:nvPr>
        </p:nvGraphicFramePr>
        <p:xfrm>
          <a:off x="7333488" y="1243584"/>
          <a:ext cx="4492447" cy="202234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EDRMS users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Approximate (rounded) headcount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Active in last 180 days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noProof="0" dirty="0">
                          <a:solidFill>
                            <a:srgbClr val="262626"/>
                          </a:solidFill>
                          <a:latin typeface="Segoe UI"/>
                          <a:cs typeface="Segoe UI"/>
                        </a:rPr>
                        <a:t>EDRMS Users Active in last </a:t>
                      </a:r>
                      <a:r>
                        <a:rPr lang="en-US" sz="1100" b="0" i="0" u="none" strike="noStrike" noProof="0">
                          <a:solidFill>
                            <a:srgbClr val="262626"/>
                          </a:solidFill>
                          <a:latin typeface="Segoe UI"/>
                          <a:cs typeface="Segoe UI"/>
                        </a:rPr>
                        <a:t>180 days sourced from </a:t>
                      </a:r>
                      <a:r>
                        <a:rPr lang="en-US" sz="1050" b="0">
                          <a:solidFill>
                            <a:srgbClr val="262626"/>
                          </a:solidFill>
                        </a:rPr>
                        <a:t>Purview Audit log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No access in 180 days</a:t>
                      </a:r>
                      <a:r>
                        <a:rPr lang="en-US" sz="1050" b="1">
                          <a:solidFill>
                            <a:srgbClr val="262626"/>
                          </a:solidFill>
                        </a:rPr>
                        <a:t> (Approx)</a:t>
                      </a:r>
                      <a:endParaRPr sz="1050" b="1">
                        <a:solidFill>
                          <a:srgbClr val="262626"/>
                        </a:solidFill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626"/>
                          </a:solidFill>
                        </a:rPr>
                        <a:t>Headcount minus active users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Completed training and Training %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Training completion from RAC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4123944"/>
            <a:ext cx="4492447" cy="13258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33488" y="3986783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352544"/>
            <a:ext cx="4309567" cy="10515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Approximate workforce headcount per Department / Office / RM / RO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Completed training list per department (manual, as agreed, until a source is identified)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DOCUMENTS IN EDRMS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3 of 4: documents and storage, with the history over time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516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_bw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5364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77393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Files on EDRMS sites (File Count, SharePoint site usage report)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and storage by unit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Documents and storage used (GB) per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Storage used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Storage Used, also in Cloud Governance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DECLARED IN EDRMS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4 of 4: records declared, declaration rate and the people declaring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5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248696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20071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Rows in the EDRMS Records table (drm-npr). Declared records only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Declaration rate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declared divided by documents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Unique users declaring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Distinct people who declared a record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per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follow their site to a department via the site URL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PHYSICAL COUNTERPARTS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declared records that also exist on paper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248813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panel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42" y="1316736"/>
            <a:ext cx="6675120" cy="241498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974106"/>
              </p:ext>
            </p:extLst>
          </p:nvPr>
        </p:nvGraphicFramePr>
        <p:xfrm>
          <a:off x="7333488" y="1243584"/>
          <a:ext cx="4492447" cy="161391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Physical counterparts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Declared records flagged as also existing on paper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Share with a counterpart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Counterparts divided by records declared, with donut chart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Counterparts by </a:t>
                      </a:r>
                      <a:r>
                        <a:rPr lang="en-US" sz="1050" b="1">
                          <a:solidFill>
                            <a:srgbClr val="262626"/>
                          </a:solidFill>
                        </a:rPr>
                        <a:t>department </a:t>
                      </a:r>
                      <a:r>
                        <a:rPr lang="en-US" sz="1050" b="1" dirty="0">
                          <a:solidFill>
                            <a:srgbClr val="262626"/>
                          </a:solidFill>
                        </a:rPr>
                        <a:t>table</a:t>
                      </a:r>
                      <a:endParaRPr sz="1050" b="1">
                        <a:solidFill>
                          <a:srgbClr val="262626"/>
                        </a:solidFill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Counterparts, records and share per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approximate headcount against documents or records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80145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728298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350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against documents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Paired bars per unit, each measure on its own scale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against records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Same view, with records declared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Headcount values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The green bars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374136"/>
            <a:ext cx="4492447" cy="86868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33488" y="3236976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602736"/>
            <a:ext cx="4309567" cy="59435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Approximate workforce headcount per Department / Office / RM / RO (the same list as EDRMS Users)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DECLARATION TREND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records declared per month and the running total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391717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bw_panel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1856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45389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Presets and custom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Last 3, 6, 12 months, year to date, all time, or a date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Per month bars and running total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By declaration date, Manila time, from the Records table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in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Total for the chosen range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775" y="3071167"/>
            <a:ext cx="6000000" cy="715666"/>
          </a:xfrm>
        </p:spPr>
        <p:txBody>
          <a:bodyPr/>
          <a:lstStyle/>
          <a:p>
            <a:pPr algn="l"/>
            <a:r>
              <a:rPr sz="3000" dirty="0"/>
              <a:t>DEPARTMENT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657600"/>
            <a:ext cx="530352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595959"/>
                </a:solidFill>
              </a:rPr>
              <a:t>Department profile, five cards and library usage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DEPARTMENT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Department picker, Go-Live date and site convention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1922947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c_dp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1849795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37160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Department picker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Filters the whole dashboard by Department / Office / RM / RO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Go-Live date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When the department started using EDRMS. Entered by RAC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convention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Link to each department’s approved site guide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00000"/>
                          </a:solidFill>
                        </a:rPr>
                        <a:t>Input needed</a:t>
                      </a:r>
                    </a:p>
                  </a:txBody>
                  <a:tcPr marL="64008" marR="64008" marT="36576" marB="36576" anchor="ctr"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filter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Under the department picker; lists only sites in the chosen departments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7333488" y="3995928"/>
            <a:ext cx="4492447" cy="9601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33488" y="3858768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PLEASE PROVIDE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4224528"/>
            <a:ext cx="4309567" cy="6858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Go-Live date for each department</a:t>
            </a:r>
          </a:p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sz="1200" b="0">
                <a:solidFill>
                  <a:srgbClr val="002569"/>
                </a:solidFill>
              </a:rPr>
              <a:t>Site convention link for each department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40797AB-16BD-8536-128C-A0F89AA3E4C8}"/>
              </a:ext>
            </a:extLst>
          </p:cNvPr>
          <p:cNvSpPr/>
          <p:nvPr/>
        </p:nvSpPr>
        <p:spPr>
          <a:xfrm>
            <a:off x="366065" y="3732618"/>
            <a:ext cx="6748272" cy="1021137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D4F6034-8DB1-81EE-030E-7979F2C40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370" y="3773884"/>
            <a:ext cx="6601662" cy="938603"/>
          </a:xfrm>
          <a:prstGeom prst="rect">
            <a:avLst/>
          </a:prstGeom>
        </p:spPr>
      </p:pic>
      <p:sp>
        <p:nvSpPr>
          <p:cNvPr id="15" name="Arrow: Down 14">
            <a:extLst>
              <a:ext uri="{FF2B5EF4-FFF2-40B4-BE49-F238E27FC236}">
                <a16:creationId xmlns:a16="http://schemas.microsoft.com/office/drawing/2014/main" id="{FE7DF086-0054-43AE-87C8-F75CD285D9DB}"/>
              </a:ext>
            </a:extLst>
          </p:cNvPr>
          <p:cNvSpPr/>
          <p:nvPr/>
        </p:nvSpPr>
        <p:spPr>
          <a:xfrm>
            <a:off x="3444240" y="3272028"/>
            <a:ext cx="388620" cy="39166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1 of 5: EDRMS sites, owners and creation dates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7695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car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696392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200710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EDRMS sites for the chosen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Site, owner, created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Cloud Governance: Primary Business Owner and Created Time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Sites created over time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Sites per year; click a year for its months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Year and custom range filter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Narrows the table and chart by creation date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SITE VISITORS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2 of 5: unique people who opened each site in the last 180 days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880381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car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807229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5678557"/>
              </p:ext>
            </p:extLst>
          </p:nvPr>
        </p:nvGraphicFramePr>
        <p:xfrm>
          <a:off x="7333488" y="1243584"/>
          <a:ext cx="4492447" cy="16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visitors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626"/>
                          </a:solidFill>
                        </a:rPr>
                        <a:t>Unique people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Internal and external split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626"/>
                          </a:solidFill>
                        </a:rPr>
                        <a:t>ADB accounts against guests. 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type column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Taken from Cloud Governance</a:t>
                      </a:r>
                      <a:endParaRPr sz="1050" b="0" dirty="0">
                        <a:solidFill>
                          <a:schemeClr val="tx1"/>
                        </a:solidFill>
                      </a:endParaRP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Most visited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 dirty="0">
                          <a:solidFill>
                            <a:srgbClr val="262626"/>
                          </a:solidFill>
                        </a:rPr>
                        <a:t>Top 10 by unique visitors: all, internal or external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3 of 5: files and storage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car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607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Files stored in EDRMS for the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 and storage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File Count and storage for each EDRMS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RECORDS DECLARED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4 of 5: records and the people who declared them,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car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06070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declared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table, for the department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Records and people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declared and distinct people declaring,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PHYSICAL COUNTERPARTS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Card 5 of 5: records that also have a paper version, per site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44811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car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37496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33488" y="1243584"/>
          <a:ext cx="4492447" cy="12207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19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Physical counterparts card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Records with a paper or physical version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1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Counterparts, records and share per site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Per-site table with share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LIBRARY USAGE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Panel: document libraries by Department / Office / RM / RO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" y="1243584"/>
            <a:ext cx="6748272" cy="3158359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dp_panel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1280160"/>
            <a:ext cx="6675120" cy="3085207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5825380"/>
              </p:ext>
            </p:extLst>
          </p:nvPr>
        </p:nvGraphicFramePr>
        <p:xfrm>
          <a:off x="7333488" y="1243584"/>
          <a:ext cx="4492447" cy="1645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5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What it shows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64008" marR="64008" marT="36576" marB="36576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Libraries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Document libraries in EDRMS sites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Documents, records, counterparts per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Per-library table and Largest libraries chart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 dirty="0">
                          <a:solidFill>
                            <a:srgbClr val="262626"/>
                          </a:solidFill>
                        </a:rPr>
                        <a:t>Active users per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People who opened or edited files in the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PH" sz="1050" b="1" dirty="0">
                          <a:solidFill>
                            <a:srgbClr val="375623"/>
                          </a:solidFill>
                        </a:rPr>
                        <a:t>Agreed</a:t>
                      </a:r>
                    </a:p>
                  </a:txBody>
                  <a:tcPr marL="64008" marR="64008" marT="36576" marB="36576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Folder count per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Number of folders in each document library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262626"/>
                          </a:solidFill>
                        </a:rPr>
                        <a:t>Site name column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262626"/>
                          </a:solidFill>
                        </a:rPr>
                        <a:t>Shows the site name in place of the site URL</a:t>
                      </a:r>
                    </a:p>
                  </a:txBody>
                  <a:tcPr marL="64008" marR="64008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375623"/>
                          </a:solidFill>
                        </a:rPr>
                        <a:t>To confirm</a:t>
                      </a:r>
                    </a:p>
                  </a:txBody>
                  <a:tcPr marL="64008" marR="64008" marT="36576" marB="36576" anchor="ctr"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EXPORT OPTIONS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276999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lang="en-PH" sz="1200" dirty="0">
                <a:solidFill>
                  <a:srgbClr val="595959"/>
                </a:solidFill>
              </a:rPr>
              <a:t>T</a:t>
            </a:r>
            <a:r>
              <a:rPr sz="1200" b="0" dirty="0" err="1">
                <a:solidFill>
                  <a:srgbClr val="595959"/>
                </a:solidFill>
              </a:rPr>
              <a:t>ake</a:t>
            </a:r>
            <a:r>
              <a:rPr sz="1200" b="0" dirty="0">
                <a:solidFill>
                  <a:srgbClr val="595959"/>
                </a:solidFill>
              </a:rPr>
              <a:t> a table or a whole dashboard out of the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1188720"/>
            <a:ext cx="539496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 dirty="0">
                <a:solidFill>
                  <a:srgbClr val="002569"/>
                </a:solidFill>
              </a:rPr>
              <a:t>Export table  →  Excel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 dirty="0">
                <a:solidFill>
                  <a:srgbClr val="262626"/>
                </a:solidFill>
              </a:rPr>
              <a:t>On every table, beside its search box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 dirty="0">
                <a:solidFill>
                  <a:srgbClr val="262626"/>
                </a:solidFill>
              </a:rPr>
              <a:t>Exports all rows, not just the page on screen, with the current sort and filter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 dirty="0">
                <a:solidFill>
                  <a:srgbClr val="262626"/>
                </a:solidFill>
              </a:rPr>
              <a:t>File is named after the table</a:t>
            </a:r>
          </a:p>
        </p:txBody>
      </p:sp>
      <p:pic>
        <p:nvPicPr>
          <p:cNvPr id="6" name="Picture 5" descr="b_x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2514600"/>
            <a:ext cx="2377440" cy="27457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84048" y="2807465"/>
            <a:ext cx="246888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Button on the report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944368" y="2578608"/>
            <a:ext cx="411480" cy="274320"/>
          </a:xfrm>
          <a:prstGeom prst="rightArrow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19856" y="2459736"/>
            <a:ext cx="2432304" cy="17567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xl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47288" y="2487168"/>
            <a:ext cx="2377440" cy="17018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401568" y="4234724"/>
            <a:ext cx="256032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Sample: Sites by department office RM RO.xlsx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188720"/>
            <a:ext cx="5394960" cy="11430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300"/>
              </a:spcAft>
            </a:pPr>
            <a:r>
              <a:rPr sz="1500" b="1">
                <a:solidFill>
                  <a:srgbClr val="002569"/>
                </a:solidFill>
              </a:rPr>
              <a:t>Export to PDF  →  PDF file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>
                <a:solidFill>
                  <a:srgbClr val="262626"/>
                </a:solidFill>
              </a:rPr>
              <a:t>At the top right of each dashboard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>
                <a:solidFill>
                  <a:srgbClr val="262626"/>
                </a:solidFill>
              </a:rPr>
              <a:t>Saves the dashboard exactly as on screen, including any open breakdown</a:t>
            </a:r>
          </a:p>
          <a:p>
            <a:pPr marL="228600" indent="-228600">
              <a:spcAft>
                <a:spcPts val="200"/>
              </a:spcAft>
              <a:buFont typeface="Arial"/>
              <a:buChar char="▸"/>
            </a:pPr>
            <a:r>
              <a:rPr sz="1150" b="0">
                <a:solidFill>
                  <a:srgbClr val="262626"/>
                </a:solidFill>
              </a:rPr>
              <a:t>File is named after the dashboard and date</a:t>
            </a:r>
          </a:p>
        </p:txBody>
      </p:sp>
      <p:pic>
        <p:nvPicPr>
          <p:cNvPr id="13" name="Picture 12" descr="b_pd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59" y="2514600"/>
            <a:ext cx="2377440" cy="302583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63640" y="2835471"/>
            <a:ext cx="2468880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Button on the report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823959" y="2578608"/>
            <a:ext cx="411480" cy="274320"/>
          </a:xfrm>
          <a:prstGeom prst="rightArrow">
            <a:avLst/>
          </a:prstGeom>
          <a:solidFill>
            <a:srgbClr val="002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299448" y="2459736"/>
            <a:ext cx="2290672" cy="2295144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pdf_t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2487168"/>
            <a:ext cx="2235808" cy="22402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281159" y="4773168"/>
            <a:ext cx="2418688" cy="2743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400"/>
              </a:spcAft>
            </a:pPr>
            <a:r>
              <a:rPr sz="1000" b="0">
                <a:solidFill>
                  <a:srgbClr val="595959"/>
                </a:solidFill>
              </a:rPr>
              <a:t>Sample: EDRMS Bank-wide Oversight 2026-10-12.pdf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" y="5486400"/>
            <a:ext cx="11384280" cy="502920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84048" y="5349240"/>
            <a:ext cx="1737360" cy="274320"/>
          </a:xfrm>
          <a:prstGeom prst="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sz="1100" b="1">
                <a:solidFill>
                  <a:srgbClr val="002569"/>
                </a:solidFill>
              </a:rPr>
              <a:t>TO 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5715000"/>
            <a:ext cx="11201400" cy="276999"/>
          </a:xfrm>
          <a:prstGeom prst="rect">
            <a:avLst/>
          </a:prstGeom>
          <a:noFill/>
        </p:spPr>
        <p:txBody>
          <a:bodyPr wrap="square" lIns="73152" tIns="45720" rIns="73152" bIns="45720" anchor="t">
            <a:spAutoFit/>
          </a:bodyPr>
          <a:lstStyle/>
          <a:p>
            <a:pPr marL="228600" indent="-228600">
              <a:spcAft>
                <a:spcPts val="500"/>
              </a:spcAft>
              <a:buFont typeface="Arial"/>
              <a:buChar char="▸"/>
            </a:pPr>
            <a:r>
              <a:rPr lang="en-US" sz="1200">
                <a:solidFill>
                  <a:srgbClr val="002569"/>
                </a:solidFill>
                <a:cs typeface="Segoe UI"/>
              </a:rPr>
              <a:t>Would you agree to include export functionality to support reporting needs?</a:t>
            </a:r>
            <a:endParaRPr lang="en-US" sz="1200" b="0" dirty="0">
              <a:solidFill>
                <a:srgbClr val="002569"/>
              </a:solidFill>
              <a:cs typeface="Segoe UI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98B323E-3B7B-F206-BFB4-12D81A4FCFEF}"/>
              </a:ext>
            </a:extLst>
          </p:cNvPr>
          <p:cNvSpPr txBox="1"/>
          <p:nvPr/>
        </p:nvSpPr>
        <p:spPr>
          <a:xfrm>
            <a:off x="345188" y="2332772"/>
            <a:ext cx="5616700" cy="286232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BAD96D5-B651-186E-23B9-13B1B80EA25B}"/>
              </a:ext>
            </a:extLst>
          </p:cNvPr>
          <p:cNvSpPr txBox="1"/>
          <p:nvPr/>
        </p:nvSpPr>
        <p:spPr>
          <a:xfrm>
            <a:off x="6152770" y="2332772"/>
            <a:ext cx="5616700" cy="2862322"/>
          </a:xfrm>
          <a:prstGeom prst="rect">
            <a:avLst/>
          </a:prstGeom>
          <a:noFill/>
          <a:ln w="12700">
            <a:solidFill>
              <a:schemeClr val="tx1"/>
            </a:solidFill>
            <a:prstDash val="dash"/>
          </a:ln>
        </p:spPr>
        <p:txBody>
          <a:bodyPr wrap="square" rtlCol="0">
            <a:spAutoFit/>
          </a:bodyPr>
          <a:lstStyle/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  <a:p>
            <a:endParaRPr lang="en-PH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SUMMARY OF INPUTS NEEDED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What we are asking RAC to provide or decide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1174"/>
              </p:ext>
            </p:extLst>
          </p:nvPr>
        </p:nvGraphicFramePr>
        <p:xfrm>
          <a:off x="384048" y="1280160"/>
          <a:ext cx="10972800" cy="224942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Refer to slide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Approximate workforce headcount per Department / Office / RM / RO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Rounded staff count per unit. It is the EDRMS users figure, the base for No access in 180 days, and the green bars in Comparison.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8, 12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Provide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2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Completed training list per department (manual for now)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Number of people per unit who completed EDRMS training. Drives Completed training and Training %, kept manual until a source is identified.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Provide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3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Go-Live date per department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The date each department started using EDRMS, shown in the Department Profile.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Provide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Site convention link per department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Link to each department's approved site guide, opened from the Department Profile.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Provide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Department / Office / RM / RO list: Sir Rotsen's list or separate lists?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Confirm the label covers one list (Sir Rotsen's file, matching the Cloud Governance Department field) and that there are no separate lists for Offices, RMs and ROs.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6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Release scope, and future dashboards: disabled or hidden?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This release covers: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• Bank-wide Oversight: Active EDRMS sites, EDRMS users, Documents and Records declared cards; Physical counterparts, Comparison and Records declaration trend panels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• Department Insights: department profile with Site filter; Sites, Site visitors, Documents, Records declared and Physical counterparts cards; Library usage with folder count and site name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• Export to Excel (every table) and PDF (every dashboard)</a:t>
                      </a:r>
                    </a:p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 whether Project Insights, Institutional File Plan, Retention &amp; Disposal and Records &amp; Archive Holdings show as disabled or are hidden.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5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006" y="214250"/>
            <a:ext cx="9800000" cy="715666"/>
          </a:xfrm>
        </p:spPr>
        <p:txBody>
          <a:bodyPr/>
          <a:lstStyle/>
          <a:p>
            <a:r>
              <a:rPr sz="2600"/>
              <a:t>SUMMARY OF INPUTS NEEDED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786384"/>
            <a:ext cx="8686800" cy="3200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>
              <a:spcAft>
                <a:spcPts val="0"/>
              </a:spcAft>
            </a:pPr>
            <a:r>
              <a:rPr sz="1200" b="0">
                <a:solidFill>
                  <a:srgbClr val="595959"/>
                </a:solidFill>
              </a:rPr>
              <a:t>What we are asking RAC to provide or decide (continued)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91174"/>
              </p:ext>
            </p:extLst>
          </p:nvPr>
        </p:nvGraphicFramePr>
        <p:xfrm>
          <a:off x="384048" y="1280160"/>
          <a:ext cx="10972800" cy="192938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411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7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Description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</a:rPr>
                        <a:t>Refer to slide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Type</a:t>
                      </a:r>
                    </a:p>
                  </a:txBody>
                  <a:tcPr marT="27432" marB="27432" anchor="ctr">
                    <a:solidFill>
                      <a:srgbClr val="00256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7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Mockup design: okay as is, or anything to change or remove?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Review of the full Release 2026.4 mockup PDF covering every page of both dashboards. Sample data only.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4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8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Export options: Excel and PDF enough?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Excel export on every table (all rows, current sort and filter) and PDF export of each dashboard as on screen.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22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9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Site filter in Department Insights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 Site picker under the department picker that narrows the dashboard to chosen sites. Lists only the sites in the selected departments.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15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10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Folder count per library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A Folders column in Library usage giving the number of folders in each document library.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262626"/>
                          </a:solidFill>
                        </a:rPr>
                        <a:t>11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Site name instead of site URL in Library usage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The site column in the Library usage table shows the site name, replacing the full site URL.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C00000"/>
                          </a:solidFill>
                        </a:rPr>
                        <a:t>21</a:t>
                      </a:r>
                    </a:p>
                  </a:txBody>
                  <a:tcPr marT="27432" marB="27432" anchor="ctr"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</a:rPr>
                        <a:t>Decide</a:t>
                      </a:r>
                    </a:p>
                  </a:txBody>
                  <a:tcPr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9095" y="2713334"/>
            <a:ext cx="5136905" cy="715666"/>
          </a:xfrm>
        </p:spPr>
        <p:txBody>
          <a:bodyPr/>
          <a:lstStyle/>
          <a:p>
            <a:r>
              <a:rPr lang="en-PH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TD Template">
      <a:dk1>
        <a:srgbClr val="000000"/>
      </a:dk1>
      <a:lt1>
        <a:srgbClr val="FFFFFF"/>
      </a:lt1>
      <a:dk2>
        <a:srgbClr val="164074"/>
      </a:dk2>
      <a:lt2>
        <a:srgbClr val="E3E3E3"/>
      </a:lt2>
      <a:accent1>
        <a:srgbClr val="0088C7"/>
      </a:accent1>
      <a:accent2>
        <a:srgbClr val="00B6C9"/>
      </a:accent2>
      <a:accent3>
        <a:srgbClr val="8DC63F"/>
      </a:accent3>
      <a:accent4>
        <a:srgbClr val="C8DA2B"/>
      </a:accent4>
      <a:accent5>
        <a:srgbClr val="FFDA09"/>
      </a:accent5>
      <a:accent6>
        <a:srgbClr val="F57F29"/>
      </a:accent6>
      <a:hlink>
        <a:srgbClr val="0563C1"/>
      </a:hlink>
      <a:folHlink>
        <a:srgbClr val="954F72"/>
      </a:folHlink>
    </a:clrScheme>
    <a:fontScheme name="Segoe">
      <a:majorFont>
        <a:latin typeface="Segoe UI 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96128d-704d-4a9a-b273-f1b0c0083f8c">
      <Value>1</Value>
      <Value>3</Value>
    </TaxCatchAll>
    <ADBCirculatedLink xmlns="5996128d-704d-4a9a-b273-f1b0c0083f8c">
      <Url xsi:nil="true"/>
      <Description xsi:nil="true"/>
    </ADBCirculatedLink>
    <h00e4aaaf4624e24a7df7f06faa038c6 xmlns="5996128d-704d-4a9a-b273-f1b0c0083f8c">
      <Terms xmlns="http://schemas.microsoft.com/office/infopath/2007/PartnerControls">
        <TermInfo xmlns="http://schemas.microsoft.com/office/infopath/2007/PartnerControls">
          <TermName xmlns="http://schemas.microsoft.com/office/infopath/2007/PartnerControls">English</TermName>
          <TermId xmlns="http://schemas.microsoft.com/office/infopath/2007/PartnerControls">16ac8743-31bb-43f8-9a73-533a041667d6</TermId>
        </TermInfo>
      </Terms>
    </h00e4aaaf4624e24a7df7f06faa038c6>
    <ia017ac09b1942648b563fe0b2b14d52 xmlns="5996128d-704d-4a9a-b273-f1b0c0083f8c">
      <Terms xmlns="http://schemas.microsoft.com/office/infopath/2007/PartnerControls"/>
    </ia017ac09b1942648b563fe0b2b14d52>
    <d61536b25a8a4fedb48bb564279be82a xmlns="5996128d-704d-4a9a-b273-f1b0c0083f8c">
      <Terms xmlns="http://schemas.microsoft.com/office/infopath/2007/PartnerControls"/>
    </d61536b25a8a4fedb48bb564279be82a>
    <ADBSourceLink xmlns="5996128d-704d-4a9a-b273-f1b0c0083f8c">
      <Url xsi:nil="true"/>
      <Description xsi:nil="true"/>
    </ADBSourceLink>
    <ADBDocumentDate xmlns="5996128d-704d-4a9a-b273-f1b0c0083f8c" xsi:nil="true"/>
    <ADBAuthors xmlns="5996128d-704d-4a9a-b273-f1b0c0083f8c">
      <UserInfo>
        <DisplayName/>
        <AccountId xsi:nil="true"/>
        <AccountType/>
      </UserInfo>
    </ADBAuthors>
    <a37ff23a602146d4934a49238d370ca5 xmlns="5996128d-704d-4a9a-b273-f1b0c0083f8c">
      <Terms xmlns="http://schemas.microsoft.com/office/infopath/2007/PartnerControls"/>
    </a37ff23a602146d4934a49238d370ca5>
    <d01a0ce1b141461dbfb235a3ab729a2c xmlns="5996128d-704d-4a9a-b273-f1b0c0083f8c">
      <Terms xmlns="http://schemas.microsoft.com/office/infopath/2007/PartnerControls"/>
    </d01a0ce1b141461dbfb235a3ab729a2c>
    <ADBDocumentTypeValue xmlns="5996128d-704d-4a9a-b273-f1b0c0083f8c" xsi:nil="true"/>
    <p030e467f78f45b4ae8f7e2c17ea4d82 xmlns="5996128d-704d-4a9a-b273-f1b0c0083f8c">
      <Terms xmlns="http://schemas.microsoft.com/office/infopath/2007/PartnerControls"/>
    </p030e467f78f45b4ae8f7e2c17ea4d82>
    <k985dbdc596c44d7acaf8184f33920f0 xmlns="5996128d-704d-4a9a-b273-f1b0c0083f8c">
      <Terms xmlns="http://schemas.microsoft.com/office/infopath/2007/PartnerControls"/>
    </k985dbdc596c44d7acaf8184f33920f0>
    <j78542b1fffc4a1c84659474212e3133 xmlns="5996128d-704d-4a9a-b273-f1b0c0083f8c">
      <Terms xmlns="http://schemas.microsoft.com/office/infopath/2007/PartnerControls">
        <TermInfo xmlns="http://schemas.microsoft.com/office/infopath/2007/PartnerControls">
          <TermName xmlns="http://schemas.microsoft.com/office/infopath/2007/PartnerControls">OIST</TermName>
          <TermId xmlns="http://schemas.microsoft.com/office/infopath/2007/PartnerControls">4621b76d-230c-4b6a-bc66-73d65c026a27</TermId>
        </TermInfo>
      </Terms>
    </j78542b1fffc4a1c84659474212e3133>
    <ADBMonth xmlns="5996128d-704d-4a9a-b273-f1b0c0083f8c" xsi:nil="true"/>
    <ADBYear xmlns="5996128d-704d-4a9a-b273-f1b0c0083f8c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ADB Document" ma:contentTypeID="0x010100BB987C5E842407458A00E5F1E23BC833000D55B2048826264A885F6B4B33DCCFFE" ma:contentTypeVersion="17" ma:contentTypeDescription="" ma:contentTypeScope="" ma:versionID="6c0a0a6d57e58ed5692ed74a7e1cfb59">
  <xsd:schema xmlns:xsd="http://www.w3.org/2001/XMLSchema" xmlns:xs="http://www.w3.org/2001/XMLSchema" xmlns:p="http://schemas.microsoft.com/office/2006/metadata/properties" xmlns:ns2="5996128d-704d-4a9a-b273-f1b0c0083f8c" targetNamespace="http://schemas.microsoft.com/office/2006/metadata/properties" ma:root="true" ma:fieldsID="920b8ad6e3c27757cfdaf468cc48fc51" ns2:_="">
    <xsd:import namespace="5996128d-704d-4a9a-b273-f1b0c0083f8c"/>
    <xsd:element name="properties">
      <xsd:complexType>
        <xsd:sequence>
          <xsd:element name="documentManagement">
            <xsd:complexType>
              <xsd:all>
                <xsd:element ref="ns2:ADBDocumentDate" minOccurs="0"/>
                <xsd:element ref="ns2:ADBMonth" minOccurs="0"/>
                <xsd:element ref="ns2:ADBYear" minOccurs="0"/>
                <xsd:element ref="ns2:ADBAuthors" minOccurs="0"/>
                <xsd:element ref="ns2:ADBSourceLink" minOccurs="0"/>
                <xsd:element ref="ns2:ADBCirculatedLink" minOccurs="0"/>
                <xsd:element ref="ns2:TaxCatchAll" minOccurs="0"/>
                <xsd:element ref="ns2:ADBDocumentTypeValue" minOccurs="0"/>
                <xsd:element ref="ns2:d61536b25a8a4fedb48bb564279be82a" minOccurs="0"/>
                <xsd:element ref="ns2:h00e4aaaf4624e24a7df7f06faa038c6" minOccurs="0"/>
                <xsd:element ref="ns2:k985dbdc596c44d7acaf8184f33920f0" minOccurs="0"/>
                <xsd:element ref="ns2:a37ff23a602146d4934a49238d370ca5" minOccurs="0"/>
                <xsd:element ref="ns2:TaxCatchAllLabel" minOccurs="0"/>
                <xsd:element ref="ns2:d01a0ce1b141461dbfb235a3ab729a2c" minOccurs="0"/>
                <xsd:element ref="ns2:p030e467f78f45b4ae8f7e2c17ea4d82" minOccurs="0"/>
                <xsd:element ref="ns2:ia017ac09b1942648b563fe0b2b14d52" minOccurs="0"/>
                <xsd:element ref="ns2:j78542b1fffc4a1c84659474212e3133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96128d-704d-4a9a-b273-f1b0c0083f8c" elementFormDefault="qualified">
    <xsd:import namespace="http://schemas.microsoft.com/office/2006/documentManagement/types"/>
    <xsd:import namespace="http://schemas.microsoft.com/office/infopath/2007/PartnerControls"/>
    <xsd:element name="ADBDocumentDate" ma:index="3" nillable="true" ma:displayName="Document Date" ma:format="DateOnly" ma:internalName="ADBDocumentDate" ma:readOnly="false">
      <xsd:simpleType>
        <xsd:restriction base="dms:DateTime"/>
      </xsd:simpleType>
    </xsd:element>
    <xsd:element name="ADBMonth" ma:index="4" nillable="true" ma:displayName="Month" ma:format="Dropdown" ma:internalName="ADBMonth" ma:readOnly="false">
      <xsd:simpleType>
        <xsd:restriction base="dms:Choice">
          <xsd:enumeration value="01-Jan"/>
          <xsd:enumeration value="02-Feb"/>
          <xsd:enumeration value="03-Mar"/>
          <xsd:enumeration value="04-Apr"/>
          <xsd:enumeration value="05-May"/>
          <xsd:enumeration value="06-Jun"/>
          <xsd:enumeration value="07-Jul"/>
          <xsd:enumeration value="08-Aug"/>
          <xsd:enumeration value="09-Sep"/>
          <xsd:enumeration value="10-Oct"/>
          <xsd:enumeration value="11-Nov"/>
          <xsd:enumeration value="12-Dec"/>
        </xsd:restriction>
      </xsd:simpleType>
    </xsd:element>
    <xsd:element name="ADBYear" ma:index="5" nillable="true" ma:displayName="Year" ma:internalName="ADBYear" ma:readOnly="false">
      <xsd:simpleType>
        <xsd:restriction base="dms:Text">
          <xsd:maxLength value="4"/>
        </xsd:restriction>
      </xsd:simpleType>
    </xsd:element>
    <xsd:element name="ADBAuthors" ma:index="6" nillable="true" ma:displayName="Authors" ma:list="UserInfo" ma:SharePointGroup="0" ma:internalName="ADBAuthors" ma:readOnly="fals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DBSourceLink" ma:index="13" nillable="true" ma:displayName="Source Link" ma:format="Hyperlink" ma:internalName="ADBSource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ADBCirculatedLink" ma:index="14" nillable="true" ma:displayName="Final Document Link" ma:format="Hyperlink" ma:internalName="ADBCirculatedLink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TaxCatchAll" ma:index="18" nillable="true" ma:displayName="Taxonomy Catch All Column" ma:hidden="true" ma:list="{5fae007b-328f-43c9-b43a-e0b43236efad}" ma:internalName="TaxCatchAll" ma:showField="CatchAllData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ADBDocumentTypeValue" ma:index="23" nillable="true" ma:displayName="Document Type" ma:hidden="true" ma:internalName="ADBDocumentTypeValue" ma:readOnly="false">
      <xsd:simpleType>
        <xsd:restriction base="dms:Text">
          <xsd:maxLength value="255"/>
        </xsd:restriction>
      </xsd:simpleType>
    </xsd:element>
    <xsd:element name="d61536b25a8a4fedb48bb564279be82a" ma:index="24" nillable="true" ma:taxonomy="true" ma:internalName="d61536b25a8a4fedb48bb564279be82a" ma:taxonomyFieldName="ADBDepartmentOwner" ma:displayName="Department Owner" ma:readOnly="false" ma:fieldId="{d61536b2-5a8a-4fed-b48b-b564279be82a}" ma:sspId="115af50e-efb3-4a0e-b425-875ff625e09e" ma:termSetId="b965cdb6-1071-4c6a-a9a3-189d53a950d4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h00e4aaaf4624e24a7df7f06faa038c6" ma:index="25" nillable="true" ma:taxonomy="true" ma:internalName="h00e4aaaf4624e24a7df7f06faa038c6" ma:taxonomyFieldName="ADBDocumentLanguage" ma:displayName="Document Language" ma:readOnly="false" ma:default="1;#English|16ac8743-31bb-43f8-9a73-533a041667d6" ma:fieldId="{100e4aaa-f462-4e24-a7df-7f06faa038c6}" ma:sspId="115af50e-efb3-4a0e-b425-875ff625e09e" ma:termSetId="fdf74959-6eb2-4689-a0fc-b9e1ab230b0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k985dbdc596c44d7acaf8184f33920f0" ma:index="26" nillable="true" ma:taxonomy="true" ma:internalName="k985dbdc596c44d7acaf8184f33920f0" ma:taxonomyFieldName="ADBCountry" ma:displayName="Country" ma:readOnly="false" ma:fieldId="{4985dbdc-596c-44d7-acaf-8184f33920f0}" ma:sspId="115af50e-efb3-4a0e-b425-875ff625e09e" ma:termSetId="169202c7-46da-431e-ac86-348c41a1f49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a37ff23a602146d4934a49238d370ca5" ma:index="27" nillable="true" ma:taxonomy="true" ma:internalName="a37ff23a602146d4934a49238d370ca5" ma:taxonomyFieldName="ADBDocumentType" ma:displayName="ADB Document Type" ma:readOnly="false" ma:fieldId="{a37ff23a-6021-46d4-934a-49238d370ca5}" ma:sspId="115af50e-efb3-4a0e-b425-875ff625e09e" ma:termSetId="ebf26521-a829-4b24-b73e-5e500b1bc1db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28" nillable="true" ma:displayName="Taxonomy Catch All Column1" ma:hidden="true" ma:list="{5fae007b-328f-43c9-b43a-e0b43236efad}" ma:internalName="TaxCatchAllLabel" ma:readOnly="true" ma:showField="CatchAllDataLabel" ma:web="5996128d-704d-4a9a-b273-f1b0c0083f8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d01a0ce1b141461dbfb235a3ab729a2c" ma:index="29" nillable="true" ma:taxonomy="true" ma:internalName="d01a0ce1b141461dbfb235a3ab729a2c" ma:taxonomyFieldName="ADBSector" ma:displayName="Sector" ma:readOnly="false" ma:fieldId="{d01a0ce1-b141-461d-bfb2-35a3ab729a2c}" ma:sspId="115af50e-efb3-4a0e-b425-875ff625e09e" ma:termSetId="bae01210-cdc5-4479-86d7-616c28c0a9b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p030e467f78f45b4ae8f7e2c17ea4d82" ma:index="30" nillable="true" ma:taxonomy="true" ma:internalName="p030e467f78f45b4ae8f7e2c17ea4d82" ma:taxonomyFieldName="ADBDocumentSecurity" ma:displayName="Document Security" ma:readOnly="false" ma:fieldId="{9030e467-f78f-45b4-ae8f-7e2c17ea4d82}" ma:sspId="115af50e-efb3-4a0e-b425-875ff625e09e" ma:termSetId="9b0b4686-afa9-4a02-bc15-8fbc99f17210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a017ac09b1942648b563fe0b2b14d52" ma:index="31" nillable="true" ma:taxonomy="true" ma:internalName="ia017ac09b1942648b563fe0b2b14d52" ma:taxonomyFieldName="ADBDivision" ma:displayName="Division" ma:readOnly="false" ma:fieldId="{2a017ac0-9b19-4264-8b56-3fe0b2b14d52}" ma:sspId="115af50e-efb3-4a0e-b425-875ff625e09e" ma:termSetId="d736278f-2140-40cc-b46b-6a0ab0de2d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j78542b1fffc4a1c84659474212e3133" ma:index="32" nillable="true" ma:taxonomy="true" ma:internalName="j78542b1fffc4a1c84659474212e3133" ma:taxonomyFieldName="ADBContentGroup" ma:displayName="Content Group" ma:readOnly="false" ma:fieldId="{378542b1-fffc-4a1c-8465-9474212e3133}" ma:taxonomyMulti="true" ma:sspId="115af50e-efb3-4a0e-b425-875ff625e09e" ma:termSetId="2a9ffbee-93a5-418b-bcdb-8d6817936e6b" ma:anchorId="00000000-0000-0000-0000-000000000000" ma:open="fals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9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2958923-3C36-4A63-9F3A-94D939C618D8}">
  <ds:schemaRefs>
    <ds:schemaRef ds:uri="5996128d-704d-4a9a-b273-f1b0c0083f8c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F61D02-7138-47CC-A8F4-04D03EB081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CB0D5FA-359E-4E67-A5DA-A4173A511114}">
  <ds:schemaRefs>
    <ds:schemaRef ds:uri="5996128d-704d-4a9a-b273-f1b0c0083f8c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449</TotalTime>
  <Words>1581</Words>
  <Application>Microsoft Office PowerPoint</Application>
  <PresentationFormat>Widescreen</PresentationFormat>
  <Paragraphs>344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EDRMS Utilization Report Release 2026.4</vt:lpstr>
      <vt:lpstr>AGENDA</vt:lpstr>
      <vt:lpstr>SESSION OBJECTIVE</vt:lpstr>
      <vt:lpstr>FULL MOCKUP</vt:lpstr>
      <vt:lpstr>RELEASE 2026.4 SCOPE</vt:lpstr>
      <vt:lpstr>BANK-WIDE OVERSIGHT</vt:lpstr>
      <vt:lpstr>ACTIVE EDRMS SITES</vt:lpstr>
      <vt:lpstr>EDRMS USERS</vt:lpstr>
      <vt:lpstr>DOCUMENTS IN EDRMS</vt:lpstr>
      <vt:lpstr>RECORDS DECLARED IN EDRMS</vt:lpstr>
      <vt:lpstr>PHYSICAL COUNTERPARTS</vt:lpstr>
      <vt:lpstr>COMPARISON</vt:lpstr>
      <vt:lpstr>RECORDS DECLARATION TREND</vt:lpstr>
      <vt:lpstr>DEPARTMENT INSIGHTS</vt:lpstr>
      <vt:lpstr>DEPARTMENT PROFILE</vt:lpstr>
      <vt:lpstr>SITES</vt:lpstr>
      <vt:lpstr>SITE VISITORS</vt:lpstr>
      <vt:lpstr>DOCUMENTS</vt:lpstr>
      <vt:lpstr>RECORDS DECLARED</vt:lpstr>
      <vt:lpstr>PHYSICAL COUNTERPARTS</vt:lpstr>
      <vt:lpstr>LIBRARY USAGE</vt:lpstr>
      <vt:lpstr>EXPORT OPTIONS</vt:lpstr>
      <vt:lpstr>SUMMARY OF INPUTS NEEDED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ITD Template</dc:title>
  <dc:creator>Bianca Canoza</dc:creator>
  <cp:lastModifiedBy>Jimwyl Perez</cp:lastModifiedBy>
  <cp:revision>163</cp:revision>
  <dcterms:created xsi:type="dcterms:W3CDTF">2024-01-26T01:27:40Z</dcterms:created>
  <dcterms:modified xsi:type="dcterms:W3CDTF">2026-10-13T08:26:11Z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0x010100BB987C5E842407458A00E5F1E23BC833000D55B2048826264A885F6B4B33DCCFFE</vt:lpwstr>
  </property>
  <property fmtid="{D5CDD505-2E9C-101B-9397-08002B2CF9AE}" pid="3" name="MSIP_Label_817d4574-7375-4d17-b29c-6e4c6df0fcb0_Enabled">
    <vt:lpwstr>true</vt:lpwstr>
  </property>
  <property fmtid="{D5CDD505-2E9C-101B-9397-08002B2CF9AE}" pid="4" name="MSIP_Label_817d4574-7375-4d17-b29c-6e4c6df0fcb0_SetDate">
    <vt:lpwstr>2024-01-26T02:07:38Z</vt:lpwstr>
  </property>
  <property fmtid="{D5CDD505-2E9C-101B-9397-08002B2CF9AE}" pid="5" name="MSIP_Label_817d4574-7375-4d17-b29c-6e4c6df0fcb0_Method">
    <vt:lpwstr>Standard</vt:lpwstr>
  </property>
  <property fmtid="{D5CDD505-2E9C-101B-9397-08002B2CF9AE}" pid="6" name="MSIP_Label_817d4574-7375-4d17-b29c-6e4c6df0fcb0_Name">
    <vt:lpwstr>ADB Internal</vt:lpwstr>
  </property>
  <property fmtid="{D5CDD505-2E9C-101B-9397-08002B2CF9AE}" pid="7" name="MSIP_Label_817d4574-7375-4d17-b29c-6e4c6df0fcb0_SiteId">
    <vt:lpwstr>9495d6bb-41c2-4c58-848f-92e52cf3d640</vt:lpwstr>
  </property>
  <property fmtid="{D5CDD505-2E9C-101B-9397-08002B2CF9AE}" pid="8" name="MSIP_Label_817d4574-7375-4d17-b29c-6e4c6df0fcb0_ActionId">
    <vt:lpwstr>76fc5473-5ead-4b09-833c-09bb204bb696</vt:lpwstr>
  </property>
  <property fmtid="{D5CDD505-2E9C-101B-9397-08002B2CF9AE}" pid="9" name="MSIP_Label_817d4574-7375-4d17-b29c-6e4c6df0fcb0_ContentBits">
    <vt:lpwstr>2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INTERNAL. This information is accessible to ADB Management and staff. It may be shared outside ADB with appropriate permission.</vt:lpwstr>
  </property>
  <property fmtid="{D5CDD505-2E9C-101B-9397-08002B2CF9AE}" pid="12" name="MediaServiceImageTags">
    <vt:lpwstr/>
  </property>
  <property fmtid="{D5CDD505-2E9C-101B-9397-08002B2CF9AE}" pid="13" name="e66b052db1f74fef8cf6c021d80acaf9">
    <vt:lpwstr/>
  </property>
  <property fmtid="{D5CDD505-2E9C-101B-9397-08002B2CF9AE}" pid="14" name="l958b3bf17ea460d99759c18e045518e">
    <vt:lpwstr/>
  </property>
  <property fmtid="{D5CDD505-2E9C-101B-9397-08002B2CF9AE}" pid="15" name="ADBICTDocumentType">
    <vt:lpwstr/>
  </property>
  <property fmtid="{D5CDD505-2E9C-101B-9397-08002B2CF9AE}" pid="16" name="ADBSector">
    <vt:lpwstr/>
  </property>
  <property fmtid="{D5CDD505-2E9C-101B-9397-08002B2CF9AE}" pid="17" name="ADBICTSystem">
    <vt:lpwstr/>
  </property>
  <property fmtid="{D5CDD505-2E9C-101B-9397-08002B2CF9AE}" pid="18" name="ADBDocumentSecurity">
    <vt:lpwstr/>
  </property>
  <property fmtid="{D5CDD505-2E9C-101B-9397-08002B2CF9AE}" pid="19" name="ADBDocumentLanguage">
    <vt:lpwstr>1;#English|16ac8743-31bb-43f8-9a73-533a041667d6</vt:lpwstr>
  </property>
  <property fmtid="{D5CDD505-2E9C-101B-9397-08002B2CF9AE}" pid="20" name="ADBDocumentType">
    <vt:lpwstr/>
  </property>
  <property fmtid="{D5CDD505-2E9C-101B-9397-08002B2CF9AE}" pid="21" name="ADBDepartmentOwner">
    <vt:lpwstr/>
  </property>
  <property fmtid="{D5CDD505-2E9C-101B-9397-08002B2CF9AE}" pid="22" name="ADBCountry">
    <vt:lpwstr/>
  </property>
  <property fmtid="{D5CDD505-2E9C-101B-9397-08002B2CF9AE}" pid="23" name="ADBContentGroup">
    <vt:lpwstr>3;#OIST|4621b76d-230c-4b6a-bc66-73d65c026a27</vt:lpwstr>
  </property>
  <property fmtid="{D5CDD505-2E9C-101B-9397-08002B2CF9AE}" pid="24" name="ADBDivision">
    <vt:lpwstr/>
  </property>
  <property fmtid="{D5CDD505-2E9C-101B-9397-08002B2CF9AE}" pid="25" name="a37ff23a602146d4934a49238d370ca5">
    <vt:lpwstr/>
  </property>
  <property fmtid="{D5CDD505-2E9C-101B-9397-08002B2CF9AE}" pid="26" name="k985dbdc596c44d7acaf8184f33920f0">
    <vt:lpwstr/>
  </property>
  <property fmtid="{D5CDD505-2E9C-101B-9397-08002B2CF9AE}" pid="27" name="j78542b1fffc4a1c84659474212e3133">
    <vt:lpwstr>OIST|4621b76d-230c-4b6a-bc66-73d65c026a27</vt:lpwstr>
  </property>
  <property fmtid="{D5CDD505-2E9C-101B-9397-08002B2CF9AE}" pid="28" name="d01a0ce1b141461dbfb235a3ab729a2c">
    <vt:lpwstr/>
  </property>
  <property fmtid="{D5CDD505-2E9C-101B-9397-08002B2CF9AE}" pid="29" name="ia017ac09b1942648b563fe0b2b14d52">
    <vt:lpwstr/>
  </property>
  <property fmtid="{D5CDD505-2E9C-101B-9397-08002B2CF9AE}" pid="30" name="h00e4aaaf4624e24a7df7f06faa038c6">
    <vt:lpwstr>English|16ac8743-31bb-43f8-9a73-533a041667d6</vt:lpwstr>
  </property>
  <property fmtid="{D5CDD505-2E9C-101B-9397-08002B2CF9AE}" pid="31" name="lcf76f155ced4ddcb4097134ff3c332f">
    <vt:lpwstr/>
  </property>
  <property fmtid="{D5CDD505-2E9C-101B-9397-08002B2CF9AE}" pid="32" name="p030e467f78f45b4ae8f7e2c17ea4d82">
    <vt:lpwstr/>
  </property>
  <property fmtid="{D5CDD505-2E9C-101B-9397-08002B2CF9AE}" pid="33" name="d61536b25a8a4fedb48bb564279be82a">
    <vt:lpwstr/>
  </property>
</Properties>
</file>