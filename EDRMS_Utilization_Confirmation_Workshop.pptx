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73" r:id="rId5"/>
    <p:sldId id="298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99E9E49-8E37-67AE-334A-E386AB45A267}" name="Leah Bancale" initials="LB" userId="S::lbancale.contractor@adb.org::41cb66bb-1d78-450e-ade4-0d15abfbc2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60706"/>
    <a:srgbClr val="92400E"/>
    <a:srgbClr val="F5F6F8"/>
    <a:srgbClr val="1568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C9560-087D-4448-A8DE-21E160664AD3}" v="250" dt="2026-08-25T02:42:05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78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16E09-8B40-4ED1-86B7-C94735C58C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56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A729-BEC3-FA04-6D55-0F93E0FB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93D8D-C471-C974-2D76-E18EFD2F1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B9CD2-8A70-3F5F-F1B5-6DE49FFC7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FEEC0-54CD-166B-2087-50E69090AD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84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F6FC1-4C95-D97B-A745-E2DB1113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E8EF4-FA35-4FB7-EC92-1FDFA72BA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F853F-564A-F3C4-95E0-C1DB6700A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DB1E3-C1A7-2D5C-0183-DA74A4E356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37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0994-1845-05C3-E670-3B5C5AA1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A7FFF-1A26-418B-92B6-EBA5A7808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73194-2401-3CA7-1B3E-E88A9FB0F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0AA05-9BD8-451F-A00E-7CB0EC9ED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56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34D3-18EF-108E-F855-417F96A3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775D8-B77A-71F6-451D-01CD68D93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8E963-D9CD-B0BF-BCBE-D21002E0E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F724-064F-8EB1-5557-4B8B10689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66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7356C-FF58-7B93-7817-74190D89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7060C-F50E-5A5F-F79D-7E0BEBCB2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33372-488E-2DD9-5CAF-FC61964B3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B774A-34B2-79E8-9C73-7AC16C136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28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9731-8E6F-15F1-A74C-47A98A2B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5B3A3-15EA-8E52-62F6-261987F48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DEDB8-EB48-B4F8-00E6-24F60B7D1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CC915-0F81-E6B0-46D0-9BC90DC8F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30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604A-68BB-6A28-E54C-1D6C3BA1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44D1E-4BAD-1087-0B2F-FED2AEEBE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4F20B-2D5A-F50D-C9C8-1AEE4FA94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C345C-EA71-97EE-3CE7-C1B328148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24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2393-627C-56B2-2187-94E991A5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F2890-C1C6-E9D6-589A-3E2AEA78E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C7AB8-AA62-4190-D9D7-5E6BA81FB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67125-42FD-09ED-CF0A-1254B0F08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00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65433-D3D4-0CF8-EDF7-5287C71DD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45248-24FB-9FF1-72C9-B63F9D125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1EC05-5DAE-1A07-BF25-C34725210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FCC91-CA45-1509-3F0F-73E2EC44D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69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B6381-D55F-CFE3-8DCA-D2A99DBC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96020-2A78-049E-CC11-5A396A303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D8F81-D421-52A2-8360-956EF57C3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152F6-F4CF-FE38-4CC7-E418920AC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4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9BAA6-1C29-2F91-2E8C-968FB503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CC374-57DD-FB5E-16A0-10C6FD12F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9F68D-6E10-9E92-CFD6-997990668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D0D5B-29BB-D98D-A1FB-0408505B5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50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C51E-E366-290C-1FD6-92460170C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ABDAD-E103-C65E-88F2-43CF9DBED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0F898-3E18-B477-9F6B-768E9EFA8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06002-2FFE-8A09-C0A4-5C95CE7F0D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1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blue wavy lines&#10;&#10;Description automatically generated">
            <a:extLst>
              <a:ext uri="{FF2B5EF4-FFF2-40B4-BE49-F238E27FC236}">
                <a16:creationId xmlns:a16="http://schemas.microsoft.com/office/drawing/2014/main" id="{C0B37FD3-2E43-3CB4-83E1-EEC2F7D0E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18875C-F4E2-FA32-A18E-102993D4E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945" y="1930223"/>
            <a:ext cx="8285405" cy="1790700"/>
          </a:xfrm>
        </p:spPr>
        <p:txBody>
          <a:bodyPr anchor="b"/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2FBC6-9031-44CB-301F-04016C7A1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945" y="3761014"/>
            <a:ext cx="8285405" cy="735010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23F22-202B-22C5-B9EA-75BED886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49" y="4767263"/>
            <a:ext cx="2057400" cy="27384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A9BAB-EB88-2DD9-82D9-904B108017BF}"/>
              </a:ext>
            </a:extLst>
          </p:cNvPr>
          <p:cNvSpPr/>
          <p:nvPr userDrawn="1"/>
        </p:nvSpPr>
        <p:spPr>
          <a:xfrm>
            <a:off x="123042" y="2530859"/>
            <a:ext cx="34289" cy="1190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DF671D-3EF5-6E85-6EB3-0D04558FB4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72" y="4345380"/>
            <a:ext cx="3190318" cy="780114"/>
          </a:xfrm>
          <a:prstGeom prst="rect">
            <a:avLst/>
          </a:prstGeom>
        </p:spPr>
      </p:pic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852FBE8F-B070-8109-B023-E060794B8B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6864" y="4586993"/>
            <a:ext cx="465538" cy="4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black background&#10;&#10;Description automatically generated">
            <a:extLst>
              <a:ext uri="{FF2B5EF4-FFF2-40B4-BE49-F238E27FC236}">
                <a16:creationId xmlns:a16="http://schemas.microsoft.com/office/drawing/2014/main" id="{D98C54E4-BBD9-B9A8-144E-B0B8FB8E9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34111"/>
          <a:stretch/>
        </p:blipFill>
        <p:spPr>
          <a:xfrm>
            <a:off x="5978978" y="4293031"/>
            <a:ext cx="3165022" cy="8930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0BD2A-E58A-12B7-BFDE-DEFA7054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14" y="273844"/>
            <a:ext cx="8281307" cy="994172"/>
          </a:xfrm>
        </p:spPr>
        <p:txBody>
          <a:bodyPr>
            <a:normAutofit/>
          </a:bodyPr>
          <a:lstStyle>
            <a:lvl1pPr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558B-5F9B-1B2A-F0DE-2EFB049E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814" y="1369219"/>
            <a:ext cx="8281307" cy="3104810"/>
          </a:xfrm>
        </p:spPr>
        <p:txBody>
          <a:bodyPr/>
          <a:lstStyle>
            <a:lvl1pPr>
              <a:lnSpc>
                <a:spcPct val="100000"/>
              </a:lnSpc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35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ED74-28F0-4005-7C6F-12FACC50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40F2E-1D1D-55B1-29BF-87CFD40B6A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351707"/>
            <a:ext cx="3218259" cy="786947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A0CD0736-EB50-330A-55B9-C8741580A36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6864" y="4586993"/>
            <a:ext cx="465538" cy="465538"/>
          </a:xfrm>
          <a:prstGeom prst="rect">
            <a:avLst/>
          </a:prstGeom>
        </p:spPr>
      </p:pic>
      <p:pic>
        <p:nvPicPr>
          <p:cNvPr id="5" name="Picture 4" descr="A green and blue gradient&#10;&#10;Description automatically generated">
            <a:extLst>
              <a:ext uri="{FF2B5EF4-FFF2-40B4-BE49-F238E27FC236}">
                <a16:creationId xmlns:a16="http://schemas.microsoft.com/office/drawing/2014/main" id="{2C7E166D-ECFA-286E-2CE6-033F5000AE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91124" y="-5944"/>
            <a:ext cx="4052876" cy="127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4C2120-DF8B-03EB-5E9D-019C7BA0107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700213" y="4958080"/>
            <a:ext cx="57642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A76651-B3B5-21F1-CC98-98819F36D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b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50">
                <a:solidFill>
                  <a:schemeClr val="bg1"/>
                </a:solidFill>
                <a:latin typeface="Segoe UI Bold"/>
                <a:cs typeface="Segoe UI Bold"/>
              </a:rPr>
              <a:t>EDRMS Utilization Report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FF230-BDAA-521C-33FC-57FE5F925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dirty="0">
                <a:solidFill>
                  <a:schemeClr val="bg1"/>
                </a:solidFill>
                <a:cs typeface="Segoe UI"/>
              </a:rPr>
              <a:t>August 2026</a:t>
            </a:r>
            <a:endParaRPr lang="en-PH" dirty="0">
              <a:solidFill>
                <a:schemeClr val="bg1"/>
              </a:solidFill>
              <a:ea typeface="Calibri"/>
              <a:cs typeface="Segoe UI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16B05C2-64A2-81BA-BB74-7CA424E577D1}"/>
              </a:ext>
            </a:extLst>
          </p:cNvPr>
          <p:cNvSpPr/>
          <p:nvPr/>
        </p:nvSpPr>
        <p:spPr>
          <a:xfrm>
            <a:off x="232518" y="2714354"/>
            <a:ext cx="7543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50" dirty="0">
                <a:solidFill>
                  <a:srgbClr val="FFFFFF"/>
                </a:solidFill>
                <a:latin typeface="Segoe UI"/>
                <a:cs typeface="Segoe UI"/>
              </a:rPr>
              <a:t>Reconfirmation Workshop (R2026.4)</a:t>
            </a:r>
          </a:p>
        </p:txBody>
      </p:sp>
    </p:spTree>
    <p:extLst>
      <p:ext uri="{BB962C8B-B14F-4D97-AF65-F5344CB8AC3E}">
        <p14:creationId xmlns:p14="http://schemas.microsoft.com/office/powerpoint/2010/main" val="1895025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 3">
            <a:extLst>
              <a:ext uri="{FF2B5EF4-FFF2-40B4-BE49-F238E27FC236}">
                <a16:creationId xmlns:a16="http://schemas.microsoft.com/office/drawing/2014/main" id="{0C296876-C4ED-38E7-8A6B-084D48047EB6}"/>
              </a:ext>
            </a:extLst>
          </p:cNvPr>
          <p:cNvSpPr/>
          <p:nvPr/>
        </p:nvSpPr>
        <p:spPr>
          <a:xfrm>
            <a:off x="304800" y="3606800"/>
            <a:ext cx="4165600" cy="86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44493" y="36794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chemeClr val="tx2">
                    <a:lumMod val="76000"/>
                  </a:schemeClr>
                </a:solidFill>
                <a:latin typeface="Cambria"/>
                <a:ea typeface="Cambria"/>
              </a:rPr>
              <a:t>Agenda</a:t>
            </a:r>
            <a:endParaRPr lang="en-US"/>
          </a:p>
        </p:txBody>
      </p:sp>
      <p:sp>
        <p:nvSpPr>
          <p:cNvPr id="200" name="Card 1"/>
          <p:cNvSpPr/>
          <p:nvPr/>
        </p:nvSpPr>
        <p:spPr>
          <a:xfrm>
            <a:off x="304800" y="635000"/>
            <a:ext cx="4165600" cy="863600"/>
          </a:xfrm>
          <a:prstGeom prst="roundRect">
            <a:avLst>
              <a:gd name="adj" fmla="val 10000"/>
            </a:avLst>
          </a:prstGeom>
          <a:solidFill>
            <a:srgbClr val="F0F5FA"/>
          </a:solidFill>
          <a:ln w="12700">
            <a:solidFill>
              <a:srgbClr val="D6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1" name="Dot 1"/>
          <p:cNvSpPr/>
          <p:nvPr/>
        </p:nvSpPr>
        <p:spPr>
          <a:xfrm>
            <a:off x="482600" y="812800"/>
            <a:ext cx="508000" cy="50800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Label 1"/>
          <p:cNvSpPr txBox="1"/>
          <p:nvPr/>
        </p:nvSpPr>
        <p:spPr>
          <a:xfrm>
            <a:off x="1168400" y="736600"/>
            <a:ext cx="3124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346"/>
                </a:solidFill>
                <a:latin typeface="Cambria"/>
              </a:rPr>
              <a:t>Introduction &amp; File Overview</a:t>
            </a:r>
          </a:p>
        </p:txBody>
      </p:sp>
      <p:sp>
        <p:nvSpPr>
          <p:cNvPr id="203" name="Card 2"/>
          <p:cNvSpPr/>
          <p:nvPr/>
        </p:nvSpPr>
        <p:spPr>
          <a:xfrm>
            <a:off x="304800" y="1625600"/>
            <a:ext cx="4165600" cy="86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" name="Dot 2"/>
          <p:cNvSpPr/>
          <p:nvPr/>
        </p:nvSpPr>
        <p:spPr>
          <a:xfrm>
            <a:off x="482600" y="1803400"/>
            <a:ext cx="508000" cy="508000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Label 2"/>
          <p:cNvSpPr txBox="1"/>
          <p:nvPr/>
        </p:nvSpPr>
        <p:spPr>
          <a:xfrm>
            <a:off x="1168400" y="1727200"/>
            <a:ext cx="3124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346"/>
                </a:solidFill>
                <a:latin typeface="Cambria"/>
              </a:rPr>
              <a:t>Bank-wide Oversight</a:t>
            </a:r>
          </a:p>
        </p:txBody>
      </p:sp>
      <p:sp>
        <p:nvSpPr>
          <p:cNvPr id="206" name="Card 3"/>
          <p:cNvSpPr/>
          <p:nvPr/>
        </p:nvSpPr>
        <p:spPr>
          <a:xfrm>
            <a:off x="304800" y="2616200"/>
            <a:ext cx="4165600" cy="86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7" name="Dot 3"/>
          <p:cNvSpPr/>
          <p:nvPr/>
        </p:nvSpPr>
        <p:spPr>
          <a:xfrm>
            <a:off x="482600" y="2794000"/>
            <a:ext cx="508000" cy="50800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Label 3"/>
          <p:cNvSpPr txBox="1"/>
          <p:nvPr/>
        </p:nvSpPr>
        <p:spPr>
          <a:xfrm>
            <a:off x="1168400" y="2705100"/>
            <a:ext cx="3124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346"/>
                </a:solidFill>
                <a:latin typeface="Cambria"/>
              </a:rPr>
              <a:t>Department Insights</a:t>
            </a:r>
          </a:p>
        </p:txBody>
      </p:sp>
      <p:sp>
        <p:nvSpPr>
          <p:cNvPr id="210" name="Dot 4"/>
          <p:cNvSpPr/>
          <p:nvPr/>
        </p:nvSpPr>
        <p:spPr>
          <a:xfrm>
            <a:off x="482600" y="3784600"/>
            <a:ext cx="508000" cy="508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Label 4"/>
          <p:cNvSpPr txBox="1"/>
          <p:nvPr/>
        </p:nvSpPr>
        <p:spPr>
          <a:xfrm>
            <a:off x="1168400" y="3708400"/>
            <a:ext cx="3124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346"/>
                </a:solidFill>
                <a:latin typeface="Cambria"/>
              </a:rPr>
              <a:t>Project Insights</a:t>
            </a:r>
          </a:p>
        </p:txBody>
      </p:sp>
      <p:sp>
        <p:nvSpPr>
          <p:cNvPr id="212" name="Card 5"/>
          <p:cNvSpPr/>
          <p:nvPr/>
        </p:nvSpPr>
        <p:spPr>
          <a:xfrm>
            <a:off x="4673600" y="1130300"/>
            <a:ext cx="4165600" cy="86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3" name="Dot 5"/>
          <p:cNvSpPr/>
          <p:nvPr/>
        </p:nvSpPr>
        <p:spPr>
          <a:xfrm>
            <a:off x="4851400" y="1308100"/>
            <a:ext cx="508000" cy="5080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Label 5"/>
          <p:cNvSpPr txBox="1"/>
          <p:nvPr/>
        </p:nvSpPr>
        <p:spPr>
          <a:xfrm>
            <a:off x="5537200" y="1231900"/>
            <a:ext cx="3124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346"/>
                </a:solidFill>
                <a:latin typeface="Cambria"/>
              </a:rPr>
              <a:t>Institutional File Plan</a:t>
            </a:r>
          </a:p>
        </p:txBody>
      </p:sp>
      <p:sp>
        <p:nvSpPr>
          <p:cNvPr id="215" name="Card 6"/>
          <p:cNvSpPr/>
          <p:nvPr/>
        </p:nvSpPr>
        <p:spPr>
          <a:xfrm>
            <a:off x="4673600" y="2120900"/>
            <a:ext cx="4165600" cy="86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6" name="Dot 6"/>
          <p:cNvSpPr/>
          <p:nvPr/>
        </p:nvSpPr>
        <p:spPr>
          <a:xfrm>
            <a:off x="4851400" y="2298700"/>
            <a:ext cx="508000" cy="50800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Label 6"/>
          <p:cNvSpPr txBox="1"/>
          <p:nvPr/>
        </p:nvSpPr>
        <p:spPr>
          <a:xfrm>
            <a:off x="5537200" y="2222500"/>
            <a:ext cx="3124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346"/>
                </a:solidFill>
                <a:latin typeface="Cambria"/>
              </a:rPr>
              <a:t>Retention and Disposal</a:t>
            </a:r>
          </a:p>
        </p:txBody>
      </p:sp>
      <p:sp>
        <p:nvSpPr>
          <p:cNvPr id="218" name="Card 7"/>
          <p:cNvSpPr/>
          <p:nvPr/>
        </p:nvSpPr>
        <p:spPr>
          <a:xfrm>
            <a:off x="4673600" y="3111500"/>
            <a:ext cx="4165600" cy="86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Dot 7"/>
          <p:cNvSpPr/>
          <p:nvPr/>
        </p:nvSpPr>
        <p:spPr>
          <a:xfrm>
            <a:off x="4851400" y="3289300"/>
            <a:ext cx="508000" cy="508000"/>
          </a:xfrm>
          <a:prstGeom prst="ellipse">
            <a:avLst/>
          </a:prstGeom>
          <a:solidFill>
            <a:srgbClr val="72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Label 7"/>
          <p:cNvSpPr txBox="1"/>
          <p:nvPr/>
        </p:nvSpPr>
        <p:spPr>
          <a:xfrm>
            <a:off x="5537200" y="3213100"/>
            <a:ext cx="3124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3346"/>
                </a:solidFill>
                <a:latin typeface="Cambria"/>
              </a:rPr>
              <a:t>Records and Archive Holdings</a:t>
            </a:r>
          </a:p>
        </p:txBody>
      </p:sp>
      <p:pic>
        <p:nvPicPr>
          <p:cNvPr id="221" name="Graphic 221" descr="File overvie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" y="914400"/>
            <a:ext cx="304800" cy="304800"/>
          </a:xfrm>
          <a:prstGeom prst="rect">
            <a:avLst/>
          </a:prstGeom>
        </p:spPr>
      </p:pic>
      <p:pic>
        <p:nvPicPr>
          <p:cNvPr id="222" name="Graphic 222" descr="Bank-wide oversigh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" y="1905000"/>
            <a:ext cx="304800" cy="304800"/>
          </a:xfrm>
          <a:prstGeom prst="rect">
            <a:avLst/>
          </a:prstGeom>
        </p:spPr>
      </p:pic>
      <p:pic>
        <p:nvPicPr>
          <p:cNvPr id="223" name="Graphic 223" descr="Department insigh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" y="2895600"/>
            <a:ext cx="304800" cy="304800"/>
          </a:xfrm>
          <a:prstGeom prst="rect">
            <a:avLst/>
          </a:prstGeom>
        </p:spPr>
      </p:pic>
      <p:pic>
        <p:nvPicPr>
          <p:cNvPr id="224" name="Graphic 224" descr="Project insigh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" y="3886200"/>
            <a:ext cx="304800" cy="304800"/>
          </a:xfrm>
          <a:prstGeom prst="rect">
            <a:avLst/>
          </a:prstGeom>
        </p:spPr>
      </p:pic>
      <p:pic>
        <p:nvPicPr>
          <p:cNvPr id="225" name="Graphic 225" descr="Institutional file pla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3000" y="1409700"/>
            <a:ext cx="304800" cy="304800"/>
          </a:xfrm>
          <a:prstGeom prst="rect">
            <a:avLst/>
          </a:prstGeom>
        </p:spPr>
      </p:pic>
      <p:pic>
        <p:nvPicPr>
          <p:cNvPr id="226" name="Graphic 226" descr="Retention and dispos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3000" y="2400300"/>
            <a:ext cx="304800" cy="304800"/>
          </a:xfrm>
          <a:prstGeom prst="rect">
            <a:avLst/>
          </a:prstGeom>
        </p:spPr>
      </p:pic>
      <p:pic>
        <p:nvPicPr>
          <p:cNvPr id="227" name="Graphic 227" descr="Records and archive hold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3000" y="33909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9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9">
            <a:extLst>
              <a:ext uri="{FF2B5EF4-FFF2-40B4-BE49-F238E27FC236}">
                <a16:creationId xmlns:a16="http://schemas.microsoft.com/office/drawing/2014/main" id="{0DBF04C0-E18B-43E2-8F60-57442E606C7B}"/>
              </a:ext>
            </a:extLst>
          </p:cNvPr>
          <p:cNvSpPr/>
          <p:nvPr/>
        </p:nvSpPr>
        <p:spPr>
          <a:xfrm>
            <a:off x="-8958" y="3646176"/>
            <a:ext cx="9152958" cy="834499"/>
          </a:xfrm>
          <a:prstGeom prst="roundRect">
            <a:avLst>
              <a:gd name="adj" fmla="val 5882"/>
            </a:avLst>
          </a:prstGeom>
          <a:solidFill>
            <a:srgbClr val="D1FAE5"/>
          </a:solidFill>
          <a:ln w="1143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198186" y="93986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2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Introduction &amp; File Overview</a:t>
            </a:r>
            <a:endParaRPr lang="en-US" sz="2700" dirty="0">
              <a:solidFill>
                <a:schemeClr val="tx2">
                  <a:lumMod val="76000"/>
                </a:schemeClr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16" name="Text 47">
            <a:extLst>
              <a:ext uri="{FF2B5EF4-FFF2-40B4-BE49-F238E27FC236}">
                <a16:creationId xmlns:a16="http://schemas.microsoft.com/office/drawing/2014/main" id="{AD7FDED3-552C-991E-5075-1CE456E19947}"/>
              </a:ext>
            </a:extLst>
          </p:cNvPr>
          <p:cNvSpPr/>
          <p:nvPr/>
        </p:nvSpPr>
        <p:spPr>
          <a:xfrm>
            <a:off x="288465" y="3723161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</p:txBody>
      </p:sp>
      <p:sp>
        <p:nvSpPr>
          <p:cNvPr id="18" name="Text 48">
            <a:extLst>
              <a:ext uri="{FF2B5EF4-FFF2-40B4-BE49-F238E27FC236}">
                <a16:creationId xmlns:a16="http://schemas.microsoft.com/office/drawing/2014/main" id="{94D78A1F-D925-4776-0BE8-DDB3ABC0E842}"/>
              </a:ext>
            </a:extLst>
          </p:cNvPr>
          <p:cNvSpPr/>
          <p:nvPr/>
        </p:nvSpPr>
        <p:spPr>
          <a:xfrm>
            <a:off x="288465" y="4015769"/>
            <a:ext cx="313121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correct designs to lock them.</a:t>
            </a:r>
          </a:p>
        </p:txBody>
      </p:sp>
      <p:sp>
        <p:nvSpPr>
          <p:cNvPr id="26" name="Text 51">
            <a:extLst>
              <a:ext uri="{FF2B5EF4-FFF2-40B4-BE49-F238E27FC236}">
                <a16:creationId xmlns:a16="http://schemas.microsoft.com/office/drawing/2014/main" id="{593F457E-7841-0F30-4848-6098D59D6BA4}"/>
              </a:ext>
            </a:extLst>
          </p:cNvPr>
          <p:cNvSpPr/>
          <p:nvPr/>
        </p:nvSpPr>
        <p:spPr>
          <a:xfrm>
            <a:off x="3589082" y="3738301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</p:txBody>
      </p:sp>
      <p:sp>
        <p:nvSpPr>
          <p:cNvPr id="28" name="Text 52">
            <a:extLst>
              <a:ext uri="{FF2B5EF4-FFF2-40B4-BE49-F238E27FC236}">
                <a16:creationId xmlns:a16="http://schemas.microsoft.com/office/drawing/2014/main" id="{45CFAA6B-3EDE-31AB-7DEC-EFFACBF57BAA}"/>
              </a:ext>
            </a:extLst>
          </p:cNvPr>
          <p:cNvSpPr/>
          <p:nvPr/>
        </p:nvSpPr>
        <p:spPr>
          <a:xfrm>
            <a:off x="3589082" y="4030909"/>
            <a:ext cx="313121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up any mockup. Layout, wording, and grouping stay open.</a:t>
            </a:r>
          </a:p>
        </p:txBody>
      </p:sp>
      <p:sp>
        <p:nvSpPr>
          <p:cNvPr id="32" name="Text 55">
            <a:extLst>
              <a:ext uri="{FF2B5EF4-FFF2-40B4-BE49-F238E27FC236}">
                <a16:creationId xmlns:a16="http://schemas.microsoft.com/office/drawing/2014/main" id="{5733D952-09D8-F404-417D-225A2C5830A2}"/>
              </a:ext>
            </a:extLst>
          </p:cNvPr>
          <p:cNvSpPr/>
          <p:nvPr/>
        </p:nvSpPr>
        <p:spPr>
          <a:xfrm>
            <a:off x="6756868" y="3739439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200" dirty="0"/>
          </a:p>
        </p:txBody>
      </p:sp>
      <p:sp>
        <p:nvSpPr>
          <p:cNvPr id="34" name="Text 56">
            <a:extLst>
              <a:ext uri="{FF2B5EF4-FFF2-40B4-BE49-F238E27FC236}">
                <a16:creationId xmlns:a16="http://schemas.microsoft.com/office/drawing/2014/main" id="{A36FEA28-0BB7-4F83-A41F-8F82235D5A5D}"/>
              </a:ext>
            </a:extLst>
          </p:cNvPr>
          <p:cNvSpPr/>
          <p:nvPr/>
        </p:nvSpPr>
        <p:spPr>
          <a:xfrm>
            <a:off x="6756868" y="4032047"/>
            <a:ext cx="22728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anything missing. We confirm feasibility before committing.</a:t>
            </a:r>
          </a:p>
        </p:txBody>
      </p:sp>
      <p:sp>
        <p:nvSpPr>
          <p:cNvPr id="38" name="Text 44">
            <a:extLst>
              <a:ext uri="{FF2B5EF4-FFF2-40B4-BE49-F238E27FC236}">
                <a16:creationId xmlns:a16="http://schemas.microsoft.com/office/drawing/2014/main" id="{9D255077-BBD8-56BC-4180-DEDFA8CF0D63}"/>
              </a:ext>
            </a:extLst>
          </p:cNvPr>
          <p:cNvSpPr/>
          <p:nvPr/>
        </p:nvSpPr>
        <p:spPr>
          <a:xfrm>
            <a:off x="508888" y="3442976"/>
            <a:ext cx="6350000" cy="20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</a:p>
        </p:txBody>
      </p:sp>
      <p:sp>
        <p:nvSpPr>
          <p:cNvPr id="40" name="Shape 45">
            <a:extLst>
              <a:ext uri="{FF2B5EF4-FFF2-40B4-BE49-F238E27FC236}">
                <a16:creationId xmlns:a16="http://schemas.microsoft.com/office/drawing/2014/main" id="{46BC66C1-73ED-21C8-6B97-ED3AA15C58FE}"/>
              </a:ext>
            </a:extLst>
          </p:cNvPr>
          <p:cNvSpPr/>
          <p:nvPr/>
        </p:nvSpPr>
        <p:spPr>
          <a:xfrm>
            <a:off x="65201" y="3730129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2" name="Text 46">
            <a:extLst>
              <a:ext uri="{FF2B5EF4-FFF2-40B4-BE49-F238E27FC236}">
                <a16:creationId xmlns:a16="http://schemas.microsoft.com/office/drawing/2014/main" id="{1C85CDF2-3EC8-FDB8-01F7-0DC4DA00B358}"/>
              </a:ext>
            </a:extLst>
          </p:cNvPr>
          <p:cNvSpPr/>
          <p:nvPr/>
        </p:nvSpPr>
        <p:spPr>
          <a:xfrm>
            <a:off x="65201" y="3748417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9">
            <a:extLst>
              <a:ext uri="{FF2B5EF4-FFF2-40B4-BE49-F238E27FC236}">
                <a16:creationId xmlns:a16="http://schemas.microsoft.com/office/drawing/2014/main" id="{8661AFA4-AE6F-9EFF-B6AA-15C28592F58C}"/>
              </a:ext>
            </a:extLst>
          </p:cNvPr>
          <p:cNvSpPr/>
          <p:nvPr/>
        </p:nvSpPr>
        <p:spPr>
          <a:xfrm>
            <a:off x="3309947" y="3748583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78126EEE-BC03-0196-1AF4-4D6540A55FE7}"/>
              </a:ext>
            </a:extLst>
          </p:cNvPr>
          <p:cNvSpPr/>
          <p:nvPr/>
        </p:nvSpPr>
        <p:spPr>
          <a:xfrm>
            <a:off x="3309947" y="3766871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Shape 53">
            <a:extLst>
              <a:ext uri="{FF2B5EF4-FFF2-40B4-BE49-F238E27FC236}">
                <a16:creationId xmlns:a16="http://schemas.microsoft.com/office/drawing/2014/main" id="{A06854A9-7769-1434-49A1-3B73669ADB27}"/>
              </a:ext>
            </a:extLst>
          </p:cNvPr>
          <p:cNvSpPr/>
          <p:nvPr/>
        </p:nvSpPr>
        <p:spPr>
          <a:xfrm>
            <a:off x="6500836" y="3759737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2" name="Text 54">
            <a:extLst>
              <a:ext uri="{FF2B5EF4-FFF2-40B4-BE49-F238E27FC236}">
                <a16:creationId xmlns:a16="http://schemas.microsoft.com/office/drawing/2014/main" id="{D9515F8B-E54A-5B9E-6D0D-3D9A68161233}"/>
              </a:ext>
            </a:extLst>
          </p:cNvPr>
          <p:cNvSpPr/>
          <p:nvPr/>
        </p:nvSpPr>
        <p:spPr>
          <a:xfrm>
            <a:off x="6500836" y="3778025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0" name="Shape 25">
            <a:extLst>
              <a:ext uri="{FF2B5EF4-FFF2-40B4-BE49-F238E27FC236}">
                <a16:creationId xmlns:a16="http://schemas.microsoft.com/office/drawing/2014/main" id="{FFC99351-2B26-EF32-8C57-363A8550D1E9}"/>
              </a:ext>
            </a:extLst>
          </p:cNvPr>
          <p:cNvSpPr/>
          <p:nvPr/>
        </p:nvSpPr>
        <p:spPr>
          <a:xfrm>
            <a:off x="304800" y="1984248"/>
            <a:ext cx="8320811" cy="1269952"/>
          </a:xfrm>
          <a:prstGeom prst="rect">
            <a:avLst/>
          </a:prstGeom>
          <a:solidFill>
            <a:srgbClr val="F4F7F8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EA5298CA-7DB6-5F41-957B-69D56C106B7C}"/>
              </a:ext>
            </a:extLst>
          </p:cNvPr>
          <p:cNvSpPr/>
          <p:nvPr/>
        </p:nvSpPr>
        <p:spPr>
          <a:xfrm>
            <a:off x="496823" y="2085848"/>
            <a:ext cx="34290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HIGHLIGHTED ROWS MEAN</a:t>
            </a:r>
          </a:p>
        </p:txBody>
      </p:sp>
      <p:sp>
        <p:nvSpPr>
          <p:cNvPr id="94" name="Shape 28">
            <a:extLst>
              <a:ext uri="{FF2B5EF4-FFF2-40B4-BE49-F238E27FC236}">
                <a16:creationId xmlns:a16="http://schemas.microsoft.com/office/drawing/2014/main" id="{046ECE91-57AB-F768-878A-9F248B3055F7}"/>
              </a:ext>
            </a:extLst>
          </p:cNvPr>
          <p:cNvSpPr/>
          <p:nvPr/>
        </p:nvSpPr>
        <p:spPr>
          <a:xfrm>
            <a:off x="510539" y="2327148"/>
            <a:ext cx="45262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7"/>
            </a:solidFill>
            <a:prstDash val="solid"/>
          </a:ln>
        </p:spPr>
        <p:txBody>
          <a:bodyPr/>
          <a:lstStyle/>
          <a:p>
            <a:endParaRPr lang="en-PH" sz="1350"/>
          </a:p>
        </p:txBody>
      </p:sp>
      <p:sp>
        <p:nvSpPr>
          <p:cNvPr id="96" name="Text 29">
            <a:extLst>
              <a:ext uri="{FF2B5EF4-FFF2-40B4-BE49-F238E27FC236}">
                <a16:creationId xmlns:a16="http://schemas.microsoft.com/office/drawing/2014/main" id="{E50CB96A-52CA-977C-290F-B76F42708C94}"/>
              </a:ext>
            </a:extLst>
          </p:cNvPr>
          <p:cNvSpPr/>
          <p:nvPr/>
        </p:nvSpPr>
        <p:spPr>
          <a:xfrm>
            <a:off x="1045463" y="2327148"/>
            <a:ext cx="65151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fill</a:t>
            </a:r>
            <a:endParaRPr lang="en-US" sz="1000" dirty="0"/>
          </a:p>
        </p:txBody>
      </p:sp>
      <p:sp>
        <p:nvSpPr>
          <p:cNvPr id="98" name="Text 30">
            <a:extLst>
              <a:ext uri="{FF2B5EF4-FFF2-40B4-BE49-F238E27FC236}">
                <a16:creationId xmlns:a16="http://schemas.microsoft.com/office/drawing/2014/main" id="{B0342C46-CF14-14A3-E2E0-BC35FF117C42}"/>
              </a:ext>
            </a:extLst>
          </p:cNvPr>
          <p:cNvSpPr/>
          <p:nvPr/>
        </p:nvSpPr>
        <p:spPr>
          <a:xfrm>
            <a:off x="1744979" y="2327148"/>
            <a:ext cx="30861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requested.</a:t>
            </a:r>
          </a:p>
        </p:txBody>
      </p:sp>
      <p:sp>
        <p:nvSpPr>
          <p:cNvPr id="102" name="Shape 32">
            <a:extLst>
              <a:ext uri="{FF2B5EF4-FFF2-40B4-BE49-F238E27FC236}">
                <a16:creationId xmlns:a16="http://schemas.microsoft.com/office/drawing/2014/main" id="{7B4A5185-3C24-7BE6-2FBC-CB8678967F01}"/>
              </a:ext>
            </a:extLst>
          </p:cNvPr>
          <p:cNvSpPr/>
          <p:nvPr/>
        </p:nvSpPr>
        <p:spPr>
          <a:xfrm>
            <a:off x="510539" y="2799032"/>
            <a:ext cx="452628" cy="246888"/>
          </a:xfrm>
          <a:prstGeom prst="rect">
            <a:avLst/>
          </a:prstGeom>
          <a:solidFill>
            <a:srgbClr val="DBEEF4"/>
          </a:solidFill>
          <a:ln w="12700">
            <a:solidFill>
              <a:srgbClr val="8FBFD4"/>
            </a:solidFill>
            <a:prstDash val="solid"/>
          </a:ln>
        </p:spPr>
        <p:txBody>
          <a:bodyPr/>
          <a:lstStyle/>
          <a:p>
            <a:endParaRPr lang="en-PH" sz="1350"/>
          </a:p>
        </p:txBody>
      </p:sp>
      <p:sp>
        <p:nvSpPr>
          <p:cNvPr id="104" name="Text 33">
            <a:extLst>
              <a:ext uri="{FF2B5EF4-FFF2-40B4-BE49-F238E27FC236}">
                <a16:creationId xmlns:a16="http://schemas.microsoft.com/office/drawing/2014/main" id="{A951D42C-F3CD-4297-C0CE-9B4741B138F2}"/>
              </a:ext>
            </a:extLst>
          </p:cNvPr>
          <p:cNvSpPr/>
          <p:nvPr/>
        </p:nvSpPr>
        <p:spPr>
          <a:xfrm>
            <a:off x="1045463" y="2799032"/>
            <a:ext cx="65151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000" dirty="0"/>
          </a:p>
        </p:txBody>
      </p:sp>
      <p:sp>
        <p:nvSpPr>
          <p:cNvPr id="106" name="Text 34">
            <a:extLst>
              <a:ext uri="{FF2B5EF4-FFF2-40B4-BE49-F238E27FC236}">
                <a16:creationId xmlns:a16="http://schemas.microsoft.com/office/drawing/2014/main" id="{5CA08D4E-7A10-60B7-6051-E9023429D1FC}"/>
              </a:ext>
            </a:extLst>
          </p:cNvPr>
          <p:cNvSpPr/>
          <p:nvPr/>
        </p:nvSpPr>
        <p:spPr>
          <a:xfrm>
            <a:off x="1744979" y="2799032"/>
            <a:ext cx="30861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an improved measure.</a:t>
            </a:r>
          </a:p>
        </p:txBody>
      </p:sp>
      <p:sp>
        <p:nvSpPr>
          <p:cNvPr id="110" name="Shape 36">
            <a:extLst>
              <a:ext uri="{FF2B5EF4-FFF2-40B4-BE49-F238E27FC236}">
                <a16:creationId xmlns:a16="http://schemas.microsoft.com/office/drawing/2014/main" id="{82FD6E52-2FB3-539E-D4A6-73198E869874}"/>
              </a:ext>
            </a:extLst>
          </p:cNvPr>
          <p:cNvSpPr/>
          <p:nvPr/>
        </p:nvSpPr>
        <p:spPr>
          <a:xfrm>
            <a:off x="4378451" y="2295847"/>
            <a:ext cx="452628" cy="246888"/>
          </a:xfrm>
          <a:prstGeom prst="rect">
            <a:avLst/>
          </a:prstGeom>
          <a:solidFill>
            <a:srgbClr val="FFF3E0"/>
          </a:solidFill>
          <a:ln w="12700">
            <a:solidFill>
              <a:srgbClr val="E3B778"/>
            </a:solidFill>
            <a:prstDash val="solid"/>
          </a:ln>
        </p:spPr>
        <p:txBody>
          <a:bodyPr/>
          <a:lstStyle/>
          <a:p>
            <a:endParaRPr lang="en-PH" sz="1350"/>
          </a:p>
        </p:txBody>
      </p:sp>
      <p:sp>
        <p:nvSpPr>
          <p:cNvPr id="112" name="Text 37">
            <a:extLst>
              <a:ext uri="{FF2B5EF4-FFF2-40B4-BE49-F238E27FC236}">
                <a16:creationId xmlns:a16="http://schemas.microsoft.com/office/drawing/2014/main" id="{A5C7F8AC-0B04-1EF0-AE85-6575D3339B1D}"/>
              </a:ext>
            </a:extLst>
          </p:cNvPr>
          <p:cNvSpPr/>
          <p:nvPr/>
        </p:nvSpPr>
        <p:spPr>
          <a:xfrm>
            <a:off x="4888001" y="2322021"/>
            <a:ext cx="65151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14" name="Text 38">
            <a:extLst>
              <a:ext uri="{FF2B5EF4-FFF2-40B4-BE49-F238E27FC236}">
                <a16:creationId xmlns:a16="http://schemas.microsoft.com/office/drawing/2014/main" id="{CFF0D268-95DB-6E9C-D4C5-D4D9094C912D}"/>
              </a:ext>
            </a:extLst>
          </p:cNvPr>
          <p:cNvSpPr/>
          <p:nvPr/>
        </p:nvSpPr>
        <p:spPr>
          <a:xfrm>
            <a:off x="5587517" y="2322021"/>
            <a:ext cx="30861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pending your review.</a:t>
            </a:r>
          </a:p>
        </p:txBody>
      </p:sp>
      <p:sp>
        <p:nvSpPr>
          <p:cNvPr id="118" name="Shape 40">
            <a:extLst>
              <a:ext uri="{FF2B5EF4-FFF2-40B4-BE49-F238E27FC236}">
                <a16:creationId xmlns:a16="http://schemas.microsoft.com/office/drawing/2014/main" id="{DACDB210-C727-CC57-F791-12C195D303DF}"/>
              </a:ext>
            </a:extLst>
          </p:cNvPr>
          <p:cNvSpPr/>
          <p:nvPr/>
        </p:nvSpPr>
        <p:spPr>
          <a:xfrm>
            <a:off x="4378451" y="2799033"/>
            <a:ext cx="452628" cy="246888"/>
          </a:xfrm>
          <a:prstGeom prst="rect">
            <a:avLst/>
          </a:prstGeom>
          <a:solidFill>
            <a:srgbClr val="FCE4E4"/>
          </a:solidFill>
          <a:ln w="12700">
            <a:solidFill>
              <a:srgbClr val="E0A6A6"/>
            </a:solidFill>
            <a:prstDash val="solid"/>
          </a:ln>
        </p:spPr>
        <p:txBody>
          <a:bodyPr/>
          <a:lstStyle/>
          <a:p>
            <a:endParaRPr lang="en-PH" sz="1350"/>
          </a:p>
        </p:txBody>
      </p:sp>
      <p:sp>
        <p:nvSpPr>
          <p:cNvPr id="120" name="Text 41">
            <a:extLst>
              <a:ext uri="{FF2B5EF4-FFF2-40B4-BE49-F238E27FC236}">
                <a16:creationId xmlns:a16="http://schemas.microsoft.com/office/drawing/2014/main" id="{A16EF4D1-98E9-8CDD-77BB-6059A4F88B26}"/>
              </a:ext>
            </a:extLst>
          </p:cNvPr>
          <p:cNvSpPr/>
          <p:nvPr/>
        </p:nvSpPr>
        <p:spPr>
          <a:xfrm>
            <a:off x="4888001" y="2799795"/>
            <a:ext cx="65151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122" name="Text 42">
            <a:extLst>
              <a:ext uri="{FF2B5EF4-FFF2-40B4-BE49-F238E27FC236}">
                <a16:creationId xmlns:a16="http://schemas.microsoft.com/office/drawing/2014/main" id="{BEC0764C-7EB5-8268-FE6F-DE5C834F21FB}"/>
              </a:ext>
            </a:extLst>
          </p:cNvPr>
          <p:cNvSpPr/>
          <p:nvPr/>
        </p:nvSpPr>
        <p:spPr>
          <a:xfrm>
            <a:off x="5587517" y="2799795"/>
            <a:ext cx="30861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built. Need to identify the source.</a:t>
            </a:r>
          </a:p>
        </p:txBody>
      </p:sp>
      <p:sp>
        <p:nvSpPr>
          <p:cNvPr id="144" name="Shape 16">
            <a:extLst>
              <a:ext uri="{FF2B5EF4-FFF2-40B4-BE49-F238E27FC236}">
                <a16:creationId xmlns:a16="http://schemas.microsoft.com/office/drawing/2014/main" id="{A9865676-63BB-8CEE-F75A-698EAB81B6FA}"/>
              </a:ext>
            </a:extLst>
          </p:cNvPr>
          <p:cNvSpPr/>
          <p:nvPr/>
        </p:nvSpPr>
        <p:spPr>
          <a:xfrm>
            <a:off x="411480" y="1110996"/>
            <a:ext cx="2636444" cy="34290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350"/>
          </a:p>
        </p:txBody>
      </p:sp>
      <p:sp>
        <p:nvSpPr>
          <p:cNvPr id="146" name="Text 17">
            <a:extLst>
              <a:ext uri="{FF2B5EF4-FFF2-40B4-BE49-F238E27FC236}">
                <a16:creationId xmlns:a16="http://schemas.microsoft.com/office/drawing/2014/main" id="{2F420213-0AB9-E376-799D-D765D5E690FB}"/>
              </a:ext>
            </a:extLst>
          </p:cNvPr>
          <p:cNvSpPr/>
          <p:nvPr/>
        </p:nvSpPr>
        <p:spPr>
          <a:xfrm>
            <a:off x="736600" y="1168400"/>
            <a:ext cx="2311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requirement</a:t>
            </a:r>
          </a:p>
        </p:txBody>
      </p:sp>
      <p:sp>
        <p:nvSpPr>
          <p:cNvPr id="148" name="Text 18">
            <a:extLst>
              <a:ext uri="{FF2B5EF4-FFF2-40B4-BE49-F238E27FC236}">
                <a16:creationId xmlns:a16="http://schemas.microsoft.com/office/drawing/2014/main" id="{E8390ADA-819D-B9B9-B485-CEC0690A49F0}"/>
              </a:ext>
            </a:extLst>
          </p:cNvPr>
          <p:cNvSpPr/>
          <p:nvPr/>
        </p:nvSpPr>
        <p:spPr>
          <a:xfrm>
            <a:off x="411480" y="1453896"/>
            <a:ext cx="263644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Utilization Report fields consolidated in one requirements file.</a:t>
            </a:r>
          </a:p>
        </p:txBody>
      </p:sp>
      <p:sp>
        <p:nvSpPr>
          <p:cNvPr id="150" name="Shape 19">
            <a:extLst>
              <a:ext uri="{FF2B5EF4-FFF2-40B4-BE49-F238E27FC236}">
                <a16:creationId xmlns:a16="http://schemas.microsoft.com/office/drawing/2014/main" id="{C30565ED-B4A1-3027-0BB6-64A6EA4B60F4}"/>
              </a:ext>
            </a:extLst>
          </p:cNvPr>
          <p:cNvSpPr/>
          <p:nvPr/>
        </p:nvSpPr>
        <p:spPr>
          <a:xfrm>
            <a:off x="3253663" y="1110996"/>
            <a:ext cx="2636444" cy="34290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350"/>
          </a:p>
        </p:txBody>
      </p:sp>
      <p:sp>
        <p:nvSpPr>
          <p:cNvPr id="152" name="Text 20">
            <a:extLst>
              <a:ext uri="{FF2B5EF4-FFF2-40B4-BE49-F238E27FC236}">
                <a16:creationId xmlns:a16="http://schemas.microsoft.com/office/drawing/2014/main" id="{25655A67-AE7E-446F-7A65-BB0519AE05A7}"/>
              </a:ext>
            </a:extLst>
          </p:cNvPr>
          <p:cNvSpPr/>
          <p:nvPr/>
        </p:nvSpPr>
        <p:spPr>
          <a:xfrm>
            <a:off x="3581400" y="1168400"/>
            <a:ext cx="2311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beside each row</a:t>
            </a:r>
          </a:p>
        </p:txBody>
      </p:sp>
      <p:sp>
        <p:nvSpPr>
          <p:cNvPr id="154" name="Text 21">
            <a:extLst>
              <a:ext uri="{FF2B5EF4-FFF2-40B4-BE49-F238E27FC236}">
                <a16:creationId xmlns:a16="http://schemas.microsoft.com/office/drawing/2014/main" id="{AC9F654C-12D5-69E7-8731-B26DC4F16576}"/>
              </a:ext>
            </a:extLst>
          </p:cNvPr>
          <p:cNvSpPr/>
          <p:nvPr/>
        </p:nvSpPr>
        <p:spPr>
          <a:xfrm>
            <a:off x="3253663" y="1453896"/>
            <a:ext cx="263644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linked to the screen where it appears.</a:t>
            </a:r>
          </a:p>
        </p:txBody>
      </p:sp>
      <p:sp>
        <p:nvSpPr>
          <p:cNvPr id="156" name="Shape 22">
            <a:extLst>
              <a:ext uri="{FF2B5EF4-FFF2-40B4-BE49-F238E27FC236}">
                <a16:creationId xmlns:a16="http://schemas.microsoft.com/office/drawing/2014/main" id="{ADE7C406-E8A7-7F3E-34BD-3C2391397E46}"/>
              </a:ext>
            </a:extLst>
          </p:cNvPr>
          <p:cNvSpPr/>
          <p:nvPr/>
        </p:nvSpPr>
        <p:spPr>
          <a:xfrm>
            <a:off x="6095848" y="1110996"/>
            <a:ext cx="2636444" cy="34290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350"/>
          </a:p>
        </p:txBody>
      </p:sp>
      <p:sp>
        <p:nvSpPr>
          <p:cNvPr id="158" name="Text 23">
            <a:extLst>
              <a:ext uri="{FF2B5EF4-FFF2-40B4-BE49-F238E27FC236}">
                <a16:creationId xmlns:a16="http://schemas.microsoft.com/office/drawing/2014/main" id="{885E609E-BFC1-8A6D-E87B-E9FD09CC3AEB}"/>
              </a:ext>
            </a:extLst>
          </p:cNvPr>
          <p:cNvSpPr/>
          <p:nvPr/>
        </p:nvSpPr>
        <p:spPr>
          <a:xfrm>
            <a:off x="6426200" y="1168400"/>
            <a:ext cx="2311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assessment</a:t>
            </a:r>
          </a:p>
        </p:txBody>
      </p:sp>
      <p:sp>
        <p:nvSpPr>
          <p:cNvPr id="160" name="Text 24">
            <a:extLst>
              <a:ext uri="{FF2B5EF4-FFF2-40B4-BE49-F238E27FC236}">
                <a16:creationId xmlns:a16="http://schemas.microsoft.com/office/drawing/2014/main" id="{D1BC0C53-8BDE-EE19-E363-3C82C3B43674}"/>
              </a:ext>
            </a:extLst>
          </p:cNvPr>
          <p:cNvSpPr/>
          <p:nvPr/>
        </p:nvSpPr>
        <p:spPr>
          <a:xfrm>
            <a:off x="6095848" y="1453896"/>
            <a:ext cx="263644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unbuilt items, the file states what delivery requires.</a:t>
            </a:r>
          </a:p>
        </p:txBody>
      </p:sp>
      <p:sp>
        <p:nvSpPr>
          <p:cNvPr id="180" name="Text 13">
            <a:extLst>
              <a:ext uri="{FF2B5EF4-FFF2-40B4-BE49-F238E27FC236}">
                <a16:creationId xmlns:a16="http://schemas.microsoft.com/office/drawing/2014/main" id="{74DF2570-62A1-C7AD-0973-D37E9DAD025C}"/>
              </a:ext>
            </a:extLst>
          </p:cNvPr>
          <p:cNvSpPr/>
          <p:nvPr/>
        </p:nvSpPr>
        <p:spPr>
          <a:xfrm>
            <a:off x="193217" y="704805"/>
            <a:ext cx="832081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03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Checker: Requirements File</a:t>
            </a:r>
            <a:endParaRPr lang="en-US" sz="2000" dirty="0"/>
          </a:p>
        </p:txBody>
      </p:sp>
      <p:pic>
        <p:nvPicPr>
          <p:cNvPr id="181" name="Graphic 181" descr="Requirements 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" y="1168400"/>
            <a:ext cx="228600" cy="228600"/>
          </a:xfrm>
          <a:prstGeom prst="rect">
            <a:avLst/>
          </a:prstGeom>
        </p:spPr>
      </p:pic>
      <p:pic>
        <p:nvPicPr>
          <p:cNvPr id="182" name="Graphic 182" descr="Mockup scree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1200" y="1168400"/>
            <a:ext cx="228600" cy="228600"/>
          </a:xfrm>
          <a:prstGeom prst="rect">
            <a:avLst/>
          </a:prstGeom>
        </p:spPr>
      </p:pic>
      <p:pic>
        <p:nvPicPr>
          <p:cNvPr id="183" name="Graphic 183" descr="Sourcing assess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11684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4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nk Wide Over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Wide Oversight</a:t>
            </a:r>
          </a:p>
        </p:txBody>
      </p:sp>
      <p:sp>
        <p:nvSpPr>
          <p:cNvPr id="1002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answering how EDRMS is being used across the whole of ADB.</a:t>
            </a:r>
          </a:p>
        </p:txBody>
      </p:sp>
      <p:sp>
        <p:nvSpPr>
          <p:cNvPr id="1003" name="Rule"/>
          <p:cNvSpPr/>
          <p:nvPr/>
        </p:nvSpPr>
        <p:spPr>
          <a:xfrm>
            <a:off x="411480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04" name="Text"/>
          <p:cNvSpPr/>
          <p:nvPr/>
        </p:nvSpPr>
        <p:spPr>
          <a:xfrm>
            <a:off x="411480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view</a:t>
            </a:r>
          </a:p>
        </p:txBody>
      </p:sp>
      <p:sp>
        <p:nvSpPr>
          <p:cNvPr id="1005" name="Text"/>
          <p:cNvSpPr/>
          <p:nvPr/>
        </p:nvSpPr>
        <p:spPr>
          <a:xfrm>
            <a:off x="411480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 rolled up to bank level, so adoption and compliance can be read without opening a department.</a:t>
            </a:r>
          </a:p>
        </p:txBody>
      </p:sp>
      <p:sp>
        <p:nvSpPr>
          <p:cNvPr id="1006" name="Rule"/>
          <p:cNvSpPr/>
          <p:nvPr/>
        </p:nvSpPr>
        <p:spPr>
          <a:xfrm>
            <a:off x="3282696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07" name="Text"/>
          <p:cNvSpPr/>
          <p:nvPr/>
        </p:nvSpPr>
        <p:spPr>
          <a:xfrm>
            <a:off x="3282696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</a:p>
        </p:txBody>
      </p:sp>
      <p:sp>
        <p:nvSpPr>
          <p:cNvPr id="1008" name="Text"/>
          <p:cNvSpPr/>
          <p:nvPr/>
        </p:nvSpPr>
        <p:spPr>
          <a:xfrm>
            <a:off x="3282696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page an executive opens first. Everything else in the report drills down from what is shown here.</a:t>
            </a:r>
          </a:p>
        </p:txBody>
      </p:sp>
      <p:sp>
        <p:nvSpPr>
          <p:cNvPr id="1009" name="Rule"/>
          <p:cNvSpPr/>
          <p:nvPr/>
        </p:nvSpPr>
        <p:spPr>
          <a:xfrm>
            <a:off x="6153912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0" name="Text"/>
          <p:cNvSpPr/>
          <p:nvPr/>
        </p:nvSpPr>
        <p:spPr>
          <a:xfrm>
            <a:off x="6153912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not snapshot</a:t>
            </a:r>
          </a:p>
        </p:txBody>
      </p:sp>
      <p:sp>
        <p:nvSpPr>
          <p:cNvPr id="1011" name="Text"/>
          <p:cNvSpPr/>
          <p:nvPr/>
        </p:nvSpPr>
        <p:spPr>
          <a:xfrm>
            <a:off x="6153912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is measured over a rolling window rather than a single day, so a quiet week does not read as a decline.</a:t>
            </a:r>
          </a:p>
        </p:txBody>
      </p:sp>
      <p:sp>
        <p:nvSpPr>
          <p:cNvPr id="1012" name="Text"/>
          <p:cNvSpPr/>
          <p:nvPr/>
        </p:nvSpPr>
        <p:spPr>
          <a:xfrm>
            <a:off x="411480" y="2231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ON THE PAGE</a:t>
            </a:r>
          </a:p>
        </p:txBody>
      </p:sp>
      <p:sp>
        <p:nvSpPr>
          <p:cNvPr id="1013" name="Panel"/>
          <p:cNvSpPr/>
          <p:nvPr/>
        </p:nvSpPr>
        <p:spPr>
          <a:xfrm>
            <a:off x="411480" y="2487168"/>
            <a:ext cx="8321040" cy="2084831"/>
          </a:xfrm>
          <a:prstGeom prst="rect">
            <a:avLst/>
          </a:prstGeom>
          <a:solidFill>
            <a:srgbClr val="F4F7F8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14" name="Rule"/>
          <p:cNvSpPr/>
          <p:nvPr/>
        </p:nvSpPr>
        <p:spPr>
          <a:xfrm>
            <a:off x="61264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5" name="Text"/>
          <p:cNvSpPr/>
          <p:nvPr/>
        </p:nvSpPr>
        <p:spPr>
          <a:xfrm>
            <a:off x="61264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activity</a:t>
            </a:r>
          </a:p>
        </p:txBody>
      </p:sp>
      <p:sp>
        <p:nvSpPr>
          <p:cNvPr id="1016" name="Bullet"/>
          <p:cNvSpPr/>
          <p:nvPr/>
        </p:nvSpPr>
        <p:spPr>
          <a:xfrm>
            <a:off x="61264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7" name="Text"/>
          <p:cNvSpPr/>
          <p:nvPr/>
        </p:nvSpPr>
        <p:spPr>
          <a:xfrm>
            <a:off x="75895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 users with recorded activity</a:t>
            </a:r>
          </a:p>
        </p:txBody>
      </p:sp>
      <p:sp>
        <p:nvSpPr>
          <p:cNvPr id="1018" name="Bullet"/>
          <p:cNvSpPr/>
          <p:nvPr/>
        </p:nvSpPr>
        <p:spPr>
          <a:xfrm>
            <a:off x="61264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9" name="Text"/>
          <p:cNvSpPr/>
          <p:nvPr/>
        </p:nvSpPr>
        <p:spPr>
          <a:xfrm>
            <a:off x="75895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with no access in 90 days</a:t>
            </a:r>
          </a:p>
        </p:txBody>
      </p:sp>
      <p:sp>
        <p:nvSpPr>
          <p:cNvPr id="1020" name="Bullet"/>
          <p:cNvSpPr/>
          <p:nvPr/>
        </p:nvSpPr>
        <p:spPr>
          <a:xfrm>
            <a:off x="612648" y="3666744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1" name="Text"/>
          <p:cNvSpPr/>
          <p:nvPr/>
        </p:nvSpPr>
        <p:spPr>
          <a:xfrm>
            <a:off x="758952" y="360273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offices and RMs covered</a:t>
            </a:r>
          </a:p>
        </p:txBody>
      </p:sp>
      <p:sp>
        <p:nvSpPr>
          <p:cNvPr id="1022" name="Rule"/>
          <p:cNvSpPr/>
          <p:nvPr/>
        </p:nvSpPr>
        <p:spPr>
          <a:xfrm>
            <a:off x="257860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3" name="Text"/>
          <p:cNvSpPr/>
          <p:nvPr/>
        </p:nvSpPr>
        <p:spPr>
          <a:xfrm>
            <a:off x="257860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</a:t>
            </a:r>
          </a:p>
        </p:txBody>
      </p:sp>
      <p:sp>
        <p:nvSpPr>
          <p:cNvPr id="1024" name="Bullet"/>
          <p:cNvSpPr/>
          <p:nvPr/>
        </p:nvSpPr>
        <p:spPr>
          <a:xfrm>
            <a:off x="257860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5" name="Text"/>
          <p:cNvSpPr/>
          <p:nvPr/>
        </p:nvSpPr>
        <p:spPr>
          <a:xfrm>
            <a:off x="272491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</a:t>
            </a:r>
          </a:p>
        </p:txBody>
      </p:sp>
      <p:sp>
        <p:nvSpPr>
          <p:cNvPr id="1026" name="Bullet"/>
          <p:cNvSpPr/>
          <p:nvPr/>
        </p:nvSpPr>
        <p:spPr>
          <a:xfrm>
            <a:off x="257860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7" name="Text"/>
          <p:cNvSpPr/>
          <p:nvPr/>
        </p:nvSpPr>
        <p:spPr>
          <a:xfrm>
            <a:off x="272491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declared a record</a:t>
            </a:r>
          </a:p>
        </p:txBody>
      </p:sp>
      <p:sp>
        <p:nvSpPr>
          <p:cNvPr id="1028" name="Bullet"/>
          <p:cNvSpPr/>
          <p:nvPr/>
        </p:nvSpPr>
        <p:spPr>
          <a:xfrm>
            <a:off x="2578608" y="3666744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9" name="Text"/>
          <p:cNvSpPr/>
          <p:nvPr/>
        </p:nvSpPr>
        <p:spPr>
          <a:xfrm>
            <a:off x="2724912" y="360273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documents declared as records</a:t>
            </a:r>
          </a:p>
        </p:txBody>
      </p:sp>
      <p:sp>
        <p:nvSpPr>
          <p:cNvPr id="1030" name="Rule"/>
          <p:cNvSpPr/>
          <p:nvPr/>
        </p:nvSpPr>
        <p:spPr>
          <a:xfrm>
            <a:off x="454456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1" name="Text"/>
          <p:cNvSpPr/>
          <p:nvPr/>
        </p:nvSpPr>
        <p:spPr>
          <a:xfrm>
            <a:off x="454456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counterparts</a:t>
            </a:r>
          </a:p>
        </p:txBody>
      </p:sp>
      <p:sp>
        <p:nvSpPr>
          <p:cNvPr id="1032" name="Bullet"/>
          <p:cNvSpPr/>
          <p:nvPr/>
        </p:nvSpPr>
        <p:spPr>
          <a:xfrm>
            <a:off x="454456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3" name="Text"/>
          <p:cNvSpPr/>
          <p:nvPr/>
        </p:nvSpPr>
        <p:spPr>
          <a:xfrm>
            <a:off x="469087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counterparts recorded</a:t>
            </a:r>
          </a:p>
        </p:txBody>
      </p:sp>
      <p:sp>
        <p:nvSpPr>
          <p:cNvPr id="1034" name="Bullet"/>
          <p:cNvSpPr/>
          <p:nvPr/>
        </p:nvSpPr>
        <p:spPr>
          <a:xfrm>
            <a:off x="454456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5" name="Text"/>
          <p:cNvSpPr/>
          <p:nvPr/>
        </p:nvSpPr>
        <p:spPr>
          <a:xfrm>
            <a:off x="469087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records with a counterpart</a:t>
            </a:r>
          </a:p>
        </p:txBody>
      </p:sp>
      <p:sp>
        <p:nvSpPr>
          <p:cNvPr id="1036" name="Rule"/>
          <p:cNvSpPr/>
          <p:nvPr/>
        </p:nvSpPr>
        <p:spPr>
          <a:xfrm>
            <a:off x="6510527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7" name="Text"/>
          <p:cNvSpPr/>
          <p:nvPr/>
        </p:nvSpPr>
        <p:spPr>
          <a:xfrm>
            <a:off x="6510527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position</a:t>
            </a:r>
          </a:p>
        </p:txBody>
      </p:sp>
      <p:sp>
        <p:nvSpPr>
          <p:cNvPr id="1038" name="Bullet"/>
          <p:cNvSpPr/>
          <p:nvPr/>
        </p:nvSpPr>
        <p:spPr>
          <a:xfrm>
            <a:off x="6510527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9" name="Text"/>
          <p:cNvSpPr/>
          <p:nvPr/>
        </p:nvSpPr>
        <p:spPr>
          <a:xfrm>
            <a:off x="6656831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due within 30 and 90 days</a:t>
            </a:r>
          </a:p>
        </p:txBody>
      </p:sp>
      <p:sp>
        <p:nvSpPr>
          <p:cNvPr id="1040" name="Bullet"/>
          <p:cNvSpPr/>
          <p:nvPr/>
        </p:nvSpPr>
        <p:spPr>
          <a:xfrm>
            <a:off x="6510527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1" name="Text"/>
          <p:cNvSpPr/>
          <p:nvPr/>
        </p:nvSpPr>
        <p:spPr>
          <a:xfrm>
            <a:off x="6656831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due within 12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nk Wide Oversight — ask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Wide Oversight</a:t>
            </a:r>
          </a:p>
        </p:txBody>
      </p:sp>
      <p:sp>
        <p:nvSpPr>
          <p:cNvPr id="1043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before these can be built.</a:t>
            </a:r>
          </a:p>
        </p:txBody>
      </p:sp>
      <p:sp>
        <p:nvSpPr>
          <p:cNvPr id="1044" name="Text"/>
          <p:cNvSpPr/>
          <p:nvPr/>
        </p:nvSpPr>
        <p:spPr>
          <a:xfrm>
            <a:off x="411480" y="1024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</a:p>
        </p:txBody>
      </p:sp>
      <p:sp>
        <p:nvSpPr>
          <p:cNvPr id="1045" name="Panel"/>
          <p:cNvSpPr/>
          <p:nvPr/>
        </p:nvSpPr>
        <p:spPr>
          <a:xfrm>
            <a:off x="411480" y="1298448"/>
            <a:ext cx="8321040" cy="118872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46" name="Shape"/>
          <p:cNvSpPr/>
          <p:nvPr/>
        </p:nvSpPr>
        <p:spPr>
          <a:xfrm>
            <a:off x="411480" y="1298448"/>
            <a:ext cx="50292" cy="1188720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7" name="Shape"/>
          <p:cNvSpPr/>
          <p:nvPr/>
        </p:nvSpPr>
        <p:spPr>
          <a:xfrm>
            <a:off x="630936" y="1444752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8" name="Text"/>
          <p:cNvSpPr/>
          <p:nvPr/>
        </p:nvSpPr>
        <p:spPr>
          <a:xfrm>
            <a:off x="630936" y="146304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49" name="Text"/>
          <p:cNvSpPr/>
          <p:nvPr/>
        </p:nvSpPr>
        <p:spPr>
          <a:xfrm>
            <a:off x="978408" y="14264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list</a:t>
            </a:r>
          </a:p>
        </p:txBody>
      </p:sp>
      <p:sp>
        <p:nvSpPr>
          <p:cNvPr id="1050" name="Text"/>
          <p:cNvSpPr/>
          <p:nvPr/>
        </p:nvSpPr>
        <p:spPr>
          <a:xfrm>
            <a:off x="978408" y="170078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the authoritative list of Divisions, and tell us which system holds the Division for a user or a site.</a:t>
            </a:r>
          </a:p>
        </p:txBody>
      </p:sp>
      <p:sp>
        <p:nvSpPr>
          <p:cNvPr id="1051" name="Text"/>
          <p:cNvSpPr/>
          <p:nvPr/>
        </p:nvSpPr>
        <p:spPr>
          <a:xfrm>
            <a:off x="5120640" y="14264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05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</a:p>
        </p:txBody>
      </p:sp>
      <p:sp>
        <p:nvSpPr>
          <p:cNvPr id="1052" name="Bullet"/>
          <p:cNvSpPr/>
          <p:nvPr/>
        </p:nvSpPr>
        <p:spPr>
          <a:xfrm>
            <a:off x="5120640" y="1746504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3" name="Text"/>
          <p:cNvSpPr/>
          <p:nvPr/>
        </p:nvSpPr>
        <p:spPr>
          <a:xfrm>
            <a:off x="5266944" y="1682496"/>
            <a:ext cx="3099815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2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 per division</a:t>
            </a:r>
          </a:p>
        </p:txBody>
      </p:sp>
      <p:sp>
        <p:nvSpPr>
          <p:cNvPr id="1054" name="Bullet"/>
          <p:cNvSpPr/>
          <p:nvPr/>
        </p:nvSpPr>
        <p:spPr>
          <a:xfrm>
            <a:off x="5120640" y="1943100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5" name="Text"/>
          <p:cNvSpPr/>
          <p:nvPr/>
        </p:nvSpPr>
        <p:spPr>
          <a:xfrm>
            <a:off x="5266944" y="1879092"/>
            <a:ext cx="3099815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2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declaring records per division</a:t>
            </a:r>
          </a:p>
        </p:txBody>
      </p:sp>
      <p:sp>
        <p:nvSpPr>
          <p:cNvPr id="1056" name="Bullet"/>
          <p:cNvSpPr/>
          <p:nvPr/>
        </p:nvSpPr>
        <p:spPr>
          <a:xfrm>
            <a:off x="5120640" y="2139696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7" name="Text"/>
          <p:cNvSpPr/>
          <p:nvPr/>
        </p:nvSpPr>
        <p:spPr>
          <a:xfrm>
            <a:off x="5266944" y="2075688"/>
            <a:ext cx="3099815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2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counterparts per division</a:t>
            </a:r>
          </a:p>
        </p:txBody>
      </p:sp>
      <p:sp>
        <p:nvSpPr>
          <p:cNvPr id="1058" name="Bullet"/>
          <p:cNvSpPr/>
          <p:nvPr/>
        </p:nvSpPr>
        <p:spPr>
          <a:xfrm>
            <a:off x="5120640" y="2336291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9" name="Text"/>
          <p:cNvSpPr/>
          <p:nvPr/>
        </p:nvSpPr>
        <p:spPr>
          <a:xfrm>
            <a:off x="5266944" y="2272284"/>
            <a:ext cx="3099815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2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breakdown on the user panel</a:t>
            </a:r>
          </a:p>
        </p:txBody>
      </p:sp>
      <p:sp>
        <p:nvSpPr>
          <p:cNvPr id="1060" name="Dot"/>
          <p:cNvSpPr/>
          <p:nvPr/>
        </p:nvSpPr>
        <p:spPr>
          <a:xfrm>
            <a:off x="411480" y="2743200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1" name="Text"/>
          <p:cNvSpPr/>
          <p:nvPr/>
        </p:nvSpPr>
        <p:spPr>
          <a:xfrm>
            <a:off x="411480" y="27614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62" name="Text"/>
          <p:cNvSpPr/>
          <p:nvPr/>
        </p:nvSpPr>
        <p:spPr>
          <a:xfrm>
            <a:off x="758952" y="2734056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register</a:t>
            </a:r>
          </a:p>
        </p:txBody>
      </p:sp>
      <p:sp>
        <p:nvSpPr>
          <p:cNvPr id="1063" name="Text"/>
          <p:cNvSpPr/>
          <p:nvPr/>
        </p:nvSpPr>
        <p:spPr>
          <a:xfrm>
            <a:off x="758952" y="2990088"/>
            <a:ext cx="2212848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of EDRMS users that flags each one as staff, contractor or consultant. No register we can reach carries employment type today.</a:t>
            </a:r>
          </a:p>
        </p:txBody>
      </p:sp>
      <p:sp>
        <p:nvSpPr>
          <p:cNvPr id="1064" name="Dot"/>
          <p:cNvSpPr/>
          <p:nvPr/>
        </p:nvSpPr>
        <p:spPr>
          <a:xfrm>
            <a:off x="3282696" y="2743200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5" name="Text"/>
          <p:cNvSpPr/>
          <p:nvPr/>
        </p:nvSpPr>
        <p:spPr>
          <a:xfrm>
            <a:off x="3282696" y="27614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066" name="Text"/>
          <p:cNvSpPr/>
          <p:nvPr/>
        </p:nvSpPr>
        <p:spPr>
          <a:xfrm>
            <a:off x="3630168" y="2734056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</a:p>
        </p:txBody>
      </p:sp>
      <p:sp>
        <p:nvSpPr>
          <p:cNvPr id="1067" name="Text"/>
          <p:cNvSpPr/>
          <p:nvPr/>
        </p:nvSpPr>
        <p:spPr>
          <a:xfrm>
            <a:off x="3630168" y="2990088"/>
            <a:ext cx="2212848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EDRMS training completion is recorded, and whether we may read from it. No training system is connected to this project.</a:t>
            </a:r>
          </a:p>
        </p:txBody>
      </p:sp>
      <p:sp>
        <p:nvSpPr>
          <p:cNvPr id="1068" name="Dot"/>
          <p:cNvSpPr/>
          <p:nvPr/>
        </p:nvSpPr>
        <p:spPr>
          <a:xfrm>
            <a:off x="6153912" y="2743200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9" name="Text"/>
          <p:cNvSpPr/>
          <p:nvPr/>
        </p:nvSpPr>
        <p:spPr>
          <a:xfrm>
            <a:off x="6153912" y="27614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070" name="Text"/>
          <p:cNvSpPr/>
          <p:nvPr/>
        </p:nvSpPr>
        <p:spPr>
          <a:xfrm>
            <a:off x="6501383" y="2734056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date per site</a:t>
            </a:r>
          </a:p>
        </p:txBody>
      </p:sp>
      <p:sp>
        <p:nvSpPr>
          <p:cNvPr id="1071" name="Text"/>
          <p:cNvSpPr/>
          <p:nvPr/>
        </p:nvSpPr>
        <p:spPr>
          <a:xfrm>
            <a:off x="6501383" y="2990088"/>
            <a:ext cx="2212848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go-live date for each site — or your agreement that we use the site creation date in its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partment Insigh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Insights</a:t>
            </a:r>
          </a:p>
        </p:txBody>
      </p:sp>
      <p:sp>
        <p:nvSpPr>
          <p:cNvPr id="1002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measures as Bank-wide, cut by department, office and Records Management unit.</a:t>
            </a:r>
          </a:p>
        </p:txBody>
      </p:sp>
      <p:sp>
        <p:nvSpPr>
          <p:cNvPr id="1003" name="Rule"/>
          <p:cNvSpPr/>
          <p:nvPr/>
        </p:nvSpPr>
        <p:spPr>
          <a:xfrm>
            <a:off x="411480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04" name="Text"/>
          <p:cNvSpPr/>
          <p:nvPr/>
        </p:nvSpPr>
        <p:spPr>
          <a:xfrm>
            <a:off x="411480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like with like</a:t>
            </a:r>
          </a:p>
        </p:txBody>
      </p:sp>
      <p:sp>
        <p:nvSpPr>
          <p:cNvPr id="1005" name="Text"/>
          <p:cNvSpPr/>
          <p:nvPr/>
        </p:nvSpPr>
        <p:spPr>
          <a:xfrm>
            <a:off x="411480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side by side on the same measures, so a strong or weak performer is visible without a separate report.</a:t>
            </a:r>
          </a:p>
        </p:txBody>
      </p:sp>
      <p:sp>
        <p:nvSpPr>
          <p:cNvPr id="1006" name="Rule"/>
          <p:cNvSpPr/>
          <p:nvPr/>
        </p:nvSpPr>
        <p:spPr>
          <a:xfrm>
            <a:off x="3282696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07" name="Text"/>
          <p:cNvSpPr/>
          <p:nvPr/>
        </p:nvSpPr>
        <p:spPr>
          <a:xfrm>
            <a:off x="3282696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to the source</a:t>
            </a:r>
          </a:p>
        </p:txBody>
      </p:sp>
      <p:sp>
        <p:nvSpPr>
          <p:cNvPr id="1008" name="Text"/>
          <p:cNvSpPr/>
          <p:nvPr/>
        </p:nvSpPr>
        <p:spPr>
          <a:xfrm>
            <a:off x="3282696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department to site to library, so a number can always be traced to the place the activity happened.</a:t>
            </a:r>
          </a:p>
        </p:txBody>
      </p:sp>
      <p:sp>
        <p:nvSpPr>
          <p:cNvPr id="1009" name="Rule"/>
          <p:cNvSpPr/>
          <p:nvPr/>
        </p:nvSpPr>
        <p:spPr>
          <a:xfrm>
            <a:off x="6153912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0" name="Text"/>
          <p:cNvSpPr/>
          <p:nvPr/>
        </p:nvSpPr>
        <p:spPr>
          <a:xfrm>
            <a:off x="6153912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page</a:t>
            </a:r>
          </a:p>
        </p:txBody>
      </p:sp>
      <p:sp>
        <p:nvSpPr>
          <p:cNvPr id="1011" name="Text"/>
          <p:cNvSpPr/>
          <p:nvPr/>
        </p:nvSpPr>
        <p:spPr>
          <a:xfrm>
            <a:off x="6153912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 Records Officer spends their time. It is the largest and most detailed page in the report.</a:t>
            </a:r>
          </a:p>
        </p:txBody>
      </p:sp>
      <p:sp>
        <p:nvSpPr>
          <p:cNvPr id="1012" name="Text"/>
          <p:cNvSpPr/>
          <p:nvPr/>
        </p:nvSpPr>
        <p:spPr>
          <a:xfrm>
            <a:off x="411480" y="2231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ON THE PAGE</a:t>
            </a:r>
          </a:p>
        </p:txBody>
      </p:sp>
      <p:sp>
        <p:nvSpPr>
          <p:cNvPr id="1013" name="Panel"/>
          <p:cNvSpPr/>
          <p:nvPr/>
        </p:nvSpPr>
        <p:spPr>
          <a:xfrm>
            <a:off x="411480" y="2487168"/>
            <a:ext cx="8321040" cy="2084831"/>
          </a:xfrm>
          <a:prstGeom prst="rect">
            <a:avLst/>
          </a:prstGeom>
          <a:solidFill>
            <a:srgbClr val="F4F7F8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14" name="Rule"/>
          <p:cNvSpPr/>
          <p:nvPr/>
        </p:nvSpPr>
        <p:spPr>
          <a:xfrm>
            <a:off x="61264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5" name="Text"/>
          <p:cNvSpPr/>
          <p:nvPr/>
        </p:nvSpPr>
        <p:spPr>
          <a:xfrm>
            <a:off x="61264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</a:p>
        </p:txBody>
      </p:sp>
      <p:sp>
        <p:nvSpPr>
          <p:cNvPr id="1016" name="Bullet"/>
          <p:cNvSpPr/>
          <p:nvPr/>
        </p:nvSpPr>
        <p:spPr>
          <a:xfrm>
            <a:off x="61264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7" name="Text"/>
          <p:cNvSpPr/>
          <p:nvPr/>
        </p:nvSpPr>
        <p:spPr>
          <a:xfrm>
            <a:off x="75895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 compliant sites created</a:t>
            </a:r>
          </a:p>
        </p:txBody>
      </p:sp>
      <p:sp>
        <p:nvSpPr>
          <p:cNvPr id="1018" name="Bullet"/>
          <p:cNvSpPr/>
          <p:nvPr/>
        </p:nvSpPr>
        <p:spPr>
          <a:xfrm>
            <a:off x="61264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9" name="Text"/>
          <p:cNvSpPr/>
          <p:nvPr/>
        </p:nvSpPr>
        <p:spPr>
          <a:xfrm>
            <a:off x="75895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recorded activity</a:t>
            </a:r>
          </a:p>
        </p:txBody>
      </p:sp>
      <p:sp>
        <p:nvSpPr>
          <p:cNvPr id="1020" name="Bullet"/>
          <p:cNvSpPr/>
          <p:nvPr/>
        </p:nvSpPr>
        <p:spPr>
          <a:xfrm>
            <a:off x="612648" y="3666744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1" name="Text"/>
          <p:cNvSpPr/>
          <p:nvPr/>
        </p:nvSpPr>
        <p:spPr>
          <a:xfrm>
            <a:off x="758952" y="360273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visits</a:t>
            </a:r>
          </a:p>
        </p:txBody>
      </p:sp>
      <p:sp>
        <p:nvSpPr>
          <p:cNvPr id="1022" name="Rule"/>
          <p:cNvSpPr/>
          <p:nvPr/>
        </p:nvSpPr>
        <p:spPr>
          <a:xfrm>
            <a:off x="257860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3" name="Text"/>
          <p:cNvSpPr/>
          <p:nvPr/>
        </p:nvSpPr>
        <p:spPr>
          <a:xfrm>
            <a:off x="257860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</a:p>
        </p:txBody>
      </p:sp>
      <p:sp>
        <p:nvSpPr>
          <p:cNvPr id="1024" name="Bullet"/>
          <p:cNvSpPr/>
          <p:nvPr/>
        </p:nvSpPr>
        <p:spPr>
          <a:xfrm>
            <a:off x="257860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5" name="Text"/>
          <p:cNvSpPr/>
          <p:nvPr/>
        </p:nvSpPr>
        <p:spPr>
          <a:xfrm>
            <a:off x="272491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documents</a:t>
            </a:r>
          </a:p>
        </p:txBody>
      </p:sp>
      <p:sp>
        <p:nvSpPr>
          <p:cNvPr id="1026" name="Bullet"/>
          <p:cNvSpPr/>
          <p:nvPr/>
        </p:nvSpPr>
        <p:spPr>
          <a:xfrm>
            <a:off x="257860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7" name="Text"/>
          <p:cNvSpPr/>
          <p:nvPr/>
        </p:nvSpPr>
        <p:spPr>
          <a:xfrm>
            <a:off x="272491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documents size</a:t>
            </a:r>
          </a:p>
        </p:txBody>
      </p:sp>
      <p:sp>
        <p:nvSpPr>
          <p:cNvPr id="1028" name="Bullet"/>
          <p:cNvSpPr/>
          <p:nvPr/>
        </p:nvSpPr>
        <p:spPr>
          <a:xfrm>
            <a:off x="2578608" y="3666744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9" name="Text"/>
          <p:cNvSpPr/>
          <p:nvPr/>
        </p:nvSpPr>
        <p:spPr>
          <a:xfrm>
            <a:off x="2724912" y="360273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 and who declared them</a:t>
            </a:r>
          </a:p>
        </p:txBody>
      </p:sp>
      <p:sp>
        <p:nvSpPr>
          <p:cNvPr id="1030" name="Rule"/>
          <p:cNvSpPr/>
          <p:nvPr/>
        </p:nvSpPr>
        <p:spPr>
          <a:xfrm>
            <a:off x="454456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1" name="Text"/>
          <p:cNvSpPr/>
          <p:nvPr/>
        </p:nvSpPr>
        <p:spPr>
          <a:xfrm>
            <a:off x="454456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</a:p>
        </p:txBody>
      </p:sp>
      <p:sp>
        <p:nvSpPr>
          <p:cNvPr id="1032" name="Bullet"/>
          <p:cNvSpPr/>
          <p:nvPr/>
        </p:nvSpPr>
        <p:spPr>
          <a:xfrm>
            <a:off x="454456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3" name="Text"/>
          <p:cNvSpPr/>
          <p:nvPr/>
        </p:nvSpPr>
        <p:spPr>
          <a:xfrm>
            <a:off x="469087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with no declared record in 180 days</a:t>
            </a:r>
          </a:p>
        </p:txBody>
      </p:sp>
      <p:sp>
        <p:nvSpPr>
          <p:cNvPr id="1034" name="Bullet"/>
          <p:cNvSpPr/>
          <p:nvPr/>
        </p:nvSpPr>
        <p:spPr>
          <a:xfrm>
            <a:off x="454456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5" name="Text"/>
          <p:cNvSpPr/>
          <p:nvPr/>
        </p:nvSpPr>
        <p:spPr>
          <a:xfrm>
            <a:off x="469087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activity per site</a:t>
            </a:r>
          </a:p>
        </p:txBody>
      </p:sp>
      <p:sp>
        <p:nvSpPr>
          <p:cNvPr id="1036" name="Rule"/>
          <p:cNvSpPr/>
          <p:nvPr/>
        </p:nvSpPr>
        <p:spPr>
          <a:xfrm>
            <a:off x="6510527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7" name="Text"/>
          <p:cNvSpPr/>
          <p:nvPr/>
        </p:nvSpPr>
        <p:spPr>
          <a:xfrm>
            <a:off x="6510527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position</a:t>
            </a:r>
          </a:p>
        </p:txBody>
      </p:sp>
      <p:sp>
        <p:nvSpPr>
          <p:cNvPr id="1038" name="Bullet"/>
          <p:cNvSpPr/>
          <p:nvPr/>
        </p:nvSpPr>
        <p:spPr>
          <a:xfrm>
            <a:off x="6510527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9" name="Text"/>
          <p:cNvSpPr/>
          <p:nvPr/>
        </p:nvSpPr>
        <p:spPr>
          <a:xfrm>
            <a:off x="6656831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within 3, 6 and 12 months</a:t>
            </a:r>
          </a:p>
        </p:txBody>
      </p:sp>
      <p:sp>
        <p:nvSpPr>
          <p:cNvPr id="1040" name="Bullet"/>
          <p:cNvSpPr/>
          <p:nvPr/>
        </p:nvSpPr>
        <p:spPr>
          <a:xfrm>
            <a:off x="6510527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1" name="Text"/>
          <p:cNvSpPr/>
          <p:nvPr/>
        </p:nvSpPr>
        <p:spPr>
          <a:xfrm>
            <a:off x="6656831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with a physical counterpart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partment Insights — ask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Insights</a:t>
            </a:r>
          </a:p>
        </p:txBody>
      </p:sp>
      <p:sp>
        <p:nvSpPr>
          <p:cNvPr id="1043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before these can be built.</a:t>
            </a:r>
          </a:p>
        </p:txBody>
      </p:sp>
      <p:sp>
        <p:nvSpPr>
          <p:cNvPr id="1044" name="Text"/>
          <p:cNvSpPr/>
          <p:nvPr/>
        </p:nvSpPr>
        <p:spPr>
          <a:xfrm>
            <a:off x="411480" y="1024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</a:p>
        </p:txBody>
      </p:sp>
      <p:sp>
        <p:nvSpPr>
          <p:cNvPr id="1045" name="Panel"/>
          <p:cNvSpPr/>
          <p:nvPr/>
        </p:nvSpPr>
        <p:spPr>
          <a:xfrm>
            <a:off x="411480" y="1298448"/>
            <a:ext cx="8321040" cy="118872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46" name="Shape"/>
          <p:cNvSpPr/>
          <p:nvPr/>
        </p:nvSpPr>
        <p:spPr>
          <a:xfrm>
            <a:off x="411480" y="1298448"/>
            <a:ext cx="50292" cy="1188720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7" name="Shape"/>
          <p:cNvSpPr/>
          <p:nvPr/>
        </p:nvSpPr>
        <p:spPr>
          <a:xfrm>
            <a:off x="630936" y="1444752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8" name="Text"/>
          <p:cNvSpPr/>
          <p:nvPr/>
        </p:nvSpPr>
        <p:spPr>
          <a:xfrm>
            <a:off x="630936" y="146304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49" name="Text"/>
          <p:cNvSpPr/>
          <p:nvPr/>
        </p:nvSpPr>
        <p:spPr>
          <a:xfrm>
            <a:off x="978408" y="14264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list</a:t>
            </a:r>
          </a:p>
        </p:txBody>
      </p:sp>
      <p:sp>
        <p:nvSpPr>
          <p:cNvPr id="1050" name="Text"/>
          <p:cNvSpPr/>
          <p:nvPr/>
        </p:nvSpPr>
        <p:spPr>
          <a:xfrm>
            <a:off x="978408" y="170078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 Bank-wide needs. One answer settles both pages — this is the single highest-value thing you can give us.</a:t>
            </a:r>
          </a:p>
        </p:txBody>
      </p:sp>
      <p:sp>
        <p:nvSpPr>
          <p:cNvPr id="1051" name="Text"/>
          <p:cNvSpPr/>
          <p:nvPr/>
        </p:nvSpPr>
        <p:spPr>
          <a:xfrm>
            <a:off x="5120640" y="14264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05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</a:p>
        </p:txBody>
      </p:sp>
      <p:sp>
        <p:nvSpPr>
          <p:cNvPr id="1052" name="Bullet"/>
          <p:cNvSpPr/>
          <p:nvPr/>
        </p:nvSpPr>
        <p:spPr>
          <a:xfrm>
            <a:off x="5120640" y="1746504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3" name="Text"/>
          <p:cNvSpPr/>
          <p:nvPr/>
        </p:nvSpPr>
        <p:spPr>
          <a:xfrm>
            <a:off x="5266944" y="1682496"/>
            <a:ext cx="3099815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2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 per division</a:t>
            </a:r>
          </a:p>
        </p:txBody>
      </p:sp>
      <p:sp>
        <p:nvSpPr>
          <p:cNvPr id="1054" name="Bullet"/>
          <p:cNvSpPr/>
          <p:nvPr/>
        </p:nvSpPr>
        <p:spPr>
          <a:xfrm>
            <a:off x="5120640" y="1943100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5" name="Text"/>
          <p:cNvSpPr/>
          <p:nvPr/>
        </p:nvSpPr>
        <p:spPr>
          <a:xfrm>
            <a:off x="5266944" y="1879092"/>
            <a:ext cx="3099815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2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declaring records per division</a:t>
            </a:r>
          </a:p>
        </p:txBody>
      </p:sp>
      <p:sp>
        <p:nvSpPr>
          <p:cNvPr id="1056" name="Bullet"/>
          <p:cNvSpPr/>
          <p:nvPr/>
        </p:nvSpPr>
        <p:spPr>
          <a:xfrm>
            <a:off x="5120640" y="2139696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7" name="Text"/>
          <p:cNvSpPr/>
          <p:nvPr/>
        </p:nvSpPr>
        <p:spPr>
          <a:xfrm>
            <a:off x="5266944" y="2075688"/>
            <a:ext cx="3099815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2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counterparts per division</a:t>
            </a:r>
          </a:p>
        </p:txBody>
      </p:sp>
      <p:sp>
        <p:nvSpPr>
          <p:cNvPr id="1058" name="Bullet"/>
          <p:cNvSpPr/>
          <p:nvPr/>
        </p:nvSpPr>
        <p:spPr>
          <a:xfrm>
            <a:off x="5120640" y="2336291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9" name="Text"/>
          <p:cNvSpPr/>
          <p:nvPr/>
        </p:nvSpPr>
        <p:spPr>
          <a:xfrm>
            <a:off x="5266944" y="2272284"/>
            <a:ext cx="3099815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2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Per-library indicators by division</a:t>
            </a:r>
          </a:p>
        </p:txBody>
      </p:sp>
      <p:sp>
        <p:nvSpPr>
          <p:cNvPr id="1060" name="Dot"/>
          <p:cNvSpPr/>
          <p:nvPr/>
        </p:nvSpPr>
        <p:spPr>
          <a:xfrm>
            <a:off x="411480" y="2743200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1" name="Text"/>
          <p:cNvSpPr/>
          <p:nvPr/>
        </p:nvSpPr>
        <p:spPr>
          <a:xfrm>
            <a:off x="411480" y="27614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62" name="Text"/>
          <p:cNvSpPr/>
          <p:nvPr/>
        </p:nvSpPr>
        <p:spPr>
          <a:xfrm>
            <a:off x="758952" y="2734056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external visitors</a:t>
            </a:r>
          </a:p>
        </p:txBody>
      </p:sp>
      <p:sp>
        <p:nvSpPr>
          <p:cNvPr id="1063" name="Text"/>
          <p:cNvSpPr/>
          <p:nvPr/>
        </p:nvSpPr>
        <p:spPr>
          <a:xfrm>
            <a:off x="758952" y="2990088"/>
            <a:ext cx="2212848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report separates site visitors into internal and external. We can currently report visits, but not who made them.</a:t>
            </a:r>
          </a:p>
        </p:txBody>
      </p:sp>
      <p:sp>
        <p:nvSpPr>
          <p:cNvPr id="1064" name="Dot"/>
          <p:cNvSpPr/>
          <p:nvPr/>
        </p:nvSpPr>
        <p:spPr>
          <a:xfrm>
            <a:off x="3282696" y="2743200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5" name="Text"/>
          <p:cNvSpPr/>
          <p:nvPr/>
        </p:nvSpPr>
        <p:spPr>
          <a:xfrm>
            <a:off x="3282696" y="27614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066" name="Text"/>
          <p:cNvSpPr/>
          <p:nvPr/>
        </p:nvSpPr>
        <p:spPr>
          <a:xfrm>
            <a:off x="3630168" y="2734056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naming convention</a:t>
            </a:r>
          </a:p>
        </p:txBody>
      </p:sp>
      <p:sp>
        <p:nvSpPr>
          <p:cNvPr id="1067" name="Text"/>
          <p:cNvSpPr/>
          <p:nvPr/>
        </p:nvSpPr>
        <p:spPr>
          <a:xfrm>
            <a:off x="3630168" y="2990088"/>
            <a:ext cx="2212848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approved site, library and folder convention we can measure compliance against?</a:t>
            </a:r>
          </a:p>
        </p:txBody>
      </p:sp>
      <p:sp>
        <p:nvSpPr>
          <p:cNvPr id="1068" name="Dot"/>
          <p:cNvSpPr/>
          <p:nvPr/>
        </p:nvSpPr>
        <p:spPr>
          <a:xfrm>
            <a:off x="6153912" y="2743200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9" name="Text"/>
          <p:cNvSpPr/>
          <p:nvPr/>
        </p:nvSpPr>
        <p:spPr>
          <a:xfrm>
            <a:off x="6153912" y="27614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070" name="Text"/>
          <p:cNvSpPr/>
          <p:nvPr/>
        </p:nvSpPr>
        <p:spPr>
          <a:xfrm>
            <a:off x="6501383" y="2734056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requests</a:t>
            </a:r>
          </a:p>
        </p:txBody>
      </p:sp>
      <p:sp>
        <p:nvSpPr>
          <p:cNvPr id="1071" name="Text"/>
          <p:cNvSpPr/>
          <p:nvPr/>
        </p:nvSpPr>
        <p:spPr>
          <a:xfrm>
            <a:off x="6501383" y="2990088"/>
            <a:ext cx="2212848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access requests granted and denied logged anywhere we can reach?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 Insigh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Insights</a:t>
            </a:r>
          </a:p>
        </p:txBody>
      </p:sp>
      <p:sp>
        <p:nvSpPr>
          <p:cNvPr id="1002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attributes set against the EDRMS activity of the sites that belong to them.</a:t>
            </a:r>
          </a:p>
        </p:txBody>
      </p:sp>
      <p:sp>
        <p:nvSpPr>
          <p:cNvPr id="1003" name="Rule"/>
          <p:cNvSpPr/>
          <p:nvPr/>
        </p:nvSpPr>
        <p:spPr>
          <a:xfrm>
            <a:off x="411480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04" name="Text"/>
          <p:cNvSpPr/>
          <p:nvPr/>
        </p:nvSpPr>
        <p:spPr>
          <a:xfrm>
            <a:off x="411480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in project terms</a:t>
            </a:r>
          </a:p>
        </p:txBody>
      </p:sp>
      <p:sp>
        <p:nvSpPr>
          <p:cNvPr id="1005" name="Text"/>
          <p:cNvSpPr/>
          <p:nvPr/>
        </p:nvSpPr>
        <p:spPr>
          <a:xfrm>
            <a:off x="411480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EDRMS activity, grouped the way the business thinks — by project rather than by department.</a:t>
            </a:r>
          </a:p>
        </p:txBody>
      </p:sp>
      <p:sp>
        <p:nvSpPr>
          <p:cNvPr id="1006" name="Rule"/>
          <p:cNvSpPr/>
          <p:nvPr/>
        </p:nvSpPr>
        <p:spPr>
          <a:xfrm>
            <a:off x="3282696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07" name="Text"/>
          <p:cNvSpPr/>
          <p:nvPr/>
        </p:nvSpPr>
        <p:spPr>
          <a:xfrm>
            <a:off x="3282696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ready</a:t>
            </a:r>
          </a:p>
        </p:txBody>
      </p:sp>
      <p:sp>
        <p:nvSpPr>
          <p:cNvPr id="1008" name="Text"/>
          <p:cNvSpPr/>
          <p:nvPr/>
        </p:nvSpPr>
        <p:spPr>
          <a:xfrm>
            <a:off x="3282696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and tile on this page is built in the prototype. You can see exactly how it will look and behave.</a:t>
            </a:r>
          </a:p>
        </p:txBody>
      </p:sp>
      <p:sp>
        <p:nvSpPr>
          <p:cNvPr id="1009" name="Rule"/>
          <p:cNvSpPr/>
          <p:nvPr/>
        </p:nvSpPr>
        <p:spPr>
          <a:xfrm>
            <a:off x="6153912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0" name="Text"/>
          <p:cNvSpPr/>
          <p:nvPr/>
        </p:nvSpPr>
        <p:spPr>
          <a:xfrm>
            <a:off x="6153912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 source</a:t>
            </a:r>
          </a:p>
        </p:txBody>
      </p:sp>
      <p:sp>
        <p:nvSpPr>
          <p:cNvPr id="1011" name="Text"/>
          <p:cNvSpPr/>
          <p:nvPr/>
        </p:nvSpPr>
        <p:spPr>
          <a:xfrm>
            <a:off x="6153912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yet have is a confirmed system to read project attributes from. That is the whole of the ask.</a:t>
            </a:r>
          </a:p>
        </p:txBody>
      </p:sp>
      <p:sp>
        <p:nvSpPr>
          <p:cNvPr id="1012" name="Text"/>
          <p:cNvSpPr/>
          <p:nvPr/>
        </p:nvSpPr>
        <p:spPr>
          <a:xfrm>
            <a:off x="411480" y="2231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ON THE PAGE</a:t>
            </a:r>
          </a:p>
        </p:txBody>
      </p:sp>
      <p:sp>
        <p:nvSpPr>
          <p:cNvPr id="1013" name="Panel"/>
          <p:cNvSpPr/>
          <p:nvPr/>
        </p:nvSpPr>
        <p:spPr>
          <a:xfrm>
            <a:off x="411480" y="2487168"/>
            <a:ext cx="8321040" cy="2084831"/>
          </a:xfrm>
          <a:prstGeom prst="rect">
            <a:avLst/>
          </a:prstGeom>
          <a:solidFill>
            <a:srgbClr val="F4F7F8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14" name="Rule"/>
          <p:cNvSpPr/>
          <p:nvPr/>
        </p:nvSpPr>
        <p:spPr>
          <a:xfrm>
            <a:off x="61264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5" name="Text"/>
          <p:cNvSpPr/>
          <p:nvPr/>
        </p:nvSpPr>
        <p:spPr>
          <a:xfrm>
            <a:off x="61264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</a:p>
        </p:txBody>
      </p:sp>
      <p:sp>
        <p:nvSpPr>
          <p:cNvPr id="1016" name="Bullet"/>
          <p:cNvSpPr/>
          <p:nvPr/>
        </p:nvSpPr>
        <p:spPr>
          <a:xfrm>
            <a:off x="61264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7" name="Text"/>
          <p:cNvSpPr/>
          <p:nvPr/>
        </p:nvSpPr>
        <p:spPr>
          <a:xfrm>
            <a:off x="75895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type</a:t>
            </a:r>
          </a:p>
        </p:txBody>
      </p:sp>
      <p:sp>
        <p:nvSpPr>
          <p:cNvPr id="1018" name="Bullet"/>
          <p:cNvSpPr/>
          <p:nvPr/>
        </p:nvSpPr>
        <p:spPr>
          <a:xfrm>
            <a:off x="61264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9" name="Text"/>
          <p:cNvSpPr/>
          <p:nvPr/>
        </p:nvSpPr>
        <p:spPr>
          <a:xfrm>
            <a:off x="75895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</a:p>
        </p:txBody>
      </p:sp>
      <p:sp>
        <p:nvSpPr>
          <p:cNvPr id="1020" name="Bullet"/>
          <p:cNvSpPr/>
          <p:nvPr/>
        </p:nvSpPr>
        <p:spPr>
          <a:xfrm>
            <a:off x="612648" y="3666744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1" name="Text"/>
          <p:cNvSpPr/>
          <p:nvPr/>
        </p:nvSpPr>
        <p:spPr>
          <a:xfrm>
            <a:off x="758952" y="360273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</a:p>
        </p:txBody>
      </p:sp>
      <p:sp>
        <p:nvSpPr>
          <p:cNvPr id="1022" name="Rule"/>
          <p:cNvSpPr/>
          <p:nvPr/>
        </p:nvSpPr>
        <p:spPr>
          <a:xfrm>
            <a:off x="257860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3" name="Text"/>
          <p:cNvSpPr/>
          <p:nvPr/>
        </p:nvSpPr>
        <p:spPr>
          <a:xfrm>
            <a:off x="257860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</a:p>
        </p:txBody>
      </p:sp>
      <p:sp>
        <p:nvSpPr>
          <p:cNvPr id="1024" name="Bullet"/>
          <p:cNvSpPr/>
          <p:nvPr/>
        </p:nvSpPr>
        <p:spPr>
          <a:xfrm>
            <a:off x="257860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5" name="Text"/>
          <p:cNvSpPr/>
          <p:nvPr/>
        </p:nvSpPr>
        <p:spPr>
          <a:xfrm>
            <a:off x="272491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</a:p>
        </p:txBody>
      </p:sp>
      <p:sp>
        <p:nvSpPr>
          <p:cNvPr id="1026" name="Bullet"/>
          <p:cNvSpPr/>
          <p:nvPr/>
        </p:nvSpPr>
        <p:spPr>
          <a:xfrm>
            <a:off x="257860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7" name="Text"/>
          <p:cNvSpPr/>
          <p:nvPr/>
        </p:nvSpPr>
        <p:spPr>
          <a:xfrm>
            <a:off x="272491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Effectivity date</a:t>
            </a:r>
          </a:p>
        </p:txBody>
      </p:sp>
      <p:sp>
        <p:nvSpPr>
          <p:cNvPr id="1028" name="Bullet"/>
          <p:cNvSpPr/>
          <p:nvPr/>
        </p:nvSpPr>
        <p:spPr>
          <a:xfrm>
            <a:off x="2578608" y="3666744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9" name="Text"/>
          <p:cNvSpPr/>
          <p:nvPr/>
        </p:nvSpPr>
        <p:spPr>
          <a:xfrm>
            <a:off x="2724912" y="360273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date</a:t>
            </a:r>
          </a:p>
        </p:txBody>
      </p:sp>
      <p:sp>
        <p:nvSpPr>
          <p:cNvPr id="1030" name="Rule"/>
          <p:cNvSpPr/>
          <p:nvPr/>
        </p:nvSpPr>
        <p:spPr>
          <a:xfrm>
            <a:off x="454456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1" name="Text"/>
          <p:cNvSpPr/>
          <p:nvPr/>
        </p:nvSpPr>
        <p:spPr>
          <a:xfrm>
            <a:off x="454456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activity</a:t>
            </a:r>
          </a:p>
        </p:txBody>
      </p:sp>
      <p:sp>
        <p:nvSpPr>
          <p:cNvPr id="1032" name="Bullet"/>
          <p:cNvSpPr/>
          <p:nvPr/>
        </p:nvSpPr>
        <p:spPr>
          <a:xfrm>
            <a:off x="454456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3" name="Text"/>
          <p:cNvSpPr/>
          <p:nvPr/>
        </p:nvSpPr>
        <p:spPr>
          <a:xfrm>
            <a:off x="469087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declared for this project</a:t>
            </a:r>
          </a:p>
        </p:txBody>
      </p:sp>
      <p:sp>
        <p:nvSpPr>
          <p:cNvPr id="1034" name="Bullet"/>
          <p:cNvSpPr/>
          <p:nvPr/>
        </p:nvSpPr>
        <p:spPr>
          <a:xfrm>
            <a:off x="454456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5" name="Text"/>
          <p:cNvSpPr/>
          <p:nvPr/>
        </p:nvSpPr>
        <p:spPr>
          <a:xfrm>
            <a:off x="469087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belonging to the project</a:t>
            </a:r>
          </a:p>
        </p:txBody>
      </p:sp>
      <p:sp>
        <p:nvSpPr>
          <p:cNvPr id="1036" name="Rule"/>
          <p:cNvSpPr/>
          <p:nvPr/>
        </p:nvSpPr>
        <p:spPr>
          <a:xfrm>
            <a:off x="6510527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7" name="Text"/>
          <p:cNvSpPr/>
          <p:nvPr/>
        </p:nvSpPr>
        <p:spPr>
          <a:xfrm>
            <a:off x="6510527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</a:p>
        </p:txBody>
      </p:sp>
      <p:sp>
        <p:nvSpPr>
          <p:cNvPr id="1038" name="Bullet"/>
          <p:cNvSpPr/>
          <p:nvPr/>
        </p:nvSpPr>
        <p:spPr>
          <a:xfrm>
            <a:off x="6510527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9" name="Text"/>
          <p:cNvSpPr/>
          <p:nvPr/>
        </p:nvSpPr>
        <p:spPr>
          <a:xfrm>
            <a:off x="6656831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project to its sites</a:t>
            </a:r>
          </a:p>
        </p:txBody>
      </p:sp>
      <p:sp>
        <p:nvSpPr>
          <p:cNvPr id="1040" name="Bullet"/>
          <p:cNvSpPr/>
          <p:nvPr/>
        </p:nvSpPr>
        <p:spPr>
          <a:xfrm>
            <a:off x="6510527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1" name="Text"/>
          <p:cNvSpPr/>
          <p:nvPr/>
        </p:nvSpPr>
        <p:spPr>
          <a:xfrm>
            <a:off x="6656831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site to its libraries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 Insights — ask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Insights</a:t>
            </a:r>
          </a:p>
        </p:txBody>
      </p:sp>
      <p:sp>
        <p:nvSpPr>
          <p:cNvPr id="1043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before these can be built.</a:t>
            </a:r>
          </a:p>
        </p:txBody>
      </p:sp>
      <p:sp>
        <p:nvSpPr>
          <p:cNvPr id="1044" name="Text"/>
          <p:cNvSpPr/>
          <p:nvPr/>
        </p:nvSpPr>
        <p:spPr>
          <a:xfrm>
            <a:off x="411480" y="1024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</a:p>
        </p:txBody>
      </p:sp>
      <p:sp>
        <p:nvSpPr>
          <p:cNvPr id="1045" name="Dot"/>
          <p:cNvSpPr/>
          <p:nvPr/>
        </p:nvSpPr>
        <p:spPr>
          <a:xfrm>
            <a:off x="411480" y="1335024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6" name="Text"/>
          <p:cNvSpPr/>
          <p:nvPr/>
        </p:nvSpPr>
        <p:spPr>
          <a:xfrm>
            <a:off x="411480" y="13533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47" name="Text"/>
          <p:cNvSpPr/>
          <p:nvPr/>
        </p:nvSpPr>
        <p:spPr>
          <a:xfrm>
            <a:off x="758952" y="1325880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of record</a:t>
            </a:r>
          </a:p>
        </p:txBody>
      </p:sp>
      <p:sp>
        <p:nvSpPr>
          <p:cNvPr id="1048" name="Text"/>
          <p:cNvSpPr/>
          <p:nvPr/>
        </p:nvSpPr>
        <p:spPr>
          <a:xfrm>
            <a:off x="758952" y="1581912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holds facility type, modality, country, status, effectivity and closing date — and who owns it?</a:t>
            </a:r>
          </a:p>
        </p:txBody>
      </p:sp>
      <p:sp>
        <p:nvSpPr>
          <p:cNvPr id="1049" name="Dot"/>
          <p:cNvSpPr/>
          <p:nvPr/>
        </p:nvSpPr>
        <p:spPr>
          <a:xfrm>
            <a:off x="4736592" y="1335024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0" name="Text"/>
          <p:cNvSpPr/>
          <p:nvPr/>
        </p:nvSpPr>
        <p:spPr>
          <a:xfrm>
            <a:off x="4736592" y="13533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51" name="Text"/>
          <p:cNvSpPr/>
          <p:nvPr/>
        </p:nvSpPr>
        <p:spPr>
          <a:xfrm>
            <a:off x="5084064" y="1325880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</a:t>
            </a:r>
          </a:p>
        </p:txBody>
      </p:sp>
      <p:sp>
        <p:nvSpPr>
          <p:cNvPr id="1052" name="Text"/>
          <p:cNvSpPr/>
          <p:nvPr/>
        </p:nvSpPr>
        <p:spPr>
          <a:xfrm>
            <a:off x="5084064" y="1581912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named, can we be granted read access to it, and how often would it refresh?</a:t>
            </a:r>
          </a:p>
        </p:txBody>
      </p:sp>
      <p:sp>
        <p:nvSpPr>
          <p:cNvPr id="1053" name="Dot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4" name="Text"/>
          <p:cNvSpPr/>
          <p:nvPr/>
        </p:nvSpPr>
        <p:spPr>
          <a:xfrm>
            <a:off x="411480" y="241401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055" name="Text"/>
          <p:cNvSpPr/>
          <p:nvPr/>
        </p:nvSpPr>
        <p:spPr>
          <a:xfrm>
            <a:off x="758952" y="2386584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to project register</a:t>
            </a:r>
          </a:p>
        </p:txBody>
      </p:sp>
      <p:sp>
        <p:nvSpPr>
          <p:cNvPr id="1056" name="Text"/>
          <p:cNvSpPr/>
          <p:nvPr/>
        </p:nvSpPr>
        <p:spPr>
          <a:xfrm>
            <a:off x="758952" y="2642616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register mapping EDRMS sites to project IDs? Without it, site activity cannot roll up to a project.</a:t>
            </a:r>
          </a:p>
        </p:txBody>
      </p:sp>
      <p:sp>
        <p:nvSpPr>
          <p:cNvPr id="1057" name="Dot"/>
          <p:cNvSpPr/>
          <p:nvPr/>
        </p:nvSpPr>
        <p:spPr>
          <a:xfrm>
            <a:off x="4736592" y="2395728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8" name="Text"/>
          <p:cNvSpPr/>
          <p:nvPr/>
        </p:nvSpPr>
        <p:spPr>
          <a:xfrm>
            <a:off x="4736592" y="241401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059" name="Text"/>
          <p:cNvSpPr/>
          <p:nvPr/>
        </p:nvSpPr>
        <p:spPr>
          <a:xfrm>
            <a:off x="5084064" y="2386584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register exists</a:t>
            </a:r>
          </a:p>
        </p:txBody>
      </p:sp>
      <p:sp>
        <p:nvSpPr>
          <p:cNvPr id="1060" name="Text"/>
          <p:cNvSpPr/>
          <p:nvPr/>
        </p:nvSpPr>
        <p:spPr>
          <a:xfrm>
            <a:off x="5084064" y="2642616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accept us deriving the link by scanning site names, with the accuracy that implies?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stitutional File Pla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File Plan</a:t>
            </a:r>
          </a:p>
        </p:txBody>
      </p:sp>
      <p:sp>
        <p:nvSpPr>
          <p:cNvPr id="1062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class hierarchy, and how records sit against it.</a:t>
            </a:r>
          </a:p>
        </p:txBody>
      </p:sp>
      <p:sp>
        <p:nvSpPr>
          <p:cNvPr id="1063" name="Rule"/>
          <p:cNvSpPr/>
          <p:nvPr/>
        </p:nvSpPr>
        <p:spPr>
          <a:xfrm>
            <a:off x="411480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4" name="Text"/>
          <p:cNvSpPr/>
          <p:nvPr/>
        </p:nvSpPr>
        <p:spPr>
          <a:xfrm>
            <a:off x="411480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page</a:t>
            </a:r>
          </a:p>
        </p:txBody>
      </p:sp>
      <p:sp>
        <p:nvSpPr>
          <p:cNvPr id="1065" name="Text"/>
          <p:cNvSpPr/>
          <p:nvPr/>
        </p:nvSpPr>
        <p:spPr>
          <a:xfrm>
            <a:off x="411480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agreed structure of the file plan, shown as it exists in the term store rather than as a document.</a:t>
            </a:r>
          </a:p>
        </p:txBody>
      </p:sp>
      <p:sp>
        <p:nvSpPr>
          <p:cNvPr id="1066" name="Rule"/>
          <p:cNvSpPr/>
          <p:nvPr/>
        </p:nvSpPr>
        <p:spPr>
          <a:xfrm>
            <a:off x="3282696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7" name="Text"/>
          <p:cNvSpPr/>
          <p:nvPr/>
        </p:nvSpPr>
        <p:spPr>
          <a:xfrm>
            <a:off x="3282696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at a glance</a:t>
            </a:r>
          </a:p>
        </p:txBody>
      </p:sp>
      <p:sp>
        <p:nvSpPr>
          <p:cNvPr id="1068" name="Text"/>
          <p:cNvSpPr/>
          <p:nvPr/>
        </p:nvSpPr>
        <p:spPr>
          <a:xfrm>
            <a:off x="3282696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what has been declared actually maps onto the plan, and where the plan is not being used.</a:t>
            </a:r>
          </a:p>
        </p:txBody>
      </p:sp>
      <p:sp>
        <p:nvSpPr>
          <p:cNvPr id="1069" name="Rule"/>
          <p:cNvSpPr/>
          <p:nvPr/>
        </p:nvSpPr>
        <p:spPr>
          <a:xfrm>
            <a:off x="6153912" y="1097280"/>
            <a:ext cx="2578608" cy="36576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70" name="Text"/>
          <p:cNvSpPr/>
          <p:nvPr/>
        </p:nvSpPr>
        <p:spPr>
          <a:xfrm>
            <a:off x="6153912" y="1152144"/>
            <a:ext cx="2578608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drawn</a:t>
            </a:r>
          </a:p>
        </p:txBody>
      </p:sp>
      <p:sp>
        <p:nvSpPr>
          <p:cNvPr id="1071" name="Text"/>
          <p:cNvSpPr/>
          <p:nvPr/>
        </p:nvSpPr>
        <p:spPr>
          <a:xfrm>
            <a:off x="6153912" y="1435607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is built end to end. What we need from you here is confirmation rather than new information.</a:t>
            </a:r>
          </a:p>
        </p:txBody>
      </p:sp>
      <p:sp>
        <p:nvSpPr>
          <p:cNvPr id="1072" name="Text"/>
          <p:cNvSpPr/>
          <p:nvPr/>
        </p:nvSpPr>
        <p:spPr>
          <a:xfrm>
            <a:off x="411480" y="2231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ON THE PAGE</a:t>
            </a:r>
          </a:p>
        </p:txBody>
      </p:sp>
      <p:sp>
        <p:nvSpPr>
          <p:cNvPr id="1073" name="Panel"/>
          <p:cNvSpPr/>
          <p:nvPr/>
        </p:nvSpPr>
        <p:spPr>
          <a:xfrm>
            <a:off x="411480" y="2487168"/>
            <a:ext cx="8321040" cy="2084831"/>
          </a:xfrm>
          <a:prstGeom prst="rect">
            <a:avLst/>
          </a:prstGeom>
          <a:solidFill>
            <a:srgbClr val="F4F7F8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74" name="Rule"/>
          <p:cNvSpPr/>
          <p:nvPr/>
        </p:nvSpPr>
        <p:spPr>
          <a:xfrm>
            <a:off x="61264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75" name="Text"/>
          <p:cNvSpPr/>
          <p:nvPr/>
        </p:nvSpPr>
        <p:spPr>
          <a:xfrm>
            <a:off x="61264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hierarchy</a:t>
            </a:r>
          </a:p>
        </p:txBody>
      </p:sp>
      <p:sp>
        <p:nvSpPr>
          <p:cNvPr id="1076" name="Bullet"/>
          <p:cNvSpPr/>
          <p:nvPr/>
        </p:nvSpPr>
        <p:spPr>
          <a:xfrm>
            <a:off x="61264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77" name="Text"/>
          <p:cNvSpPr/>
          <p:nvPr/>
        </p:nvSpPr>
        <p:spPr>
          <a:xfrm>
            <a:off x="75895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top-level categories</a:t>
            </a:r>
          </a:p>
        </p:txBody>
      </p:sp>
      <p:sp>
        <p:nvSpPr>
          <p:cNvPr id="1078" name="Bullet"/>
          <p:cNvSpPr/>
          <p:nvPr/>
        </p:nvSpPr>
        <p:spPr>
          <a:xfrm>
            <a:off x="61264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79" name="Text"/>
          <p:cNvSpPr/>
          <p:nvPr/>
        </p:nvSpPr>
        <p:spPr>
          <a:xfrm>
            <a:off x="75895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within each category</a:t>
            </a:r>
          </a:p>
        </p:txBody>
      </p:sp>
      <p:sp>
        <p:nvSpPr>
          <p:cNvPr id="1080" name="Rule"/>
          <p:cNvSpPr/>
          <p:nvPr/>
        </p:nvSpPr>
        <p:spPr>
          <a:xfrm>
            <a:off x="257860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81" name="Text"/>
          <p:cNvSpPr/>
          <p:nvPr/>
        </p:nvSpPr>
        <p:spPr>
          <a:xfrm>
            <a:off x="257860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</a:t>
            </a:r>
          </a:p>
        </p:txBody>
      </p:sp>
      <p:sp>
        <p:nvSpPr>
          <p:cNvPr id="1082" name="Bullet"/>
          <p:cNvSpPr/>
          <p:nvPr/>
        </p:nvSpPr>
        <p:spPr>
          <a:xfrm>
            <a:off x="257860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83" name="Text"/>
          <p:cNvSpPr/>
          <p:nvPr/>
        </p:nvSpPr>
        <p:spPr>
          <a:xfrm>
            <a:off x="272491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terms per category</a:t>
            </a:r>
          </a:p>
        </p:txBody>
      </p:sp>
      <p:sp>
        <p:nvSpPr>
          <p:cNvPr id="1084" name="Bullet"/>
          <p:cNvSpPr/>
          <p:nvPr/>
        </p:nvSpPr>
        <p:spPr>
          <a:xfrm>
            <a:off x="257860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85" name="Text"/>
          <p:cNvSpPr/>
          <p:nvPr/>
        </p:nvSpPr>
        <p:spPr>
          <a:xfrm>
            <a:off x="272491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per category</a:t>
            </a:r>
          </a:p>
        </p:txBody>
      </p:sp>
      <p:sp>
        <p:nvSpPr>
          <p:cNvPr id="1086" name="Rule"/>
          <p:cNvSpPr/>
          <p:nvPr/>
        </p:nvSpPr>
        <p:spPr>
          <a:xfrm>
            <a:off x="4544568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87" name="Text"/>
          <p:cNvSpPr/>
          <p:nvPr/>
        </p:nvSpPr>
        <p:spPr>
          <a:xfrm>
            <a:off x="4544568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</a:p>
        </p:txBody>
      </p:sp>
      <p:sp>
        <p:nvSpPr>
          <p:cNvPr id="1088" name="Bullet"/>
          <p:cNvSpPr/>
          <p:nvPr/>
        </p:nvSpPr>
        <p:spPr>
          <a:xfrm>
            <a:off x="4544568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89" name="Text"/>
          <p:cNvSpPr/>
          <p:nvPr/>
        </p:nvSpPr>
        <p:spPr>
          <a:xfrm>
            <a:off x="4690872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mapped against each term</a:t>
            </a:r>
          </a:p>
        </p:txBody>
      </p:sp>
      <p:sp>
        <p:nvSpPr>
          <p:cNvPr id="1090" name="Bullet"/>
          <p:cNvSpPr/>
          <p:nvPr/>
        </p:nvSpPr>
        <p:spPr>
          <a:xfrm>
            <a:off x="4544568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91" name="Text"/>
          <p:cNvSpPr/>
          <p:nvPr/>
        </p:nvSpPr>
        <p:spPr>
          <a:xfrm>
            <a:off x="4690872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with nothing declared against them</a:t>
            </a:r>
          </a:p>
        </p:txBody>
      </p:sp>
      <p:sp>
        <p:nvSpPr>
          <p:cNvPr id="1092" name="Rule"/>
          <p:cNvSpPr/>
          <p:nvPr/>
        </p:nvSpPr>
        <p:spPr>
          <a:xfrm>
            <a:off x="6510527" y="2688336"/>
            <a:ext cx="1655063" cy="3200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93" name="Text"/>
          <p:cNvSpPr/>
          <p:nvPr/>
        </p:nvSpPr>
        <p:spPr>
          <a:xfrm>
            <a:off x="6510527" y="2761488"/>
            <a:ext cx="1655063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</a:p>
        </p:txBody>
      </p:sp>
      <p:sp>
        <p:nvSpPr>
          <p:cNvPr id="1094" name="Bullet"/>
          <p:cNvSpPr/>
          <p:nvPr/>
        </p:nvSpPr>
        <p:spPr>
          <a:xfrm>
            <a:off x="6510527" y="311810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95" name="Text"/>
          <p:cNvSpPr/>
          <p:nvPr/>
        </p:nvSpPr>
        <p:spPr>
          <a:xfrm>
            <a:off x="6656831" y="3054096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to term drill-down</a:t>
            </a:r>
          </a:p>
        </p:txBody>
      </p:sp>
      <p:sp>
        <p:nvSpPr>
          <p:cNvPr id="1096" name="Bullet"/>
          <p:cNvSpPr/>
          <p:nvPr/>
        </p:nvSpPr>
        <p:spPr>
          <a:xfrm>
            <a:off x="6510527" y="3392423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97" name="Text"/>
          <p:cNvSpPr/>
          <p:nvPr/>
        </p:nvSpPr>
        <p:spPr>
          <a:xfrm>
            <a:off x="6656831" y="3328415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to declared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stitutional File Plan — ask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File Plan</a:t>
            </a:r>
          </a:p>
        </p:txBody>
      </p:sp>
      <p:sp>
        <p:nvSpPr>
          <p:cNvPr id="1099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before these can be built.</a:t>
            </a:r>
          </a:p>
        </p:txBody>
      </p:sp>
      <p:sp>
        <p:nvSpPr>
          <p:cNvPr id="1100" name="Text"/>
          <p:cNvSpPr/>
          <p:nvPr/>
        </p:nvSpPr>
        <p:spPr>
          <a:xfrm>
            <a:off x="411480" y="1024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</a:p>
        </p:txBody>
      </p:sp>
      <p:sp>
        <p:nvSpPr>
          <p:cNvPr id="1101" name="Dot"/>
          <p:cNvSpPr/>
          <p:nvPr/>
        </p:nvSpPr>
        <p:spPr>
          <a:xfrm>
            <a:off x="411480" y="1335024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102" name="Text"/>
          <p:cNvSpPr/>
          <p:nvPr/>
        </p:nvSpPr>
        <p:spPr>
          <a:xfrm>
            <a:off x="411480" y="13533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103" name="Text"/>
          <p:cNvSpPr/>
          <p:nvPr/>
        </p:nvSpPr>
        <p:spPr>
          <a:xfrm>
            <a:off x="758952" y="1325880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structure right</a:t>
            </a:r>
          </a:p>
        </p:txBody>
      </p:sp>
      <p:sp>
        <p:nvSpPr>
          <p:cNvPr id="1104" name="Text"/>
          <p:cNvSpPr/>
          <p:nvPr/>
        </p:nvSpPr>
        <p:spPr>
          <a:xfrm>
            <a:off x="758952" y="1581912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hierarchy shown match your current approved file plan, including the category names?</a:t>
            </a:r>
          </a:p>
        </p:txBody>
      </p:sp>
      <p:sp>
        <p:nvSpPr>
          <p:cNvPr id="1105" name="Dot"/>
          <p:cNvSpPr/>
          <p:nvPr/>
        </p:nvSpPr>
        <p:spPr>
          <a:xfrm>
            <a:off x="4736592" y="1335024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106" name="Text"/>
          <p:cNvSpPr/>
          <p:nvPr/>
        </p:nvSpPr>
        <p:spPr>
          <a:xfrm>
            <a:off x="4736592" y="13533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07" name="Text"/>
          <p:cNvSpPr/>
          <p:nvPr/>
        </p:nvSpPr>
        <p:spPr>
          <a:xfrm>
            <a:off x="5084064" y="1325880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terms</a:t>
            </a:r>
          </a:p>
        </p:txBody>
      </p:sp>
      <p:sp>
        <p:nvSpPr>
          <p:cNvPr id="1108" name="Text"/>
          <p:cNvSpPr/>
          <p:nvPr/>
        </p:nvSpPr>
        <p:spPr>
          <a:xfrm>
            <a:off x="5084064" y="1581912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terms that are deprecated but still present? Should they show, or be suppressed?</a:t>
            </a:r>
          </a:p>
        </p:txBody>
      </p:sp>
      <p:sp>
        <p:nvSpPr>
          <p:cNvPr id="1109" name="Dot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110" name="Text"/>
          <p:cNvSpPr/>
          <p:nvPr/>
        </p:nvSpPr>
        <p:spPr>
          <a:xfrm>
            <a:off x="411480" y="241401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111" name="Text"/>
          <p:cNvSpPr/>
          <p:nvPr/>
        </p:nvSpPr>
        <p:spPr>
          <a:xfrm>
            <a:off x="758952" y="2386584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cadence</a:t>
            </a:r>
          </a:p>
        </p:txBody>
      </p:sp>
      <p:sp>
        <p:nvSpPr>
          <p:cNvPr id="1112" name="Text"/>
          <p:cNvSpPr/>
          <p:nvPr/>
        </p:nvSpPr>
        <p:spPr>
          <a:xfrm>
            <a:off x="758952" y="2642616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the file plan change, and who should we expect the updated structure from?</a:t>
            </a:r>
          </a:p>
        </p:txBody>
      </p:sp>
      <p:sp>
        <p:nvSpPr>
          <p:cNvPr id="1113" name="Dot"/>
          <p:cNvSpPr/>
          <p:nvPr/>
        </p:nvSpPr>
        <p:spPr>
          <a:xfrm>
            <a:off x="4736592" y="2395728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114" name="Text"/>
          <p:cNvSpPr/>
          <p:nvPr/>
        </p:nvSpPr>
        <p:spPr>
          <a:xfrm>
            <a:off x="4736592" y="241401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115" name="Text"/>
          <p:cNvSpPr/>
          <p:nvPr/>
        </p:nvSpPr>
        <p:spPr>
          <a:xfrm>
            <a:off x="5084064" y="2386584"/>
            <a:ext cx="3648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missing</a:t>
            </a:r>
          </a:p>
        </p:txBody>
      </p:sp>
      <p:sp>
        <p:nvSpPr>
          <p:cNvPr id="1116" name="Text"/>
          <p:cNvSpPr/>
          <p:nvPr/>
        </p:nvSpPr>
        <p:spPr>
          <a:xfrm>
            <a:off x="5084064" y="2642616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carries no open gaps on our side. If something you expected is absent, this is the moment to say 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ention &amp; Dispos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Disposal</a:t>
            </a:r>
          </a:p>
        </p:txBody>
      </p:sp>
      <p:sp>
        <p:nvSpPr>
          <p:cNvPr id="1002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reportable today. Disposal is not yet a capability of the platform.</a:t>
            </a:r>
          </a:p>
        </p:txBody>
      </p:sp>
      <p:sp>
        <p:nvSpPr>
          <p:cNvPr id="1003" name="Panel"/>
          <p:cNvSpPr/>
          <p:nvPr/>
        </p:nvSpPr>
        <p:spPr>
          <a:xfrm>
            <a:off x="411480" y="1042415"/>
            <a:ext cx="4005072" cy="2103120"/>
          </a:xfrm>
          <a:prstGeom prst="rect">
            <a:avLst/>
          </a:prstGeom>
          <a:solidFill>
            <a:srgbClr val="EAF7F4"/>
          </a:solidFill>
          <a:ln w="12700">
            <a:solidFill>
              <a:srgbClr val="009B8A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04" name="Shape"/>
          <p:cNvSpPr/>
          <p:nvPr/>
        </p:nvSpPr>
        <p:spPr>
          <a:xfrm>
            <a:off x="411480" y="1042415"/>
            <a:ext cx="400507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05" name="Text"/>
          <p:cNvSpPr/>
          <p:nvPr/>
        </p:nvSpPr>
        <p:spPr>
          <a:xfrm>
            <a:off x="576072" y="1170432"/>
            <a:ext cx="3675887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— in this release</a:t>
            </a:r>
          </a:p>
        </p:txBody>
      </p:sp>
      <p:sp>
        <p:nvSpPr>
          <p:cNvPr id="1006" name="Text"/>
          <p:cNvSpPr/>
          <p:nvPr/>
        </p:nvSpPr>
        <p:spPr>
          <a:xfrm>
            <a:off x="576072" y="1426464"/>
            <a:ext cx="3675887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holds retention policy, so retention position is readable now.</a:t>
            </a:r>
          </a:p>
        </p:txBody>
      </p:sp>
      <p:sp>
        <p:nvSpPr>
          <p:cNvPr id="1007" name="Bullet"/>
          <p:cNvSpPr/>
          <p:nvPr/>
        </p:nvSpPr>
        <p:spPr>
          <a:xfrm>
            <a:off x="576072" y="1874519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08" name="Text"/>
          <p:cNvSpPr/>
          <p:nvPr/>
        </p:nvSpPr>
        <p:spPr>
          <a:xfrm>
            <a:off x="722376" y="1810512"/>
            <a:ext cx="3529583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labels applied across the estate</a:t>
            </a:r>
          </a:p>
        </p:txBody>
      </p:sp>
      <p:sp>
        <p:nvSpPr>
          <p:cNvPr id="1009" name="Bullet"/>
          <p:cNvSpPr/>
          <p:nvPr/>
        </p:nvSpPr>
        <p:spPr>
          <a:xfrm>
            <a:off x="576072" y="2148839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0" name="Text"/>
          <p:cNvSpPr/>
          <p:nvPr/>
        </p:nvSpPr>
        <p:spPr>
          <a:xfrm>
            <a:off x="722376" y="2084831"/>
            <a:ext cx="3529583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approaching the end of their term</a:t>
            </a:r>
          </a:p>
        </p:txBody>
      </p:sp>
      <p:sp>
        <p:nvSpPr>
          <p:cNvPr id="1011" name="Bullet"/>
          <p:cNvSpPr/>
          <p:nvPr/>
        </p:nvSpPr>
        <p:spPr>
          <a:xfrm>
            <a:off x="576072" y="2423159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2" name="Text"/>
          <p:cNvSpPr/>
          <p:nvPr/>
        </p:nvSpPr>
        <p:spPr>
          <a:xfrm>
            <a:off x="722376" y="2359151"/>
            <a:ext cx="3529583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what carries a label and what does not</a:t>
            </a:r>
          </a:p>
        </p:txBody>
      </p:sp>
      <p:sp>
        <p:nvSpPr>
          <p:cNvPr id="1013" name="Bullet"/>
          <p:cNvSpPr/>
          <p:nvPr/>
        </p:nvSpPr>
        <p:spPr>
          <a:xfrm>
            <a:off x="576072" y="2697479"/>
            <a:ext cx="50292" cy="50292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4" name="Text"/>
          <p:cNvSpPr/>
          <p:nvPr/>
        </p:nvSpPr>
        <p:spPr>
          <a:xfrm>
            <a:off x="722376" y="2633471"/>
            <a:ext cx="3529583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terms as they sit in the file plan</a:t>
            </a:r>
          </a:p>
        </p:txBody>
      </p:sp>
      <p:sp>
        <p:nvSpPr>
          <p:cNvPr id="1015" name="Panel"/>
          <p:cNvSpPr/>
          <p:nvPr/>
        </p:nvSpPr>
        <p:spPr>
          <a:xfrm>
            <a:off x="4727448" y="1042415"/>
            <a:ext cx="4005072" cy="2103120"/>
          </a:xfrm>
          <a:prstGeom prst="rect">
            <a:avLst/>
          </a:prstGeom>
          <a:solidFill>
            <a:srgbClr val="F7F8F9"/>
          </a:solidFill>
          <a:ln w="12700">
            <a:solidFill>
              <a:srgbClr val="C9D2D7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16" name="Shape"/>
          <p:cNvSpPr/>
          <p:nvPr/>
        </p:nvSpPr>
        <p:spPr>
          <a:xfrm>
            <a:off x="4727448" y="1042415"/>
            <a:ext cx="4005072" cy="50292"/>
          </a:xfrm>
          <a:prstGeom prst="rect">
            <a:avLst/>
          </a:prstGeom>
          <a:solidFill>
            <a:srgbClr val="9AA7AE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17" name="Text"/>
          <p:cNvSpPr/>
          <p:nvPr/>
        </p:nvSpPr>
        <p:spPr>
          <a:xfrm>
            <a:off x="4892040" y="1170432"/>
            <a:ext cx="3675887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— not yet built</a:t>
            </a:r>
          </a:p>
        </p:txBody>
      </p:sp>
      <p:sp>
        <p:nvSpPr>
          <p:cNvPr id="1018" name="Text"/>
          <p:cNvSpPr/>
          <p:nvPr/>
        </p:nvSpPr>
        <p:spPr>
          <a:xfrm>
            <a:off x="4892040" y="1426464"/>
            <a:ext cx="3675887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is a release in its own right, not a missing report.</a:t>
            </a:r>
          </a:p>
        </p:txBody>
      </p:sp>
      <p:sp>
        <p:nvSpPr>
          <p:cNvPr id="1019" name="Bullet"/>
          <p:cNvSpPr/>
          <p:nvPr/>
        </p:nvSpPr>
        <p:spPr>
          <a:xfrm>
            <a:off x="4892040" y="1874519"/>
            <a:ext cx="50292" cy="50292"/>
          </a:xfrm>
          <a:prstGeom prst="rect">
            <a:avLst/>
          </a:prstGeom>
          <a:solidFill>
            <a:srgbClr val="9AA7AE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0" name="Text"/>
          <p:cNvSpPr/>
          <p:nvPr/>
        </p:nvSpPr>
        <p:spPr>
          <a:xfrm>
            <a:off x="5038344" y="1810512"/>
            <a:ext cx="3529583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approver and approval routing</a:t>
            </a:r>
          </a:p>
        </p:txBody>
      </p:sp>
      <p:sp>
        <p:nvSpPr>
          <p:cNvPr id="1021" name="Bullet"/>
          <p:cNvSpPr/>
          <p:nvPr/>
        </p:nvSpPr>
        <p:spPr>
          <a:xfrm>
            <a:off x="4892040" y="2148839"/>
            <a:ext cx="50292" cy="50292"/>
          </a:xfrm>
          <a:prstGeom prst="rect">
            <a:avLst/>
          </a:prstGeom>
          <a:solidFill>
            <a:srgbClr val="9AA7AE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2" name="Text"/>
          <p:cNvSpPr/>
          <p:nvPr/>
        </p:nvSpPr>
        <p:spPr>
          <a:xfrm>
            <a:off x="5038344" y="2084831"/>
            <a:ext cx="3529583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declined and extended outcomes</a:t>
            </a:r>
          </a:p>
        </p:txBody>
      </p:sp>
      <p:sp>
        <p:nvSpPr>
          <p:cNvPr id="1023" name="Bullet"/>
          <p:cNvSpPr/>
          <p:nvPr/>
        </p:nvSpPr>
        <p:spPr>
          <a:xfrm>
            <a:off x="4892040" y="2423159"/>
            <a:ext cx="50292" cy="50292"/>
          </a:xfrm>
          <a:prstGeom prst="rect">
            <a:avLst/>
          </a:prstGeom>
          <a:solidFill>
            <a:srgbClr val="9AA7AE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4" name="Text"/>
          <p:cNvSpPr/>
          <p:nvPr/>
        </p:nvSpPr>
        <p:spPr>
          <a:xfrm>
            <a:off x="5038344" y="2359151"/>
            <a:ext cx="3529583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actually disposed, over time</a:t>
            </a:r>
          </a:p>
        </p:txBody>
      </p:sp>
      <p:sp>
        <p:nvSpPr>
          <p:cNvPr id="1025" name="Bullet"/>
          <p:cNvSpPr/>
          <p:nvPr/>
        </p:nvSpPr>
        <p:spPr>
          <a:xfrm>
            <a:off x="4892040" y="2697479"/>
            <a:ext cx="50292" cy="50292"/>
          </a:xfrm>
          <a:prstGeom prst="rect">
            <a:avLst/>
          </a:prstGeom>
          <a:solidFill>
            <a:srgbClr val="9AA7AE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6" name="Text"/>
          <p:cNvSpPr/>
          <p:nvPr/>
        </p:nvSpPr>
        <p:spPr>
          <a:xfrm>
            <a:off x="5038344" y="2633471"/>
            <a:ext cx="3529583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completion and overdue actions</a:t>
            </a:r>
          </a:p>
        </p:txBody>
      </p:sp>
      <p:sp>
        <p:nvSpPr>
          <p:cNvPr id="1027" name="Panel"/>
          <p:cNvSpPr/>
          <p:nvPr/>
        </p:nvSpPr>
        <p:spPr>
          <a:xfrm>
            <a:off x="411480" y="3310128"/>
            <a:ext cx="8321040" cy="1207008"/>
          </a:xfrm>
          <a:prstGeom prst="rect">
            <a:avLst/>
          </a:prstGeom>
          <a:solidFill>
            <a:srgbClr val="F4F7F8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28" name="Shape"/>
          <p:cNvSpPr/>
          <p:nvPr/>
        </p:nvSpPr>
        <p:spPr>
          <a:xfrm>
            <a:off x="411480" y="3310128"/>
            <a:ext cx="50292" cy="1207008"/>
          </a:xfrm>
          <a:prstGeom prst="rect">
            <a:avLst/>
          </a:prstGeom>
          <a:solidFill>
            <a:srgbClr val="E67C3B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29" name="Text"/>
          <p:cNvSpPr/>
          <p:nvPr/>
        </p:nvSpPr>
        <p:spPr>
          <a:xfrm>
            <a:off x="630936" y="34381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E67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DISPOSAL CANNOT BE REPORTED YET</a:t>
            </a:r>
          </a:p>
        </p:txBody>
      </p:sp>
      <p:sp>
        <p:nvSpPr>
          <p:cNvPr id="1030" name="Text"/>
          <p:cNvSpPr/>
          <p:nvPr/>
        </p:nvSpPr>
        <p:spPr>
          <a:xfrm>
            <a:off x="630936" y="3694176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disposal requirements assume a review and confirmation step — someone approves, declines or extends, and the outcome is recorded. No system in place today performs or records that step, so there is nothing for the report to read.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ention &amp; Disposal — propos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"/>
          <p:cNvSpPr/>
          <p:nvPr/>
        </p:nvSpPr>
        <p:spPr>
          <a:xfrm>
            <a:off x="201168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Disposal</a:t>
            </a:r>
          </a:p>
        </p:txBody>
      </p:sp>
      <p:sp>
        <p:nvSpPr>
          <p:cNvPr id="1032" name="Subtitle"/>
          <p:cNvSpPr/>
          <p:nvPr/>
        </p:nvSpPr>
        <p:spPr>
          <a:xfrm>
            <a:off x="192024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00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proposal, and what we need you to confirm.</a:t>
            </a:r>
          </a:p>
        </p:txBody>
      </p:sp>
      <p:sp>
        <p:nvSpPr>
          <p:cNvPr id="1033" name="Panel"/>
          <p:cNvSpPr/>
          <p:nvPr/>
        </p:nvSpPr>
        <p:spPr>
          <a:xfrm>
            <a:off x="411480" y="1005840"/>
            <a:ext cx="8321040" cy="786384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PH" sz="1000"/>
          </a:p>
        </p:txBody>
      </p:sp>
      <p:sp>
        <p:nvSpPr>
          <p:cNvPr id="1034" name="Shape"/>
          <p:cNvSpPr/>
          <p:nvPr/>
        </p:nvSpPr>
        <p:spPr>
          <a:xfrm>
            <a:off x="411480" y="1005840"/>
            <a:ext cx="50292" cy="786384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5" name="Text"/>
          <p:cNvSpPr/>
          <p:nvPr/>
        </p:nvSpPr>
        <p:spPr>
          <a:xfrm>
            <a:off x="630936" y="1097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</a:t>
            </a:r>
          </a:p>
        </p:txBody>
      </p:sp>
      <p:sp>
        <p:nvSpPr>
          <p:cNvPr id="1036" name="Text"/>
          <p:cNvSpPr/>
          <p:nvPr/>
        </p:nvSpPr>
        <p:spPr>
          <a:xfrm>
            <a:off x="630936" y="1316736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retention reporting now, on the policy the platform already holds. Treat disposal reporting as a defined future increment, taken up once a disposal capability is released.</a:t>
            </a:r>
          </a:p>
        </p:txBody>
      </p:sp>
      <p:sp>
        <p:nvSpPr>
          <p:cNvPr id="1037" name="Shape"/>
          <p:cNvSpPr/>
          <p:nvPr/>
        </p:nvSpPr>
        <p:spPr>
          <a:xfrm>
            <a:off x="411480" y="2011680"/>
            <a:ext cx="2590800" cy="45720"/>
          </a:xfrm>
          <a:prstGeom prst="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8" name="Chip"/>
          <p:cNvSpPr/>
          <p:nvPr/>
        </p:nvSpPr>
        <p:spPr>
          <a:xfrm>
            <a:off x="411480" y="2130552"/>
            <a:ext cx="1207008" cy="201168"/>
          </a:xfrm>
          <a:prstGeom prst="roundRect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39" name="Text"/>
          <p:cNvSpPr/>
          <p:nvPr/>
        </p:nvSpPr>
        <p:spPr>
          <a:xfrm>
            <a:off x="411480" y="213055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RELEASE</a:t>
            </a:r>
          </a:p>
        </p:txBody>
      </p:sp>
      <p:sp>
        <p:nvSpPr>
          <p:cNvPr id="1040" name="Text"/>
          <p:cNvSpPr/>
          <p:nvPr/>
        </p:nvSpPr>
        <p:spPr>
          <a:xfrm>
            <a:off x="411480" y="2414016"/>
            <a:ext cx="2590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reporting</a:t>
            </a:r>
          </a:p>
        </p:txBody>
      </p:sp>
      <p:sp>
        <p:nvSpPr>
          <p:cNvPr id="1041" name="Text"/>
          <p:cNvSpPr/>
          <p:nvPr/>
        </p:nvSpPr>
        <p:spPr>
          <a:xfrm>
            <a:off x="411480" y="2688336"/>
            <a:ext cx="248107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coverage and terms, from retention policy as it stands today.</a:t>
            </a:r>
          </a:p>
        </p:txBody>
      </p:sp>
      <p:sp>
        <p:nvSpPr>
          <p:cNvPr id="1042" name="Text"/>
          <p:cNvSpPr/>
          <p:nvPr/>
        </p:nvSpPr>
        <p:spPr>
          <a:xfrm>
            <a:off x="3029712" y="23774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043" name="Shape"/>
          <p:cNvSpPr/>
          <p:nvPr/>
        </p:nvSpPr>
        <p:spPr>
          <a:xfrm>
            <a:off x="3276600" y="2011680"/>
            <a:ext cx="2590800" cy="45720"/>
          </a:xfrm>
          <a:prstGeom prst="rect">
            <a:avLst/>
          </a:prstGeom>
          <a:solidFill>
            <a:srgbClr val="9AA7AE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4" name="Chip"/>
          <p:cNvSpPr/>
          <p:nvPr/>
        </p:nvSpPr>
        <p:spPr>
          <a:xfrm>
            <a:off x="3276600" y="2130552"/>
            <a:ext cx="1207008" cy="201168"/>
          </a:xfrm>
          <a:prstGeom prst="roundRect">
            <a:avLst/>
          </a:prstGeom>
          <a:solidFill>
            <a:srgbClr val="E7EBED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45" name="Text"/>
          <p:cNvSpPr/>
          <p:nvPr/>
        </p:nvSpPr>
        <p:spPr>
          <a:xfrm>
            <a:off x="3276600" y="213055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RELEASE</a:t>
            </a:r>
          </a:p>
        </p:txBody>
      </p:sp>
      <p:sp>
        <p:nvSpPr>
          <p:cNvPr id="1046" name="Text"/>
          <p:cNvSpPr/>
          <p:nvPr/>
        </p:nvSpPr>
        <p:spPr>
          <a:xfrm>
            <a:off x="3276600" y="2414016"/>
            <a:ext cx="2590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capability</a:t>
            </a:r>
          </a:p>
        </p:txBody>
      </p:sp>
      <p:sp>
        <p:nvSpPr>
          <p:cNvPr id="1047" name="Text"/>
          <p:cNvSpPr/>
          <p:nvPr/>
        </p:nvSpPr>
        <p:spPr>
          <a:xfrm>
            <a:off x="3276600" y="2688336"/>
            <a:ext cx="248107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30" b="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workflow itself is delivered as a product release.</a:t>
            </a:r>
          </a:p>
        </p:txBody>
      </p:sp>
      <p:sp>
        <p:nvSpPr>
          <p:cNvPr id="1048" name="Text"/>
          <p:cNvSpPr/>
          <p:nvPr/>
        </p:nvSpPr>
        <p:spPr>
          <a:xfrm>
            <a:off x="5894832" y="23774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049" name="Shape"/>
          <p:cNvSpPr/>
          <p:nvPr/>
        </p:nvSpPr>
        <p:spPr>
          <a:xfrm>
            <a:off x="6141720" y="2011680"/>
            <a:ext cx="2590800" cy="45720"/>
          </a:xfrm>
          <a:prstGeom prst="rect">
            <a:avLst/>
          </a:prstGeom>
          <a:solidFill>
            <a:srgbClr val="9AA7AE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0" name="Chip"/>
          <p:cNvSpPr/>
          <p:nvPr/>
        </p:nvSpPr>
        <p:spPr>
          <a:xfrm>
            <a:off x="6141720" y="2130552"/>
            <a:ext cx="1207008" cy="201168"/>
          </a:xfrm>
          <a:prstGeom prst="roundRect">
            <a:avLst/>
          </a:prstGeom>
          <a:solidFill>
            <a:srgbClr val="E7EBED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1" name="Text"/>
          <p:cNvSpPr/>
          <p:nvPr/>
        </p:nvSpPr>
        <p:spPr>
          <a:xfrm>
            <a:off x="6141720" y="213055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IT</a:t>
            </a:r>
          </a:p>
        </p:txBody>
      </p:sp>
      <p:sp>
        <p:nvSpPr>
          <p:cNvPr id="1052" name="Text"/>
          <p:cNvSpPr/>
          <p:nvPr/>
        </p:nvSpPr>
        <p:spPr>
          <a:xfrm>
            <a:off x="6141720" y="2414016"/>
            <a:ext cx="2590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reporting</a:t>
            </a:r>
          </a:p>
        </p:txBody>
      </p:sp>
      <p:sp>
        <p:nvSpPr>
          <p:cNvPr id="1053" name="Text"/>
          <p:cNvSpPr/>
          <p:nvPr/>
        </p:nvSpPr>
        <p:spPr>
          <a:xfrm>
            <a:off x="6141720" y="2688336"/>
            <a:ext cx="248107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30" b="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disposal events exist and are recorded, these requirements are added to this page.</a:t>
            </a:r>
          </a:p>
        </p:txBody>
      </p:sp>
      <p:sp>
        <p:nvSpPr>
          <p:cNvPr id="1054" name="Text"/>
          <p:cNvSpPr/>
          <p:nvPr/>
        </p:nvSpPr>
        <p:spPr>
          <a:xfrm>
            <a:off x="411480" y="34198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YOU TO CONFIRM</a:t>
            </a:r>
          </a:p>
        </p:txBody>
      </p:sp>
      <p:sp>
        <p:nvSpPr>
          <p:cNvPr id="1055" name="Dot"/>
          <p:cNvSpPr/>
          <p:nvPr/>
        </p:nvSpPr>
        <p:spPr>
          <a:xfrm>
            <a:off x="411480" y="3694176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56" name="Text"/>
          <p:cNvSpPr/>
          <p:nvPr/>
        </p:nvSpPr>
        <p:spPr>
          <a:xfrm>
            <a:off x="411480" y="3712463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57" name="Text"/>
          <p:cNvSpPr/>
          <p:nvPr/>
        </p:nvSpPr>
        <p:spPr>
          <a:xfrm>
            <a:off x="758952" y="3685032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split work for you</a:t>
            </a:r>
          </a:p>
        </p:txBody>
      </p:sp>
      <p:sp>
        <p:nvSpPr>
          <p:cNvPr id="1058" name="Text"/>
          <p:cNvSpPr/>
          <p:nvPr/>
        </p:nvSpPr>
        <p:spPr>
          <a:xfrm>
            <a:off x="758952" y="3941064"/>
            <a:ext cx="2225040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content to confirm retention reporting now and hold disposal reporting for a later increment?</a:t>
            </a:r>
          </a:p>
        </p:txBody>
      </p:sp>
      <p:sp>
        <p:nvSpPr>
          <p:cNvPr id="1059" name="Dot"/>
          <p:cNvSpPr/>
          <p:nvPr/>
        </p:nvSpPr>
        <p:spPr>
          <a:xfrm>
            <a:off x="3276600" y="3694176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0" name="Text"/>
          <p:cNvSpPr/>
          <p:nvPr/>
        </p:nvSpPr>
        <p:spPr>
          <a:xfrm>
            <a:off x="3276600" y="3712463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61" name="Text"/>
          <p:cNvSpPr/>
          <p:nvPr/>
        </p:nvSpPr>
        <p:spPr>
          <a:xfrm>
            <a:off x="3624072" y="3685032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approves a disposal</a:t>
            </a:r>
          </a:p>
        </p:txBody>
      </p:sp>
      <p:sp>
        <p:nvSpPr>
          <p:cNvPr id="1062" name="Text"/>
          <p:cNvSpPr/>
          <p:nvPr/>
        </p:nvSpPr>
        <p:spPr>
          <a:xfrm>
            <a:off x="3624072" y="3941064"/>
            <a:ext cx="2225040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capability arrives, who holds the decision — and should the report show the approver by name?</a:t>
            </a:r>
          </a:p>
        </p:txBody>
      </p:sp>
      <p:sp>
        <p:nvSpPr>
          <p:cNvPr id="1063" name="Dot"/>
          <p:cNvSpPr/>
          <p:nvPr/>
        </p:nvSpPr>
        <p:spPr>
          <a:xfrm>
            <a:off x="6141720" y="3694176"/>
            <a:ext cx="256032" cy="256032"/>
          </a:xfrm>
          <a:prstGeom prst="ellipse">
            <a:avLst/>
          </a:prstGeom>
          <a:solidFill>
            <a:srgbClr val="009B8A"/>
          </a:solidFill>
          <a:ln/>
        </p:spPr>
        <p:txBody>
          <a:bodyPr/>
          <a:lstStyle/>
          <a:p>
            <a:endParaRPr lang="en-PH" sz="1000"/>
          </a:p>
        </p:txBody>
      </p:sp>
      <p:sp>
        <p:nvSpPr>
          <p:cNvPr id="1064" name="Text"/>
          <p:cNvSpPr/>
          <p:nvPr/>
        </p:nvSpPr>
        <p:spPr>
          <a:xfrm>
            <a:off x="6141720" y="3712463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065" name="Text"/>
          <p:cNvSpPr/>
          <p:nvPr/>
        </p:nvSpPr>
        <p:spPr>
          <a:xfrm>
            <a:off x="6489192" y="3685032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00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evidenced</a:t>
            </a:r>
          </a:p>
        </p:txBody>
      </p:sp>
      <p:sp>
        <p:nvSpPr>
          <p:cNvPr id="1066" name="Text"/>
          <p:cNvSpPr/>
          <p:nvPr/>
        </p:nvSpPr>
        <p:spPr>
          <a:xfrm>
            <a:off x="6489192" y="3941064"/>
            <a:ext cx="2225040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30" b="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audit position require a record of every disposal decision, including declines and extensions?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290E8-A47B-EBA6-8633-FF17AACB6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DF675CE-ADFD-6CD6-53DC-E7B581D85237}"/>
              </a:ext>
            </a:extLst>
          </p:cNvPr>
          <p:cNvSpPr/>
          <p:nvPr/>
        </p:nvSpPr>
        <p:spPr>
          <a:xfrm>
            <a:off x="198186" y="93986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2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Records &amp; Archive Holdings</a:t>
            </a:r>
            <a:endParaRPr lang="en-US" sz="2700" dirty="0">
              <a:solidFill>
                <a:schemeClr val="tx2">
                  <a:lumMod val="76000"/>
                </a:schemeClr>
              </a:solidFill>
              <a:latin typeface="Cambria"/>
              <a:ea typeface="Cambri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3125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C2A0-651E-E46B-4357-A45FC621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2AC2E94-3946-45E4-5EC2-4D1CCF74FCFE}"/>
              </a:ext>
            </a:extLst>
          </p:cNvPr>
          <p:cNvSpPr/>
          <p:nvPr/>
        </p:nvSpPr>
        <p:spPr>
          <a:xfrm>
            <a:off x="198186" y="93986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chemeClr val="tx2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Records &amp; Archive Holdings</a:t>
            </a:r>
            <a:endParaRPr lang="en-US" sz="2700" dirty="0">
              <a:solidFill>
                <a:schemeClr val="tx2">
                  <a:lumMod val="76000"/>
                </a:schemeClr>
              </a:solidFill>
              <a:latin typeface="Cambria"/>
              <a:ea typeface="Cambri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362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923E61-44A3-4695-B149-1156B881AE6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793e52d-0212-4129-95b1-e9e16df4a03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DB Document" ma:contentTypeID="0x010100BB987C5E842407458A00E5F1E23BC833000D55B2048826264A885F6B4B33DCCFFE" ma:contentTypeVersion="17" ma:contentTypeDescription="" ma:contentTypeScope="" ma:versionID="6c0a0a6d57e58ed5692ed74a7e1cfb59">
  <xsd:schema xmlns:xsd="http://www.w3.org/2001/XMLSchema" xmlns:xs="http://www.w3.org/2001/XMLSchema" xmlns:p="http://schemas.microsoft.com/office/2006/metadata/properties" xmlns:ns2="5996128d-704d-4a9a-b273-f1b0c0083f8c" targetNamespace="http://schemas.microsoft.com/office/2006/metadata/properties" ma:root="true" ma:fieldsID="920b8ad6e3c27757cfdaf468cc48fc51" ns2:_="">
    <xsd:import namespace="5996128d-704d-4a9a-b273-f1b0c0083f8c"/>
    <xsd:element name="properties">
      <xsd:complexType>
        <xsd:sequence>
          <xsd:element name="documentManagement">
            <xsd:complexType>
              <xsd:all>
                <xsd:element ref="ns2:ADBDocumentDate" minOccurs="0"/>
                <xsd:element ref="ns2:ADBMonth" minOccurs="0"/>
                <xsd:element ref="ns2:ADBYear" minOccurs="0"/>
                <xsd:element ref="ns2:ADBAuthors" minOccurs="0"/>
                <xsd:element ref="ns2:ADBSourceLink" minOccurs="0"/>
                <xsd:element ref="ns2:ADBCirculatedLink" minOccurs="0"/>
                <xsd:element ref="ns2:TaxCatchAll" minOccurs="0"/>
                <xsd:element ref="ns2:ADBDocumentTypeValue" minOccurs="0"/>
                <xsd:element ref="ns2:d61536b25a8a4fedb48bb564279be82a" minOccurs="0"/>
                <xsd:element ref="ns2:h00e4aaaf4624e24a7df7f06faa038c6" minOccurs="0"/>
                <xsd:element ref="ns2:k985dbdc596c44d7acaf8184f33920f0" minOccurs="0"/>
                <xsd:element ref="ns2:a37ff23a602146d4934a49238d370ca5" minOccurs="0"/>
                <xsd:element ref="ns2:TaxCatchAllLabel" minOccurs="0"/>
                <xsd:element ref="ns2:d01a0ce1b141461dbfb235a3ab729a2c" minOccurs="0"/>
                <xsd:element ref="ns2:p030e467f78f45b4ae8f7e2c17ea4d82" minOccurs="0"/>
                <xsd:element ref="ns2:ia017ac09b1942648b563fe0b2b14d52" minOccurs="0"/>
                <xsd:element ref="ns2:j78542b1fffc4a1c84659474212e313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6128d-704d-4a9a-b273-f1b0c0083f8c" elementFormDefault="qualified">
    <xsd:import namespace="http://schemas.microsoft.com/office/2006/documentManagement/types"/>
    <xsd:import namespace="http://schemas.microsoft.com/office/infopath/2007/PartnerControls"/>
    <xsd:element name="ADBDocumentDate" ma:index="3" nillable="true" ma:displayName="Document Date" ma:format="DateOnly" ma:internalName="ADBDocumentDate" ma:readOnly="false">
      <xsd:simpleType>
        <xsd:restriction base="dms:DateTime"/>
      </xsd:simpleType>
    </xsd:element>
    <xsd:element name="ADBMonth" ma:index="4" nillable="true" ma:displayName="Month" ma:format="Dropdown" ma:internalName="ADBMonth" ma:readOnly="false">
      <xsd:simpleType>
        <xsd:restriction base="dms:Choice">
          <xsd:enumeration value="01-Jan"/>
          <xsd:enumeration value="02-Feb"/>
          <xsd:enumeration value="03-Mar"/>
          <xsd:enumeration value="04-Apr"/>
          <xsd:enumeration value="05-May"/>
          <xsd:enumeration value="06-Jun"/>
          <xsd:enumeration value="07-Jul"/>
          <xsd:enumeration value="08-Aug"/>
          <xsd:enumeration value="09-Sep"/>
          <xsd:enumeration value="10-Oct"/>
          <xsd:enumeration value="11-Nov"/>
          <xsd:enumeration value="12-Dec"/>
        </xsd:restriction>
      </xsd:simpleType>
    </xsd:element>
    <xsd:element name="ADBYear" ma:index="5" nillable="true" ma:displayName="Year" ma:internalName="ADBYear" ma:readOnly="false">
      <xsd:simpleType>
        <xsd:restriction base="dms:Text">
          <xsd:maxLength value="4"/>
        </xsd:restriction>
      </xsd:simpleType>
    </xsd:element>
    <xsd:element name="ADBAuthors" ma:index="6" nillable="true" ma:displayName="Authors" ma:list="UserInfo" ma:SharePointGroup="0" ma:internalName="ADBAuthors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DBSourceLink" ma:index="13" nillable="true" ma:displayName="Source Link" ma:format="Hyperlink" ma:internalName="ADBSource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DBCirculatedLink" ma:index="14" nillable="true" ma:displayName="Final Document Link" ma:format="Hyperlink" ma:internalName="ADBCirculated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axCatchAll" ma:index="18" nillable="true" ma:displayName="Taxonomy Catch All Column" ma:hidden="true" ma:list="{5fae007b-328f-43c9-b43a-e0b43236efad}" ma:internalName="TaxCatchAll" ma:showField="CatchAllData" ma:web="5996128d-704d-4a9a-b273-f1b0c0083f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DBDocumentTypeValue" ma:index="23" nillable="true" ma:displayName="Document Type" ma:hidden="true" ma:internalName="ADBDocumentTypeValue" ma:readOnly="false">
      <xsd:simpleType>
        <xsd:restriction base="dms:Text">
          <xsd:maxLength value="255"/>
        </xsd:restriction>
      </xsd:simpleType>
    </xsd:element>
    <xsd:element name="d61536b25a8a4fedb48bb564279be82a" ma:index="24" nillable="true" ma:taxonomy="true" ma:internalName="d61536b25a8a4fedb48bb564279be82a" ma:taxonomyFieldName="ADBDepartmentOwner" ma:displayName="Department Owner" ma:readOnly="false" ma:fieldId="{d61536b2-5a8a-4fed-b48b-b564279be82a}" ma:sspId="115af50e-efb3-4a0e-b425-875ff625e09e" ma:termSetId="b965cdb6-1071-4c6a-a9a3-189d53a950d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00e4aaaf4624e24a7df7f06faa038c6" ma:index="25" nillable="true" ma:taxonomy="true" ma:internalName="h00e4aaaf4624e24a7df7f06faa038c6" ma:taxonomyFieldName="ADBDocumentLanguage" ma:displayName="Document Language" ma:readOnly="false" ma:default="1;#English|16ac8743-31bb-43f8-9a73-533a041667d6" ma:fieldId="{100e4aaa-f462-4e24-a7df-7f06faa038c6}" ma:sspId="115af50e-efb3-4a0e-b425-875ff625e09e" ma:termSetId="fdf74959-6eb2-4689-a0fc-b9e1ab230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985dbdc596c44d7acaf8184f33920f0" ma:index="26" nillable="true" ma:taxonomy="true" ma:internalName="k985dbdc596c44d7acaf8184f33920f0" ma:taxonomyFieldName="ADBCountry" ma:displayName="Country" ma:readOnly="false" ma:fieldId="{4985dbdc-596c-44d7-acaf-8184f33920f0}" ma:sspId="115af50e-efb3-4a0e-b425-875ff625e09e" ma:termSetId="169202c7-46da-431e-ac86-348c41a1f49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37ff23a602146d4934a49238d370ca5" ma:index="27" nillable="true" ma:taxonomy="true" ma:internalName="a37ff23a602146d4934a49238d370ca5" ma:taxonomyFieldName="ADBDocumentType" ma:displayName="ADB Document Type" ma:readOnly="false" ma:fieldId="{a37ff23a-6021-46d4-934a-49238d370ca5}" ma:sspId="115af50e-efb3-4a0e-b425-875ff625e09e" ma:termSetId="ebf26521-a829-4b24-b73e-5e500b1bc1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28" nillable="true" ma:displayName="Taxonomy Catch All Column1" ma:hidden="true" ma:list="{5fae007b-328f-43c9-b43a-e0b43236efad}" ma:internalName="TaxCatchAllLabel" ma:readOnly="true" ma:showField="CatchAllDataLabel" ma:web="5996128d-704d-4a9a-b273-f1b0c0083f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01a0ce1b141461dbfb235a3ab729a2c" ma:index="29" nillable="true" ma:taxonomy="true" ma:internalName="d01a0ce1b141461dbfb235a3ab729a2c" ma:taxonomyFieldName="ADBSector" ma:displayName="Sector" ma:readOnly="false" ma:fieldId="{d01a0ce1-b141-461d-bfb2-35a3ab729a2c}" ma:sspId="115af50e-efb3-4a0e-b425-875ff625e09e" ma:termSetId="bae01210-cdc5-4479-86d7-616c28c0a9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30e467f78f45b4ae8f7e2c17ea4d82" ma:index="30" nillable="true" ma:taxonomy="true" ma:internalName="p030e467f78f45b4ae8f7e2c17ea4d82" ma:taxonomyFieldName="ADBDocumentSecurity" ma:displayName="Document Security" ma:readOnly="false" ma:fieldId="{9030e467-f78f-45b4-ae8f-7e2c17ea4d82}" ma:sspId="115af50e-efb3-4a0e-b425-875ff625e09e" ma:termSetId="9b0b4686-afa9-4a02-bc15-8fbc99f172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a017ac09b1942648b563fe0b2b14d52" ma:index="31" nillable="true" ma:taxonomy="true" ma:internalName="ia017ac09b1942648b563fe0b2b14d52" ma:taxonomyFieldName="ADBDivision" ma:displayName="Division" ma:readOnly="false" ma:fieldId="{2a017ac0-9b19-4264-8b56-3fe0b2b14d52}" ma:sspId="115af50e-efb3-4a0e-b425-875ff625e09e" ma:termSetId="d736278f-2140-40cc-b46b-6a0ab0de2d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78542b1fffc4a1c84659474212e3133" ma:index="32" nillable="true" ma:taxonomy="true" ma:internalName="j78542b1fffc4a1c84659474212e3133" ma:taxonomyFieldName="ADBContentGroup" ma:displayName="Content Group" ma:readOnly="false" ma:fieldId="{378542b1-fffc-4a1c-8465-9474212e3133}" ma:taxonomyMulti="true" ma:sspId="115af50e-efb3-4a0e-b425-875ff625e09e" ma:termSetId="2a9ffbee-93a5-418b-bcdb-8d6817936e6b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9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996128d-704d-4a9a-b273-f1b0c0083f8c">
      <Value>1</Value>
    </TaxCatchAll>
    <ADBCirculatedLink xmlns="5996128d-704d-4a9a-b273-f1b0c0083f8c">
      <Url xsi:nil="true"/>
      <Description xsi:nil="true"/>
    </ADBCirculatedLink>
    <h00e4aaaf4624e24a7df7f06faa038c6 xmlns="5996128d-704d-4a9a-b273-f1b0c0083f8c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16ac8743-31bb-43f8-9a73-533a041667d6</TermId>
        </TermInfo>
      </Terms>
    </h00e4aaaf4624e24a7df7f06faa038c6>
    <ia017ac09b1942648b563fe0b2b14d52 xmlns="5996128d-704d-4a9a-b273-f1b0c0083f8c">
      <Terms xmlns="http://schemas.microsoft.com/office/infopath/2007/PartnerControls"/>
    </ia017ac09b1942648b563fe0b2b14d52>
    <d61536b25a8a4fedb48bb564279be82a xmlns="5996128d-704d-4a9a-b273-f1b0c0083f8c">
      <Terms xmlns="http://schemas.microsoft.com/office/infopath/2007/PartnerControls"/>
    </d61536b25a8a4fedb48bb564279be82a>
    <ADBSourceLink xmlns="5996128d-704d-4a9a-b273-f1b0c0083f8c">
      <Url xsi:nil="true"/>
      <Description xsi:nil="true"/>
    </ADBSourceLink>
    <ADBDocumentDate xmlns="5996128d-704d-4a9a-b273-f1b0c0083f8c" xsi:nil="true"/>
    <ADBAuthors xmlns="5996128d-704d-4a9a-b273-f1b0c0083f8c">
      <UserInfo>
        <DisplayName/>
        <AccountId xsi:nil="true"/>
        <AccountType/>
      </UserInfo>
    </ADBAuthors>
    <a37ff23a602146d4934a49238d370ca5 xmlns="5996128d-704d-4a9a-b273-f1b0c0083f8c">
      <Terms xmlns="http://schemas.microsoft.com/office/infopath/2007/PartnerControls"/>
    </a37ff23a602146d4934a49238d370ca5>
    <d01a0ce1b141461dbfb235a3ab729a2c xmlns="5996128d-704d-4a9a-b273-f1b0c0083f8c">
      <Terms xmlns="http://schemas.microsoft.com/office/infopath/2007/PartnerControls"/>
    </d01a0ce1b141461dbfb235a3ab729a2c>
    <ADBDocumentTypeValue xmlns="5996128d-704d-4a9a-b273-f1b0c0083f8c" xsi:nil="true"/>
    <p030e467f78f45b4ae8f7e2c17ea4d82 xmlns="5996128d-704d-4a9a-b273-f1b0c0083f8c">
      <Terms xmlns="http://schemas.microsoft.com/office/infopath/2007/PartnerControls"/>
    </p030e467f78f45b4ae8f7e2c17ea4d82>
    <k985dbdc596c44d7acaf8184f33920f0 xmlns="5996128d-704d-4a9a-b273-f1b0c0083f8c">
      <Terms xmlns="http://schemas.microsoft.com/office/infopath/2007/PartnerControls"/>
    </k985dbdc596c44d7acaf8184f33920f0>
    <j78542b1fffc4a1c84659474212e3133 xmlns="5996128d-704d-4a9a-b273-f1b0c0083f8c">
      <Terms xmlns="http://schemas.microsoft.com/office/infopath/2007/PartnerControls"/>
    </j78542b1fffc4a1c84659474212e3133>
    <ADBMonth xmlns="5996128d-704d-4a9a-b273-f1b0c0083f8c" xsi:nil="true"/>
    <ADBYear xmlns="5996128d-704d-4a9a-b273-f1b0c0083f8c" xsi:nil="true"/>
  </documentManagement>
</p:properties>
</file>

<file path=customXml/itemProps1.xml><?xml version="1.0" encoding="utf-8"?>
<ds:datastoreItem xmlns:ds="http://schemas.openxmlformats.org/officeDocument/2006/customXml" ds:itemID="{3BB47801-E4CC-41EA-8340-D4DFD7A909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5B616A-2B50-45EF-843D-9233033F0D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96128d-704d-4a9a-b273-f1b0c0083f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D7C77A-BF15-4A6D-8A81-F40E10B66BC5}">
  <ds:schemaRefs>
    <ds:schemaRef ds:uri="http://purl.org/dc/terms/"/>
    <ds:schemaRef ds:uri="5996128d-704d-4a9a-b273-f1b0c0083f8c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On-screen Show (16:9)</PresentationFormat>
  <Paragraphs>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Cambria</vt:lpstr>
      <vt:lpstr>Segoe UI</vt:lpstr>
      <vt:lpstr>Segoe UI Bold</vt:lpstr>
      <vt:lpstr>Office Theme</vt:lpstr>
      <vt:lpstr>EDRMS Utilization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EDRMS Utilization Report Workshop</dc:title>
  <dc:subject>PptxGenJS Presentation</dc:subject>
  <dc:creator>ADB Records &amp; Information Management</dc:creator>
  <cp:lastModifiedBy>Jimwyl Perez</cp:lastModifiedBy>
  <cp:revision>390</cp:revision>
  <dcterms:created xsi:type="dcterms:W3CDTF">2026-07-02T02:28:30Z</dcterms:created>
  <dcterms:modified xsi:type="dcterms:W3CDTF">2026-08-25T02:42:41Z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0x010100BB987C5E842407458A00E5F1E23BC833000D55B2048826264A885F6B4B33DCCFFE</vt:lpwstr>
  </property>
  <property fmtid="{D5CDD505-2E9C-101B-9397-08002B2CF9AE}" pid="3" name="RevIMBCS">
    <vt:lpwstr/>
  </property>
  <property fmtid="{D5CDD505-2E9C-101B-9397-08002B2CF9AE}" pid="4" name="MediaServiceImageTags">
    <vt:lpwstr/>
  </property>
  <property fmtid="{D5CDD505-2E9C-101B-9397-08002B2CF9AE}" pid="5" name="ADBSector">
    <vt:lpwstr/>
  </property>
  <property fmtid="{D5CDD505-2E9C-101B-9397-08002B2CF9AE}" pid="6" name="ADBDivision">
    <vt:lpwstr/>
  </property>
  <property fmtid="{D5CDD505-2E9C-101B-9397-08002B2CF9AE}" pid="7" name="ADBContentGroup">
    <vt:lpwstr/>
  </property>
  <property fmtid="{D5CDD505-2E9C-101B-9397-08002B2CF9AE}" pid="8" name="ADBDocumentSecurity">
    <vt:lpwstr/>
  </property>
  <property fmtid="{D5CDD505-2E9C-101B-9397-08002B2CF9AE}" pid="9" name="ADBDocumentLanguage">
    <vt:lpwstr>1;#English|16ac8743-31bb-43f8-9a73-533a041667d6</vt:lpwstr>
  </property>
  <property fmtid="{D5CDD505-2E9C-101B-9397-08002B2CF9AE}" pid="10" name="ADBDocumentType">
    <vt:lpwstr/>
  </property>
  <property fmtid="{D5CDD505-2E9C-101B-9397-08002B2CF9AE}" pid="11" name="ADBDepartmentOwner">
    <vt:lpwstr/>
  </property>
  <property fmtid="{D5CDD505-2E9C-101B-9397-08002B2CF9AE}" pid="12" name="ADBCountry">
    <vt:lpwstr/>
  </property>
  <property fmtid="{D5CDD505-2E9C-101B-9397-08002B2CF9AE}" pid="13" name="MSIP_Label_817d4574-7375-4d17-b29c-6e4c6df0fcb0_Enabled">
    <vt:lpwstr>true</vt:lpwstr>
  </property>
  <property fmtid="{D5CDD505-2E9C-101B-9397-08002B2CF9AE}" pid="14" name="MSIP_Label_817d4574-7375-4d17-b29c-6e4c6df0fcb0_SetDate">
    <vt:lpwstr>2026-07-09T07:38:25Z</vt:lpwstr>
  </property>
  <property fmtid="{D5CDD505-2E9C-101B-9397-08002B2CF9AE}" pid="15" name="MSIP_Label_817d4574-7375-4d17-b29c-6e4c6df0fcb0_Method">
    <vt:lpwstr>Standard</vt:lpwstr>
  </property>
  <property fmtid="{D5CDD505-2E9C-101B-9397-08002B2CF9AE}" pid="16" name="MSIP_Label_817d4574-7375-4d17-b29c-6e4c6df0fcb0_Name">
    <vt:lpwstr>ADB Internal</vt:lpwstr>
  </property>
  <property fmtid="{D5CDD505-2E9C-101B-9397-08002B2CF9AE}" pid="17" name="MSIP_Label_817d4574-7375-4d17-b29c-6e4c6df0fcb0_SiteId">
    <vt:lpwstr>9495d6bb-41c2-4c58-848f-92e52cf3d640</vt:lpwstr>
  </property>
  <property fmtid="{D5CDD505-2E9C-101B-9397-08002B2CF9AE}" pid="18" name="MSIP_Label_817d4574-7375-4d17-b29c-6e4c6df0fcb0_ActionId">
    <vt:lpwstr>a69281fa-8e8a-44ff-b854-f50290c591ad</vt:lpwstr>
  </property>
  <property fmtid="{D5CDD505-2E9C-101B-9397-08002B2CF9AE}" pid="19" name="MSIP_Label_817d4574-7375-4d17-b29c-6e4c6df0fcb0_ContentBits">
    <vt:lpwstr>2</vt:lpwstr>
  </property>
  <property fmtid="{D5CDD505-2E9C-101B-9397-08002B2CF9AE}" pid="20" name="MSIP_Label_817d4574-7375-4d17-b29c-6e4c6df0fcb0_Tag">
    <vt:lpwstr>10, 3, 0, 2</vt:lpwstr>
  </property>
  <property fmtid="{D5CDD505-2E9C-101B-9397-08002B2CF9AE}" pid="21" name="ClassificationContentMarkingFooterLocations">
    <vt:lpwstr>Office Theme:3</vt:lpwstr>
  </property>
  <property fmtid="{D5CDD505-2E9C-101B-9397-08002B2CF9AE}" pid="22" name="ClassificationContentMarkingFooterText">
    <vt:lpwstr>INTERNAL. This information is accessible to ADB Management and Staff. It may be shared outside ADB with appropriate permission.</vt:lpwstr>
  </property>
</Properties>
</file>