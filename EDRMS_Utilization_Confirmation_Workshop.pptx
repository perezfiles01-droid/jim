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3" r:id="rId5"/>
    <p:sldId id="298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9E9E49-8E37-67AE-334A-E386AB45A267}" name="Leah Bancale" initials="LB" userId="S::lbancale.contractor@adb.org::41cb66bb-1d78-450e-ade4-0d15abfbc2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60706"/>
    <a:srgbClr val="92400E"/>
    <a:srgbClr val="F5F6F8"/>
    <a:srgbClr val="1568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8C9560-087D-4448-A8DE-21E160664AD3}" v="250" dt="2026-08-25T02:42:05.2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786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16E09-8B40-4ED1-86B7-C94735C58C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6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A729-BEC3-FA04-6D55-0F93E0FB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93D8D-C471-C974-2D76-E18EFD2F1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8B9CD2-8A70-3F5F-F1B5-6DE49FFC7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FEEC0-54CD-166B-2087-50E69090AD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84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F6FC1-4C95-D97B-A745-E2DB1113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E8EF4-FA35-4FB7-EC92-1FDFA72BA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F853F-564A-F3C4-95E0-C1DB6700A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DB1E3-C1A7-2D5C-0183-DA74A4E356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7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0994-1845-05C3-E670-3B5C5AA1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A7FFF-1A26-418B-92B6-EBA5A78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73194-2401-3CA7-1B3E-E88A9FB0F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0AA05-9BD8-451F-A00E-7CB0EC9ED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56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134D3-18EF-108E-F855-417F96A3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75D8-B77A-71F6-451D-01CD68D93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8E963-D9CD-B0BF-BCBE-D21002E0E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BF724-064F-8EB1-5557-4B8B106891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661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356C-FF58-7B93-7817-74190D89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67060C-F50E-5A5F-F79D-7E0BEBCB2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33372-488E-2DD9-5CAF-FC61964B3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774A-34B2-79E8-9C73-7AC16C136E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28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9731-8E6F-15F1-A74C-47A98A2B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5B3A3-15EA-8E52-62F6-261987F48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DEDB8-EB48-B4F8-00E6-24F60B7D1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CC915-0F81-E6B0-46D0-9BC90DC8F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30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604A-68BB-6A28-E54C-1D6C3BA15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44D1E-4BAD-1087-0B2F-FED2AEEBE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4F20B-2D5A-F50D-C9C8-1AEE4FA94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C345C-EA71-97EE-3CE7-C1B328148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A2393-627C-56B2-2187-94E991A5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2890-C1C6-E9D6-589A-3E2AEA78E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C7AB8-AA62-4190-D9D7-5E6BA81FB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67125-42FD-09ED-CF0A-1254B0F08C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00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5433-D3D4-0CF8-EDF7-5287C71DD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45248-24FB-9FF1-72C9-B63F9D125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1EC05-5DAE-1A07-BF25-C34725210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FCC91-CA45-1509-3F0F-73E2EC44D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9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B6381-D55F-CFE3-8DCA-D2A99DBC3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6020-2A78-049E-CC11-5A396A303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D8F81-D421-52A2-8360-956EF57C3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152F6-F4CF-FE38-4CC7-E418920AC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04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BAA6-1C29-2F91-2E8C-968FB503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C374-57DD-FB5E-16A0-10C6FD12F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9F68D-6E10-9E92-CFD6-997990668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0D5B-29BB-D98D-A1FB-0408505B5B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150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2C51E-E366-290C-1FD6-92460170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ABDAD-E103-C65E-88F2-43CF9DBED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E0F898-3E18-B477-9F6B-768E9EFA8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06002-2FFE-8A09-C0A4-5C95CE7F0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10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945" y="1930223"/>
            <a:ext cx="8285405" cy="1790700"/>
          </a:xfrm>
        </p:spPr>
        <p:txBody>
          <a:bodyPr anchor="b"/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945" y="3761014"/>
            <a:ext cx="8285405" cy="735010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49" y="4767263"/>
            <a:ext cx="2057400" cy="2738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23042" y="2530859"/>
            <a:ext cx="34289" cy="1190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2" y="4345380"/>
            <a:ext cx="3190318" cy="780114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9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5978978" y="4293031"/>
            <a:ext cx="3165022" cy="8930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14" y="273844"/>
            <a:ext cx="8281307" cy="994172"/>
          </a:xfrm>
        </p:spPr>
        <p:txBody>
          <a:bodyPr>
            <a:normAutofit/>
          </a:bodyPr>
          <a:lstStyle>
            <a:lvl1pPr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14" y="1369219"/>
            <a:ext cx="8281307" cy="3104810"/>
          </a:xfrm>
        </p:spPr>
        <p:txBody>
          <a:bodyPr/>
          <a:lstStyle>
            <a:lvl1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35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351707"/>
            <a:ext cx="3218259" cy="786947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1124" y="-5944"/>
            <a:ext cx="4052876" cy="127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2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4C2120-DF8B-03EB-5E9D-019C7BA0107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700213" y="4958080"/>
            <a:ext cx="57642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1A76651-B3B5-21F1-CC98-98819F36D7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b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50">
                <a:solidFill>
                  <a:schemeClr val="bg1"/>
                </a:solidFill>
                <a:latin typeface="Segoe UI Bold"/>
                <a:cs typeface="Segoe UI Bold"/>
              </a:rPr>
              <a:t>EDRMS Utilization Report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FF230-BDAA-521C-33FC-57FE5F925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PH" dirty="0">
                <a:solidFill>
                  <a:schemeClr val="bg1"/>
                </a:solidFill>
                <a:cs typeface="Segoe UI"/>
              </a:rPr>
              <a:t>August 2026</a:t>
            </a:r>
            <a:endParaRPr lang="en-PH" dirty="0">
              <a:solidFill>
                <a:schemeClr val="bg1"/>
              </a:solidFill>
              <a:ea typeface="Calibri"/>
              <a:cs typeface="Segoe UI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D16B05C2-64A2-81BA-BB74-7CA424E577D1}"/>
              </a:ext>
            </a:extLst>
          </p:cNvPr>
          <p:cNvSpPr/>
          <p:nvPr/>
        </p:nvSpPr>
        <p:spPr>
          <a:xfrm>
            <a:off x="232518" y="2714354"/>
            <a:ext cx="7543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50" dirty="0">
                <a:solidFill>
                  <a:srgbClr val="FFFFFF"/>
                </a:solidFill>
                <a:latin typeface="Segoe UI"/>
                <a:cs typeface="Segoe UI"/>
              </a:rPr>
              <a:t>Reconfirmation Workshop (R2026.4)</a:t>
            </a:r>
          </a:p>
        </p:txBody>
      </p:sp>
    </p:spTree>
    <p:extLst>
      <p:ext uri="{BB962C8B-B14F-4D97-AF65-F5344CB8AC3E}">
        <p14:creationId xmlns:p14="http://schemas.microsoft.com/office/powerpoint/2010/main" val="1895025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rd 3">
            <a:extLst>
              <a:ext uri="{FF2B5EF4-FFF2-40B4-BE49-F238E27FC236}">
                <a16:creationId xmlns:a16="http://schemas.microsoft.com/office/drawing/2014/main" id="{0C296876-C4ED-38E7-8A6B-084D48047EB6}"/>
              </a:ext>
            </a:extLst>
          </p:cNvPr>
          <p:cNvSpPr/>
          <p:nvPr/>
        </p:nvSpPr>
        <p:spPr>
          <a:xfrm>
            <a:off x="304800" y="36068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44493" y="36794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</a:rPr>
              <a:t>Agenda</a:t>
            </a:r>
            <a:endParaRPr lang="en-US"/>
          </a:p>
        </p:txBody>
      </p:sp>
      <p:sp>
        <p:nvSpPr>
          <p:cNvPr id="200" name="Card 1"/>
          <p:cNvSpPr/>
          <p:nvPr/>
        </p:nvSpPr>
        <p:spPr>
          <a:xfrm>
            <a:off x="304800" y="6350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0F5FA"/>
          </a:solidFill>
          <a:ln w="12700">
            <a:solidFill>
              <a:srgbClr val="D6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ot 1"/>
          <p:cNvSpPr/>
          <p:nvPr/>
        </p:nvSpPr>
        <p:spPr>
          <a:xfrm>
            <a:off x="482600" y="812800"/>
            <a:ext cx="508000" cy="50800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abel 1"/>
          <p:cNvSpPr txBox="1"/>
          <p:nvPr/>
        </p:nvSpPr>
        <p:spPr>
          <a:xfrm>
            <a:off x="1168400" y="7366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Introduction &amp; File Overview</a:t>
            </a:r>
          </a:p>
        </p:txBody>
      </p:sp>
      <p:sp>
        <p:nvSpPr>
          <p:cNvPr id="203" name="Card 2"/>
          <p:cNvSpPr/>
          <p:nvPr/>
        </p:nvSpPr>
        <p:spPr>
          <a:xfrm>
            <a:off x="304800" y="16256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Dot 2"/>
          <p:cNvSpPr/>
          <p:nvPr/>
        </p:nvSpPr>
        <p:spPr>
          <a:xfrm>
            <a:off x="482600" y="1803400"/>
            <a:ext cx="508000" cy="508000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Label 2"/>
          <p:cNvSpPr txBox="1"/>
          <p:nvPr/>
        </p:nvSpPr>
        <p:spPr>
          <a:xfrm>
            <a:off x="1168400" y="17272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Bank-wide Oversight</a:t>
            </a:r>
          </a:p>
        </p:txBody>
      </p:sp>
      <p:sp>
        <p:nvSpPr>
          <p:cNvPr id="206" name="Card 3"/>
          <p:cNvSpPr/>
          <p:nvPr/>
        </p:nvSpPr>
        <p:spPr>
          <a:xfrm>
            <a:off x="304800" y="26162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Dot 3"/>
          <p:cNvSpPr/>
          <p:nvPr/>
        </p:nvSpPr>
        <p:spPr>
          <a:xfrm>
            <a:off x="482600" y="2794000"/>
            <a:ext cx="508000" cy="508000"/>
          </a:xfrm>
          <a:prstGeom prst="ellipse">
            <a:avLst/>
          </a:prstGeom>
          <a:solidFill>
            <a:srgbClr val="17A2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abel 3"/>
          <p:cNvSpPr txBox="1"/>
          <p:nvPr/>
        </p:nvSpPr>
        <p:spPr>
          <a:xfrm>
            <a:off x="1168400" y="2705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Department Insights</a:t>
            </a:r>
          </a:p>
        </p:txBody>
      </p:sp>
      <p:sp>
        <p:nvSpPr>
          <p:cNvPr id="210" name="Dot 4"/>
          <p:cNvSpPr/>
          <p:nvPr/>
        </p:nvSpPr>
        <p:spPr>
          <a:xfrm>
            <a:off x="482600" y="3784600"/>
            <a:ext cx="508000" cy="508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Label 4"/>
          <p:cNvSpPr txBox="1"/>
          <p:nvPr/>
        </p:nvSpPr>
        <p:spPr>
          <a:xfrm>
            <a:off x="1168400" y="37084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Project Insights</a:t>
            </a:r>
          </a:p>
        </p:txBody>
      </p:sp>
      <p:sp>
        <p:nvSpPr>
          <p:cNvPr id="212" name="Card 5"/>
          <p:cNvSpPr/>
          <p:nvPr/>
        </p:nvSpPr>
        <p:spPr>
          <a:xfrm>
            <a:off x="4673600" y="11303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Dot 5"/>
          <p:cNvSpPr/>
          <p:nvPr/>
        </p:nvSpPr>
        <p:spPr>
          <a:xfrm>
            <a:off x="4851400" y="1308100"/>
            <a:ext cx="508000" cy="5080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abel 5"/>
          <p:cNvSpPr txBox="1"/>
          <p:nvPr/>
        </p:nvSpPr>
        <p:spPr>
          <a:xfrm>
            <a:off x="5537200" y="12319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Institutional File Plan</a:t>
            </a:r>
          </a:p>
        </p:txBody>
      </p:sp>
      <p:sp>
        <p:nvSpPr>
          <p:cNvPr id="215" name="Card 6"/>
          <p:cNvSpPr/>
          <p:nvPr/>
        </p:nvSpPr>
        <p:spPr>
          <a:xfrm>
            <a:off x="4673600" y="21209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ot 6"/>
          <p:cNvSpPr/>
          <p:nvPr/>
        </p:nvSpPr>
        <p:spPr>
          <a:xfrm>
            <a:off x="4851400" y="2298700"/>
            <a:ext cx="508000" cy="50800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Label 6"/>
          <p:cNvSpPr txBox="1"/>
          <p:nvPr/>
        </p:nvSpPr>
        <p:spPr>
          <a:xfrm>
            <a:off x="5537200" y="22225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Retention and Disposal</a:t>
            </a:r>
          </a:p>
        </p:txBody>
      </p:sp>
      <p:sp>
        <p:nvSpPr>
          <p:cNvPr id="218" name="Card 7"/>
          <p:cNvSpPr/>
          <p:nvPr/>
        </p:nvSpPr>
        <p:spPr>
          <a:xfrm>
            <a:off x="4673600" y="31115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Dot 7"/>
          <p:cNvSpPr/>
          <p:nvPr/>
        </p:nvSpPr>
        <p:spPr>
          <a:xfrm>
            <a:off x="4851400" y="3289300"/>
            <a:ext cx="508000" cy="508000"/>
          </a:xfrm>
          <a:prstGeom prst="ellipse">
            <a:avLst/>
          </a:prstGeom>
          <a:solidFill>
            <a:srgbClr val="721C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abel 7"/>
          <p:cNvSpPr txBox="1"/>
          <p:nvPr/>
        </p:nvSpPr>
        <p:spPr>
          <a:xfrm>
            <a:off x="5537200" y="3213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Records and Archive Holdings</a:t>
            </a:r>
          </a:p>
        </p:txBody>
      </p:sp>
      <p:pic>
        <p:nvPicPr>
          <p:cNvPr id="221" name="Graphic 221" descr="File over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200" y="914400"/>
            <a:ext cx="304800" cy="304800"/>
          </a:xfrm>
          <a:prstGeom prst="rect">
            <a:avLst/>
          </a:prstGeom>
        </p:spPr>
      </p:pic>
      <p:pic>
        <p:nvPicPr>
          <p:cNvPr id="222" name="Graphic 222" descr="Bank-wide oversigh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200" y="1905000"/>
            <a:ext cx="304800" cy="304800"/>
          </a:xfrm>
          <a:prstGeom prst="rect">
            <a:avLst/>
          </a:prstGeom>
        </p:spPr>
      </p:pic>
      <p:pic>
        <p:nvPicPr>
          <p:cNvPr id="223" name="Graphic 223" descr="Departmen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200" y="2895600"/>
            <a:ext cx="304800" cy="304800"/>
          </a:xfrm>
          <a:prstGeom prst="rect">
            <a:avLst/>
          </a:prstGeom>
        </p:spPr>
      </p:pic>
      <p:pic>
        <p:nvPicPr>
          <p:cNvPr id="224" name="Graphic 224" descr="Projec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4200" y="3886200"/>
            <a:ext cx="304800" cy="304800"/>
          </a:xfrm>
          <a:prstGeom prst="rect">
            <a:avLst/>
          </a:prstGeom>
        </p:spPr>
      </p:pic>
      <p:pic>
        <p:nvPicPr>
          <p:cNvPr id="225" name="Graphic 225" descr="Institutional file pl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1409700"/>
            <a:ext cx="304800" cy="304800"/>
          </a:xfrm>
          <a:prstGeom prst="rect">
            <a:avLst/>
          </a:prstGeom>
        </p:spPr>
      </p:pic>
      <p:pic>
        <p:nvPicPr>
          <p:cNvPr id="226" name="Graphic 226" descr="Retention and dispos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53000" y="2400300"/>
            <a:ext cx="304800" cy="304800"/>
          </a:xfrm>
          <a:prstGeom prst="rect">
            <a:avLst/>
          </a:prstGeom>
        </p:spPr>
      </p:pic>
      <p:pic>
        <p:nvPicPr>
          <p:cNvPr id="227" name="Graphic 227" descr="Records and archive hold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3000" y="3390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96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9">
            <a:extLst>
              <a:ext uri="{FF2B5EF4-FFF2-40B4-BE49-F238E27FC236}">
                <a16:creationId xmlns:a16="http://schemas.microsoft.com/office/drawing/2014/main" id="{0DBF04C0-E18B-43E2-8F60-57442E606C7B}"/>
              </a:ext>
            </a:extLst>
          </p:cNvPr>
          <p:cNvSpPr/>
          <p:nvPr/>
        </p:nvSpPr>
        <p:spPr>
          <a:xfrm>
            <a:off x="-8958" y="3646176"/>
            <a:ext cx="9152958" cy="834499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143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Introduction &amp; File Overview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16" name="Text 47">
            <a:extLst>
              <a:ext uri="{FF2B5EF4-FFF2-40B4-BE49-F238E27FC236}">
                <a16:creationId xmlns:a16="http://schemas.microsoft.com/office/drawing/2014/main" id="{AD7FDED3-552C-991E-5075-1CE456E19947}"/>
              </a:ext>
            </a:extLst>
          </p:cNvPr>
          <p:cNvSpPr/>
          <p:nvPr/>
        </p:nvSpPr>
        <p:spPr>
          <a:xfrm>
            <a:off x="288465" y="372316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94D78A1F-D925-4776-0BE8-DDB3ABC0E842}"/>
              </a:ext>
            </a:extLst>
          </p:cNvPr>
          <p:cNvSpPr/>
          <p:nvPr/>
        </p:nvSpPr>
        <p:spPr>
          <a:xfrm>
            <a:off x="288465" y="401576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correct designs to lock them.</a:t>
            </a:r>
          </a:p>
        </p:txBody>
      </p:sp>
      <p:sp>
        <p:nvSpPr>
          <p:cNvPr id="26" name="Text 51">
            <a:extLst>
              <a:ext uri="{FF2B5EF4-FFF2-40B4-BE49-F238E27FC236}">
                <a16:creationId xmlns:a16="http://schemas.microsoft.com/office/drawing/2014/main" id="{593F457E-7841-0F30-4848-6098D59D6BA4}"/>
              </a:ext>
            </a:extLst>
          </p:cNvPr>
          <p:cNvSpPr/>
          <p:nvPr/>
        </p:nvSpPr>
        <p:spPr>
          <a:xfrm>
            <a:off x="3589082" y="373830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</p:txBody>
      </p:sp>
      <p:sp>
        <p:nvSpPr>
          <p:cNvPr id="28" name="Text 52">
            <a:extLst>
              <a:ext uri="{FF2B5EF4-FFF2-40B4-BE49-F238E27FC236}">
                <a16:creationId xmlns:a16="http://schemas.microsoft.com/office/drawing/2014/main" id="{45CFAA6B-3EDE-31AB-7DEC-EFFACBF57BAA}"/>
              </a:ext>
            </a:extLst>
          </p:cNvPr>
          <p:cNvSpPr/>
          <p:nvPr/>
        </p:nvSpPr>
        <p:spPr>
          <a:xfrm>
            <a:off x="3589082" y="403090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up any mockup. Layout, wording, and grouping stay open.</a:t>
            </a:r>
          </a:p>
        </p:txBody>
      </p:sp>
      <p:sp>
        <p:nvSpPr>
          <p:cNvPr id="32" name="Text 55">
            <a:extLst>
              <a:ext uri="{FF2B5EF4-FFF2-40B4-BE49-F238E27FC236}">
                <a16:creationId xmlns:a16="http://schemas.microsoft.com/office/drawing/2014/main" id="{5733D952-09D8-F404-417D-225A2C5830A2}"/>
              </a:ext>
            </a:extLst>
          </p:cNvPr>
          <p:cNvSpPr/>
          <p:nvPr/>
        </p:nvSpPr>
        <p:spPr>
          <a:xfrm>
            <a:off x="6756868" y="3739439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</p:txBody>
      </p:sp>
      <p:sp>
        <p:nvSpPr>
          <p:cNvPr id="34" name="Text 56">
            <a:extLst>
              <a:ext uri="{FF2B5EF4-FFF2-40B4-BE49-F238E27FC236}">
                <a16:creationId xmlns:a16="http://schemas.microsoft.com/office/drawing/2014/main" id="{A36FEA28-0BB7-4F83-A41F-8F82235D5A5D}"/>
              </a:ext>
            </a:extLst>
          </p:cNvPr>
          <p:cNvSpPr/>
          <p:nvPr/>
        </p:nvSpPr>
        <p:spPr>
          <a:xfrm>
            <a:off x="6756868" y="4032047"/>
            <a:ext cx="227283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anything missing. We confirm feasibility before committing.</a:t>
            </a:r>
          </a:p>
        </p:txBody>
      </p:sp>
      <p:sp>
        <p:nvSpPr>
          <p:cNvPr id="38" name="Text 44">
            <a:extLst>
              <a:ext uri="{FF2B5EF4-FFF2-40B4-BE49-F238E27FC236}">
                <a16:creationId xmlns:a16="http://schemas.microsoft.com/office/drawing/2014/main" id="{9D255077-BBD8-56BC-4180-DEDFA8CF0D63}"/>
              </a:ext>
            </a:extLst>
          </p:cNvPr>
          <p:cNvSpPr/>
          <p:nvPr/>
        </p:nvSpPr>
        <p:spPr>
          <a:xfrm>
            <a:off x="508888" y="3442976"/>
            <a:ext cx="6350000" cy="20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40" name="Shape 45">
            <a:extLst>
              <a:ext uri="{FF2B5EF4-FFF2-40B4-BE49-F238E27FC236}">
                <a16:creationId xmlns:a16="http://schemas.microsoft.com/office/drawing/2014/main" id="{46BC66C1-73ED-21C8-6B97-ED3AA15C58FE}"/>
              </a:ext>
            </a:extLst>
          </p:cNvPr>
          <p:cNvSpPr/>
          <p:nvPr/>
        </p:nvSpPr>
        <p:spPr>
          <a:xfrm>
            <a:off x="65201" y="3730129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1C85CDF2-3EC8-FDB8-01F7-0DC4DA00B358}"/>
              </a:ext>
            </a:extLst>
          </p:cNvPr>
          <p:cNvSpPr/>
          <p:nvPr/>
        </p:nvSpPr>
        <p:spPr>
          <a:xfrm>
            <a:off x="65201" y="3748417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8661AFA4-AE6F-9EFF-B6AA-15C28592F58C}"/>
              </a:ext>
            </a:extLst>
          </p:cNvPr>
          <p:cNvSpPr/>
          <p:nvPr/>
        </p:nvSpPr>
        <p:spPr>
          <a:xfrm>
            <a:off x="3309947" y="3748583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8" name="Text 50">
            <a:extLst>
              <a:ext uri="{FF2B5EF4-FFF2-40B4-BE49-F238E27FC236}">
                <a16:creationId xmlns:a16="http://schemas.microsoft.com/office/drawing/2014/main" id="{78126EEE-BC03-0196-1AF4-4D6540A55FE7}"/>
              </a:ext>
            </a:extLst>
          </p:cNvPr>
          <p:cNvSpPr/>
          <p:nvPr/>
        </p:nvSpPr>
        <p:spPr>
          <a:xfrm>
            <a:off x="3309947" y="3766871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Shape 53">
            <a:extLst>
              <a:ext uri="{FF2B5EF4-FFF2-40B4-BE49-F238E27FC236}">
                <a16:creationId xmlns:a16="http://schemas.microsoft.com/office/drawing/2014/main" id="{A06854A9-7769-1434-49A1-3B73669ADB27}"/>
              </a:ext>
            </a:extLst>
          </p:cNvPr>
          <p:cNvSpPr/>
          <p:nvPr/>
        </p:nvSpPr>
        <p:spPr>
          <a:xfrm>
            <a:off x="6500836" y="3759737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2" name="Text 54">
            <a:extLst>
              <a:ext uri="{FF2B5EF4-FFF2-40B4-BE49-F238E27FC236}">
                <a16:creationId xmlns:a16="http://schemas.microsoft.com/office/drawing/2014/main" id="{D9515F8B-E54A-5B9E-6D0D-3D9A68161233}"/>
              </a:ext>
            </a:extLst>
          </p:cNvPr>
          <p:cNvSpPr/>
          <p:nvPr/>
        </p:nvSpPr>
        <p:spPr>
          <a:xfrm>
            <a:off x="6500836" y="3778025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0" name="Shape 25">
            <a:extLst>
              <a:ext uri="{FF2B5EF4-FFF2-40B4-BE49-F238E27FC236}">
                <a16:creationId xmlns:a16="http://schemas.microsoft.com/office/drawing/2014/main" id="{FFC99351-2B26-EF32-8C57-363A8550D1E9}"/>
              </a:ext>
            </a:extLst>
          </p:cNvPr>
          <p:cNvSpPr/>
          <p:nvPr/>
        </p:nvSpPr>
        <p:spPr>
          <a:xfrm>
            <a:off x="304800" y="1984248"/>
            <a:ext cx="8320811" cy="1269952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EA5298CA-7DB6-5F41-957B-69D56C106B7C}"/>
              </a:ext>
            </a:extLst>
          </p:cNvPr>
          <p:cNvSpPr/>
          <p:nvPr/>
        </p:nvSpPr>
        <p:spPr>
          <a:xfrm>
            <a:off x="496823" y="2085848"/>
            <a:ext cx="3429000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HIGHLIGHTED ROWS MEAN</a:t>
            </a:r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046ECE91-57AB-F768-878A-9F248B3055F7}"/>
              </a:ext>
            </a:extLst>
          </p:cNvPr>
          <p:cNvSpPr/>
          <p:nvPr/>
        </p:nvSpPr>
        <p:spPr>
          <a:xfrm>
            <a:off x="510539" y="2327148"/>
            <a:ext cx="452628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96" name="Text 29">
            <a:extLst>
              <a:ext uri="{FF2B5EF4-FFF2-40B4-BE49-F238E27FC236}">
                <a16:creationId xmlns:a16="http://schemas.microsoft.com/office/drawing/2014/main" id="{E50CB96A-52CA-977C-290F-B76F42708C94}"/>
              </a:ext>
            </a:extLst>
          </p:cNvPr>
          <p:cNvSpPr/>
          <p:nvPr/>
        </p:nvSpPr>
        <p:spPr>
          <a:xfrm>
            <a:off x="1045463" y="2327148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</a:t>
            </a:r>
            <a:endParaRPr lang="en-US" sz="1000" dirty="0"/>
          </a:p>
        </p:txBody>
      </p:sp>
      <p:sp>
        <p:nvSpPr>
          <p:cNvPr id="98" name="Text 30">
            <a:extLst>
              <a:ext uri="{FF2B5EF4-FFF2-40B4-BE49-F238E27FC236}">
                <a16:creationId xmlns:a16="http://schemas.microsoft.com/office/drawing/2014/main" id="{B0342C46-CF14-14A3-E2E0-BC35FF117C42}"/>
              </a:ext>
            </a:extLst>
          </p:cNvPr>
          <p:cNvSpPr/>
          <p:nvPr/>
        </p:nvSpPr>
        <p:spPr>
          <a:xfrm>
            <a:off x="1744979" y="2327148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requested.</a:t>
            </a:r>
          </a:p>
        </p:txBody>
      </p:sp>
      <p:sp>
        <p:nvSpPr>
          <p:cNvPr id="102" name="Shape 32">
            <a:extLst>
              <a:ext uri="{FF2B5EF4-FFF2-40B4-BE49-F238E27FC236}">
                <a16:creationId xmlns:a16="http://schemas.microsoft.com/office/drawing/2014/main" id="{7B4A5185-3C24-7BE6-2FBC-CB8678967F01}"/>
              </a:ext>
            </a:extLst>
          </p:cNvPr>
          <p:cNvSpPr/>
          <p:nvPr/>
        </p:nvSpPr>
        <p:spPr>
          <a:xfrm>
            <a:off x="510539" y="2799032"/>
            <a:ext cx="452628" cy="246888"/>
          </a:xfrm>
          <a:prstGeom prst="rect">
            <a:avLst/>
          </a:prstGeom>
          <a:solidFill>
            <a:srgbClr val="DBEEF4"/>
          </a:solidFill>
          <a:ln w="12700">
            <a:solidFill>
              <a:srgbClr val="8FBFD4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A951D42C-F3CD-4297-C0CE-9B4741B138F2}"/>
              </a:ext>
            </a:extLst>
          </p:cNvPr>
          <p:cNvSpPr/>
          <p:nvPr/>
        </p:nvSpPr>
        <p:spPr>
          <a:xfrm>
            <a:off x="1045463" y="2799032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5CA08D4E-7A10-60B7-6051-E9023429D1FC}"/>
              </a:ext>
            </a:extLst>
          </p:cNvPr>
          <p:cNvSpPr/>
          <p:nvPr/>
        </p:nvSpPr>
        <p:spPr>
          <a:xfrm>
            <a:off x="1744979" y="2799032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 improved measure.</a:t>
            </a: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82FD6E52-2FB3-539E-D4A6-73198E869874}"/>
              </a:ext>
            </a:extLst>
          </p:cNvPr>
          <p:cNvSpPr/>
          <p:nvPr/>
        </p:nvSpPr>
        <p:spPr>
          <a:xfrm>
            <a:off x="4378451" y="2295847"/>
            <a:ext cx="452628" cy="246888"/>
          </a:xfrm>
          <a:prstGeom prst="rect">
            <a:avLst/>
          </a:prstGeom>
          <a:solidFill>
            <a:srgbClr val="FFF3E0"/>
          </a:solidFill>
          <a:ln w="12700">
            <a:solidFill>
              <a:srgbClr val="E3B778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12" name="Text 37">
            <a:extLst>
              <a:ext uri="{FF2B5EF4-FFF2-40B4-BE49-F238E27FC236}">
                <a16:creationId xmlns:a16="http://schemas.microsoft.com/office/drawing/2014/main" id="{A5C7F8AC-0B04-1EF0-AE85-6575D3339B1D}"/>
              </a:ext>
            </a:extLst>
          </p:cNvPr>
          <p:cNvSpPr/>
          <p:nvPr/>
        </p:nvSpPr>
        <p:spPr>
          <a:xfrm>
            <a:off x="4888001" y="2322021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14" name="Text 38">
            <a:extLst>
              <a:ext uri="{FF2B5EF4-FFF2-40B4-BE49-F238E27FC236}">
                <a16:creationId xmlns:a16="http://schemas.microsoft.com/office/drawing/2014/main" id="{CFF0D268-95DB-6E9C-D4C5-D4D9094C912D}"/>
              </a:ext>
            </a:extLst>
          </p:cNvPr>
          <p:cNvSpPr/>
          <p:nvPr/>
        </p:nvSpPr>
        <p:spPr>
          <a:xfrm>
            <a:off x="5587517" y="2322021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pending your review.</a:t>
            </a:r>
          </a:p>
        </p:txBody>
      </p:sp>
      <p:sp>
        <p:nvSpPr>
          <p:cNvPr id="118" name="Shape 40">
            <a:extLst>
              <a:ext uri="{FF2B5EF4-FFF2-40B4-BE49-F238E27FC236}">
                <a16:creationId xmlns:a16="http://schemas.microsoft.com/office/drawing/2014/main" id="{DACDB210-C727-CC57-F791-12C195D303DF}"/>
              </a:ext>
            </a:extLst>
          </p:cNvPr>
          <p:cNvSpPr/>
          <p:nvPr/>
        </p:nvSpPr>
        <p:spPr>
          <a:xfrm>
            <a:off x="4378451" y="2799033"/>
            <a:ext cx="452628" cy="246888"/>
          </a:xfrm>
          <a:prstGeom prst="rect">
            <a:avLst/>
          </a:prstGeom>
          <a:solidFill>
            <a:srgbClr val="FCE4E4"/>
          </a:solidFill>
          <a:ln w="12700">
            <a:solidFill>
              <a:srgbClr val="E0A6A6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A16EF4D1-98E9-8CDD-77BB-6059A4F88B26}"/>
              </a:ext>
            </a:extLst>
          </p:cNvPr>
          <p:cNvSpPr/>
          <p:nvPr/>
        </p:nvSpPr>
        <p:spPr>
          <a:xfrm>
            <a:off x="4888001" y="2799795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22" name="Text 42">
            <a:extLst>
              <a:ext uri="{FF2B5EF4-FFF2-40B4-BE49-F238E27FC236}">
                <a16:creationId xmlns:a16="http://schemas.microsoft.com/office/drawing/2014/main" id="{BEC0764C-7EB5-8268-FE6F-DE5C834F21FB}"/>
              </a:ext>
            </a:extLst>
          </p:cNvPr>
          <p:cNvSpPr/>
          <p:nvPr/>
        </p:nvSpPr>
        <p:spPr>
          <a:xfrm>
            <a:off x="5587517" y="2799795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built. Need to identify the source.</a:t>
            </a:r>
          </a:p>
        </p:txBody>
      </p:sp>
      <p:sp>
        <p:nvSpPr>
          <p:cNvPr id="144" name="Shape 16">
            <a:extLst>
              <a:ext uri="{FF2B5EF4-FFF2-40B4-BE49-F238E27FC236}">
                <a16:creationId xmlns:a16="http://schemas.microsoft.com/office/drawing/2014/main" id="{A9865676-63BB-8CEE-F75A-698EAB81B6FA}"/>
              </a:ext>
            </a:extLst>
          </p:cNvPr>
          <p:cNvSpPr/>
          <p:nvPr/>
        </p:nvSpPr>
        <p:spPr>
          <a:xfrm>
            <a:off x="411480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46" name="Text 17">
            <a:extLst>
              <a:ext uri="{FF2B5EF4-FFF2-40B4-BE49-F238E27FC236}">
                <a16:creationId xmlns:a16="http://schemas.microsoft.com/office/drawing/2014/main" id="{2F420213-0AB9-E376-799D-D765D5E690FB}"/>
              </a:ext>
            </a:extLst>
          </p:cNvPr>
          <p:cNvSpPr/>
          <p:nvPr/>
        </p:nvSpPr>
        <p:spPr>
          <a:xfrm>
            <a:off x="7366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requirement</a:t>
            </a:r>
          </a:p>
        </p:txBody>
      </p:sp>
      <p:sp>
        <p:nvSpPr>
          <p:cNvPr id="148" name="Text 18">
            <a:extLst>
              <a:ext uri="{FF2B5EF4-FFF2-40B4-BE49-F238E27FC236}">
                <a16:creationId xmlns:a16="http://schemas.microsoft.com/office/drawing/2014/main" id="{E8390ADA-819D-B9B9-B485-CEC0690A49F0}"/>
              </a:ext>
            </a:extLst>
          </p:cNvPr>
          <p:cNvSpPr/>
          <p:nvPr/>
        </p:nvSpPr>
        <p:spPr>
          <a:xfrm>
            <a:off x="411480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Utilization Report fields consolidated in one requirements file.</a:t>
            </a:r>
          </a:p>
        </p:txBody>
      </p:sp>
      <p:sp>
        <p:nvSpPr>
          <p:cNvPr id="150" name="Shape 19">
            <a:extLst>
              <a:ext uri="{FF2B5EF4-FFF2-40B4-BE49-F238E27FC236}">
                <a16:creationId xmlns:a16="http://schemas.microsoft.com/office/drawing/2014/main" id="{C30565ED-B4A1-3027-0BB6-64A6EA4B60F4}"/>
              </a:ext>
            </a:extLst>
          </p:cNvPr>
          <p:cNvSpPr/>
          <p:nvPr/>
        </p:nvSpPr>
        <p:spPr>
          <a:xfrm>
            <a:off x="3253663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2" name="Text 20">
            <a:extLst>
              <a:ext uri="{FF2B5EF4-FFF2-40B4-BE49-F238E27FC236}">
                <a16:creationId xmlns:a16="http://schemas.microsoft.com/office/drawing/2014/main" id="{25655A67-AE7E-446F-7A65-BB0519AE05A7}"/>
              </a:ext>
            </a:extLst>
          </p:cNvPr>
          <p:cNvSpPr/>
          <p:nvPr/>
        </p:nvSpPr>
        <p:spPr>
          <a:xfrm>
            <a:off x="35814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beside each row</a:t>
            </a:r>
          </a:p>
        </p:txBody>
      </p:sp>
      <p:sp>
        <p:nvSpPr>
          <p:cNvPr id="154" name="Text 21">
            <a:extLst>
              <a:ext uri="{FF2B5EF4-FFF2-40B4-BE49-F238E27FC236}">
                <a16:creationId xmlns:a16="http://schemas.microsoft.com/office/drawing/2014/main" id="{AC9F654C-12D5-69E7-8731-B26DC4F16576}"/>
              </a:ext>
            </a:extLst>
          </p:cNvPr>
          <p:cNvSpPr/>
          <p:nvPr/>
        </p:nvSpPr>
        <p:spPr>
          <a:xfrm>
            <a:off x="3253663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linked to the screen where it appears.</a:t>
            </a:r>
          </a:p>
        </p:txBody>
      </p:sp>
      <p:sp>
        <p:nvSpPr>
          <p:cNvPr id="156" name="Shape 22">
            <a:extLst>
              <a:ext uri="{FF2B5EF4-FFF2-40B4-BE49-F238E27FC236}">
                <a16:creationId xmlns:a16="http://schemas.microsoft.com/office/drawing/2014/main" id="{ADE7C406-E8A7-7F3E-34BD-3C2391397E46}"/>
              </a:ext>
            </a:extLst>
          </p:cNvPr>
          <p:cNvSpPr/>
          <p:nvPr/>
        </p:nvSpPr>
        <p:spPr>
          <a:xfrm>
            <a:off x="6095848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8" name="Text 23">
            <a:extLst>
              <a:ext uri="{FF2B5EF4-FFF2-40B4-BE49-F238E27FC236}">
                <a16:creationId xmlns:a16="http://schemas.microsoft.com/office/drawing/2014/main" id="{885E609E-BFC1-8A6D-E87B-E9FD09CC3AEB}"/>
              </a:ext>
            </a:extLst>
          </p:cNvPr>
          <p:cNvSpPr/>
          <p:nvPr/>
        </p:nvSpPr>
        <p:spPr>
          <a:xfrm>
            <a:off x="64262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assessment</a:t>
            </a:r>
          </a:p>
        </p:txBody>
      </p:sp>
      <p:sp>
        <p:nvSpPr>
          <p:cNvPr id="160" name="Text 24">
            <a:extLst>
              <a:ext uri="{FF2B5EF4-FFF2-40B4-BE49-F238E27FC236}">
                <a16:creationId xmlns:a16="http://schemas.microsoft.com/office/drawing/2014/main" id="{D1BC0C53-8BDE-EE19-E363-3C82C3B43674}"/>
              </a:ext>
            </a:extLst>
          </p:cNvPr>
          <p:cNvSpPr/>
          <p:nvPr/>
        </p:nvSpPr>
        <p:spPr>
          <a:xfrm>
            <a:off x="6095848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unbuilt items, the file states what delivery requires.</a:t>
            </a:r>
          </a:p>
        </p:txBody>
      </p:sp>
      <p:sp>
        <p:nvSpPr>
          <p:cNvPr id="180" name="Text 13">
            <a:extLst>
              <a:ext uri="{FF2B5EF4-FFF2-40B4-BE49-F238E27FC236}">
                <a16:creationId xmlns:a16="http://schemas.microsoft.com/office/drawing/2014/main" id="{74DF2570-62A1-C7AD-0973-D37E9DAD025C}"/>
              </a:ext>
            </a:extLst>
          </p:cNvPr>
          <p:cNvSpPr/>
          <p:nvPr/>
        </p:nvSpPr>
        <p:spPr>
          <a:xfrm>
            <a:off x="193217" y="704805"/>
            <a:ext cx="832081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Checker: Requirements File</a:t>
            </a:r>
            <a:endParaRPr lang="en-US" sz="2000" dirty="0"/>
          </a:p>
        </p:txBody>
      </p:sp>
      <p:pic>
        <p:nvPicPr>
          <p:cNvPr id="181" name="Graphic 181" descr="Requirements li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400" y="1168400"/>
            <a:ext cx="228600" cy="228600"/>
          </a:xfrm>
          <a:prstGeom prst="rect">
            <a:avLst/>
          </a:prstGeom>
        </p:spPr>
      </p:pic>
      <p:pic>
        <p:nvPicPr>
          <p:cNvPr id="182" name="Graphic 182" descr="Mockup scre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1200" y="1168400"/>
            <a:ext cx="228600" cy="228600"/>
          </a:xfrm>
          <a:prstGeom prst="rect">
            <a:avLst/>
          </a:prstGeom>
        </p:spPr>
      </p:pic>
      <p:pic>
        <p:nvPicPr>
          <p:cNvPr id="183" name="Graphic 183" descr="Sourcing assess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116840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40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answering how EDRMS is being used across the whole of ADB.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view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 rolled up to bank level, so adoption and compliance can be read without opening a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page an executive opens first. Everything else in the report drills down from what is shown here.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Trend, not snapshot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is measured over a rolling window rather than a single day, so a quiet week does not read as a decline.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and activity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users with recorded activity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access in 90 days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offices and RMs covered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declared a record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documents declared as records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recorded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records with a counterpart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30 and 90 days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12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us the authoritative list of Divisions, and tell us which system holds the Division for a user or a site.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breakdown on the user panel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register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of EDRMS users that flags each one as staff, contractor or consultant. No register we can reach carries employment type today.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may read from it. No training system is connected to this project.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for each site — or your agreement that we use the site creation date in its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like with like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side by side on the same measures, so a strong or weak performer is visible without a separate report.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to the source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department to site to library, so a number can always be traced to the place the activity happened.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page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a Records Officer spends their time. It is the largest and most detailed page in the report.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compliant sites created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recorded activity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visits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 size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and who declared them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declared record in 180 days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activity per site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within 3, 6 and 12 months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a physical counterpart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list Bank-wide needs. One answer settles both pages — this is the single highest-value thing you can give us.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Per-library indicators by division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and external visitors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separates site visitors into internal and external. We can currently report visits, but not who made them.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naming convention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site, library and folder convention we can measure compliance against?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requests granted and denied logged anywhere we can reach?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 Insigh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set against the EDRMS activity of the sites that belong to them.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in project terms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EDRMS activity, grouped the way the business thinks — by project rather than by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ready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and tile on this page is built in the prototype. You can see exactly how it will look and behave.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source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have is a confirmed system to read project attributes from. That is the whole of the ask.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type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Modality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Effectivity date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date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activity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for this project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belonging to the project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Drill-through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project to its sites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site to its libraries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 Insights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Dot"/>
          <p:cNvSpPr/>
          <p:nvPr/>
        </p:nvSpPr>
        <p:spPr>
          <a:xfrm>
            <a:off x="411480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6" name="Text"/>
          <p:cNvSpPr/>
          <p:nvPr/>
        </p:nvSpPr>
        <p:spPr>
          <a:xfrm>
            <a:off x="411480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7" name="Text"/>
          <p:cNvSpPr/>
          <p:nvPr/>
        </p:nvSpPr>
        <p:spPr>
          <a:xfrm>
            <a:off x="758952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of record</a:t>
            </a:r>
          </a:p>
        </p:txBody>
      </p:sp>
      <p:sp>
        <p:nvSpPr>
          <p:cNvPr id="1048" name="Text"/>
          <p:cNvSpPr/>
          <p:nvPr/>
        </p:nvSpPr>
        <p:spPr>
          <a:xfrm>
            <a:off x="758952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facility type, modality, country, status, effectivity and closing date — and who owns it?</a:t>
            </a:r>
          </a:p>
        </p:txBody>
      </p:sp>
      <p:sp>
        <p:nvSpPr>
          <p:cNvPr id="1049" name="Dot"/>
          <p:cNvSpPr/>
          <p:nvPr/>
        </p:nvSpPr>
        <p:spPr>
          <a:xfrm>
            <a:off x="4736592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0" name="Text"/>
          <p:cNvSpPr/>
          <p:nvPr/>
        </p:nvSpPr>
        <p:spPr>
          <a:xfrm>
            <a:off x="4736592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51" name="Text"/>
          <p:cNvSpPr/>
          <p:nvPr/>
        </p:nvSpPr>
        <p:spPr>
          <a:xfrm>
            <a:off x="5084064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</a:t>
            </a:r>
          </a:p>
        </p:txBody>
      </p:sp>
      <p:sp>
        <p:nvSpPr>
          <p:cNvPr id="1052" name="Text"/>
          <p:cNvSpPr/>
          <p:nvPr/>
        </p:nvSpPr>
        <p:spPr>
          <a:xfrm>
            <a:off x="5084064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named, can we be granted read access to it, and how often would it refresh?</a:t>
            </a:r>
          </a:p>
        </p:txBody>
      </p:sp>
      <p:sp>
        <p:nvSpPr>
          <p:cNvPr id="1053" name="Dot"/>
          <p:cNvSpPr/>
          <p:nvPr/>
        </p:nvSpPr>
        <p:spPr>
          <a:xfrm>
            <a:off x="411480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4" name="Text"/>
          <p:cNvSpPr/>
          <p:nvPr/>
        </p:nvSpPr>
        <p:spPr>
          <a:xfrm>
            <a:off x="411480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55" name="Text"/>
          <p:cNvSpPr/>
          <p:nvPr/>
        </p:nvSpPr>
        <p:spPr>
          <a:xfrm>
            <a:off x="758952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to project register</a:t>
            </a:r>
          </a:p>
        </p:txBody>
      </p:sp>
      <p:sp>
        <p:nvSpPr>
          <p:cNvPr id="1056" name="Text"/>
          <p:cNvSpPr/>
          <p:nvPr/>
        </p:nvSpPr>
        <p:spPr>
          <a:xfrm>
            <a:off x="758952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 Without it, site activity cannot roll up to a project.</a:t>
            </a:r>
          </a:p>
        </p:txBody>
      </p:sp>
      <p:sp>
        <p:nvSpPr>
          <p:cNvPr id="1057" name="Dot"/>
          <p:cNvSpPr/>
          <p:nvPr/>
        </p:nvSpPr>
        <p:spPr>
          <a:xfrm>
            <a:off x="4736592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8" name="Text"/>
          <p:cNvSpPr/>
          <p:nvPr/>
        </p:nvSpPr>
        <p:spPr>
          <a:xfrm>
            <a:off x="4736592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59" name="Text"/>
          <p:cNvSpPr/>
          <p:nvPr/>
        </p:nvSpPr>
        <p:spPr>
          <a:xfrm>
            <a:off x="5084064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</a:t>
            </a:r>
          </a:p>
        </p:txBody>
      </p:sp>
      <p:sp>
        <p:nvSpPr>
          <p:cNvPr id="1060" name="Text"/>
          <p:cNvSpPr/>
          <p:nvPr/>
        </p:nvSpPr>
        <p:spPr>
          <a:xfrm>
            <a:off x="5084064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us deriving the link by scanning site names, with the accuracy that implies?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stitutional File Pla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</a:p>
        </p:txBody>
      </p:sp>
      <p:sp>
        <p:nvSpPr>
          <p:cNvPr id="106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hierarchy, and how records sit against it.</a:t>
            </a:r>
          </a:p>
        </p:txBody>
      </p:sp>
      <p:sp>
        <p:nvSpPr>
          <p:cNvPr id="106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page</a:t>
            </a:r>
          </a:p>
        </p:txBody>
      </p:sp>
      <p:sp>
        <p:nvSpPr>
          <p:cNvPr id="106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agreed structure of the file plan, shown as it exists in the term store rather than as a document.</a:t>
            </a:r>
          </a:p>
        </p:txBody>
      </p:sp>
      <p:sp>
        <p:nvSpPr>
          <p:cNvPr id="106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 a glance</a:t>
            </a:r>
          </a:p>
        </p:txBody>
      </p:sp>
      <p:sp>
        <p:nvSpPr>
          <p:cNvPr id="106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what has been declared actually maps onto the plan, and where the plan is not being used.</a:t>
            </a:r>
          </a:p>
        </p:txBody>
      </p:sp>
      <p:sp>
        <p:nvSpPr>
          <p:cNvPr id="106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as drawn</a:t>
            </a:r>
          </a:p>
        </p:txBody>
      </p:sp>
      <p:sp>
        <p:nvSpPr>
          <p:cNvPr id="107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page is built end to end. What we need from you here is confirmation rather than new information.</a:t>
            </a:r>
          </a:p>
        </p:txBody>
      </p:sp>
      <p:sp>
        <p:nvSpPr>
          <p:cNvPr id="107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7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7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hierarchy</a:t>
            </a:r>
          </a:p>
        </p:txBody>
      </p:sp>
      <p:sp>
        <p:nvSpPr>
          <p:cNvPr id="107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top-level categories</a:t>
            </a:r>
          </a:p>
        </p:txBody>
      </p:sp>
      <p:sp>
        <p:nvSpPr>
          <p:cNvPr id="107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within each category</a:t>
            </a:r>
          </a:p>
        </p:txBody>
      </p:sp>
      <p:sp>
        <p:nvSpPr>
          <p:cNvPr id="1080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1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</a:t>
            </a:r>
          </a:p>
        </p:txBody>
      </p:sp>
      <p:sp>
        <p:nvSpPr>
          <p:cNvPr id="1082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3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terms per category</a:t>
            </a:r>
          </a:p>
        </p:txBody>
      </p:sp>
      <p:sp>
        <p:nvSpPr>
          <p:cNvPr id="1084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5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per category</a:t>
            </a:r>
          </a:p>
        </p:txBody>
      </p:sp>
      <p:sp>
        <p:nvSpPr>
          <p:cNvPr id="1086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7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</a:p>
        </p:txBody>
      </p:sp>
      <p:sp>
        <p:nvSpPr>
          <p:cNvPr id="1088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9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mapped against each term</a:t>
            </a:r>
          </a:p>
        </p:txBody>
      </p:sp>
      <p:sp>
        <p:nvSpPr>
          <p:cNvPr id="1090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1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 nothing declared against them</a:t>
            </a:r>
          </a:p>
        </p:txBody>
      </p:sp>
      <p:sp>
        <p:nvSpPr>
          <p:cNvPr id="1092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3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</a:p>
        </p:txBody>
      </p:sp>
      <p:sp>
        <p:nvSpPr>
          <p:cNvPr id="1094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5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to term drill-down</a:t>
            </a:r>
          </a:p>
        </p:txBody>
      </p:sp>
      <p:sp>
        <p:nvSpPr>
          <p:cNvPr id="1096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7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to declared records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stitutional File Plan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</a:p>
        </p:txBody>
      </p:sp>
      <p:sp>
        <p:nvSpPr>
          <p:cNvPr id="1099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100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101" name="Dot"/>
          <p:cNvSpPr/>
          <p:nvPr/>
        </p:nvSpPr>
        <p:spPr>
          <a:xfrm>
            <a:off x="411480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02" name="Text"/>
          <p:cNvSpPr/>
          <p:nvPr/>
        </p:nvSpPr>
        <p:spPr>
          <a:xfrm>
            <a:off x="411480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03" name="Text"/>
          <p:cNvSpPr/>
          <p:nvPr/>
        </p:nvSpPr>
        <p:spPr>
          <a:xfrm>
            <a:off x="758952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structure right</a:t>
            </a:r>
          </a:p>
        </p:txBody>
      </p:sp>
      <p:sp>
        <p:nvSpPr>
          <p:cNvPr id="1104" name="Text"/>
          <p:cNvSpPr/>
          <p:nvPr/>
        </p:nvSpPr>
        <p:spPr>
          <a:xfrm>
            <a:off x="758952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hierarchy shown match your current approved file plan, including the category names?</a:t>
            </a:r>
          </a:p>
        </p:txBody>
      </p:sp>
      <p:sp>
        <p:nvSpPr>
          <p:cNvPr id="1105" name="Dot"/>
          <p:cNvSpPr/>
          <p:nvPr/>
        </p:nvSpPr>
        <p:spPr>
          <a:xfrm>
            <a:off x="4736592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06" name="Text"/>
          <p:cNvSpPr/>
          <p:nvPr/>
        </p:nvSpPr>
        <p:spPr>
          <a:xfrm>
            <a:off x="4736592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07" name="Text"/>
          <p:cNvSpPr/>
          <p:nvPr/>
        </p:nvSpPr>
        <p:spPr>
          <a:xfrm>
            <a:off x="5084064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terms</a:t>
            </a:r>
          </a:p>
        </p:txBody>
      </p:sp>
      <p:sp>
        <p:nvSpPr>
          <p:cNvPr id="1108" name="Text"/>
          <p:cNvSpPr/>
          <p:nvPr/>
        </p:nvSpPr>
        <p:spPr>
          <a:xfrm>
            <a:off x="5084064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terms that are deprecated but still present? Should they show, or be suppressed?</a:t>
            </a:r>
          </a:p>
        </p:txBody>
      </p:sp>
      <p:sp>
        <p:nvSpPr>
          <p:cNvPr id="1109" name="Dot"/>
          <p:cNvSpPr/>
          <p:nvPr/>
        </p:nvSpPr>
        <p:spPr>
          <a:xfrm>
            <a:off x="411480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10" name="Text"/>
          <p:cNvSpPr/>
          <p:nvPr/>
        </p:nvSpPr>
        <p:spPr>
          <a:xfrm>
            <a:off x="411480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11" name="Text"/>
          <p:cNvSpPr/>
          <p:nvPr/>
        </p:nvSpPr>
        <p:spPr>
          <a:xfrm>
            <a:off x="758952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cadence</a:t>
            </a:r>
          </a:p>
        </p:txBody>
      </p:sp>
      <p:sp>
        <p:nvSpPr>
          <p:cNvPr id="1112" name="Text"/>
          <p:cNvSpPr/>
          <p:nvPr/>
        </p:nvSpPr>
        <p:spPr>
          <a:xfrm>
            <a:off x="758952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does the file plan change, and who should we expect the updated structure from?</a:t>
            </a:r>
          </a:p>
        </p:txBody>
      </p:sp>
      <p:sp>
        <p:nvSpPr>
          <p:cNvPr id="1113" name="Dot"/>
          <p:cNvSpPr/>
          <p:nvPr/>
        </p:nvSpPr>
        <p:spPr>
          <a:xfrm>
            <a:off x="4736592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14" name="Text"/>
          <p:cNvSpPr/>
          <p:nvPr/>
        </p:nvSpPr>
        <p:spPr>
          <a:xfrm>
            <a:off x="4736592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115" name="Text"/>
          <p:cNvSpPr/>
          <p:nvPr/>
        </p:nvSpPr>
        <p:spPr>
          <a:xfrm>
            <a:off x="5084064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missing</a:t>
            </a:r>
          </a:p>
        </p:txBody>
      </p:sp>
      <p:sp>
        <p:nvSpPr>
          <p:cNvPr id="1116" name="Text"/>
          <p:cNvSpPr/>
          <p:nvPr/>
        </p:nvSpPr>
        <p:spPr>
          <a:xfrm>
            <a:off x="5084064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page carries no open gaps on our side. If something you expected is absent, this is the moment to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4C46A-1648-BDA1-D893-C4FD13C71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BF8DC7F-231A-637B-503F-A874D98E9AF4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538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9D00-593B-0621-A1B5-53070E570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423A847-FE86-4EAF-285B-780246DA5E16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8162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290E8-A47B-EBA6-8633-FF17AACB6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DF675CE-ADFD-6CD6-53DC-E7B581D85237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3125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C2A0-651E-E46B-4357-A45FC621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2AC2E94-3946-45E4-5EC2-4D1CCF74FCFE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83627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923E61-44A3-4695-B149-1156B881AE6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793e52d-0212-4129-95b1-e9e16df4a030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/>
    </j78542b1fffc4a1c84659474212e3133>
    <ADBMonth xmlns="5996128d-704d-4a9a-b273-f1b0c0083f8c" xsi:nil="true"/>
    <ADBYear xmlns="5996128d-704d-4a9a-b273-f1b0c0083f8c" xsi:nil="true"/>
  </documentManagement>
</p:properties>
</file>

<file path=customXml/itemProps1.xml><?xml version="1.0" encoding="utf-8"?>
<ds:datastoreItem xmlns:ds="http://schemas.openxmlformats.org/officeDocument/2006/customXml" ds:itemID="{3BB47801-E4CC-41EA-8340-D4DFD7A909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5B616A-2B50-45EF-843D-9233033F0D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96128d-704d-4a9a-b273-f1b0c0083f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D7C77A-BF15-4A6D-8A81-F40E10B66BC5}">
  <ds:schemaRefs>
    <ds:schemaRef ds:uri="http://purl.org/dc/terms/"/>
    <ds:schemaRef ds:uri="5996128d-704d-4a9a-b273-f1b0c0083f8c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Office PowerPoint</Application>
  <PresentationFormat>On-screen Show (16:9)</PresentationFormat>
  <Paragraphs>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Cambria</vt:lpstr>
      <vt:lpstr>Segoe UI</vt:lpstr>
      <vt:lpstr>Segoe UI Bold</vt:lpstr>
      <vt:lpstr>Office Theme</vt:lpstr>
      <vt:lpstr>EDRMS Utilization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EDRMS Utilization Report Workshop</dc:title>
  <dc:subject>PptxGenJS Presentation</dc:subject>
  <dc:creator>ADB Records &amp; Information Management</dc:creator>
  <cp:lastModifiedBy>Jimwyl Perez</cp:lastModifiedBy>
  <cp:revision>390</cp:revision>
  <dcterms:created xsi:type="dcterms:W3CDTF">2026-07-02T02:28:30Z</dcterms:created>
  <dcterms:modified xsi:type="dcterms:W3CDTF">2026-08-25T02:42:41Z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RevIMBCS">
    <vt:lpwstr/>
  </property>
  <property fmtid="{D5CDD505-2E9C-101B-9397-08002B2CF9AE}" pid="4" name="MediaServiceImageTags">
    <vt:lpwstr/>
  </property>
  <property fmtid="{D5CDD505-2E9C-101B-9397-08002B2CF9AE}" pid="5" name="ADBSector">
    <vt:lpwstr/>
  </property>
  <property fmtid="{D5CDD505-2E9C-101B-9397-08002B2CF9AE}" pid="6" name="ADBDivision">
    <vt:lpwstr/>
  </property>
  <property fmtid="{D5CDD505-2E9C-101B-9397-08002B2CF9AE}" pid="7" name="ADBContentGroup">
    <vt:lpwstr/>
  </property>
  <property fmtid="{D5CDD505-2E9C-101B-9397-08002B2CF9AE}" pid="8" name="ADBDocumentSecurity">
    <vt:lpwstr/>
  </property>
  <property fmtid="{D5CDD505-2E9C-101B-9397-08002B2CF9AE}" pid="9" name="ADBDocumentLanguage">
    <vt:lpwstr>1;#English|16ac8743-31bb-43f8-9a73-533a041667d6</vt:lpwstr>
  </property>
  <property fmtid="{D5CDD505-2E9C-101B-9397-08002B2CF9AE}" pid="10" name="ADBDocumentType">
    <vt:lpwstr/>
  </property>
  <property fmtid="{D5CDD505-2E9C-101B-9397-08002B2CF9AE}" pid="11" name="ADBDepartmentOwner">
    <vt:lpwstr/>
  </property>
  <property fmtid="{D5CDD505-2E9C-101B-9397-08002B2CF9AE}" pid="12" name="ADBCountry">
    <vt:lpwstr/>
  </property>
  <property fmtid="{D5CDD505-2E9C-101B-9397-08002B2CF9AE}" pid="13" name="MSIP_Label_817d4574-7375-4d17-b29c-6e4c6df0fcb0_Enabled">
    <vt:lpwstr>true</vt:lpwstr>
  </property>
  <property fmtid="{D5CDD505-2E9C-101B-9397-08002B2CF9AE}" pid="14" name="MSIP_Label_817d4574-7375-4d17-b29c-6e4c6df0fcb0_SetDate">
    <vt:lpwstr>2026-07-09T07:38:25Z</vt:lpwstr>
  </property>
  <property fmtid="{D5CDD505-2E9C-101B-9397-08002B2CF9AE}" pid="15" name="MSIP_Label_817d4574-7375-4d17-b29c-6e4c6df0fcb0_Method">
    <vt:lpwstr>Standard</vt:lpwstr>
  </property>
  <property fmtid="{D5CDD505-2E9C-101B-9397-08002B2CF9AE}" pid="16" name="MSIP_Label_817d4574-7375-4d17-b29c-6e4c6df0fcb0_Name">
    <vt:lpwstr>ADB Internal</vt:lpwstr>
  </property>
  <property fmtid="{D5CDD505-2E9C-101B-9397-08002B2CF9AE}" pid="17" name="MSIP_Label_817d4574-7375-4d17-b29c-6e4c6df0fcb0_SiteId">
    <vt:lpwstr>9495d6bb-41c2-4c58-848f-92e52cf3d640</vt:lpwstr>
  </property>
  <property fmtid="{D5CDD505-2E9C-101B-9397-08002B2CF9AE}" pid="18" name="MSIP_Label_817d4574-7375-4d17-b29c-6e4c6df0fcb0_ActionId">
    <vt:lpwstr>a69281fa-8e8a-44ff-b854-f50290c591ad</vt:lpwstr>
  </property>
  <property fmtid="{D5CDD505-2E9C-101B-9397-08002B2CF9AE}" pid="19" name="MSIP_Label_817d4574-7375-4d17-b29c-6e4c6df0fcb0_ContentBits">
    <vt:lpwstr>2</vt:lpwstr>
  </property>
  <property fmtid="{D5CDD505-2E9C-101B-9397-08002B2CF9AE}" pid="20" name="MSIP_Label_817d4574-7375-4d17-b29c-6e4c6df0fcb0_Tag">
    <vt:lpwstr>10, 3, 0, 2</vt:lpwstr>
  </property>
  <property fmtid="{D5CDD505-2E9C-101B-9397-08002B2CF9AE}" pid="21" name="ClassificationContentMarkingFooterLocations">
    <vt:lpwstr>Office Theme:3</vt:lpwstr>
  </property>
  <property fmtid="{D5CDD505-2E9C-101B-9397-08002B2CF9AE}" pid="22" name="ClassificationContentMarkingFooterText">
    <vt:lpwstr>INTERNAL. This information is accessible to ADB Management and Staff. It may be shared outside ADB with appropriate permission.</vt:lpwstr>
  </property>
</Properties>
</file>