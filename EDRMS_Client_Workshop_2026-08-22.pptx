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Built</c:v>
                </c:pt>
              </c:strCache>
            </c:strRef>
          </c:tx>
          <c:spPr>
            <a:solidFill>
              <a:srgbClr val="5CA943"/>
            </a:solidFill>
            <a:effectLst/>
          </c:spPr>
          <c:invertIfNegative val="0"/>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Bank-wide Oversight</c:v>
                  </c:pt>
                  <c:pt idx="1">
                    <c:v>Department Insights</c:v>
                  </c:pt>
                  <c:pt idx="2">
                    <c:v>Project Insights</c:v>
                  </c:pt>
                  <c:pt idx="3">
                    <c:v>Institutional File Plan</c:v>
                  </c:pt>
                  <c:pt idx="4">
                    <c:v>Retention &amp; Disposal</c:v>
                  </c:pt>
                  <c:pt idx="5">
                    <c:v>Records &amp; Archive Holdings</c:v>
                  </c:pt>
                </c:lvl>
              </c:multiLvlStrCache>
            </c:multiLvlStrRef>
          </c:cat>
          <c:val>
            <c:numRef>
              <c:f>Sheet1!$B$2:$B$7</c:f>
              <c:numCache>
                <c:formatCode>General</c:formatCode>
                <c:ptCount val="6"/>
                <c:pt idx="0">
                  <c:v>44</c:v>
                </c:pt>
                <c:pt idx="1">
                  <c:v>59</c:v>
                </c:pt>
                <c:pt idx="2">
                  <c:v>21</c:v>
                </c:pt>
                <c:pt idx="3">
                  <c:v>22</c:v>
                </c:pt>
                <c:pt idx="4">
                  <c:v>18</c:v>
                </c:pt>
                <c:pt idx="5">
                  <c:v>24</c:v>
                </c:pt>
              </c:numCache>
            </c:numRef>
          </c:val>
        </c:ser>
        <c:ser>
          <c:idx val="1"/>
          <c:order val="1"/>
          <c:tx>
            <c:strRef>
              <c:f>Sheet1!$C$1</c:f>
              <c:strCache>
                <c:ptCount val="1"/>
                <c:pt idx="0">
                  <c:v>Needs you</c:v>
                </c:pt>
              </c:strCache>
            </c:strRef>
          </c:tx>
          <c:spPr>
            <a:solidFill>
              <a:srgbClr val="B3241C"/>
            </a:solidFill>
            <a:effectLst/>
          </c:spPr>
          <c:invertIfNegative val="0"/>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Bank-wide Oversight</c:v>
                  </c:pt>
                  <c:pt idx="1">
                    <c:v>Department Insights</c:v>
                  </c:pt>
                  <c:pt idx="2">
                    <c:v>Project Insights</c:v>
                  </c:pt>
                  <c:pt idx="3">
                    <c:v>Institutional File Plan</c:v>
                  </c:pt>
                  <c:pt idx="4">
                    <c:v>Retention &amp; Disposal</c:v>
                  </c:pt>
                  <c:pt idx="5">
                    <c:v>Records &amp; Archive Holdings</c:v>
                  </c:pt>
                </c:lvl>
              </c:multiLvlStrCache>
            </c:multiLvlStrRef>
          </c:cat>
          <c:val>
            <c:numRef>
              <c:f>Sheet1!$C$2:$C$7</c:f>
              <c:numCache>
                <c:formatCode>General</c:formatCode>
                <c:ptCount val="6"/>
                <c:pt idx="0">
                  <c:v>14</c:v>
                </c:pt>
                <c:pt idx="1">
                  <c:v>19</c:v>
                </c:pt>
                <c:pt idx="2">
                  <c:v>0</c:v>
                </c:pt>
                <c:pt idx="3">
                  <c:v>4</c:v>
                </c:pt>
                <c:pt idx="4">
                  <c:v>8</c:v>
                </c:pt>
                <c:pt idx="5">
                  <c:v>0</c:v>
                </c:pt>
              </c:numCache>
            </c:numRef>
          </c:val>
        </c:ser>
        <c:ser>
          <c:idx val="2"/>
          <c:order val="2"/>
          <c:tx>
            <c:strRef>
              <c:f>Sheet1!$D$1</c:f>
              <c:strCache>
                <c:ptCount val="1"/>
                <c:pt idx="0">
                  <c:v>Later release</c:v>
                </c:pt>
              </c:strCache>
            </c:strRef>
          </c:tx>
          <c:spPr>
            <a:solidFill>
              <a:srgbClr val="3D6E8C"/>
            </a:solidFill>
            <a:effectLst/>
          </c:spPr>
          <c:invertIfNegative val="0"/>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Bank-wide Oversight</c:v>
                  </c:pt>
                  <c:pt idx="1">
                    <c:v>Department Insights</c:v>
                  </c:pt>
                  <c:pt idx="2">
                    <c:v>Project Insights</c:v>
                  </c:pt>
                  <c:pt idx="3">
                    <c:v>Institutional File Plan</c:v>
                  </c:pt>
                  <c:pt idx="4">
                    <c:v>Retention &amp; Disposal</c:v>
                  </c:pt>
                  <c:pt idx="5">
                    <c:v>Records &amp; Archive Holdings</c:v>
                  </c:pt>
                </c:lvl>
              </c:multiLvlStrCache>
            </c:multiLvlStrRef>
          </c:cat>
          <c:val>
            <c:numRef>
              <c:f>Sheet1!$D$2:$D$7</c:f>
              <c:numCache>
                <c:formatCode>General</c:formatCode>
                <c:ptCount val="6"/>
                <c:pt idx="0">
                  <c:v>7</c:v>
                </c:pt>
                <c:pt idx="1">
                  <c:v>6</c:v>
                </c:pt>
                <c:pt idx="2">
                  <c:v>0</c:v>
                </c:pt>
                <c:pt idx="3">
                  <c:v>0</c:v>
                </c:pt>
                <c:pt idx="4">
                  <c:v>1</c:v>
                </c:pt>
                <c:pt idx="5">
                  <c:v>2</c:v>
                </c:pt>
              </c:numCache>
            </c:numRef>
          </c:val>
        </c:ser>
        <c:dLbls>
          <c:numFmt formatCode="#,##0" sourceLinked="0"/>
          <c:txPr>
            <a:bodyPr/>
            <a:lstStyle/>
            <a:p>
              <a:pPr>
                <a:defRPr b="1"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475F"/>
                </a:solidFill>
                <a:latin typeface="Calibri"/>
              </a:defRPr>
            </a:pPr>
            <a:endParaRPr lang="en-US"/>
          </a:p>
        </c:txPr>
        <c:crossAx val="2094734552"/>
        <c:crosses val="autoZero"/>
        <c:auto val="1"/>
        <c:lblAlgn val="ctr"/>
        <c:noMultiLvlLbl val="1"/>
      </c:catAx>
      <c:valAx>
        <c:axId val="2094734552"/>
        <c:scaling>
          <c:orientation val="minMax"/>
          <c:max val="90"/>
        </c:scaling>
        <c:delete val="0"/>
        <c:axPos val="b"/>
        <c:majorGridlines>
          <c:spPr>
            <a:ln w="12700" cap="flat">
              <a:solidFill>
                <a:srgbClr val="EDF1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8C"/>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what this session is for: we built a working prototype from your slides, we want to walk it with you, and we have 27 questions where we are stuck without you.
Set expectations: nothing here is final. This is exactly the point where changing things is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full minute on the amber category. It is the one that causes trouble later — a screen that looks finished but is running on invented numbers. Say plainly: if you see a number today, assume it is illustrative unless the checklist says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one sentence per view, no more. The point of this slide is that they can see the whole shape before you dive in, and can tell you now if a view is missing or misnamed.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them read the chart as a report card on the team. Frame it the other way round: the 61 red items are almost all one of three missing sources, and they are the only people who can point us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in the deck and it comes early on purpose. If they take one thing away, it is that two dashboards are sequenced, not failed.
Say it in their language: the report cannot show a disposal outcome because nobody can record a disposal outcome yet. That is not a reporting gap, it is a feature that has not shipped.
Do not apologise here. This is a normal delivery decision and presenting it as one is what makes them accept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headline figures
On the checklist: 10 items, 10 built, 0 needing them.
Talking points:
- Every figure the client drew on slide 34 is on this one strip.
- The two grey tiles are doors, not numbers: they open the other dashboards.
- Two labels changed. I will explain why on the questions slide.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Sites, department by department
On the checklist: 10 items, 10 built, 0 needing them.
Talking points:
- Click any figure on the strip above and the table underneath changes.
- Every department name opens that department’s own dashboard.
- The four indicators on the right are sites created, deleted, archived and gone quiet.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sites, sovereign and nonsovereign
On the checklist: 3 items, 3 built, 0 needing them.
Talking points:
- The client asked for these as two separate lists. Both are here.
- Any project row opens Project Insights for that project.
- The bottom row is the facility total, because their own slide ends the list with “Etc.”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On the checklist: 10 items, 4 built, 6 needing them.
Talking points:
- We can see who has actually used EDRMS. We cannot see who they are.
- Six of the ten things asked for here need something from you.
- This is the biggest single gap in the whole report.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On the checklist: 6 items, 2 built, 4 needing them.
Talking points:
- Document counts and storage size are solid and come from real data.
- What is missing is history: we can show today, not the trend.
- “Per division” appears again here. It appears on six screens in total.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declared
On the checklist: 6 items, 4 built, 2 needing them.
Talking points:
- This is the number the whole programme is judged on.
- The declaration rate compares records declared against documents held.
- Departments with zero declarations are flagged so they can be chased.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counterparts
On the checklist: 5 items, 3 built, 2 needing them.
Talking points:
- A physical counterpart is a declared record that also exists on paper.
- This is the bridge between this report and what RAC holds in its rooms.
- What we cannot show is whether the paper actually reached RAC.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due for disposal
On the checklist: 11 items, 4 built, 7 needing them.
Talking points:
- We can show what is due, and when. That part is solid.
- We cannot show what happened next, because nothing records an outcome.
- Seven of the eleven items here are waiting on that one gap.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Trends and comparisons
On the checklist: 4 items, 4 built, 0 needing them.
Talking points:
- The curve is cumulative, so the last point is the running total to date.
- You can set any date range and the two figures beneath update.
- The comparison panel above ranks departments on three named ratios.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department profile
On the checklist: 11 items, 9 built, 2 needing them.
Talking points:
- Pick a department at the top and every figure on the screen follows it.
- The same seven headline figures as bank-wide, narrowed to one unit.
- Two things are missing from the profile: the naming convention and the go-live date.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and activity
On the checklist: 8 items, 4 built, 4 needing them.
Talking points:
- Used in the last 180 days, gone quiet, never touched it — all three are here.
- The same user-type gap as bank-wide appears again.
- Training completion is asked for here too.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department’s sites
On the checklist: 11 items, 11 built, 0 needing them.
Talking points:
- Every site the department owns, with its owner named.
- All six columns the client drew are present.
- This screen is complete — nothing red on it.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visitors
On the checklist: 14 items, 10 built, 4 needing them.
Talking points:
- Page views and unique pages, per site, with quick date windows.
- You can also pick any month and year.
- What we cannot yet do is separate ADB people from outsiders.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On the checklist: 7 items, 6 built, 1 needing them.
Talking points:
- Counts and storage size, per site.
- Solid and sourced, apart from one item.
- Same “how many people are creating documents” question as bank-wide.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declaration
On the checklist: 8 items, 6 built, 2 needing them.
Talking points:
- Records declared, people declaring, and total declared size.
- Sites that have declared nothing in 180 days are flagged.
- Only the two per-division items are missing.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counterparts
On the checklist: 5 items, 3 built, 2 needing them.
Talking points:
- Which sites hold records with a paper copy, and what share that is.
- Same handover gap as bank-wide.
- Note items 60 and 61 sit under this heading in the workbook.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Disposal
On the checklist: 12 items, 6 built, 6 needing them.
Talking points:
- Due within three, six and twelve months, all three windows.
- Next due date and whether there is paper alongside.
- Six of the twelve items wait on the same disposal-outcome gap.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Library usage
On the checklist: 8 items, 4 built, 4 needing them.
Talking points:
- The client drew this as six screens, one per file plan category.
- We have the library table. We cannot yet group libraries by category.
- That is the same file plan gap we will see on the next dashboard.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list
On the checklist: 3 items, 3 built, 0 needing them.
Talking points:
- Sovereign and nonsovereign, switched with the picker.
- Click any project to open its profile below.
- The totals reconcile: named projects sit inside the facility total, which sits inside bank-wide.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profile and its seven figures
On the checklist: 15 items, 15 built, 0 needing them.
Talking points:
- All eight profile fields the client drew, in their order.
- All seven figures are clickable and open a table site by site.
- The site rows always add back up to the project total.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charts
On the checklist: 3 items, 3 built, 0 needing them.
Talking points:
- User mix uses the client’s own three-way split.
- The curve is cumulative, so it ends at the project’s declared total.
- The bottom chart shows why one site declares everything and another almost nothing.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categories
On the checklist: 11 items, 11 built, 0 needing them.
Talking points:
- Five categories and a total, with the client’s own column names.
- The total row is checked against the bank-wide figures automatically.
- The department column is assigned, not measured. That is the gap on this dashboard.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one category
On the checklist: 8 items, 6 built, 2 needing them.
Talking points:
- The client drew five screens. We built one screen with a category picker.
- Five figures at the top, then every top-level term underneath.
- Most used and least used terms are charted below the table.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Unused terms
On the checklist: 2 items, 2 built, 0 needing them.
Talking points:
- Terms nobody is using, with when they were last touched and why they are flagged.
- This is the list you would work from when tidying the file plan.
- The figures are illustrative until we can measure real usage.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Libraries created outside convention
On the checklist: 1 items, 1 built, 0 needing them.
Talking points:
- Libraries that do not follow the standard pattern.
- To make this real we need the convention itself.
- Same question as on Department Insights.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waiting for a decision
On the checklist: 4 items, 2 built, 2 needing them.
Talking points:
- New library, new term, and both kinds of deletion, in one place.
- Requestor, status and date submitted on every row.
- The last two rows are the gaps that govern this whole dashboard.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Permanent against temporary
On the checklist: 12 items, 6 built, 6 needing them.
Talking points:
- Six figures: sites, libraries and records, split permanent and temporary.
- This is the closest match of the six to something we already had built.
- The summary table the client drew on slide 44 was taken off. That needs your view.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Permanent retention
On the checklist: 6 items, 5 built, 1 needing them.
Talking points:
- Everything that must be kept indefinitely, department by department.
- All five columns the client asked for are here.
- One column is missing: the file plan term.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Temporary retention
On the checklist: 8 items, 6 built, 2 needing them.
Talking points:
- Same shape, for records with an end date.
- The retention filter lets you look at just the seven-year records, or just the ten-year.
- What we cannot show is anything that has already been disposed of.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labels
On the checklist: 1 items, 1 built, 0 needing them.
Talking points:
- Every declared record grouped by the label actually applied to it.
- This comes from real data — it is one of the most solid panels in the report.
- It is also a good check: labels nobody expected will show up here.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case for Retention and Disposal.
Lead with the green column. They need to hear what does work before they hear what does not, or the whole thing sounds like an excuse.
Then the blue column, stated as fact, not apology: the feature does not exist yet.
Then stop and ask directly: "Are you comfortable with us sequencing this?" Get a yes or a no in the room. If they push back, the fallback is on the next slide — we can build the screens now and leave them empty, but empty screens get quoted as zero, and that is worse than not shipping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whether this is still the right question for this view before showing any screen — if the question is wrong, everything after it is wrong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can and cannot see
On the checklist: 2 items, 2 built, 0 needing them.
Talking points:
- One figure here is real: the count of records with a paper counterpart.
- Everything else on this dashboard is a placeholder.
- This is the dashboard with the least data behind it, and the most to discuss.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Storage
On the checklist: 11 items, 11 built, 0 needing them.
Talking points:
- All seven columns from your slide 68, with your own wording.
- Three locations: Archives Room, Records Center, Offsite Storage.
- Below it, storage activity by department and how full each room is.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On the checklist: 7 items, 7 built, 0 needing them.
Talking points:
- All seven columns from your slide 69.
- Status uses your own three words: Loan, Return to owner, For Disposal.
- Everything on this table is invented, because we cannot reach the request system.
Nothing red on this screen. Say so out loud; it builds credit for the screens where there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disposal and capacity
On the checklist: 6 items, 4 built, 2 needing them.
Talking points:
- Retrieval by department, what was disposed, and how much space that freed.
- The layout answers every indicator you asked for.
- None of it is measured yet. That is what the questions slide is for.
Do not solve the red items here — say "we come back to this in three slides" and keep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case for Records and Archive Holdings.
Lead with the green column. They need to hear what does work before they hear what does not, or the whole thing sounds like an excuse.
Then the blue column, stated as fact, not apology: the feature does not exist yet.
Then stop and ask directly: "Are you comfortable with us sequencing this?" Get a yes or a no in the room. If they push back, the fallback is on the next slide — we can build the screens now and leave them empty, but empty screens get quoted as zero, and that is worse than not shipping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in the left column out loud, then stop talking. Do not fill the silence with the middle column unless they ask why.
What a good answer sounds like: a system name, a person's name, or "it's in a spreadsheet". Any of those three is a win. "We'll look into it" is not — get a name against it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room is running short on time, this is the slide to land. Everything else can go to email; these three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all three explicitly and wait for an answer on each. A nod is not agreement — say "can I take that as agreed?" and let the silence do the work.
If they resist number 2 or 3, the argument is that an empty dashboard is worse than a sequenced one: a screen full of zeroes gets screenshotted and quoted as fact. Offer instead to show the layout as a signed-off specification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who owes what, out loud, before people leave the room. A question with a name against it gets answered; a question on a slide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dropping question genuinely. A requirement nobody actually wants is worth more to lose than a requirement we cannot source is worth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5CA943"/>
          </a:solidFill>
          <a:ln w="12700">
            <a:solidFill>
              <a:srgbClr val="5CA943"/>
            </a:solidFill>
            <a:prstDash val="solid"/>
          </a:ln>
        </p:spPr>
      </p:sp>
      <p:sp>
        <p:nvSpPr>
          <p:cNvPr id="3" name="Text 1"/>
          <p:cNvSpPr/>
          <p:nvPr/>
        </p:nvSpPr>
        <p:spPr>
          <a:xfrm>
            <a:off x="822960" y="1965960"/>
            <a:ext cx="105156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EDRMS Utilization Report</a:t>
            </a:r>
            <a:endParaRPr lang="en-US" sz="4600" dirty="0"/>
          </a:p>
        </p:txBody>
      </p:sp>
      <p:sp>
        <p:nvSpPr>
          <p:cNvPr id="4" name="Text 2"/>
          <p:cNvSpPr/>
          <p:nvPr/>
        </p:nvSpPr>
        <p:spPr>
          <a:xfrm>
            <a:off x="822960" y="2852928"/>
            <a:ext cx="9509760" cy="86868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Walking through the working prototype, screen by screen — and what we still need from you</a:t>
            </a:r>
            <a:endParaRPr lang="en-US" sz="1700" dirty="0"/>
          </a:p>
        </p:txBody>
      </p:sp>
      <p:sp>
        <p:nvSpPr>
          <p:cNvPr id="5" name="Text 3"/>
          <p:cNvSpPr/>
          <p:nvPr/>
        </p:nvSpPr>
        <p:spPr>
          <a:xfrm>
            <a:off x="822960" y="4114800"/>
            <a:ext cx="2286000" cy="621792"/>
          </a:xfrm>
          <a:prstGeom prst="rect">
            <a:avLst/>
          </a:prstGeom>
          <a:noFill/>
          <a:ln/>
        </p:spPr>
        <p:txBody>
          <a:bodyPr wrap="square" lIns="0" tIns="0" rIns="0" bIns="0" rtlCol="0" anchor="ctr"/>
          <a:lstStyle/>
          <a:p>
            <a:pPr indent="0" marL="0">
              <a:buNone/>
            </a:pPr>
            <a:r>
              <a:rPr lang="en-US" sz="4000" b="1" dirty="0">
                <a:solidFill>
                  <a:srgbClr val="00A5A8"/>
                </a:solidFill>
                <a:latin typeface="Cambria" pitchFamily="34" charset="0"/>
                <a:ea typeface="Cambria" pitchFamily="34" charset="-122"/>
                <a:cs typeface="Cambria" pitchFamily="34" charset="-120"/>
              </a:rPr>
              <a:t>6</a:t>
            </a:r>
            <a:endParaRPr lang="en-US" sz="4000" dirty="0"/>
          </a:p>
        </p:txBody>
      </p:sp>
      <p:sp>
        <p:nvSpPr>
          <p:cNvPr id="6" name="Text 4"/>
          <p:cNvSpPr/>
          <p:nvPr/>
        </p:nvSpPr>
        <p:spPr>
          <a:xfrm>
            <a:off x="822960" y="4754880"/>
            <a:ext cx="2286000" cy="274320"/>
          </a:xfrm>
          <a:prstGeom prst="rect">
            <a:avLst/>
          </a:prstGeom>
          <a:noFill/>
          <a:ln/>
        </p:spPr>
        <p:txBody>
          <a:bodyPr wrap="square" lIns="0" tIns="0" rIns="0" bIns="0" rtlCol="0" anchor="ctr"/>
          <a:lstStyle/>
          <a:p>
            <a:pPr indent="0" marL="0">
              <a:buNone/>
            </a:pPr>
            <a:r>
              <a:rPr lang="en-US" sz="1200" dirty="0">
                <a:solidFill>
                  <a:srgbClr val="AFC4D8"/>
                </a:solidFill>
                <a:latin typeface="Calibri" pitchFamily="34" charset="0"/>
                <a:ea typeface="Calibri" pitchFamily="34" charset="-122"/>
                <a:cs typeface="Calibri" pitchFamily="34" charset="-120"/>
              </a:rPr>
              <a:t>key views</a:t>
            </a:r>
            <a:endParaRPr lang="en-US" sz="1200" dirty="0"/>
          </a:p>
        </p:txBody>
      </p:sp>
      <p:sp>
        <p:nvSpPr>
          <p:cNvPr id="7" name="Text 5"/>
          <p:cNvSpPr/>
          <p:nvPr/>
        </p:nvSpPr>
        <p:spPr>
          <a:xfrm>
            <a:off x="3429000" y="4114800"/>
            <a:ext cx="2286000" cy="621792"/>
          </a:xfrm>
          <a:prstGeom prst="rect">
            <a:avLst/>
          </a:prstGeom>
          <a:noFill/>
          <a:ln/>
        </p:spPr>
        <p:txBody>
          <a:bodyPr wrap="square" lIns="0" tIns="0" rIns="0" bIns="0" rtlCol="0" anchor="ctr"/>
          <a:lstStyle/>
          <a:p>
            <a:pPr indent="0" marL="0">
              <a:buNone/>
            </a:pPr>
            <a:r>
              <a:rPr lang="en-US" sz="4000" b="1" dirty="0">
                <a:solidFill>
                  <a:srgbClr val="00A5A8"/>
                </a:solidFill>
                <a:latin typeface="Cambria" pitchFamily="34" charset="0"/>
                <a:ea typeface="Cambria" pitchFamily="34" charset="-122"/>
                <a:cs typeface="Cambria" pitchFamily="34" charset="-120"/>
              </a:rPr>
              <a:t>249</a:t>
            </a:r>
            <a:endParaRPr lang="en-US" sz="4000" dirty="0"/>
          </a:p>
        </p:txBody>
      </p:sp>
      <p:sp>
        <p:nvSpPr>
          <p:cNvPr id="8" name="Text 6"/>
          <p:cNvSpPr/>
          <p:nvPr/>
        </p:nvSpPr>
        <p:spPr>
          <a:xfrm>
            <a:off x="3429000" y="4754880"/>
            <a:ext cx="2286000" cy="274320"/>
          </a:xfrm>
          <a:prstGeom prst="rect">
            <a:avLst/>
          </a:prstGeom>
          <a:noFill/>
          <a:ln/>
        </p:spPr>
        <p:txBody>
          <a:bodyPr wrap="square" lIns="0" tIns="0" rIns="0" bIns="0" rtlCol="0" anchor="ctr"/>
          <a:lstStyle/>
          <a:p>
            <a:pPr indent="0" marL="0">
              <a:buNone/>
            </a:pPr>
            <a:r>
              <a:rPr lang="en-US" sz="1200" dirty="0">
                <a:solidFill>
                  <a:srgbClr val="AFC4D8"/>
                </a:solidFill>
                <a:latin typeface="Calibri" pitchFamily="34" charset="0"/>
                <a:ea typeface="Calibri" pitchFamily="34" charset="-122"/>
                <a:cs typeface="Calibri" pitchFamily="34" charset="-120"/>
              </a:rPr>
              <a:t>things you asked for</a:t>
            </a:r>
            <a:endParaRPr lang="en-US" sz="1200" dirty="0"/>
          </a:p>
        </p:txBody>
      </p:sp>
      <p:sp>
        <p:nvSpPr>
          <p:cNvPr id="9" name="Text 7"/>
          <p:cNvSpPr/>
          <p:nvPr/>
        </p:nvSpPr>
        <p:spPr>
          <a:xfrm>
            <a:off x="6035040" y="4114800"/>
            <a:ext cx="2286000" cy="621792"/>
          </a:xfrm>
          <a:prstGeom prst="rect">
            <a:avLst/>
          </a:prstGeom>
          <a:noFill/>
          <a:ln/>
        </p:spPr>
        <p:txBody>
          <a:bodyPr wrap="square" lIns="0" tIns="0" rIns="0" bIns="0" rtlCol="0" anchor="ctr"/>
          <a:lstStyle/>
          <a:p>
            <a:pPr indent="0" marL="0">
              <a:buNone/>
            </a:pPr>
            <a:r>
              <a:rPr lang="en-US" sz="4000" b="1" dirty="0">
                <a:solidFill>
                  <a:srgbClr val="00A5A8"/>
                </a:solidFill>
                <a:latin typeface="Cambria" pitchFamily="34" charset="0"/>
                <a:ea typeface="Cambria" pitchFamily="34" charset="-122"/>
                <a:cs typeface="Cambria" pitchFamily="34" charset="-120"/>
              </a:rPr>
              <a:t>188</a:t>
            </a:r>
            <a:endParaRPr lang="en-US" sz="4000" dirty="0"/>
          </a:p>
        </p:txBody>
      </p:sp>
      <p:sp>
        <p:nvSpPr>
          <p:cNvPr id="10" name="Text 8"/>
          <p:cNvSpPr/>
          <p:nvPr/>
        </p:nvSpPr>
        <p:spPr>
          <a:xfrm>
            <a:off x="6035040" y="4754880"/>
            <a:ext cx="2286000" cy="274320"/>
          </a:xfrm>
          <a:prstGeom prst="rect">
            <a:avLst/>
          </a:prstGeom>
          <a:noFill/>
          <a:ln/>
        </p:spPr>
        <p:txBody>
          <a:bodyPr wrap="square" lIns="0" tIns="0" rIns="0" bIns="0" rtlCol="0" anchor="ctr"/>
          <a:lstStyle/>
          <a:p>
            <a:pPr indent="0" marL="0">
              <a:buNone/>
            </a:pPr>
            <a:r>
              <a:rPr lang="en-US" sz="1200" dirty="0">
                <a:solidFill>
                  <a:srgbClr val="AFC4D8"/>
                </a:solidFill>
                <a:latin typeface="Calibri" pitchFamily="34" charset="0"/>
                <a:ea typeface="Calibri" pitchFamily="34" charset="-122"/>
                <a:cs typeface="Calibri" pitchFamily="34" charset="-120"/>
              </a:rPr>
              <a:t>built so far</a:t>
            </a:r>
            <a:endParaRPr lang="en-US" sz="1200" dirty="0"/>
          </a:p>
        </p:txBody>
      </p:sp>
      <p:sp>
        <p:nvSpPr>
          <p:cNvPr id="11" name="Text 9"/>
          <p:cNvSpPr/>
          <p:nvPr/>
        </p:nvSpPr>
        <p:spPr>
          <a:xfrm>
            <a:off x="8641080" y="4114800"/>
            <a:ext cx="2286000" cy="621792"/>
          </a:xfrm>
          <a:prstGeom prst="rect">
            <a:avLst/>
          </a:prstGeom>
          <a:noFill/>
          <a:ln/>
        </p:spPr>
        <p:txBody>
          <a:bodyPr wrap="square" lIns="0" tIns="0" rIns="0" bIns="0" rtlCol="0" anchor="ctr"/>
          <a:lstStyle/>
          <a:p>
            <a:pPr indent="0" marL="0">
              <a:buNone/>
            </a:pPr>
            <a:r>
              <a:rPr lang="en-US" sz="4000" b="1" dirty="0">
                <a:solidFill>
                  <a:srgbClr val="00A5A8"/>
                </a:solidFill>
                <a:latin typeface="Cambria" pitchFamily="34" charset="0"/>
                <a:ea typeface="Cambria" pitchFamily="34" charset="-122"/>
                <a:cs typeface="Cambria" pitchFamily="34" charset="-120"/>
              </a:rPr>
              <a:t>16</a:t>
            </a:r>
            <a:endParaRPr lang="en-US" sz="4000" dirty="0"/>
          </a:p>
        </p:txBody>
      </p:sp>
      <p:sp>
        <p:nvSpPr>
          <p:cNvPr id="12" name="Text 10"/>
          <p:cNvSpPr/>
          <p:nvPr/>
        </p:nvSpPr>
        <p:spPr>
          <a:xfrm>
            <a:off x="8641080" y="4754880"/>
            <a:ext cx="2286000" cy="274320"/>
          </a:xfrm>
          <a:prstGeom prst="rect">
            <a:avLst/>
          </a:prstGeom>
          <a:noFill/>
          <a:ln/>
        </p:spPr>
        <p:txBody>
          <a:bodyPr wrap="square" lIns="0" tIns="0" rIns="0" bIns="0" rtlCol="0" anchor="ctr"/>
          <a:lstStyle/>
          <a:p>
            <a:pPr indent="0" marL="0">
              <a:buNone/>
            </a:pPr>
            <a:r>
              <a:rPr lang="en-US" sz="1200" dirty="0">
                <a:solidFill>
                  <a:srgbClr val="AFC4D8"/>
                </a:solidFill>
                <a:latin typeface="Calibri" pitchFamily="34" charset="0"/>
                <a:ea typeface="Calibri" pitchFamily="34" charset="-122"/>
                <a:cs typeface="Calibri" pitchFamily="34" charset="-120"/>
              </a:rPr>
              <a:t>waiting on a later release</a:t>
            </a:r>
            <a:endParaRPr lang="en-US" sz="1200" dirty="0"/>
          </a:p>
        </p:txBody>
      </p:sp>
      <p:sp>
        <p:nvSpPr>
          <p:cNvPr id="13" name="Text 11"/>
          <p:cNvSpPr/>
          <p:nvPr/>
        </p:nvSpPr>
        <p:spPr>
          <a:xfrm>
            <a:off x="822960" y="5943600"/>
            <a:ext cx="105156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Client workshop  ·  22 August 2026  ·  Prototype, not final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BEFORE WE START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How to read every slide from here on</a:t>
            </a:r>
            <a:endParaRPr lang="en-US" sz="2500" dirty="0"/>
          </a:p>
        </p:txBody>
      </p:sp>
      <p:sp>
        <p:nvSpPr>
          <p:cNvPr id="4" name="Shape 2"/>
          <p:cNvSpPr/>
          <p:nvPr/>
        </p:nvSpPr>
        <p:spPr>
          <a:xfrm>
            <a:off x="502920" y="1298448"/>
            <a:ext cx="5943600" cy="3749040"/>
          </a:xfrm>
          <a:prstGeom prst="roundRect">
            <a:avLst>
              <a:gd name="adj" fmla="val 1951"/>
            </a:avLst>
          </a:prstGeom>
          <a:solidFill>
            <a:srgbClr val="F4F7FA"/>
          </a:solidFill>
          <a:ln w="12700">
            <a:solidFill>
              <a:srgbClr val="DCE4EC"/>
            </a:solidFill>
            <a:prstDash val="solid"/>
          </a:ln>
        </p:spPr>
      </p:sp>
      <p:sp>
        <p:nvSpPr>
          <p:cNvPr id="5" name="Text 3"/>
          <p:cNvSpPr/>
          <p:nvPr/>
        </p:nvSpPr>
        <p:spPr>
          <a:xfrm>
            <a:off x="868680" y="1572768"/>
            <a:ext cx="2743200" cy="228600"/>
          </a:xfrm>
          <a:prstGeom prst="rect">
            <a:avLst/>
          </a:prstGeom>
          <a:noFill/>
          <a:ln/>
        </p:spPr>
        <p:txBody>
          <a:bodyPr wrap="square" lIns="0" tIns="0" rIns="0" bIns="0" rtlCol="0" anchor="ctr"/>
          <a:lstStyle/>
          <a:p>
            <a:pPr indent="0" marL="0">
              <a:buNone/>
            </a:pPr>
            <a:r>
              <a:rPr lang="en-US" sz="1000" b="1" spc="120" kern="0" dirty="0">
                <a:solidFill>
                  <a:srgbClr val="0072BC"/>
                </a:solidFill>
                <a:latin typeface="Calibri" pitchFamily="34" charset="0"/>
                <a:ea typeface="Calibri" pitchFamily="34" charset="-122"/>
                <a:cs typeface="Calibri" pitchFamily="34" charset="-120"/>
              </a:rPr>
              <a:t>LEFT SIDE</a:t>
            </a:r>
            <a:endParaRPr lang="en-US" sz="1000" dirty="0"/>
          </a:p>
        </p:txBody>
      </p:sp>
      <p:sp>
        <p:nvSpPr>
          <p:cNvPr id="6" name="Text 4"/>
          <p:cNvSpPr/>
          <p:nvPr/>
        </p:nvSpPr>
        <p:spPr>
          <a:xfrm>
            <a:off x="868680" y="1828800"/>
            <a:ext cx="5212080" cy="365760"/>
          </a:xfrm>
          <a:prstGeom prst="rect">
            <a:avLst/>
          </a:prstGeom>
          <a:noFill/>
          <a:ln/>
        </p:spPr>
        <p:txBody>
          <a:bodyPr wrap="square" lIns="0" tIns="0" rIns="0" bIns="0" rtlCol="0" anchor="ctr"/>
          <a:lstStyle/>
          <a:p>
            <a:pPr indent="0" marL="0">
              <a:buNone/>
            </a:pPr>
            <a:r>
              <a:rPr lang="en-US" sz="1900" b="1" dirty="0">
                <a:solidFill>
                  <a:srgbClr val="10243E"/>
                </a:solidFill>
                <a:latin typeface="Cambria" pitchFamily="34" charset="0"/>
                <a:ea typeface="Cambria" pitchFamily="34" charset="-122"/>
                <a:cs typeface="Cambria" pitchFamily="34" charset="-120"/>
              </a:rPr>
              <a:t>The actual screen</a:t>
            </a:r>
            <a:endParaRPr lang="en-US" sz="1900" dirty="0"/>
          </a:p>
        </p:txBody>
      </p:sp>
      <p:sp>
        <p:nvSpPr>
          <p:cNvPr id="7" name="Text 5"/>
          <p:cNvSpPr/>
          <p:nvPr/>
        </p:nvSpPr>
        <p:spPr>
          <a:xfrm>
            <a:off x="868680" y="2258568"/>
            <a:ext cx="5212080" cy="914400"/>
          </a:xfrm>
          <a:prstGeom prst="rect">
            <a:avLst/>
          </a:prstGeom>
          <a:noFill/>
          <a:ln/>
        </p:spPr>
        <p:txBody>
          <a:bodyPr wrap="square" lIns="0" tIns="0" rIns="0" bIns="0" rtlCol="0" anchor="ctr"/>
          <a:lstStyle/>
          <a:p>
            <a:pPr indent="0" marL="0">
              <a:lnSpc>
                <a:spcPts val="1700"/>
              </a:lnSpc>
              <a:buNone/>
            </a:pPr>
            <a:r>
              <a:rPr lang="en-US" sz="1250" dirty="0">
                <a:solidFill>
                  <a:srgbClr val="33475F"/>
                </a:solidFill>
                <a:latin typeface="Calibri" pitchFamily="34" charset="0"/>
                <a:ea typeface="Calibri" pitchFamily="34" charset="-122"/>
                <a:cs typeface="Calibri" pitchFamily="34" charset="-120"/>
              </a:rPr>
              <a:t>A real screenshot of the working prototype. Everything you see is clickable in the live version — we can open it at any point if you want to poke at something.</a:t>
            </a:r>
            <a:endParaRPr lang="en-US" sz="1250" dirty="0"/>
          </a:p>
        </p:txBody>
      </p:sp>
      <p:sp>
        <p:nvSpPr>
          <p:cNvPr id="8" name="Text 6"/>
          <p:cNvSpPr/>
          <p:nvPr/>
        </p:nvSpPr>
        <p:spPr>
          <a:xfrm>
            <a:off x="868680" y="3264408"/>
            <a:ext cx="2743200" cy="228600"/>
          </a:xfrm>
          <a:prstGeom prst="rect">
            <a:avLst/>
          </a:prstGeom>
          <a:noFill/>
          <a:ln/>
        </p:spPr>
        <p:txBody>
          <a:bodyPr wrap="square" lIns="0" tIns="0" rIns="0" bIns="0" rtlCol="0" anchor="ctr"/>
          <a:lstStyle/>
          <a:p>
            <a:pPr indent="0" marL="0">
              <a:buNone/>
            </a:pPr>
            <a:r>
              <a:rPr lang="en-US" sz="1000" b="1" spc="120" kern="0" dirty="0">
                <a:solidFill>
                  <a:srgbClr val="0072BC"/>
                </a:solidFill>
                <a:latin typeface="Calibri" pitchFamily="34" charset="0"/>
                <a:ea typeface="Calibri" pitchFamily="34" charset="-122"/>
                <a:cs typeface="Calibri" pitchFamily="34" charset="-120"/>
              </a:rPr>
              <a:t>RIGHT SIDE</a:t>
            </a:r>
            <a:endParaRPr lang="en-US" sz="1000" dirty="0"/>
          </a:p>
        </p:txBody>
      </p:sp>
      <p:sp>
        <p:nvSpPr>
          <p:cNvPr id="9" name="Text 7"/>
          <p:cNvSpPr/>
          <p:nvPr/>
        </p:nvSpPr>
        <p:spPr>
          <a:xfrm>
            <a:off x="868680" y="3520440"/>
            <a:ext cx="5212080" cy="365760"/>
          </a:xfrm>
          <a:prstGeom prst="rect">
            <a:avLst/>
          </a:prstGeom>
          <a:noFill/>
          <a:ln/>
        </p:spPr>
        <p:txBody>
          <a:bodyPr wrap="square" lIns="0" tIns="0" rIns="0" bIns="0" rtlCol="0" anchor="ctr"/>
          <a:lstStyle/>
          <a:p>
            <a:pPr indent="0" marL="0">
              <a:buNone/>
            </a:pPr>
            <a:r>
              <a:rPr lang="en-US" sz="1900" b="1" dirty="0">
                <a:solidFill>
                  <a:srgbClr val="10243E"/>
                </a:solidFill>
                <a:latin typeface="Cambria" pitchFamily="34" charset="0"/>
                <a:ea typeface="Cambria" pitchFamily="34" charset="-122"/>
                <a:cs typeface="Cambria" pitchFamily="34" charset="-120"/>
              </a:rPr>
              <a:t>Your checklist for that screen</a:t>
            </a:r>
            <a:endParaRPr lang="en-US" sz="1900" dirty="0"/>
          </a:p>
        </p:txBody>
      </p:sp>
      <p:sp>
        <p:nvSpPr>
          <p:cNvPr id="10" name="Text 8"/>
          <p:cNvSpPr/>
          <p:nvPr/>
        </p:nvSpPr>
        <p:spPr>
          <a:xfrm>
            <a:off x="868680" y="3950208"/>
            <a:ext cx="5212080" cy="457200"/>
          </a:xfrm>
          <a:prstGeom prst="rect">
            <a:avLst/>
          </a:prstGeom>
          <a:noFill/>
          <a:ln/>
        </p:spPr>
        <p:txBody>
          <a:bodyPr wrap="square" lIns="0" tIns="0" rIns="0" bIns="0" rtlCol="0" anchor="ctr"/>
          <a:lstStyle/>
          <a:p>
            <a:pPr indent="0" marL="0">
              <a:lnSpc>
                <a:spcPts val="1700"/>
              </a:lnSpc>
              <a:buNone/>
            </a:pPr>
            <a:r>
              <a:rPr lang="en-US" sz="1250" dirty="0">
                <a:solidFill>
                  <a:srgbClr val="33475F"/>
                </a:solidFill>
                <a:latin typeface="Calibri" pitchFamily="34" charset="0"/>
                <a:ea typeface="Calibri" pitchFamily="34" charset="-122"/>
                <a:cs typeface="Calibri" pitchFamily="34" charset="-120"/>
              </a:rPr>
              <a:t>Every item you asked for on that screen, and whether it is there. Nothing has been left off the list.</a:t>
            </a:r>
            <a:endParaRPr lang="en-US" sz="1250" dirty="0"/>
          </a:p>
        </p:txBody>
      </p:sp>
      <p:sp>
        <p:nvSpPr>
          <p:cNvPr id="11" name="Shape 9"/>
          <p:cNvSpPr/>
          <p:nvPr/>
        </p:nvSpPr>
        <p:spPr>
          <a:xfrm>
            <a:off x="6720840" y="1298448"/>
            <a:ext cx="4937760" cy="978408"/>
          </a:xfrm>
          <a:prstGeom prst="roundRect">
            <a:avLst>
              <a:gd name="adj" fmla="val 560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2" name="Shape 10"/>
          <p:cNvSpPr/>
          <p:nvPr/>
        </p:nvSpPr>
        <p:spPr>
          <a:xfrm>
            <a:off x="6949440" y="1481328"/>
            <a:ext cx="1325880" cy="237744"/>
          </a:xfrm>
          <a:prstGeom prst="roundRect">
            <a:avLst>
              <a:gd name="adj" fmla="val 46154"/>
            </a:avLst>
          </a:prstGeom>
          <a:solidFill>
            <a:srgbClr val="EAF4E4"/>
          </a:solidFill>
          <a:ln w="12700">
            <a:solidFill>
              <a:srgbClr val="EAF4E4"/>
            </a:solidFill>
            <a:prstDash val="solid"/>
          </a:ln>
        </p:spPr>
      </p:sp>
      <p:sp>
        <p:nvSpPr>
          <p:cNvPr id="13" name="Text 11"/>
          <p:cNvSpPr/>
          <p:nvPr/>
        </p:nvSpPr>
        <p:spPr>
          <a:xfrm>
            <a:off x="6949440" y="1481328"/>
            <a:ext cx="1325880" cy="237744"/>
          </a:xfrm>
          <a:prstGeom prst="rect">
            <a:avLst/>
          </a:prstGeom>
          <a:noFill/>
          <a:ln/>
        </p:spPr>
        <p:txBody>
          <a:bodyPr wrap="square" lIns="0" tIns="0" rIns="0" bIns="0" rtlCol="0" anchor="ctr"/>
          <a:lstStyle/>
          <a:p>
            <a:pPr algn="ctr" indent="0" marL="0">
              <a:buNone/>
            </a:pPr>
            <a:r>
              <a:rPr lang="en-US" sz="760" b="1" dirty="0">
                <a:solidFill>
                  <a:srgbClr val="5CA943"/>
                </a:solidFill>
                <a:latin typeface="Calibri" pitchFamily="34" charset="0"/>
                <a:ea typeface="Calibri" pitchFamily="34" charset="-122"/>
                <a:cs typeface="Calibri" pitchFamily="34" charset="-120"/>
              </a:rPr>
              <a:t>BUILT</a:t>
            </a:r>
            <a:endParaRPr lang="en-US" sz="760" dirty="0"/>
          </a:p>
        </p:txBody>
      </p:sp>
      <p:sp>
        <p:nvSpPr>
          <p:cNvPr id="14" name="Text 12"/>
          <p:cNvSpPr/>
          <p:nvPr/>
        </p:nvSpPr>
        <p:spPr>
          <a:xfrm>
            <a:off x="8412480" y="1408176"/>
            <a:ext cx="3063240" cy="768096"/>
          </a:xfrm>
          <a:prstGeom prst="rect">
            <a:avLst/>
          </a:prstGeom>
          <a:noFill/>
          <a:ln/>
        </p:spPr>
        <p:txBody>
          <a:bodyPr wrap="square" lIns="0" tIns="0" rIns="0" bIns="0" rtlCol="0" anchor="ctr"/>
          <a:lstStyle/>
          <a:p>
            <a:pPr indent="0" marL="0">
              <a:lnSpc>
                <a:spcPts val="1300"/>
              </a:lnSpc>
              <a:buNone/>
            </a:pPr>
            <a:r>
              <a:rPr lang="en-US" sz="980" dirty="0">
                <a:solidFill>
                  <a:srgbClr val="33475F"/>
                </a:solidFill>
                <a:latin typeface="Calibri" pitchFamily="34" charset="0"/>
                <a:ea typeface="Calibri" pitchFamily="34" charset="-122"/>
                <a:cs typeface="Calibri" pitchFamily="34" charset="-120"/>
              </a:rPr>
              <a:t>On the screen and running on real data. Nothing needed from you.</a:t>
            </a:r>
            <a:endParaRPr lang="en-US" sz="980" dirty="0"/>
          </a:p>
        </p:txBody>
      </p:sp>
      <p:sp>
        <p:nvSpPr>
          <p:cNvPr id="15" name="Shape 13"/>
          <p:cNvSpPr/>
          <p:nvPr/>
        </p:nvSpPr>
        <p:spPr>
          <a:xfrm>
            <a:off x="6720840" y="2386584"/>
            <a:ext cx="4937760" cy="978408"/>
          </a:xfrm>
          <a:prstGeom prst="roundRect">
            <a:avLst>
              <a:gd name="adj" fmla="val 560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6" name="Shape 14"/>
          <p:cNvSpPr/>
          <p:nvPr/>
        </p:nvSpPr>
        <p:spPr>
          <a:xfrm>
            <a:off x="6949440" y="2569464"/>
            <a:ext cx="1325880" cy="237744"/>
          </a:xfrm>
          <a:prstGeom prst="roundRect">
            <a:avLst>
              <a:gd name="adj" fmla="val 46154"/>
            </a:avLst>
          </a:prstGeom>
          <a:solidFill>
            <a:srgbClr val="FDF1DE"/>
          </a:solidFill>
          <a:ln w="12700">
            <a:solidFill>
              <a:srgbClr val="FDF1DE"/>
            </a:solidFill>
            <a:prstDash val="solid"/>
          </a:ln>
        </p:spPr>
      </p:sp>
      <p:sp>
        <p:nvSpPr>
          <p:cNvPr id="17" name="Text 15"/>
          <p:cNvSpPr/>
          <p:nvPr/>
        </p:nvSpPr>
        <p:spPr>
          <a:xfrm>
            <a:off x="6949440" y="2569464"/>
            <a:ext cx="1325880" cy="237744"/>
          </a:xfrm>
          <a:prstGeom prst="rect">
            <a:avLst/>
          </a:prstGeom>
          <a:noFill/>
          <a:ln/>
        </p:spPr>
        <p:txBody>
          <a:bodyPr wrap="square" lIns="0" tIns="0" rIns="0" bIns="0" rtlCol="0" anchor="ctr"/>
          <a:lstStyle/>
          <a:p>
            <a:pPr algn="ctr" indent="0" marL="0">
              <a:buNone/>
            </a:pPr>
            <a:r>
              <a:rPr lang="en-US" sz="760" b="1" dirty="0">
                <a:solidFill>
                  <a:srgbClr val="C77B18"/>
                </a:solidFill>
                <a:latin typeface="Calibri" pitchFamily="34" charset="0"/>
                <a:ea typeface="Calibri" pitchFamily="34" charset="-122"/>
                <a:cs typeface="Calibri" pitchFamily="34" charset="-120"/>
              </a:rPr>
              <a:t>PLACEHOLDER</a:t>
            </a:r>
            <a:endParaRPr lang="en-US" sz="760" dirty="0"/>
          </a:p>
        </p:txBody>
      </p:sp>
      <p:sp>
        <p:nvSpPr>
          <p:cNvPr id="18" name="Text 16"/>
          <p:cNvSpPr/>
          <p:nvPr/>
        </p:nvSpPr>
        <p:spPr>
          <a:xfrm>
            <a:off x="8412480" y="2496312"/>
            <a:ext cx="3063240" cy="768096"/>
          </a:xfrm>
          <a:prstGeom prst="rect">
            <a:avLst/>
          </a:prstGeom>
          <a:noFill/>
          <a:ln/>
        </p:spPr>
        <p:txBody>
          <a:bodyPr wrap="square" lIns="0" tIns="0" rIns="0" bIns="0" rtlCol="0" anchor="ctr"/>
          <a:lstStyle/>
          <a:p>
            <a:pPr indent="0" marL="0">
              <a:lnSpc>
                <a:spcPts val="1300"/>
              </a:lnSpc>
              <a:buNone/>
            </a:pPr>
            <a:r>
              <a:rPr lang="en-US" sz="980" dirty="0">
                <a:solidFill>
                  <a:srgbClr val="33475F"/>
                </a:solidFill>
                <a:latin typeface="Calibri" pitchFamily="34" charset="0"/>
                <a:ea typeface="Calibri" pitchFamily="34" charset="-122"/>
                <a:cs typeface="Calibri" pitchFamily="34" charset="-120"/>
              </a:rPr>
              <a:t>The screen is built and correct, but the numbers on it are made up, because we have no source yet. It will look real. It is not.</a:t>
            </a:r>
            <a:endParaRPr lang="en-US" sz="980" dirty="0"/>
          </a:p>
        </p:txBody>
      </p:sp>
      <p:sp>
        <p:nvSpPr>
          <p:cNvPr id="19" name="Shape 17"/>
          <p:cNvSpPr/>
          <p:nvPr/>
        </p:nvSpPr>
        <p:spPr>
          <a:xfrm>
            <a:off x="6720840" y="3474720"/>
            <a:ext cx="4937760" cy="978408"/>
          </a:xfrm>
          <a:prstGeom prst="roundRect">
            <a:avLst>
              <a:gd name="adj" fmla="val 560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0" name="Shape 18"/>
          <p:cNvSpPr/>
          <p:nvPr/>
        </p:nvSpPr>
        <p:spPr>
          <a:xfrm>
            <a:off x="6949440" y="3657600"/>
            <a:ext cx="1325880" cy="237744"/>
          </a:xfrm>
          <a:prstGeom prst="roundRect">
            <a:avLst>
              <a:gd name="adj" fmla="val 46154"/>
            </a:avLst>
          </a:prstGeom>
          <a:solidFill>
            <a:srgbClr val="FBE6E4"/>
          </a:solidFill>
          <a:ln w="12700">
            <a:solidFill>
              <a:srgbClr val="FBE6E4"/>
            </a:solidFill>
            <a:prstDash val="solid"/>
          </a:ln>
        </p:spPr>
      </p:sp>
      <p:sp>
        <p:nvSpPr>
          <p:cNvPr id="21" name="Text 19"/>
          <p:cNvSpPr/>
          <p:nvPr/>
        </p:nvSpPr>
        <p:spPr>
          <a:xfrm>
            <a:off x="6949440" y="3657600"/>
            <a:ext cx="1325880" cy="237744"/>
          </a:xfrm>
          <a:prstGeom prst="rect">
            <a:avLst/>
          </a:prstGeom>
          <a:noFill/>
          <a:ln/>
        </p:spPr>
        <p:txBody>
          <a:bodyPr wrap="square" lIns="0" tIns="0" rIns="0" bIns="0" rtlCol="0" anchor="ctr"/>
          <a:lstStyle/>
          <a:p>
            <a:pPr algn="ctr" indent="0" marL="0">
              <a:buNone/>
            </a:pPr>
            <a:r>
              <a:rPr lang="en-US" sz="760" b="1" dirty="0">
                <a:solidFill>
                  <a:srgbClr val="B3241C"/>
                </a:solidFill>
                <a:latin typeface="Calibri" pitchFamily="34" charset="0"/>
                <a:ea typeface="Calibri" pitchFamily="34" charset="-122"/>
                <a:cs typeface="Calibri" pitchFamily="34" charset="-120"/>
              </a:rPr>
              <a:t>NEEDS YOU</a:t>
            </a:r>
            <a:endParaRPr lang="en-US" sz="760" dirty="0"/>
          </a:p>
        </p:txBody>
      </p:sp>
      <p:sp>
        <p:nvSpPr>
          <p:cNvPr id="22" name="Text 20"/>
          <p:cNvSpPr/>
          <p:nvPr/>
        </p:nvSpPr>
        <p:spPr>
          <a:xfrm>
            <a:off x="8412480" y="3584448"/>
            <a:ext cx="3063240" cy="768096"/>
          </a:xfrm>
          <a:prstGeom prst="rect">
            <a:avLst/>
          </a:prstGeom>
          <a:noFill/>
          <a:ln/>
        </p:spPr>
        <p:txBody>
          <a:bodyPr wrap="square" lIns="0" tIns="0" rIns="0" bIns="0" rtlCol="0" anchor="ctr"/>
          <a:lstStyle/>
          <a:p>
            <a:pPr indent="0" marL="0">
              <a:lnSpc>
                <a:spcPts val="1300"/>
              </a:lnSpc>
              <a:buNone/>
            </a:pPr>
            <a:r>
              <a:rPr lang="en-US" sz="980" dirty="0">
                <a:solidFill>
                  <a:srgbClr val="33475F"/>
                </a:solidFill>
                <a:latin typeface="Calibri" pitchFamily="34" charset="0"/>
                <a:ea typeface="Calibri" pitchFamily="34" charset="-122"/>
                <a:cs typeface="Calibri" pitchFamily="34" charset="-120"/>
              </a:rPr>
              <a:t>Not built. We are stuck until you answer a question. These are what today is really for.</a:t>
            </a:r>
            <a:endParaRPr lang="en-US" sz="980" dirty="0"/>
          </a:p>
        </p:txBody>
      </p:sp>
      <p:sp>
        <p:nvSpPr>
          <p:cNvPr id="23" name="Shape 21"/>
          <p:cNvSpPr/>
          <p:nvPr/>
        </p:nvSpPr>
        <p:spPr>
          <a:xfrm>
            <a:off x="6720840" y="4562856"/>
            <a:ext cx="4937760" cy="978408"/>
          </a:xfrm>
          <a:prstGeom prst="roundRect">
            <a:avLst>
              <a:gd name="adj" fmla="val 560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4" name="Shape 22"/>
          <p:cNvSpPr/>
          <p:nvPr/>
        </p:nvSpPr>
        <p:spPr>
          <a:xfrm>
            <a:off x="6949440" y="4745736"/>
            <a:ext cx="1325880" cy="237744"/>
          </a:xfrm>
          <a:prstGeom prst="roundRect">
            <a:avLst>
              <a:gd name="adj" fmla="val 46154"/>
            </a:avLst>
          </a:prstGeom>
          <a:solidFill>
            <a:srgbClr val="E6EEF4"/>
          </a:solidFill>
          <a:ln w="12700">
            <a:solidFill>
              <a:srgbClr val="E6EEF4"/>
            </a:solidFill>
            <a:prstDash val="solid"/>
          </a:ln>
        </p:spPr>
      </p:sp>
      <p:sp>
        <p:nvSpPr>
          <p:cNvPr id="25" name="Text 23"/>
          <p:cNvSpPr/>
          <p:nvPr/>
        </p:nvSpPr>
        <p:spPr>
          <a:xfrm>
            <a:off x="6949440" y="4745736"/>
            <a:ext cx="1325880" cy="237744"/>
          </a:xfrm>
          <a:prstGeom prst="rect">
            <a:avLst/>
          </a:prstGeom>
          <a:noFill/>
          <a:ln/>
        </p:spPr>
        <p:txBody>
          <a:bodyPr wrap="square" lIns="0" tIns="0" rIns="0" bIns="0" rtlCol="0" anchor="ctr"/>
          <a:lstStyle/>
          <a:p>
            <a:pPr algn="ctr" indent="0" marL="0">
              <a:buNone/>
            </a:pPr>
            <a:r>
              <a:rPr lang="en-US" sz="760" b="1" dirty="0">
                <a:solidFill>
                  <a:srgbClr val="3D6E8C"/>
                </a:solidFill>
                <a:latin typeface="Calibri" pitchFamily="34" charset="0"/>
                <a:ea typeface="Calibri" pitchFamily="34" charset="-122"/>
                <a:cs typeface="Calibri" pitchFamily="34" charset="-120"/>
              </a:rPr>
              <a:t>LATER RELEASE</a:t>
            </a:r>
            <a:endParaRPr lang="en-US" sz="760" dirty="0"/>
          </a:p>
        </p:txBody>
      </p:sp>
      <p:sp>
        <p:nvSpPr>
          <p:cNvPr id="26" name="Text 24"/>
          <p:cNvSpPr/>
          <p:nvPr/>
        </p:nvSpPr>
        <p:spPr>
          <a:xfrm>
            <a:off x="8412480" y="4672584"/>
            <a:ext cx="3063240" cy="768096"/>
          </a:xfrm>
          <a:prstGeom prst="rect">
            <a:avLst/>
          </a:prstGeom>
          <a:noFill/>
          <a:ln/>
        </p:spPr>
        <p:txBody>
          <a:bodyPr wrap="square" lIns="0" tIns="0" rIns="0" bIns="0" rtlCol="0" anchor="ctr"/>
          <a:lstStyle/>
          <a:p>
            <a:pPr indent="0" marL="0">
              <a:lnSpc>
                <a:spcPts val="1300"/>
              </a:lnSpc>
              <a:buNone/>
            </a:pPr>
            <a:r>
              <a:rPr lang="en-US" sz="980" dirty="0">
                <a:solidFill>
                  <a:srgbClr val="33475F"/>
                </a:solidFill>
                <a:latin typeface="Calibri" pitchFamily="34" charset="0"/>
                <a:ea typeface="Calibri" pitchFamily="34" charset="-122"/>
                <a:cs typeface="Calibri" pitchFamily="34" charset="-120"/>
              </a:rPr>
              <a:t>Not built, and not something you can answer today. The feature it depends on has not shipped yet. We come back to these at the end.</a:t>
            </a:r>
            <a:endParaRPr lang="en-US" sz="980" dirty="0"/>
          </a:p>
        </p:txBody>
      </p:sp>
      <p:sp>
        <p:nvSpPr>
          <p:cNvPr id="27" name="Text 25"/>
          <p:cNvSpPr/>
          <p:nvPr/>
        </p:nvSpPr>
        <p:spPr>
          <a:xfrm>
            <a:off x="502920" y="5760720"/>
            <a:ext cx="11155680" cy="365760"/>
          </a:xfrm>
          <a:prstGeom prst="rect">
            <a:avLst/>
          </a:prstGeom>
          <a:noFill/>
          <a:ln/>
        </p:spPr>
        <p:txBody>
          <a:bodyPr wrap="square" lIns="0" tIns="0" rIns="0" bIns="0" rtlCol="0" anchor="ctr"/>
          <a:lstStyle/>
          <a:p>
            <a:pPr indent="0" marL="0">
              <a:buNone/>
            </a:pPr>
            <a:r>
              <a:rPr lang="en-US" sz="1500" i="1" dirty="0">
                <a:solidFill>
                  <a:srgbClr val="005A96"/>
                </a:solidFill>
                <a:latin typeface="Cambria" pitchFamily="34" charset="0"/>
                <a:ea typeface="Cambria" pitchFamily="34" charset="-122"/>
                <a:cs typeface="Cambria" pitchFamily="34" charset="-120"/>
              </a:rPr>
              <a:t>Please stop me the moment something does not look right. That is far more useful to us today than politeness at the end.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THE SHAPE OF THE REPORT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Six views, each answering one question</a:t>
            </a:r>
            <a:endParaRPr lang="en-US" sz="2500" dirty="0"/>
          </a:p>
        </p:txBody>
      </p:sp>
      <p:sp>
        <p:nvSpPr>
          <p:cNvPr id="4" name="Shape 2"/>
          <p:cNvSpPr/>
          <p:nvPr/>
        </p:nvSpPr>
        <p:spPr>
          <a:xfrm>
            <a:off x="502920" y="1371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58952" y="1627632"/>
            <a:ext cx="420624" cy="420624"/>
          </a:xfrm>
          <a:prstGeom prst="ellipse">
            <a:avLst/>
          </a:prstGeom>
          <a:solidFill>
            <a:srgbClr val="0E1F35"/>
          </a:solidFill>
          <a:ln w="12700">
            <a:solidFill>
              <a:srgbClr val="0E1F35"/>
            </a:solidFill>
            <a:prstDash val="solid"/>
          </a:ln>
        </p:spPr>
      </p:sp>
      <p:sp>
        <p:nvSpPr>
          <p:cNvPr id="6" name="Text 4"/>
          <p:cNvSpPr/>
          <p:nvPr/>
        </p:nvSpPr>
        <p:spPr>
          <a:xfrm>
            <a:off x="758952"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289304" y="1609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Bank-wide Oversight</a:t>
            </a:r>
            <a:endParaRPr lang="en-US" sz="1450" dirty="0"/>
          </a:p>
        </p:txBody>
      </p:sp>
      <p:sp>
        <p:nvSpPr>
          <p:cNvPr id="8" name="Text 6"/>
          <p:cNvSpPr/>
          <p:nvPr/>
        </p:nvSpPr>
        <p:spPr>
          <a:xfrm>
            <a:off x="758952" y="2176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How is EDRMS being used across the whole bank?</a:t>
            </a:r>
            <a:endParaRPr lang="en-US" sz="1100" dirty="0"/>
          </a:p>
        </p:txBody>
      </p:sp>
      <p:sp>
        <p:nvSpPr>
          <p:cNvPr id="9" name="Text 7"/>
          <p:cNvSpPr/>
          <p:nvPr/>
        </p:nvSpPr>
        <p:spPr>
          <a:xfrm>
            <a:off x="758952" y="2907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44 of 65 built  ·  7 later release</a:t>
            </a:r>
            <a:endParaRPr lang="en-US" sz="1000" dirty="0"/>
          </a:p>
        </p:txBody>
      </p:sp>
      <p:sp>
        <p:nvSpPr>
          <p:cNvPr id="10" name="Shape 8"/>
          <p:cNvSpPr/>
          <p:nvPr/>
        </p:nvSpPr>
        <p:spPr>
          <a:xfrm>
            <a:off x="758952" y="3182112"/>
            <a:ext cx="3017520" cy="68580"/>
          </a:xfrm>
          <a:prstGeom prst="rect">
            <a:avLst/>
          </a:prstGeom>
          <a:solidFill>
            <a:srgbClr val="E4EBF2"/>
          </a:solidFill>
          <a:ln w="12700">
            <a:solidFill>
              <a:srgbClr val="E4EBF2"/>
            </a:solidFill>
            <a:prstDash val="solid"/>
          </a:ln>
        </p:spPr>
      </p:sp>
      <p:sp>
        <p:nvSpPr>
          <p:cNvPr id="11" name="Shape 9"/>
          <p:cNvSpPr/>
          <p:nvPr/>
        </p:nvSpPr>
        <p:spPr>
          <a:xfrm>
            <a:off x="758952" y="3182112"/>
            <a:ext cx="2042629" cy="68580"/>
          </a:xfrm>
          <a:prstGeom prst="rect">
            <a:avLst/>
          </a:prstGeom>
          <a:solidFill>
            <a:srgbClr val="5CA943"/>
          </a:solidFill>
          <a:ln w="12700">
            <a:solidFill>
              <a:srgbClr val="5CA943"/>
            </a:solidFill>
            <a:prstDash val="solid"/>
          </a:ln>
        </p:spPr>
      </p:sp>
      <p:sp>
        <p:nvSpPr>
          <p:cNvPr id="12" name="Shape 10"/>
          <p:cNvSpPr/>
          <p:nvPr/>
        </p:nvSpPr>
        <p:spPr>
          <a:xfrm>
            <a:off x="2801581" y="3182112"/>
            <a:ext cx="324964" cy="68580"/>
          </a:xfrm>
          <a:prstGeom prst="rect">
            <a:avLst/>
          </a:prstGeom>
          <a:solidFill>
            <a:srgbClr val="3D6E8C"/>
          </a:solidFill>
          <a:ln w="12700">
            <a:solidFill>
              <a:srgbClr val="3D6E8C"/>
            </a:solidFill>
            <a:prstDash val="solid"/>
          </a:ln>
        </p:spPr>
      </p:sp>
      <p:sp>
        <p:nvSpPr>
          <p:cNvPr id="13" name="Shape 11"/>
          <p:cNvSpPr/>
          <p:nvPr/>
        </p:nvSpPr>
        <p:spPr>
          <a:xfrm>
            <a:off x="4297680" y="1371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4" name="Shape 12"/>
          <p:cNvSpPr/>
          <p:nvPr/>
        </p:nvSpPr>
        <p:spPr>
          <a:xfrm>
            <a:off x="4553712" y="1627632"/>
            <a:ext cx="420624" cy="420624"/>
          </a:xfrm>
          <a:prstGeom prst="ellipse">
            <a:avLst/>
          </a:prstGeom>
          <a:solidFill>
            <a:srgbClr val="0E1F35"/>
          </a:solidFill>
          <a:ln w="12700">
            <a:solidFill>
              <a:srgbClr val="0E1F35"/>
            </a:solidFill>
            <a:prstDash val="solid"/>
          </a:ln>
        </p:spPr>
      </p:sp>
      <p:sp>
        <p:nvSpPr>
          <p:cNvPr id="15" name="Text 13"/>
          <p:cNvSpPr/>
          <p:nvPr/>
        </p:nvSpPr>
        <p:spPr>
          <a:xfrm>
            <a:off x="4553712"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5084064" y="1609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Department Insights</a:t>
            </a:r>
            <a:endParaRPr lang="en-US" sz="1450" dirty="0"/>
          </a:p>
        </p:txBody>
      </p:sp>
      <p:sp>
        <p:nvSpPr>
          <p:cNvPr id="17" name="Text 15"/>
          <p:cNvSpPr/>
          <p:nvPr/>
        </p:nvSpPr>
        <p:spPr>
          <a:xfrm>
            <a:off x="4553712" y="2176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How is one department using EDRMS?</a:t>
            </a:r>
            <a:endParaRPr lang="en-US" sz="1100" dirty="0"/>
          </a:p>
        </p:txBody>
      </p:sp>
      <p:sp>
        <p:nvSpPr>
          <p:cNvPr id="18" name="Text 16"/>
          <p:cNvSpPr/>
          <p:nvPr/>
        </p:nvSpPr>
        <p:spPr>
          <a:xfrm>
            <a:off x="4553712" y="2907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59 of 84 built  ·  6 later release</a:t>
            </a:r>
            <a:endParaRPr lang="en-US" sz="1000" dirty="0"/>
          </a:p>
        </p:txBody>
      </p:sp>
      <p:sp>
        <p:nvSpPr>
          <p:cNvPr id="19" name="Shape 17"/>
          <p:cNvSpPr/>
          <p:nvPr/>
        </p:nvSpPr>
        <p:spPr>
          <a:xfrm>
            <a:off x="4553712" y="3182112"/>
            <a:ext cx="3017520" cy="68580"/>
          </a:xfrm>
          <a:prstGeom prst="rect">
            <a:avLst/>
          </a:prstGeom>
          <a:solidFill>
            <a:srgbClr val="E4EBF2"/>
          </a:solidFill>
          <a:ln w="12700">
            <a:solidFill>
              <a:srgbClr val="E4EBF2"/>
            </a:solidFill>
            <a:prstDash val="solid"/>
          </a:ln>
        </p:spPr>
      </p:sp>
      <p:sp>
        <p:nvSpPr>
          <p:cNvPr id="20" name="Shape 18"/>
          <p:cNvSpPr/>
          <p:nvPr/>
        </p:nvSpPr>
        <p:spPr>
          <a:xfrm>
            <a:off x="4553712" y="3182112"/>
            <a:ext cx="2119449" cy="68580"/>
          </a:xfrm>
          <a:prstGeom prst="rect">
            <a:avLst/>
          </a:prstGeom>
          <a:solidFill>
            <a:srgbClr val="5CA943"/>
          </a:solidFill>
          <a:ln w="12700">
            <a:solidFill>
              <a:srgbClr val="5CA943"/>
            </a:solidFill>
            <a:prstDash val="solid"/>
          </a:ln>
        </p:spPr>
      </p:sp>
      <p:sp>
        <p:nvSpPr>
          <p:cNvPr id="21" name="Shape 19"/>
          <p:cNvSpPr/>
          <p:nvPr/>
        </p:nvSpPr>
        <p:spPr>
          <a:xfrm>
            <a:off x="6673161" y="3182112"/>
            <a:ext cx="215537" cy="68580"/>
          </a:xfrm>
          <a:prstGeom prst="rect">
            <a:avLst/>
          </a:prstGeom>
          <a:solidFill>
            <a:srgbClr val="3D6E8C"/>
          </a:solidFill>
          <a:ln w="12700">
            <a:solidFill>
              <a:srgbClr val="3D6E8C"/>
            </a:solidFill>
            <a:prstDash val="solid"/>
          </a:ln>
        </p:spPr>
      </p:sp>
      <p:sp>
        <p:nvSpPr>
          <p:cNvPr id="22" name="Shape 20"/>
          <p:cNvSpPr/>
          <p:nvPr/>
        </p:nvSpPr>
        <p:spPr>
          <a:xfrm>
            <a:off x="8092440" y="1371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8348472" y="1627632"/>
            <a:ext cx="420624" cy="420624"/>
          </a:xfrm>
          <a:prstGeom prst="ellipse">
            <a:avLst/>
          </a:prstGeom>
          <a:solidFill>
            <a:srgbClr val="0E1F35"/>
          </a:solidFill>
          <a:ln w="12700">
            <a:solidFill>
              <a:srgbClr val="0E1F35"/>
            </a:solidFill>
            <a:prstDash val="solid"/>
          </a:ln>
        </p:spPr>
      </p:sp>
      <p:sp>
        <p:nvSpPr>
          <p:cNvPr id="24" name="Text 22"/>
          <p:cNvSpPr/>
          <p:nvPr/>
        </p:nvSpPr>
        <p:spPr>
          <a:xfrm>
            <a:off x="8348472"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5" name="Text 23"/>
          <p:cNvSpPr/>
          <p:nvPr/>
        </p:nvSpPr>
        <p:spPr>
          <a:xfrm>
            <a:off x="8878824" y="1609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Project Insights</a:t>
            </a:r>
            <a:endParaRPr lang="en-US" sz="1450" dirty="0"/>
          </a:p>
        </p:txBody>
      </p:sp>
      <p:sp>
        <p:nvSpPr>
          <p:cNvPr id="26" name="Text 24"/>
          <p:cNvSpPr/>
          <p:nvPr/>
        </p:nvSpPr>
        <p:spPr>
          <a:xfrm>
            <a:off x="8348472" y="2176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Are project sites being kept up to recordkeeping standards?</a:t>
            </a:r>
            <a:endParaRPr lang="en-US" sz="1100" dirty="0"/>
          </a:p>
        </p:txBody>
      </p:sp>
      <p:sp>
        <p:nvSpPr>
          <p:cNvPr id="27" name="Text 25"/>
          <p:cNvSpPr/>
          <p:nvPr/>
        </p:nvSpPr>
        <p:spPr>
          <a:xfrm>
            <a:off x="8348472" y="2907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21 of 21 built</a:t>
            </a:r>
            <a:endParaRPr lang="en-US" sz="1000" dirty="0"/>
          </a:p>
        </p:txBody>
      </p:sp>
      <p:sp>
        <p:nvSpPr>
          <p:cNvPr id="28" name="Shape 26"/>
          <p:cNvSpPr/>
          <p:nvPr/>
        </p:nvSpPr>
        <p:spPr>
          <a:xfrm>
            <a:off x="8348472" y="3182112"/>
            <a:ext cx="3017520" cy="68580"/>
          </a:xfrm>
          <a:prstGeom prst="rect">
            <a:avLst/>
          </a:prstGeom>
          <a:solidFill>
            <a:srgbClr val="E4EBF2"/>
          </a:solidFill>
          <a:ln w="12700">
            <a:solidFill>
              <a:srgbClr val="E4EBF2"/>
            </a:solidFill>
            <a:prstDash val="solid"/>
          </a:ln>
        </p:spPr>
      </p:sp>
      <p:sp>
        <p:nvSpPr>
          <p:cNvPr id="29" name="Shape 27"/>
          <p:cNvSpPr/>
          <p:nvPr/>
        </p:nvSpPr>
        <p:spPr>
          <a:xfrm>
            <a:off x="8348472" y="3182112"/>
            <a:ext cx="3017520" cy="68580"/>
          </a:xfrm>
          <a:prstGeom prst="rect">
            <a:avLst/>
          </a:prstGeom>
          <a:solidFill>
            <a:srgbClr val="5CA943"/>
          </a:solidFill>
          <a:ln w="12700">
            <a:solidFill>
              <a:srgbClr val="5CA943"/>
            </a:solidFill>
            <a:prstDash val="solid"/>
          </a:ln>
        </p:spPr>
      </p:sp>
      <p:sp>
        <p:nvSpPr>
          <p:cNvPr id="30" name="Shape 28"/>
          <p:cNvSpPr/>
          <p:nvPr/>
        </p:nvSpPr>
        <p:spPr>
          <a:xfrm>
            <a:off x="502920" y="3657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31" name="Shape 29"/>
          <p:cNvSpPr/>
          <p:nvPr/>
        </p:nvSpPr>
        <p:spPr>
          <a:xfrm>
            <a:off x="758952" y="3913632"/>
            <a:ext cx="420624" cy="420624"/>
          </a:xfrm>
          <a:prstGeom prst="ellipse">
            <a:avLst/>
          </a:prstGeom>
          <a:solidFill>
            <a:srgbClr val="0E1F35"/>
          </a:solidFill>
          <a:ln w="12700">
            <a:solidFill>
              <a:srgbClr val="0E1F35"/>
            </a:solidFill>
            <a:prstDash val="solid"/>
          </a:ln>
        </p:spPr>
      </p:sp>
      <p:sp>
        <p:nvSpPr>
          <p:cNvPr id="32" name="Text 30"/>
          <p:cNvSpPr/>
          <p:nvPr/>
        </p:nvSpPr>
        <p:spPr>
          <a:xfrm>
            <a:off x="758952" y="3913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3" name="Text 31"/>
          <p:cNvSpPr/>
          <p:nvPr/>
        </p:nvSpPr>
        <p:spPr>
          <a:xfrm>
            <a:off x="1289304" y="3895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Institutional File Plan</a:t>
            </a:r>
            <a:endParaRPr lang="en-US" sz="1450" dirty="0"/>
          </a:p>
        </p:txBody>
      </p:sp>
      <p:sp>
        <p:nvSpPr>
          <p:cNvPr id="34" name="Text 32"/>
          <p:cNvSpPr/>
          <p:nvPr/>
        </p:nvSpPr>
        <p:spPr>
          <a:xfrm>
            <a:off x="758952" y="4462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Is the file plan actually being used?</a:t>
            </a:r>
            <a:endParaRPr lang="en-US" sz="1100" dirty="0"/>
          </a:p>
        </p:txBody>
      </p:sp>
      <p:sp>
        <p:nvSpPr>
          <p:cNvPr id="35" name="Text 33"/>
          <p:cNvSpPr/>
          <p:nvPr/>
        </p:nvSpPr>
        <p:spPr>
          <a:xfrm>
            <a:off x="758952" y="5193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22 of 26 built</a:t>
            </a:r>
            <a:endParaRPr lang="en-US" sz="1000" dirty="0"/>
          </a:p>
        </p:txBody>
      </p:sp>
      <p:sp>
        <p:nvSpPr>
          <p:cNvPr id="36" name="Shape 34"/>
          <p:cNvSpPr/>
          <p:nvPr/>
        </p:nvSpPr>
        <p:spPr>
          <a:xfrm>
            <a:off x="758952" y="5468112"/>
            <a:ext cx="3017520" cy="68580"/>
          </a:xfrm>
          <a:prstGeom prst="rect">
            <a:avLst/>
          </a:prstGeom>
          <a:solidFill>
            <a:srgbClr val="E4EBF2"/>
          </a:solidFill>
          <a:ln w="12700">
            <a:solidFill>
              <a:srgbClr val="E4EBF2"/>
            </a:solidFill>
            <a:prstDash val="solid"/>
          </a:ln>
        </p:spPr>
      </p:sp>
      <p:sp>
        <p:nvSpPr>
          <p:cNvPr id="37" name="Shape 35"/>
          <p:cNvSpPr/>
          <p:nvPr/>
        </p:nvSpPr>
        <p:spPr>
          <a:xfrm>
            <a:off x="758952" y="5468112"/>
            <a:ext cx="2553286" cy="68580"/>
          </a:xfrm>
          <a:prstGeom prst="rect">
            <a:avLst/>
          </a:prstGeom>
          <a:solidFill>
            <a:srgbClr val="5CA943"/>
          </a:solidFill>
          <a:ln w="12700">
            <a:solidFill>
              <a:srgbClr val="5CA943"/>
            </a:solidFill>
            <a:prstDash val="solid"/>
          </a:ln>
        </p:spPr>
      </p:sp>
      <p:sp>
        <p:nvSpPr>
          <p:cNvPr id="38" name="Shape 36"/>
          <p:cNvSpPr/>
          <p:nvPr/>
        </p:nvSpPr>
        <p:spPr>
          <a:xfrm>
            <a:off x="4297680" y="3657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39" name="Shape 37"/>
          <p:cNvSpPr/>
          <p:nvPr/>
        </p:nvSpPr>
        <p:spPr>
          <a:xfrm>
            <a:off x="4553712" y="3913632"/>
            <a:ext cx="420624" cy="420624"/>
          </a:xfrm>
          <a:prstGeom prst="ellipse">
            <a:avLst/>
          </a:prstGeom>
          <a:solidFill>
            <a:srgbClr val="0E1F35"/>
          </a:solidFill>
          <a:ln w="12700">
            <a:solidFill>
              <a:srgbClr val="0E1F35"/>
            </a:solidFill>
            <a:prstDash val="solid"/>
          </a:ln>
        </p:spPr>
      </p:sp>
      <p:sp>
        <p:nvSpPr>
          <p:cNvPr id="40" name="Text 38"/>
          <p:cNvSpPr/>
          <p:nvPr/>
        </p:nvSpPr>
        <p:spPr>
          <a:xfrm>
            <a:off x="4553712" y="3913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41" name="Text 39"/>
          <p:cNvSpPr/>
          <p:nvPr/>
        </p:nvSpPr>
        <p:spPr>
          <a:xfrm>
            <a:off x="5084064" y="3895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Retention and Disposal</a:t>
            </a:r>
            <a:endParaRPr lang="en-US" sz="1450" dirty="0"/>
          </a:p>
        </p:txBody>
      </p:sp>
      <p:sp>
        <p:nvSpPr>
          <p:cNvPr id="42" name="Text 40"/>
          <p:cNvSpPr/>
          <p:nvPr/>
        </p:nvSpPr>
        <p:spPr>
          <a:xfrm>
            <a:off x="4553712" y="4462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What must be kept forever, and what is coming up for disposal?</a:t>
            </a:r>
            <a:endParaRPr lang="en-US" sz="1100" dirty="0"/>
          </a:p>
        </p:txBody>
      </p:sp>
      <p:sp>
        <p:nvSpPr>
          <p:cNvPr id="43" name="Text 41"/>
          <p:cNvSpPr/>
          <p:nvPr/>
        </p:nvSpPr>
        <p:spPr>
          <a:xfrm>
            <a:off x="4553712" y="5193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18 of 27 built  ·  1 later release</a:t>
            </a:r>
            <a:endParaRPr lang="en-US" sz="1000" dirty="0"/>
          </a:p>
        </p:txBody>
      </p:sp>
      <p:sp>
        <p:nvSpPr>
          <p:cNvPr id="44" name="Shape 42"/>
          <p:cNvSpPr/>
          <p:nvPr/>
        </p:nvSpPr>
        <p:spPr>
          <a:xfrm>
            <a:off x="4553712" y="5468112"/>
            <a:ext cx="3017520" cy="68580"/>
          </a:xfrm>
          <a:prstGeom prst="rect">
            <a:avLst/>
          </a:prstGeom>
          <a:solidFill>
            <a:srgbClr val="E4EBF2"/>
          </a:solidFill>
          <a:ln w="12700">
            <a:solidFill>
              <a:srgbClr val="E4EBF2"/>
            </a:solidFill>
            <a:prstDash val="solid"/>
          </a:ln>
        </p:spPr>
      </p:sp>
      <p:sp>
        <p:nvSpPr>
          <p:cNvPr id="45" name="Shape 43"/>
          <p:cNvSpPr/>
          <p:nvPr/>
        </p:nvSpPr>
        <p:spPr>
          <a:xfrm>
            <a:off x="4553712" y="5468112"/>
            <a:ext cx="2011680" cy="68580"/>
          </a:xfrm>
          <a:prstGeom prst="rect">
            <a:avLst/>
          </a:prstGeom>
          <a:solidFill>
            <a:srgbClr val="5CA943"/>
          </a:solidFill>
          <a:ln w="12700">
            <a:solidFill>
              <a:srgbClr val="5CA943"/>
            </a:solidFill>
            <a:prstDash val="solid"/>
          </a:ln>
        </p:spPr>
      </p:sp>
      <p:sp>
        <p:nvSpPr>
          <p:cNvPr id="46" name="Shape 44"/>
          <p:cNvSpPr/>
          <p:nvPr/>
        </p:nvSpPr>
        <p:spPr>
          <a:xfrm>
            <a:off x="6565392" y="5468112"/>
            <a:ext cx="111760" cy="68580"/>
          </a:xfrm>
          <a:prstGeom prst="rect">
            <a:avLst/>
          </a:prstGeom>
          <a:solidFill>
            <a:srgbClr val="3D6E8C"/>
          </a:solidFill>
          <a:ln w="12700">
            <a:solidFill>
              <a:srgbClr val="3D6E8C"/>
            </a:solidFill>
            <a:prstDash val="solid"/>
          </a:ln>
        </p:spPr>
      </p:sp>
      <p:sp>
        <p:nvSpPr>
          <p:cNvPr id="47" name="Shape 45"/>
          <p:cNvSpPr/>
          <p:nvPr/>
        </p:nvSpPr>
        <p:spPr>
          <a:xfrm>
            <a:off x="8092440" y="3657600"/>
            <a:ext cx="3520440" cy="2011680"/>
          </a:xfrm>
          <a:prstGeom prst="roundRect">
            <a:avLst>
              <a:gd name="adj" fmla="val 318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48" name="Shape 46"/>
          <p:cNvSpPr/>
          <p:nvPr/>
        </p:nvSpPr>
        <p:spPr>
          <a:xfrm>
            <a:off x="8348472" y="3913632"/>
            <a:ext cx="420624" cy="420624"/>
          </a:xfrm>
          <a:prstGeom prst="ellipse">
            <a:avLst/>
          </a:prstGeom>
          <a:solidFill>
            <a:srgbClr val="0E1F35"/>
          </a:solidFill>
          <a:ln w="12700">
            <a:solidFill>
              <a:srgbClr val="0E1F35"/>
            </a:solidFill>
            <a:prstDash val="solid"/>
          </a:ln>
        </p:spPr>
      </p:sp>
      <p:sp>
        <p:nvSpPr>
          <p:cNvPr id="49" name="Text 47"/>
          <p:cNvSpPr/>
          <p:nvPr/>
        </p:nvSpPr>
        <p:spPr>
          <a:xfrm>
            <a:off x="8348472" y="3913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50" name="Text 48"/>
          <p:cNvSpPr/>
          <p:nvPr/>
        </p:nvSpPr>
        <p:spPr>
          <a:xfrm>
            <a:off x="8878824" y="3895344"/>
            <a:ext cx="2514600" cy="457200"/>
          </a:xfrm>
          <a:prstGeom prst="rect">
            <a:avLst/>
          </a:prstGeom>
          <a:noFill/>
          <a:ln/>
        </p:spPr>
        <p:txBody>
          <a:bodyPr wrap="square" lIns="0" tIns="0" rIns="0" bIns="0" rtlCol="0" anchor="ctr"/>
          <a:lstStyle/>
          <a:p>
            <a:pPr indent="0" marL="0">
              <a:buNone/>
            </a:pPr>
            <a:r>
              <a:rPr lang="en-US" sz="1450" b="1" dirty="0">
                <a:solidFill>
                  <a:srgbClr val="10243E"/>
                </a:solidFill>
                <a:latin typeface="Cambria" pitchFamily="34" charset="0"/>
                <a:ea typeface="Cambria" pitchFamily="34" charset="-122"/>
                <a:cs typeface="Cambria" pitchFamily="34" charset="-120"/>
              </a:rPr>
              <a:t>Records and Archive Holdings</a:t>
            </a:r>
            <a:endParaRPr lang="en-US" sz="1450" dirty="0"/>
          </a:p>
        </p:txBody>
      </p:sp>
      <p:sp>
        <p:nvSpPr>
          <p:cNvPr id="51" name="Text 49"/>
          <p:cNvSpPr/>
          <p:nvPr/>
        </p:nvSpPr>
        <p:spPr>
          <a:xfrm>
            <a:off x="8348472" y="4462272"/>
            <a:ext cx="3017520" cy="658368"/>
          </a:xfrm>
          <a:prstGeom prst="rect">
            <a:avLst/>
          </a:prstGeom>
          <a:noFill/>
          <a:ln/>
        </p:spPr>
        <p:txBody>
          <a:bodyPr wrap="square" lIns="0" tIns="0" rIns="0" bIns="0" rtlCol="0" anchor="ctr"/>
          <a:lstStyle/>
          <a:p>
            <a:pPr indent="0" marL="0">
              <a:lnSpc>
                <a:spcPts val="1450"/>
              </a:lnSpc>
              <a:buNone/>
            </a:pPr>
            <a:r>
              <a:rPr lang="en-US" sz="1100" dirty="0">
                <a:solidFill>
                  <a:srgbClr val="33475F"/>
                </a:solidFill>
                <a:latin typeface="Calibri" pitchFamily="34" charset="0"/>
                <a:ea typeface="Calibri" pitchFamily="34" charset="-122"/>
                <a:cs typeface="Calibri" pitchFamily="34" charset="-120"/>
              </a:rPr>
              <a:t>What is in the physical archive, and what is moving in and out?</a:t>
            </a:r>
            <a:endParaRPr lang="en-US" sz="1100" dirty="0"/>
          </a:p>
        </p:txBody>
      </p:sp>
      <p:sp>
        <p:nvSpPr>
          <p:cNvPr id="52" name="Text 50"/>
          <p:cNvSpPr/>
          <p:nvPr/>
        </p:nvSpPr>
        <p:spPr>
          <a:xfrm>
            <a:off x="8348472" y="5193792"/>
            <a:ext cx="3017520" cy="256032"/>
          </a:xfrm>
          <a:prstGeom prst="rect">
            <a:avLst/>
          </a:prstGeom>
          <a:noFill/>
          <a:ln/>
        </p:spPr>
        <p:txBody>
          <a:bodyPr wrap="square" lIns="0" tIns="0" rIns="0" bIns="0" rtlCol="0" anchor="ctr"/>
          <a:lstStyle/>
          <a:p>
            <a:pPr indent="0" marL="0">
              <a:buNone/>
            </a:pPr>
            <a:r>
              <a:rPr lang="en-US" sz="1000" b="1" dirty="0">
                <a:solidFill>
                  <a:srgbClr val="0072BC"/>
                </a:solidFill>
                <a:latin typeface="Calibri" pitchFamily="34" charset="0"/>
                <a:ea typeface="Calibri" pitchFamily="34" charset="-122"/>
                <a:cs typeface="Calibri" pitchFamily="34" charset="-120"/>
              </a:rPr>
              <a:t>24 of 26 built  ·  2 later release</a:t>
            </a:r>
            <a:endParaRPr lang="en-US" sz="1000" dirty="0"/>
          </a:p>
        </p:txBody>
      </p:sp>
      <p:sp>
        <p:nvSpPr>
          <p:cNvPr id="53" name="Shape 51"/>
          <p:cNvSpPr/>
          <p:nvPr/>
        </p:nvSpPr>
        <p:spPr>
          <a:xfrm>
            <a:off x="8348472" y="5468112"/>
            <a:ext cx="3017520" cy="68580"/>
          </a:xfrm>
          <a:prstGeom prst="rect">
            <a:avLst/>
          </a:prstGeom>
          <a:solidFill>
            <a:srgbClr val="E4EBF2"/>
          </a:solidFill>
          <a:ln w="12700">
            <a:solidFill>
              <a:srgbClr val="E4EBF2"/>
            </a:solidFill>
            <a:prstDash val="solid"/>
          </a:ln>
        </p:spPr>
      </p:sp>
      <p:sp>
        <p:nvSpPr>
          <p:cNvPr id="54" name="Shape 52"/>
          <p:cNvSpPr/>
          <p:nvPr/>
        </p:nvSpPr>
        <p:spPr>
          <a:xfrm>
            <a:off x="8348472" y="5468112"/>
            <a:ext cx="2785403" cy="68580"/>
          </a:xfrm>
          <a:prstGeom prst="rect">
            <a:avLst/>
          </a:prstGeom>
          <a:solidFill>
            <a:srgbClr val="5CA943"/>
          </a:solidFill>
          <a:ln w="12700">
            <a:solidFill>
              <a:srgbClr val="5CA943"/>
            </a:solidFill>
            <a:prstDash val="solid"/>
          </a:ln>
        </p:spPr>
      </p:sp>
      <p:sp>
        <p:nvSpPr>
          <p:cNvPr id="55" name="Shape 53"/>
          <p:cNvSpPr/>
          <p:nvPr/>
        </p:nvSpPr>
        <p:spPr>
          <a:xfrm>
            <a:off x="11133875" y="5468112"/>
            <a:ext cx="232117" cy="68580"/>
          </a:xfrm>
          <a:prstGeom prst="rect">
            <a:avLst/>
          </a:prstGeom>
          <a:solidFill>
            <a:srgbClr val="3D6E8C"/>
          </a:solidFill>
          <a:ln w="12700">
            <a:solidFill>
              <a:srgbClr val="3D6E8C"/>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WHERE WE ARE</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188 of the 249 things you asked for are built</a:t>
            </a:r>
            <a:endParaRPr lang="en-US" sz="2500" dirty="0"/>
          </a:p>
        </p:txBody>
      </p:sp>
      <p:graphicFrame>
        <p:nvGraphicFramePr>
          <p:cNvPr id="4" name="Chart 0" descr=""/>
          <p:cNvGraphicFramePr/>
          <p:nvPr/>
        </p:nvGraphicFramePr>
        <p:xfrm>
          <a:off x="502920" y="1371600"/>
          <a:ext cx="7406640" cy="4663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737360"/>
            <a:ext cx="3566160" cy="1371600"/>
          </a:xfrm>
          <a:prstGeom prst="roundRect">
            <a:avLst>
              <a:gd name="adj" fmla="val 4667"/>
            </a:avLst>
          </a:prstGeom>
          <a:solidFill>
            <a:srgbClr val="F4F7FA"/>
          </a:solidFill>
          <a:ln w="12700">
            <a:solidFill>
              <a:srgbClr val="DCE4EC"/>
            </a:solidFill>
            <a:prstDash val="solid"/>
          </a:ln>
        </p:spPr>
      </p:sp>
      <p:sp>
        <p:nvSpPr>
          <p:cNvPr id="6" name="Text 3"/>
          <p:cNvSpPr/>
          <p:nvPr/>
        </p:nvSpPr>
        <p:spPr>
          <a:xfrm>
            <a:off x="8366760" y="1920240"/>
            <a:ext cx="3017520" cy="566928"/>
          </a:xfrm>
          <a:prstGeom prst="rect">
            <a:avLst/>
          </a:prstGeom>
          <a:noFill/>
          <a:ln/>
        </p:spPr>
        <p:txBody>
          <a:bodyPr wrap="square" lIns="0" tIns="0" rIns="0" bIns="0" rtlCol="0" anchor="ctr"/>
          <a:lstStyle/>
          <a:p>
            <a:pPr indent="0" marL="0">
              <a:buNone/>
            </a:pPr>
            <a:r>
              <a:rPr lang="en-US" sz="3400" b="1" dirty="0">
                <a:solidFill>
                  <a:srgbClr val="5CA943"/>
                </a:solidFill>
                <a:latin typeface="Cambria" pitchFamily="34" charset="0"/>
                <a:ea typeface="Cambria" pitchFamily="34" charset="-122"/>
                <a:cs typeface="Cambria" pitchFamily="34" charset="-120"/>
              </a:rPr>
              <a:t>76%</a:t>
            </a:r>
            <a:endParaRPr lang="en-US" sz="3400" dirty="0"/>
          </a:p>
        </p:txBody>
      </p:sp>
      <p:sp>
        <p:nvSpPr>
          <p:cNvPr id="7" name="Text 4"/>
          <p:cNvSpPr/>
          <p:nvPr/>
        </p:nvSpPr>
        <p:spPr>
          <a:xfrm>
            <a:off x="8366760" y="2487168"/>
            <a:ext cx="3017520" cy="237744"/>
          </a:xfrm>
          <a:prstGeom prst="rect">
            <a:avLst/>
          </a:prstGeom>
          <a:noFill/>
          <a:ln/>
        </p:spPr>
        <p:txBody>
          <a:bodyPr wrap="square" lIns="0" tIns="0" rIns="0" bIns="0" rtlCol="0" anchor="ctr"/>
          <a:lstStyle/>
          <a:p>
            <a:pPr indent="0" marL="0">
              <a:buNone/>
            </a:pPr>
            <a:r>
              <a:rPr lang="en-US" sz="1150" b="1" dirty="0">
                <a:solidFill>
                  <a:srgbClr val="10243E"/>
                </a:solidFill>
                <a:latin typeface="Calibri" pitchFamily="34" charset="0"/>
                <a:ea typeface="Calibri" pitchFamily="34" charset="-122"/>
                <a:cs typeface="Calibri" pitchFamily="34" charset="-120"/>
              </a:rPr>
              <a:t>Built</a:t>
            </a:r>
            <a:endParaRPr lang="en-US" sz="1150" dirty="0"/>
          </a:p>
        </p:txBody>
      </p:sp>
      <p:sp>
        <p:nvSpPr>
          <p:cNvPr id="8" name="Text 5"/>
          <p:cNvSpPr/>
          <p:nvPr/>
        </p:nvSpPr>
        <p:spPr>
          <a:xfrm>
            <a:off x="8366760" y="2706624"/>
            <a:ext cx="3108960" cy="310896"/>
          </a:xfrm>
          <a:prstGeom prst="rect">
            <a:avLst/>
          </a:prstGeom>
          <a:noFill/>
          <a:ln/>
        </p:spPr>
        <p:txBody>
          <a:bodyPr wrap="square" lIns="0" tIns="0" rIns="0" bIns="0" rtlCol="0" anchor="ctr"/>
          <a:lstStyle/>
          <a:p>
            <a:pPr indent="0" marL="0">
              <a:lnSpc>
                <a:spcPts val="1200"/>
              </a:lnSpc>
              <a:buNone/>
            </a:pPr>
            <a:r>
              <a:rPr lang="en-US" sz="950" dirty="0">
                <a:solidFill>
                  <a:srgbClr val="6B7A8C"/>
                </a:solidFill>
                <a:latin typeface="Calibri" pitchFamily="34" charset="0"/>
                <a:ea typeface="Calibri" pitchFamily="34" charset="-122"/>
                <a:cs typeface="Calibri" pitchFamily="34" charset="-120"/>
              </a:rPr>
              <a:t>Working in the prototype today</a:t>
            </a:r>
            <a:endParaRPr lang="en-US" sz="950" dirty="0"/>
          </a:p>
        </p:txBody>
      </p:sp>
      <p:sp>
        <p:nvSpPr>
          <p:cNvPr id="9" name="Shape 6"/>
          <p:cNvSpPr/>
          <p:nvPr/>
        </p:nvSpPr>
        <p:spPr>
          <a:xfrm>
            <a:off x="8092440" y="3246120"/>
            <a:ext cx="3566160" cy="1371600"/>
          </a:xfrm>
          <a:prstGeom prst="roundRect">
            <a:avLst>
              <a:gd name="adj" fmla="val 4667"/>
            </a:avLst>
          </a:prstGeom>
          <a:solidFill>
            <a:srgbClr val="F4F7FA"/>
          </a:solidFill>
          <a:ln w="12700">
            <a:solidFill>
              <a:srgbClr val="DCE4EC"/>
            </a:solidFill>
            <a:prstDash val="solid"/>
          </a:ln>
        </p:spPr>
      </p:sp>
      <p:sp>
        <p:nvSpPr>
          <p:cNvPr id="10" name="Text 7"/>
          <p:cNvSpPr/>
          <p:nvPr/>
        </p:nvSpPr>
        <p:spPr>
          <a:xfrm>
            <a:off x="8366760" y="3429000"/>
            <a:ext cx="3017520" cy="566928"/>
          </a:xfrm>
          <a:prstGeom prst="rect">
            <a:avLst/>
          </a:prstGeom>
          <a:noFill/>
          <a:ln/>
        </p:spPr>
        <p:txBody>
          <a:bodyPr wrap="square" lIns="0" tIns="0" rIns="0" bIns="0" rtlCol="0" anchor="ctr"/>
          <a:lstStyle/>
          <a:p>
            <a:pPr indent="0" marL="0">
              <a:buNone/>
            </a:pPr>
            <a:r>
              <a:rPr lang="en-US" sz="3400" b="1" dirty="0">
                <a:solidFill>
                  <a:srgbClr val="B3241C"/>
                </a:solidFill>
                <a:latin typeface="Cambria" pitchFamily="34" charset="0"/>
                <a:ea typeface="Cambria" pitchFamily="34" charset="-122"/>
                <a:cs typeface="Cambria" pitchFamily="34" charset="-120"/>
              </a:rPr>
              <a:t>45</a:t>
            </a:r>
            <a:endParaRPr lang="en-US" sz="3400" dirty="0"/>
          </a:p>
        </p:txBody>
      </p:sp>
      <p:sp>
        <p:nvSpPr>
          <p:cNvPr id="11" name="Text 8"/>
          <p:cNvSpPr/>
          <p:nvPr/>
        </p:nvSpPr>
        <p:spPr>
          <a:xfrm>
            <a:off x="8366760" y="3995928"/>
            <a:ext cx="3017520" cy="237744"/>
          </a:xfrm>
          <a:prstGeom prst="rect">
            <a:avLst/>
          </a:prstGeom>
          <a:noFill/>
          <a:ln/>
        </p:spPr>
        <p:txBody>
          <a:bodyPr wrap="square" lIns="0" tIns="0" rIns="0" bIns="0" rtlCol="0" anchor="ctr"/>
          <a:lstStyle/>
          <a:p>
            <a:pPr indent="0" marL="0">
              <a:buNone/>
            </a:pPr>
            <a:r>
              <a:rPr lang="en-US" sz="1150" b="1" dirty="0">
                <a:solidFill>
                  <a:srgbClr val="10243E"/>
                </a:solidFill>
                <a:latin typeface="Calibri" pitchFamily="34" charset="0"/>
                <a:ea typeface="Calibri" pitchFamily="34" charset="-122"/>
                <a:cs typeface="Calibri" pitchFamily="34" charset="-120"/>
              </a:rPr>
              <a:t>Waiting on you</a:t>
            </a:r>
            <a:endParaRPr lang="en-US" sz="1150" dirty="0"/>
          </a:p>
        </p:txBody>
      </p:sp>
      <p:sp>
        <p:nvSpPr>
          <p:cNvPr id="12" name="Text 9"/>
          <p:cNvSpPr/>
          <p:nvPr/>
        </p:nvSpPr>
        <p:spPr>
          <a:xfrm>
            <a:off x="8366760" y="4215384"/>
            <a:ext cx="3108960" cy="310896"/>
          </a:xfrm>
          <a:prstGeom prst="rect">
            <a:avLst/>
          </a:prstGeom>
          <a:noFill/>
          <a:ln/>
        </p:spPr>
        <p:txBody>
          <a:bodyPr wrap="square" lIns="0" tIns="0" rIns="0" bIns="0" rtlCol="0" anchor="ctr"/>
          <a:lstStyle/>
          <a:p>
            <a:pPr indent="0" marL="0">
              <a:lnSpc>
                <a:spcPts val="1200"/>
              </a:lnSpc>
              <a:buNone/>
            </a:pPr>
            <a:r>
              <a:rPr lang="en-US" sz="950" dirty="0">
                <a:solidFill>
                  <a:srgbClr val="6B7A8C"/>
                </a:solidFill>
                <a:latin typeface="Calibri" pitchFamily="34" charset="0"/>
                <a:ea typeface="Calibri" pitchFamily="34" charset="-122"/>
                <a:cs typeface="Calibri" pitchFamily="34" charset="-120"/>
              </a:rPr>
              <a:t>Questions only you can answer</a:t>
            </a:r>
            <a:endParaRPr lang="en-US" sz="950" dirty="0"/>
          </a:p>
        </p:txBody>
      </p:sp>
      <p:sp>
        <p:nvSpPr>
          <p:cNvPr id="13" name="Shape 10"/>
          <p:cNvSpPr/>
          <p:nvPr/>
        </p:nvSpPr>
        <p:spPr>
          <a:xfrm>
            <a:off x="8092440" y="4754880"/>
            <a:ext cx="3566160" cy="1371600"/>
          </a:xfrm>
          <a:prstGeom prst="roundRect">
            <a:avLst>
              <a:gd name="adj" fmla="val 4667"/>
            </a:avLst>
          </a:prstGeom>
          <a:solidFill>
            <a:srgbClr val="F4F7FA"/>
          </a:solidFill>
          <a:ln w="12700">
            <a:solidFill>
              <a:srgbClr val="DCE4EC"/>
            </a:solidFill>
            <a:prstDash val="solid"/>
          </a:ln>
        </p:spPr>
      </p:sp>
      <p:sp>
        <p:nvSpPr>
          <p:cNvPr id="14" name="Text 11"/>
          <p:cNvSpPr/>
          <p:nvPr/>
        </p:nvSpPr>
        <p:spPr>
          <a:xfrm>
            <a:off x="8366760" y="4937760"/>
            <a:ext cx="3017520" cy="566928"/>
          </a:xfrm>
          <a:prstGeom prst="rect">
            <a:avLst/>
          </a:prstGeom>
          <a:noFill/>
          <a:ln/>
        </p:spPr>
        <p:txBody>
          <a:bodyPr wrap="square" lIns="0" tIns="0" rIns="0" bIns="0" rtlCol="0" anchor="ctr"/>
          <a:lstStyle/>
          <a:p>
            <a:pPr indent="0" marL="0">
              <a:buNone/>
            </a:pPr>
            <a:r>
              <a:rPr lang="en-US" sz="3400" b="1" dirty="0">
                <a:solidFill>
                  <a:srgbClr val="3D6E8C"/>
                </a:solidFill>
                <a:latin typeface="Cambria" pitchFamily="34" charset="0"/>
                <a:ea typeface="Cambria" pitchFamily="34" charset="-122"/>
                <a:cs typeface="Cambria" pitchFamily="34" charset="-120"/>
              </a:rPr>
              <a:t>16</a:t>
            </a:r>
            <a:endParaRPr lang="en-US" sz="3400" dirty="0"/>
          </a:p>
        </p:txBody>
      </p:sp>
      <p:sp>
        <p:nvSpPr>
          <p:cNvPr id="15" name="Text 12"/>
          <p:cNvSpPr/>
          <p:nvPr/>
        </p:nvSpPr>
        <p:spPr>
          <a:xfrm>
            <a:off x="8366760" y="5504688"/>
            <a:ext cx="3017520" cy="237744"/>
          </a:xfrm>
          <a:prstGeom prst="rect">
            <a:avLst/>
          </a:prstGeom>
          <a:noFill/>
          <a:ln/>
        </p:spPr>
        <p:txBody>
          <a:bodyPr wrap="square" lIns="0" tIns="0" rIns="0" bIns="0" rtlCol="0" anchor="ctr"/>
          <a:lstStyle/>
          <a:p>
            <a:pPr indent="0" marL="0">
              <a:buNone/>
            </a:pPr>
            <a:r>
              <a:rPr lang="en-US" sz="1150" b="1" dirty="0">
                <a:solidFill>
                  <a:srgbClr val="10243E"/>
                </a:solidFill>
                <a:latin typeface="Calibri" pitchFamily="34" charset="0"/>
                <a:ea typeface="Calibri" pitchFamily="34" charset="-122"/>
                <a:cs typeface="Calibri" pitchFamily="34" charset="-120"/>
              </a:rPr>
              <a:t>Waiting on a release</a:t>
            </a:r>
            <a:endParaRPr lang="en-US" sz="1150" dirty="0"/>
          </a:p>
        </p:txBody>
      </p:sp>
      <p:sp>
        <p:nvSpPr>
          <p:cNvPr id="16" name="Text 13"/>
          <p:cNvSpPr/>
          <p:nvPr/>
        </p:nvSpPr>
        <p:spPr>
          <a:xfrm>
            <a:off x="8366760" y="5724144"/>
            <a:ext cx="3108960" cy="310896"/>
          </a:xfrm>
          <a:prstGeom prst="rect">
            <a:avLst/>
          </a:prstGeom>
          <a:noFill/>
          <a:ln/>
        </p:spPr>
        <p:txBody>
          <a:bodyPr wrap="square" lIns="0" tIns="0" rIns="0" bIns="0" rtlCol="0" anchor="ctr"/>
          <a:lstStyle/>
          <a:p>
            <a:pPr indent="0" marL="0">
              <a:lnSpc>
                <a:spcPts val="1200"/>
              </a:lnSpc>
              <a:buNone/>
            </a:pPr>
            <a:r>
              <a:rPr lang="en-US" sz="950" dirty="0">
                <a:solidFill>
                  <a:srgbClr val="6B7A8C"/>
                </a:solidFill>
                <a:latin typeface="Calibri" pitchFamily="34" charset="0"/>
                <a:ea typeface="Calibri" pitchFamily="34" charset="-122"/>
                <a:cs typeface="Calibri" pitchFamily="34" charset="-120"/>
              </a:rPr>
              <a:t>Disposal and Physical Records. Not a data problem.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SEQUENCING</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Two of the six views are waiting on a release, not on data</a:t>
            </a:r>
            <a:endParaRPr lang="en-US" sz="2500" dirty="0"/>
          </a:p>
        </p:txBody>
      </p:sp>
      <p:sp>
        <p:nvSpPr>
          <p:cNvPr id="4" name="Text 2"/>
          <p:cNvSpPr/>
          <p:nvPr/>
        </p:nvSpPr>
        <p:spPr>
          <a:xfrm>
            <a:off x="502920" y="1078992"/>
            <a:ext cx="11155680" cy="384048"/>
          </a:xfrm>
          <a:prstGeom prst="rect">
            <a:avLst/>
          </a:prstGeom>
          <a:noFill/>
          <a:ln/>
        </p:spPr>
        <p:txBody>
          <a:bodyPr wrap="square" lIns="0" tIns="0" rIns="0" bIns="0" rtlCol="0" anchor="ctr"/>
          <a:lstStyle/>
          <a:p>
            <a:pPr indent="0" marL="0">
              <a:lnSpc>
                <a:spcPts val="1600"/>
              </a:lnSpc>
              <a:buNone/>
            </a:pPr>
            <a:r>
              <a:rPr lang="en-US" sz="1250" dirty="0">
                <a:solidFill>
                  <a:srgbClr val="33475F"/>
                </a:solidFill>
                <a:latin typeface="Calibri" pitchFamily="34" charset="0"/>
                <a:ea typeface="Calibri" pitchFamily="34" charset="-122"/>
                <a:cs typeface="Calibri" pitchFamily="34" charset="-120"/>
              </a:rPr>
              <a:t>Four dashboards can be finished on the Utilization work alone. The other two depend on things that do not exist in the system yet — so the honest plan is to sequence them, not to force them.</a:t>
            </a:r>
            <a:endParaRPr lang="en-US" sz="1250" dirty="0"/>
          </a:p>
        </p:txBody>
      </p:sp>
      <p:sp>
        <p:nvSpPr>
          <p:cNvPr id="5" name="Shape 3"/>
          <p:cNvSpPr/>
          <p:nvPr/>
        </p:nvSpPr>
        <p:spPr>
          <a:xfrm>
            <a:off x="502920" y="1627632"/>
            <a:ext cx="3566160" cy="3913632"/>
          </a:xfrm>
          <a:prstGeom prst="roundRect">
            <a:avLst>
              <a:gd name="adj" fmla="val 179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6" name="Shape 4"/>
          <p:cNvSpPr/>
          <p:nvPr/>
        </p:nvSpPr>
        <p:spPr>
          <a:xfrm>
            <a:off x="777240" y="1874520"/>
            <a:ext cx="1371600" cy="256032"/>
          </a:xfrm>
          <a:prstGeom prst="roundRect">
            <a:avLst>
              <a:gd name="adj" fmla="val 46429"/>
            </a:avLst>
          </a:prstGeom>
          <a:solidFill>
            <a:srgbClr val="5CA943"/>
          </a:solidFill>
          <a:ln w="12700">
            <a:solidFill>
              <a:srgbClr val="5CA943"/>
            </a:solidFill>
            <a:prstDash val="solid"/>
          </a:ln>
        </p:spPr>
      </p:sp>
      <p:sp>
        <p:nvSpPr>
          <p:cNvPr id="7" name="Text 5"/>
          <p:cNvSpPr/>
          <p:nvPr/>
        </p:nvSpPr>
        <p:spPr>
          <a:xfrm>
            <a:off x="777240" y="1874520"/>
            <a:ext cx="1371600" cy="256032"/>
          </a:xfrm>
          <a:prstGeom prst="rect">
            <a:avLst/>
          </a:prstGeom>
          <a:noFill/>
          <a:ln/>
        </p:spPr>
        <p:txBody>
          <a:bodyPr wrap="square" lIns="0" tIns="0" rIns="0" bIns="0" rtlCol="0" anchor="ctr"/>
          <a:lstStyle/>
          <a:p>
            <a:pPr algn="ctr" indent="0" marL="0">
              <a:buNone/>
            </a:pPr>
            <a:r>
              <a:rPr lang="en-US" sz="850" b="1" spc="70" kern="0" dirty="0">
                <a:solidFill>
                  <a:srgbClr val="FFFFFF"/>
                </a:solidFill>
                <a:latin typeface="Calibri" pitchFamily="34" charset="0"/>
                <a:ea typeface="Calibri" pitchFamily="34" charset="-122"/>
                <a:cs typeface="Calibri" pitchFamily="34" charset="-120"/>
              </a:rPr>
              <a:t>NOW</a:t>
            </a:r>
            <a:endParaRPr lang="en-US" sz="850" dirty="0"/>
          </a:p>
        </p:txBody>
      </p:sp>
      <p:sp>
        <p:nvSpPr>
          <p:cNvPr id="8" name="Text 6"/>
          <p:cNvSpPr/>
          <p:nvPr/>
        </p:nvSpPr>
        <p:spPr>
          <a:xfrm>
            <a:off x="777240" y="2249424"/>
            <a:ext cx="3017520" cy="548640"/>
          </a:xfrm>
          <a:prstGeom prst="rect">
            <a:avLst/>
          </a:prstGeom>
          <a:noFill/>
          <a:ln/>
        </p:spPr>
        <p:txBody>
          <a:bodyPr wrap="square" lIns="0" tIns="0" rIns="0" bIns="0" rtlCol="0" anchor="ctr"/>
          <a:lstStyle/>
          <a:p>
            <a:pPr indent="0" marL="0">
              <a:lnSpc>
                <a:spcPts val="2200"/>
              </a:lnSpc>
              <a:buNone/>
            </a:pPr>
            <a:r>
              <a:rPr lang="en-US" sz="1900" b="1" dirty="0">
                <a:solidFill>
                  <a:srgbClr val="10243E"/>
                </a:solidFill>
                <a:latin typeface="Cambria" pitchFamily="34" charset="0"/>
                <a:ea typeface="Cambria" pitchFamily="34" charset="-122"/>
                <a:cs typeface="Cambria" pitchFamily="34" charset="-120"/>
              </a:rPr>
              <a:t>Utilization</a:t>
            </a:r>
            <a:endParaRPr lang="en-US" sz="1900" dirty="0"/>
          </a:p>
        </p:txBody>
      </p:sp>
      <p:sp>
        <p:nvSpPr>
          <p:cNvPr id="9" name="Shape 7"/>
          <p:cNvSpPr/>
          <p:nvPr/>
        </p:nvSpPr>
        <p:spPr>
          <a:xfrm>
            <a:off x="804672" y="2944368"/>
            <a:ext cx="91440" cy="91440"/>
          </a:xfrm>
          <a:prstGeom prst="ellipse">
            <a:avLst/>
          </a:prstGeom>
          <a:solidFill>
            <a:srgbClr val="5CA943"/>
          </a:solidFill>
          <a:ln w="12700">
            <a:solidFill>
              <a:srgbClr val="5CA943"/>
            </a:solidFill>
            <a:prstDash val="solid"/>
          </a:ln>
        </p:spPr>
      </p:sp>
      <p:sp>
        <p:nvSpPr>
          <p:cNvPr id="10" name="Text 8"/>
          <p:cNvSpPr/>
          <p:nvPr/>
        </p:nvSpPr>
        <p:spPr>
          <a:xfrm>
            <a:off x="1005840" y="2871216"/>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Bank-wide Oversight</a:t>
            </a:r>
            <a:endParaRPr lang="en-US" sz="1000" dirty="0"/>
          </a:p>
        </p:txBody>
      </p:sp>
      <p:sp>
        <p:nvSpPr>
          <p:cNvPr id="11" name="Shape 9"/>
          <p:cNvSpPr/>
          <p:nvPr/>
        </p:nvSpPr>
        <p:spPr>
          <a:xfrm>
            <a:off x="804672" y="3346704"/>
            <a:ext cx="91440" cy="91440"/>
          </a:xfrm>
          <a:prstGeom prst="ellipse">
            <a:avLst/>
          </a:prstGeom>
          <a:solidFill>
            <a:srgbClr val="5CA943"/>
          </a:solidFill>
          <a:ln w="12700">
            <a:solidFill>
              <a:srgbClr val="5CA943"/>
            </a:solidFill>
            <a:prstDash val="solid"/>
          </a:ln>
        </p:spPr>
      </p:sp>
      <p:sp>
        <p:nvSpPr>
          <p:cNvPr id="12" name="Text 10"/>
          <p:cNvSpPr/>
          <p:nvPr/>
        </p:nvSpPr>
        <p:spPr>
          <a:xfrm>
            <a:off x="1005840" y="3273552"/>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Department Insights</a:t>
            </a:r>
            <a:endParaRPr lang="en-US" sz="1000" dirty="0"/>
          </a:p>
        </p:txBody>
      </p:sp>
      <p:sp>
        <p:nvSpPr>
          <p:cNvPr id="13" name="Shape 11"/>
          <p:cNvSpPr/>
          <p:nvPr/>
        </p:nvSpPr>
        <p:spPr>
          <a:xfrm>
            <a:off x="804672" y="3749040"/>
            <a:ext cx="91440" cy="91440"/>
          </a:xfrm>
          <a:prstGeom prst="ellipse">
            <a:avLst/>
          </a:prstGeom>
          <a:solidFill>
            <a:srgbClr val="5CA943"/>
          </a:solidFill>
          <a:ln w="12700">
            <a:solidFill>
              <a:srgbClr val="5CA943"/>
            </a:solidFill>
            <a:prstDash val="solid"/>
          </a:ln>
        </p:spPr>
      </p:sp>
      <p:sp>
        <p:nvSpPr>
          <p:cNvPr id="14" name="Text 12"/>
          <p:cNvSpPr/>
          <p:nvPr/>
        </p:nvSpPr>
        <p:spPr>
          <a:xfrm>
            <a:off x="1005840" y="3675888"/>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Project Insights</a:t>
            </a:r>
            <a:endParaRPr lang="en-US" sz="1000" dirty="0"/>
          </a:p>
        </p:txBody>
      </p:sp>
      <p:sp>
        <p:nvSpPr>
          <p:cNvPr id="15" name="Shape 13"/>
          <p:cNvSpPr/>
          <p:nvPr/>
        </p:nvSpPr>
        <p:spPr>
          <a:xfrm>
            <a:off x="804672" y="4151376"/>
            <a:ext cx="91440" cy="91440"/>
          </a:xfrm>
          <a:prstGeom prst="ellipse">
            <a:avLst/>
          </a:prstGeom>
          <a:solidFill>
            <a:srgbClr val="5CA943"/>
          </a:solidFill>
          <a:ln w="12700">
            <a:solidFill>
              <a:srgbClr val="5CA943"/>
            </a:solidFill>
            <a:prstDash val="solid"/>
          </a:ln>
        </p:spPr>
      </p:sp>
      <p:sp>
        <p:nvSpPr>
          <p:cNvPr id="16" name="Text 14"/>
          <p:cNvSpPr/>
          <p:nvPr/>
        </p:nvSpPr>
        <p:spPr>
          <a:xfrm>
            <a:off x="1005840" y="4078224"/>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Institutional File Plan</a:t>
            </a:r>
            <a:endParaRPr lang="en-US" sz="1000" dirty="0"/>
          </a:p>
        </p:txBody>
      </p:sp>
      <p:sp>
        <p:nvSpPr>
          <p:cNvPr id="17" name="Shape 15"/>
          <p:cNvSpPr/>
          <p:nvPr/>
        </p:nvSpPr>
        <p:spPr>
          <a:xfrm>
            <a:off x="804672" y="4553712"/>
            <a:ext cx="91440" cy="91440"/>
          </a:xfrm>
          <a:prstGeom prst="ellipse">
            <a:avLst/>
          </a:prstGeom>
          <a:solidFill>
            <a:srgbClr val="5CA943"/>
          </a:solidFill>
          <a:ln w="12700">
            <a:solidFill>
              <a:srgbClr val="5CA943"/>
            </a:solidFill>
            <a:prstDash val="solid"/>
          </a:ln>
        </p:spPr>
      </p:sp>
      <p:sp>
        <p:nvSpPr>
          <p:cNvPr id="18" name="Text 16"/>
          <p:cNvSpPr/>
          <p:nvPr/>
        </p:nvSpPr>
        <p:spPr>
          <a:xfrm>
            <a:off x="1005840" y="4480560"/>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Retention &amp; Disposal — the retention half</a:t>
            </a:r>
            <a:endParaRPr lang="en-US" sz="1000" dirty="0"/>
          </a:p>
        </p:txBody>
      </p:sp>
      <p:sp>
        <p:nvSpPr>
          <p:cNvPr id="19" name="Text 17"/>
          <p:cNvSpPr/>
          <p:nvPr/>
        </p:nvSpPr>
        <p:spPr>
          <a:xfrm>
            <a:off x="777240" y="4864608"/>
            <a:ext cx="3017520" cy="603504"/>
          </a:xfrm>
          <a:prstGeom prst="rect">
            <a:avLst/>
          </a:prstGeom>
          <a:noFill/>
          <a:ln/>
        </p:spPr>
        <p:txBody>
          <a:bodyPr wrap="square" lIns="0" tIns="0" rIns="0" bIns="0" rtlCol="0" anchor="ctr"/>
          <a:lstStyle/>
          <a:p>
            <a:pPr indent="0" marL="0">
              <a:lnSpc>
                <a:spcPts val="1150"/>
              </a:lnSpc>
              <a:buNone/>
            </a:pPr>
            <a:r>
              <a:rPr lang="en-US" sz="920" i="1" dirty="0">
                <a:solidFill>
                  <a:srgbClr val="6B7A8C"/>
                </a:solidFill>
                <a:latin typeface="Calibri" pitchFamily="34" charset="0"/>
                <a:ea typeface="Calibri" pitchFamily="34" charset="-122"/>
                <a:cs typeface="Calibri" pitchFamily="34" charset="-120"/>
              </a:rPr>
              <a:t>Deliverable on this programme, once the open questions are answered.</a:t>
            </a:r>
            <a:endParaRPr lang="en-US" sz="920" dirty="0"/>
          </a:p>
        </p:txBody>
      </p:sp>
      <p:sp>
        <p:nvSpPr>
          <p:cNvPr id="20" name="Shape 18"/>
          <p:cNvSpPr/>
          <p:nvPr/>
        </p:nvSpPr>
        <p:spPr>
          <a:xfrm>
            <a:off x="4288536" y="1627632"/>
            <a:ext cx="3566160" cy="3913632"/>
          </a:xfrm>
          <a:prstGeom prst="roundRect">
            <a:avLst>
              <a:gd name="adj" fmla="val 179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1" name="Shape 19"/>
          <p:cNvSpPr/>
          <p:nvPr/>
        </p:nvSpPr>
        <p:spPr>
          <a:xfrm>
            <a:off x="4562856" y="1874520"/>
            <a:ext cx="1371600" cy="256032"/>
          </a:xfrm>
          <a:prstGeom prst="roundRect">
            <a:avLst>
              <a:gd name="adj" fmla="val 46429"/>
            </a:avLst>
          </a:prstGeom>
          <a:solidFill>
            <a:srgbClr val="3D6E8C"/>
          </a:solidFill>
          <a:ln w="12700">
            <a:solidFill>
              <a:srgbClr val="3D6E8C"/>
            </a:solidFill>
            <a:prstDash val="solid"/>
          </a:ln>
        </p:spPr>
      </p:sp>
      <p:sp>
        <p:nvSpPr>
          <p:cNvPr id="22" name="Text 20"/>
          <p:cNvSpPr/>
          <p:nvPr/>
        </p:nvSpPr>
        <p:spPr>
          <a:xfrm>
            <a:off x="4562856" y="1874520"/>
            <a:ext cx="1371600" cy="256032"/>
          </a:xfrm>
          <a:prstGeom prst="rect">
            <a:avLst/>
          </a:prstGeom>
          <a:noFill/>
          <a:ln/>
        </p:spPr>
        <p:txBody>
          <a:bodyPr wrap="square" lIns="0" tIns="0" rIns="0" bIns="0" rtlCol="0" anchor="ctr"/>
          <a:lstStyle/>
          <a:p>
            <a:pPr algn="ctr" indent="0" marL="0">
              <a:buNone/>
            </a:pPr>
            <a:r>
              <a:rPr lang="en-US" sz="850" b="1" spc="70" kern="0" dirty="0">
                <a:solidFill>
                  <a:srgbClr val="FFFFFF"/>
                </a:solidFill>
                <a:latin typeface="Calibri" pitchFamily="34" charset="0"/>
                <a:ea typeface="Calibri" pitchFamily="34" charset="-122"/>
                <a:cs typeface="Calibri" pitchFamily="34" charset="-120"/>
              </a:rPr>
              <a:t>NEXT</a:t>
            </a:r>
            <a:endParaRPr lang="en-US" sz="850" dirty="0"/>
          </a:p>
        </p:txBody>
      </p:sp>
      <p:sp>
        <p:nvSpPr>
          <p:cNvPr id="23" name="Text 21"/>
          <p:cNvSpPr/>
          <p:nvPr/>
        </p:nvSpPr>
        <p:spPr>
          <a:xfrm>
            <a:off x="4562856" y="2249424"/>
            <a:ext cx="3017520" cy="548640"/>
          </a:xfrm>
          <a:prstGeom prst="rect">
            <a:avLst/>
          </a:prstGeom>
          <a:noFill/>
          <a:ln/>
        </p:spPr>
        <p:txBody>
          <a:bodyPr wrap="square" lIns="0" tIns="0" rIns="0" bIns="0" rtlCol="0" anchor="ctr"/>
          <a:lstStyle/>
          <a:p>
            <a:pPr indent="0" marL="0">
              <a:lnSpc>
                <a:spcPts val="2200"/>
              </a:lnSpc>
              <a:buNone/>
            </a:pPr>
            <a:r>
              <a:rPr lang="en-US" sz="1900" b="1" dirty="0">
                <a:solidFill>
                  <a:srgbClr val="10243E"/>
                </a:solidFill>
                <a:latin typeface="Cambria" pitchFamily="34" charset="0"/>
                <a:ea typeface="Cambria" pitchFamily="34" charset="-122"/>
                <a:cs typeface="Cambria" pitchFamily="34" charset="-120"/>
              </a:rPr>
              <a:t>Disposal release</a:t>
            </a:r>
            <a:endParaRPr lang="en-US" sz="1900" dirty="0"/>
          </a:p>
        </p:txBody>
      </p:sp>
      <p:sp>
        <p:nvSpPr>
          <p:cNvPr id="24" name="Shape 22"/>
          <p:cNvSpPr/>
          <p:nvPr/>
        </p:nvSpPr>
        <p:spPr>
          <a:xfrm>
            <a:off x="4590288" y="2944368"/>
            <a:ext cx="91440" cy="91440"/>
          </a:xfrm>
          <a:prstGeom prst="ellipse">
            <a:avLst/>
          </a:prstGeom>
          <a:solidFill>
            <a:srgbClr val="3D6E8C"/>
          </a:solidFill>
          <a:ln w="12700">
            <a:solidFill>
              <a:srgbClr val="3D6E8C"/>
            </a:solidFill>
            <a:prstDash val="solid"/>
          </a:ln>
        </p:spPr>
      </p:sp>
      <p:sp>
        <p:nvSpPr>
          <p:cNvPr id="25" name="Text 23"/>
          <p:cNvSpPr/>
          <p:nvPr/>
        </p:nvSpPr>
        <p:spPr>
          <a:xfrm>
            <a:off x="4791456" y="2871216"/>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Retention &amp; Disposal — the disposal half</a:t>
            </a:r>
            <a:endParaRPr lang="en-US" sz="1000" dirty="0"/>
          </a:p>
        </p:txBody>
      </p:sp>
      <p:sp>
        <p:nvSpPr>
          <p:cNvPr id="26" name="Shape 24"/>
          <p:cNvSpPr/>
          <p:nvPr/>
        </p:nvSpPr>
        <p:spPr>
          <a:xfrm>
            <a:off x="4590288" y="3346704"/>
            <a:ext cx="91440" cy="91440"/>
          </a:xfrm>
          <a:prstGeom prst="ellipse">
            <a:avLst/>
          </a:prstGeom>
          <a:solidFill>
            <a:srgbClr val="3D6E8C"/>
          </a:solidFill>
          <a:ln w="12700">
            <a:solidFill>
              <a:srgbClr val="3D6E8C"/>
            </a:solidFill>
            <a:prstDash val="solid"/>
          </a:ln>
        </p:spPr>
      </p:sp>
      <p:sp>
        <p:nvSpPr>
          <p:cNvPr id="27" name="Text 25"/>
          <p:cNvSpPr/>
          <p:nvPr/>
        </p:nvSpPr>
        <p:spPr>
          <a:xfrm>
            <a:off x="4791456" y="3273552"/>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Disposal approver and outcome, bank-wide</a:t>
            </a:r>
            <a:endParaRPr lang="en-US" sz="1000" dirty="0"/>
          </a:p>
        </p:txBody>
      </p:sp>
      <p:sp>
        <p:nvSpPr>
          <p:cNvPr id="28" name="Shape 26"/>
          <p:cNvSpPr/>
          <p:nvPr/>
        </p:nvSpPr>
        <p:spPr>
          <a:xfrm>
            <a:off x="4590288" y="3749040"/>
            <a:ext cx="91440" cy="91440"/>
          </a:xfrm>
          <a:prstGeom prst="ellipse">
            <a:avLst/>
          </a:prstGeom>
          <a:solidFill>
            <a:srgbClr val="3D6E8C"/>
          </a:solidFill>
          <a:ln w="12700">
            <a:solidFill>
              <a:srgbClr val="3D6E8C"/>
            </a:solidFill>
            <a:prstDash val="solid"/>
          </a:ln>
        </p:spPr>
      </p:sp>
      <p:sp>
        <p:nvSpPr>
          <p:cNvPr id="29" name="Text 27"/>
          <p:cNvSpPr/>
          <p:nvPr/>
        </p:nvSpPr>
        <p:spPr>
          <a:xfrm>
            <a:off x="4791456" y="3675888"/>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Disposal approver and outcome, per department</a:t>
            </a:r>
            <a:endParaRPr lang="en-US" sz="1000" dirty="0"/>
          </a:p>
        </p:txBody>
      </p:sp>
      <p:sp>
        <p:nvSpPr>
          <p:cNvPr id="30" name="Text 28"/>
          <p:cNvSpPr/>
          <p:nvPr/>
        </p:nvSpPr>
        <p:spPr>
          <a:xfrm>
            <a:off x="4562856" y="4864608"/>
            <a:ext cx="3017520" cy="603504"/>
          </a:xfrm>
          <a:prstGeom prst="rect">
            <a:avLst/>
          </a:prstGeom>
          <a:noFill/>
          <a:ln/>
        </p:spPr>
        <p:txBody>
          <a:bodyPr wrap="square" lIns="0" tIns="0" rIns="0" bIns="0" rtlCol="0" anchor="ctr"/>
          <a:lstStyle/>
          <a:p>
            <a:pPr indent="0" marL="0">
              <a:lnSpc>
                <a:spcPts val="1150"/>
              </a:lnSpc>
              <a:buNone/>
            </a:pPr>
            <a:r>
              <a:rPr lang="en-US" sz="920" i="1" dirty="0">
                <a:solidFill>
                  <a:srgbClr val="6B7A8C"/>
                </a:solidFill>
                <a:latin typeface="Calibri" pitchFamily="34" charset="0"/>
                <a:ea typeface="Calibri" pitchFamily="34" charset="-122"/>
                <a:cs typeface="Calibri" pitchFamily="34" charset="-120"/>
              </a:rPr>
              <a:t>14 items. Disposal is not built in EDRMS yet: no approval screen, no field to record an outcome.</a:t>
            </a:r>
            <a:endParaRPr lang="en-US" sz="920" dirty="0"/>
          </a:p>
        </p:txBody>
      </p:sp>
      <p:sp>
        <p:nvSpPr>
          <p:cNvPr id="31" name="Shape 29"/>
          <p:cNvSpPr/>
          <p:nvPr/>
        </p:nvSpPr>
        <p:spPr>
          <a:xfrm>
            <a:off x="8074152" y="1627632"/>
            <a:ext cx="3566160" cy="3913632"/>
          </a:xfrm>
          <a:prstGeom prst="roundRect">
            <a:avLst>
              <a:gd name="adj" fmla="val 179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32" name="Shape 30"/>
          <p:cNvSpPr/>
          <p:nvPr/>
        </p:nvSpPr>
        <p:spPr>
          <a:xfrm>
            <a:off x="8348472" y="1874520"/>
            <a:ext cx="1371600" cy="256032"/>
          </a:xfrm>
          <a:prstGeom prst="roundRect">
            <a:avLst>
              <a:gd name="adj" fmla="val 46429"/>
            </a:avLst>
          </a:prstGeom>
          <a:solidFill>
            <a:srgbClr val="005A96"/>
          </a:solidFill>
          <a:ln w="12700">
            <a:solidFill>
              <a:srgbClr val="005A96"/>
            </a:solidFill>
            <a:prstDash val="solid"/>
          </a:ln>
        </p:spPr>
      </p:sp>
      <p:sp>
        <p:nvSpPr>
          <p:cNvPr id="33" name="Text 31"/>
          <p:cNvSpPr/>
          <p:nvPr/>
        </p:nvSpPr>
        <p:spPr>
          <a:xfrm>
            <a:off x="8348472" y="1874520"/>
            <a:ext cx="1371600" cy="256032"/>
          </a:xfrm>
          <a:prstGeom prst="rect">
            <a:avLst/>
          </a:prstGeom>
          <a:noFill/>
          <a:ln/>
        </p:spPr>
        <p:txBody>
          <a:bodyPr wrap="square" lIns="0" tIns="0" rIns="0" bIns="0" rtlCol="0" anchor="ctr"/>
          <a:lstStyle/>
          <a:p>
            <a:pPr algn="ctr" indent="0" marL="0">
              <a:buNone/>
            </a:pPr>
            <a:r>
              <a:rPr lang="en-US" sz="850" b="1" spc="70" kern="0" dirty="0">
                <a:solidFill>
                  <a:srgbClr val="FFFFFF"/>
                </a:solidFill>
                <a:latin typeface="Calibri" pitchFamily="34" charset="0"/>
                <a:ea typeface="Calibri" pitchFamily="34" charset="-122"/>
                <a:cs typeface="Calibri" pitchFamily="34" charset="-120"/>
              </a:rPr>
              <a:t>AFTER THAT</a:t>
            </a:r>
            <a:endParaRPr lang="en-US" sz="850" dirty="0"/>
          </a:p>
        </p:txBody>
      </p:sp>
      <p:sp>
        <p:nvSpPr>
          <p:cNvPr id="34" name="Text 32"/>
          <p:cNvSpPr/>
          <p:nvPr/>
        </p:nvSpPr>
        <p:spPr>
          <a:xfrm>
            <a:off x="8348472" y="2249424"/>
            <a:ext cx="3017520" cy="548640"/>
          </a:xfrm>
          <a:prstGeom prst="rect">
            <a:avLst/>
          </a:prstGeom>
          <a:noFill/>
          <a:ln/>
        </p:spPr>
        <p:txBody>
          <a:bodyPr wrap="square" lIns="0" tIns="0" rIns="0" bIns="0" rtlCol="0" anchor="ctr"/>
          <a:lstStyle/>
          <a:p>
            <a:pPr indent="0" marL="0">
              <a:lnSpc>
                <a:spcPts val="2200"/>
              </a:lnSpc>
              <a:buNone/>
            </a:pPr>
            <a:r>
              <a:rPr lang="en-US" sz="1900" b="1" dirty="0">
                <a:solidFill>
                  <a:srgbClr val="10243E"/>
                </a:solidFill>
                <a:latin typeface="Cambria" pitchFamily="34" charset="0"/>
                <a:ea typeface="Cambria" pitchFamily="34" charset="-122"/>
                <a:cs typeface="Cambria" pitchFamily="34" charset="-120"/>
              </a:rPr>
              <a:t>Physical Records release</a:t>
            </a:r>
            <a:endParaRPr lang="en-US" sz="1900" dirty="0"/>
          </a:p>
        </p:txBody>
      </p:sp>
      <p:sp>
        <p:nvSpPr>
          <p:cNvPr id="35" name="Shape 33"/>
          <p:cNvSpPr/>
          <p:nvPr/>
        </p:nvSpPr>
        <p:spPr>
          <a:xfrm>
            <a:off x="8375904" y="2944368"/>
            <a:ext cx="91440" cy="91440"/>
          </a:xfrm>
          <a:prstGeom prst="ellipse">
            <a:avLst/>
          </a:prstGeom>
          <a:solidFill>
            <a:srgbClr val="005A96"/>
          </a:solidFill>
          <a:ln w="12700">
            <a:solidFill>
              <a:srgbClr val="005A96"/>
            </a:solidFill>
            <a:prstDash val="solid"/>
          </a:ln>
        </p:spPr>
      </p:sp>
      <p:sp>
        <p:nvSpPr>
          <p:cNvPr id="36" name="Text 34"/>
          <p:cNvSpPr/>
          <p:nvPr/>
        </p:nvSpPr>
        <p:spPr>
          <a:xfrm>
            <a:off x="8577072" y="2871216"/>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Records &amp; Archive Holdings, in full</a:t>
            </a:r>
            <a:endParaRPr lang="en-US" sz="1000" dirty="0"/>
          </a:p>
        </p:txBody>
      </p:sp>
      <p:sp>
        <p:nvSpPr>
          <p:cNvPr id="37" name="Shape 35"/>
          <p:cNvSpPr/>
          <p:nvPr/>
        </p:nvSpPr>
        <p:spPr>
          <a:xfrm>
            <a:off x="8375904" y="3346704"/>
            <a:ext cx="91440" cy="91440"/>
          </a:xfrm>
          <a:prstGeom prst="ellipse">
            <a:avLst/>
          </a:prstGeom>
          <a:solidFill>
            <a:srgbClr val="005A96"/>
          </a:solidFill>
          <a:ln w="12700">
            <a:solidFill>
              <a:srgbClr val="005A96"/>
            </a:solidFill>
            <a:prstDash val="solid"/>
          </a:ln>
        </p:spPr>
      </p:sp>
      <p:sp>
        <p:nvSpPr>
          <p:cNvPr id="38" name="Text 36"/>
          <p:cNvSpPr/>
          <p:nvPr/>
        </p:nvSpPr>
        <p:spPr>
          <a:xfrm>
            <a:off x="8577072" y="3273552"/>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Storage, retrieval and capacity</a:t>
            </a:r>
            <a:endParaRPr lang="en-US" sz="1000" dirty="0"/>
          </a:p>
        </p:txBody>
      </p:sp>
      <p:sp>
        <p:nvSpPr>
          <p:cNvPr id="39" name="Shape 37"/>
          <p:cNvSpPr/>
          <p:nvPr/>
        </p:nvSpPr>
        <p:spPr>
          <a:xfrm>
            <a:off x="8375904" y="3749040"/>
            <a:ext cx="91440" cy="91440"/>
          </a:xfrm>
          <a:prstGeom prst="ellipse">
            <a:avLst/>
          </a:prstGeom>
          <a:solidFill>
            <a:srgbClr val="005A96"/>
          </a:solidFill>
          <a:ln w="12700">
            <a:solidFill>
              <a:srgbClr val="005A96"/>
            </a:solidFill>
            <a:prstDash val="solid"/>
          </a:ln>
        </p:spPr>
      </p:sp>
      <p:sp>
        <p:nvSpPr>
          <p:cNvPr id="40" name="Text 38"/>
          <p:cNvSpPr/>
          <p:nvPr/>
        </p:nvSpPr>
        <p:spPr>
          <a:xfrm>
            <a:off x="8577072" y="3675888"/>
            <a:ext cx="2834640" cy="384048"/>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Boxes and folders held by RAC</a:t>
            </a:r>
            <a:endParaRPr lang="en-US" sz="1000" dirty="0"/>
          </a:p>
        </p:txBody>
      </p:sp>
      <p:sp>
        <p:nvSpPr>
          <p:cNvPr id="41" name="Text 39"/>
          <p:cNvSpPr/>
          <p:nvPr/>
        </p:nvSpPr>
        <p:spPr>
          <a:xfrm>
            <a:off x="8348472" y="4864608"/>
            <a:ext cx="3017520" cy="603504"/>
          </a:xfrm>
          <a:prstGeom prst="rect">
            <a:avLst/>
          </a:prstGeom>
          <a:noFill/>
          <a:ln/>
        </p:spPr>
        <p:txBody>
          <a:bodyPr wrap="square" lIns="0" tIns="0" rIns="0" bIns="0" rtlCol="0" anchor="ctr"/>
          <a:lstStyle/>
          <a:p>
            <a:pPr indent="0" marL="0">
              <a:lnSpc>
                <a:spcPts val="1150"/>
              </a:lnSpc>
              <a:buNone/>
            </a:pPr>
            <a:r>
              <a:rPr lang="en-US" sz="920" i="1" dirty="0">
                <a:solidFill>
                  <a:srgbClr val="6B7A8C"/>
                </a:solidFill>
                <a:latin typeface="Calibri" pitchFamily="34" charset="0"/>
                <a:ea typeface="Calibri" pitchFamily="34" charset="-122"/>
                <a:cs typeface="Calibri" pitchFamily="34" charset="-120"/>
              </a:rPr>
              <a:t>26 items. This dashboard is about paper, and the physical work comes after Utilization.</a:t>
            </a:r>
            <a:endParaRPr lang="en-US" sz="920" dirty="0"/>
          </a:p>
        </p:txBody>
      </p:sp>
      <p:sp>
        <p:nvSpPr>
          <p:cNvPr id="42" name="Text 40"/>
          <p:cNvSpPr/>
          <p:nvPr/>
        </p:nvSpPr>
        <p:spPr>
          <a:xfrm>
            <a:off x="502920" y="5760720"/>
            <a:ext cx="11155680" cy="365760"/>
          </a:xfrm>
          <a:prstGeom prst="rect">
            <a:avLst/>
          </a:prstGeom>
          <a:noFill/>
          <a:ln/>
        </p:spPr>
        <p:txBody>
          <a:bodyPr wrap="square" lIns="0" tIns="0" rIns="0" bIns="0" rtlCol="0" anchor="ctr"/>
          <a:lstStyle/>
          <a:p>
            <a:pPr indent="0" marL="0">
              <a:buNone/>
            </a:pPr>
            <a:r>
              <a:rPr lang="en-US" sz="1400" i="1" dirty="0">
                <a:solidFill>
                  <a:srgbClr val="005A96"/>
                </a:solidFill>
                <a:latin typeface="Cambria" pitchFamily="34" charset="0"/>
                <a:ea typeface="Cambria" pitchFamily="34" charset="-122"/>
                <a:cs typeface="Cambria" pitchFamily="34" charset="-120"/>
              </a:rPr>
              <a:t>Nothing is being dropped. The screens for the later two are already drawn — they switch on when the feature behind them exists.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1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Bank-wide Oversight</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How is EDRMS being used across the whole bank?</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44</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65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14 need your input</a:t>
            </a:r>
            <a:endParaRPr lang="en-US" sz="1100" dirty="0"/>
          </a:p>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7 wait on the next release</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9 screens to walk through</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ten headline figures</a:t>
            </a:r>
            <a:endParaRPr lang="en-US" sz="2500" dirty="0"/>
          </a:p>
        </p:txBody>
      </p:sp>
      <p:sp>
        <p:nvSpPr>
          <p:cNvPr id="4" name="Shape 2"/>
          <p:cNvSpPr/>
          <p:nvPr/>
        </p:nvSpPr>
        <p:spPr>
          <a:xfrm>
            <a:off x="470916" y="1737175"/>
            <a:ext cx="7178040" cy="3041739"/>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01.png">    </p:cNvPr>
          <p:cNvPicPr>
            <a:picLocks noChangeAspect="1"/>
          </p:cNvPicPr>
          <p:nvPr/>
        </p:nvPicPr>
        <p:blipFill>
          <a:blip r:embed="rId1"/>
          <a:stretch>
            <a:fillRect/>
          </a:stretch>
        </p:blipFill>
        <p:spPr>
          <a:xfrm>
            <a:off x="502920" y="1769179"/>
            <a:ext cx="7114032" cy="2977731"/>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active EDRMS SharePoint sites for Department, RM, office</a:t>
            </a:r>
            <a:endParaRPr lang="en-US" sz="880" dirty="0"/>
          </a:p>
        </p:txBody>
      </p:sp>
      <p:sp>
        <p:nvSpPr>
          <p:cNvPr id="11" name="Shape 8"/>
          <p:cNvSpPr/>
          <p:nvPr/>
        </p:nvSpPr>
        <p:spPr>
          <a:xfrm>
            <a:off x="8019288" y="22270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2270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1813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EDRMS users</a:t>
            </a:r>
            <a:endParaRPr lang="en-US" sz="880" dirty="0"/>
          </a:p>
        </p:txBody>
      </p:sp>
      <p:sp>
        <p:nvSpPr>
          <p:cNvPr id="14" name="Shape 11"/>
          <p:cNvSpPr/>
          <p:nvPr/>
        </p:nvSpPr>
        <p:spPr>
          <a:xfrm>
            <a:off x="8019288" y="25496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5496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5039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documents in EDRMS</a:t>
            </a:r>
            <a:endParaRPr lang="en-US" sz="880" dirty="0"/>
          </a:p>
        </p:txBody>
      </p:sp>
      <p:sp>
        <p:nvSpPr>
          <p:cNvPr id="17" name="Shape 14"/>
          <p:cNvSpPr/>
          <p:nvPr/>
        </p:nvSpPr>
        <p:spPr>
          <a:xfrm>
            <a:off x="8019288" y="28722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8722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8265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 in EDRMS</a:t>
            </a:r>
            <a:endParaRPr lang="en-US" sz="880" dirty="0"/>
          </a:p>
        </p:txBody>
      </p:sp>
      <p:sp>
        <p:nvSpPr>
          <p:cNvPr id="20" name="Shape 17"/>
          <p:cNvSpPr/>
          <p:nvPr/>
        </p:nvSpPr>
        <p:spPr>
          <a:xfrm>
            <a:off x="8019288" y="31948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1948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1490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physical counterparts identified</a:t>
            </a:r>
            <a:endParaRPr lang="en-US" sz="880" dirty="0"/>
          </a:p>
        </p:txBody>
      </p:sp>
      <p:sp>
        <p:nvSpPr>
          <p:cNvPr id="23" name="Shape 20"/>
          <p:cNvSpPr/>
          <p:nvPr/>
        </p:nvSpPr>
        <p:spPr>
          <a:xfrm>
            <a:off x="8019288" y="35173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5173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4716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due for disposal</a:t>
            </a:r>
            <a:endParaRPr lang="en-US" sz="880" dirty="0"/>
          </a:p>
        </p:txBody>
      </p:sp>
      <p:sp>
        <p:nvSpPr>
          <p:cNvPr id="26" name="Shape 23"/>
          <p:cNvSpPr/>
          <p:nvPr/>
        </p:nvSpPr>
        <p:spPr>
          <a:xfrm>
            <a:off x="8019288" y="3839972"/>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8399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7942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Retention and disposal insights (navigation tile)</a:t>
            </a:r>
            <a:endParaRPr lang="en-US" sz="880" dirty="0"/>
          </a:p>
        </p:txBody>
      </p:sp>
      <p:sp>
        <p:nvSpPr>
          <p:cNvPr id="29" name="Shape 26"/>
          <p:cNvSpPr/>
          <p:nvPr/>
        </p:nvSpPr>
        <p:spPr>
          <a:xfrm>
            <a:off x="8019288" y="4162552"/>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41625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41168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Institutional File Plan insights (navigation tile)</a:t>
            </a:r>
            <a:endParaRPr lang="en-US" sz="880" dirty="0"/>
          </a:p>
        </p:txBody>
      </p:sp>
      <p:sp>
        <p:nvSpPr>
          <p:cNvPr id="32" name="Shape 29"/>
          <p:cNvSpPr/>
          <p:nvPr/>
        </p:nvSpPr>
        <p:spPr>
          <a:xfrm>
            <a:off x="8019288" y="4485132"/>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44851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443941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active EDRMS SharePoint sites for Sovereign projects</a:t>
            </a:r>
            <a:endParaRPr lang="en-US" sz="880" dirty="0"/>
          </a:p>
        </p:txBody>
      </p:sp>
      <p:sp>
        <p:nvSpPr>
          <p:cNvPr id="35" name="Shape 32"/>
          <p:cNvSpPr/>
          <p:nvPr/>
        </p:nvSpPr>
        <p:spPr>
          <a:xfrm>
            <a:off x="8019288" y="4947412"/>
            <a:ext cx="731520" cy="169164"/>
          </a:xfrm>
          <a:prstGeom prst="roundRect">
            <a:avLst>
              <a:gd name="adj" fmla="val 48649"/>
            </a:avLst>
          </a:prstGeom>
          <a:solidFill>
            <a:srgbClr val="EAF4E4"/>
          </a:solidFill>
          <a:ln w="12700">
            <a:solidFill>
              <a:srgbClr val="EAF4E4"/>
            </a:solidFill>
            <a:prstDash val="solid"/>
          </a:ln>
        </p:spPr>
      </p:sp>
      <p:sp>
        <p:nvSpPr>
          <p:cNvPr id="36" name="Text 33"/>
          <p:cNvSpPr/>
          <p:nvPr/>
        </p:nvSpPr>
        <p:spPr>
          <a:xfrm>
            <a:off x="8019288" y="49474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7" name="Text 34"/>
          <p:cNvSpPr/>
          <p:nvPr/>
        </p:nvSpPr>
        <p:spPr>
          <a:xfrm>
            <a:off x="8842248" y="490169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active EDRMS SharePoint sites for Nonsovereign projects</a:t>
            </a:r>
            <a:endParaRPr lang="en-US" sz="880" dirty="0"/>
          </a:p>
        </p:txBody>
      </p:sp>
      <p:sp>
        <p:nvSpPr>
          <p:cNvPr id="38" name="Shape 35"/>
          <p:cNvSpPr/>
          <p:nvPr/>
        </p:nvSpPr>
        <p:spPr>
          <a:xfrm>
            <a:off x="502920" y="5779008"/>
            <a:ext cx="118872" cy="118872"/>
          </a:xfrm>
          <a:prstGeom prst="ellipse">
            <a:avLst/>
          </a:prstGeom>
          <a:solidFill>
            <a:srgbClr val="0072BC"/>
          </a:solidFill>
          <a:ln w="12700">
            <a:solidFill>
              <a:srgbClr val="0072BC"/>
            </a:solidFill>
            <a:prstDash val="solid"/>
          </a:ln>
        </p:spPr>
      </p:sp>
      <p:sp>
        <p:nvSpPr>
          <p:cNvPr id="39" name="Text 36"/>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 figure the client drew on slide 34 is on this one strip.</a:t>
            </a:r>
            <a:endParaRPr lang="en-US" sz="1000" dirty="0"/>
          </a:p>
        </p:txBody>
      </p:sp>
      <p:sp>
        <p:nvSpPr>
          <p:cNvPr id="40" name="Shape 37"/>
          <p:cNvSpPr/>
          <p:nvPr/>
        </p:nvSpPr>
        <p:spPr>
          <a:xfrm>
            <a:off x="4270248" y="5779008"/>
            <a:ext cx="118872" cy="118872"/>
          </a:xfrm>
          <a:prstGeom prst="ellipse">
            <a:avLst/>
          </a:prstGeom>
          <a:solidFill>
            <a:srgbClr val="00A5A8"/>
          </a:solidFill>
          <a:ln w="12700">
            <a:solidFill>
              <a:srgbClr val="00A5A8"/>
            </a:solidFill>
            <a:prstDash val="solid"/>
          </a:ln>
        </p:spPr>
      </p:sp>
      <p:sp>
        <p:nvSpPr>
          <p:cNvPr id="41" name="Text 38"/>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two grey tiles are doors, not numbers: they open the other dashboards.</a:t>
            </a:r>
            <a:endParaRPr lang="en-US" sz="1000" dirty="0"/>
          </a:p>
        </p:txBody>
      </p:sp>
      <p:sp>
        <p:nvSpPr>
          <p:cNvPr id="42" name="Shape 39"/>
          <p:cNvSpPr/>
          <p:nvPr/>
        </p:nvSpPr>
        <p:spPr>
          <a:xfrm>
            <a:off x="8037576" y="5779008"/>
            <a:ext cx="118872" cy="118872"/>
          </a:xfrm>
          <a:prstGeom prst="ellipse">
            <a:avLst/>
          </a:prstGeom>
          <a:solidFill>
            <a:srgbClr val="5CA943"/>
          </a:solidFill>
          <a:ln w="12700">
            <a:solidFill>
              <a:srgbClr val="5CA943"/>
            </a:solidFill>
            <a:prstDash val="solid"/>
          </a:ln>
        </p:spPr>
      </p:sp>
      <p:sp>
        <p:nvSpPr>
          <p:cNvPr id="43" name="Text 40"/>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Two labels changed. I will explain why on the questions slide.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Sites, department by department</a:t>
            </a:r>
            <a:endParaRPr lang="en-US" sz="2500" dirty="0"/>
          </a:p>
        </p:txBody>
      </p:sp>
      <p:sp>
        <p:nvSpPr>
          <p:cNvPr id="4" name="Shape 2"/>
          <p:cNvSpPr/>
          <p:nvPr/>
        </p:nvSpPr>
        <p:spPr>
          <a:xfrm>
            <a:off x="470916" y="1156716"/>
            <a:ext cx="7178040" cy="3636268"/>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sites.png">    </p:cNvPr>
          <p:cNvPicPr>
            <a:picLocks noChangeAspect="1"/>
          </p:cNvPicPr>
          <p:nvPr/>
        </p:nvPicPr>
        <p:blipFill>
          <a:blip r:embed="rId1"/>
          <a:stretch>
            <a:fillRect/>
          </a:stretch>
        </p:blipFill>
        <p:spPr>
          <a:xfrm>
            <a:off x="502920" y="1188720"/>
            <a:ext cx="7114032" cy="3572260"/>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Department / office / RM</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EDRMS SharePoint sites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documents</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a:t>
            </a:r>
            <a:endParaRPr lang="en-US" sz="880" dirty="0"/>
          </a:p>
        </p:txBody>
      </p:sp>
      <p:sp>
        <p:nvSpPr>
          <p:cNvPr id="20" name="Shape 17"/>
          <p:cNvSpPr/>
          <p:nvPr/>
        </p:nvSpPr>
        <p:spPr>
          <a:xfrm>
            <a:off x="8019288" y="30551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physical counterparts</a:t>
            </a:r>
            <a:endParaRPr lang="en-US" sz="880" dirty="0"/>
          </a:p>
        </p:txBody>
      </p:sp>
      <p:sp>
        <p:nvSpPr>
          <p:cNvPr id="23" name="Shape 20"/>
          <p:cNvSpPr/>
          <p:nvPr/>
        </p:nvSpPr>
        <p:spPr>
          <a:xfrm>
            <a:off x="8019288" y="33776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Each name clickable into that unit's dashboard</a:t>
            </a:r>
            <a:endParaRPr lang="en-US" sz="880" dirty="0"/>
          </a:p>
        </p:txBody>
      </p:sp>
      <p:sp>
        <p:nvSpPr>
          <p:cNvPr id="26" name="Shape 23"/>
          <p:cNvSpPr/>
          <p:nvPr/>
        </p:nvSpPr>
        <p:spPr>
          <a:xfrm>
            <a:off x="8019288" y="3700272"/>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no. of sites created</a:t>
            </a:r>
            <a:endParaRPr lang="en-US" sz="880" dirty="0"/>
          </a:p>
        </p:txBody>
      </p:sp>
      <p:sp>
        <p:nvSpPr>
          <p:cNvPr id="29" name="Shape 26"/>
          <p:cNvSpPr/>
          <p:nvPr/>
        </p:nvSpPr>
        <p:spPr>
          <a:xfrm>
            <a:off x="8019288" y="4022852"/>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no. of sites deleted</a:t>
            </a:r>
            <a:endParaRPr lang="en-US" sz="880" dirty="0"/>
          </a:p>
        </p:txBody>
      </p:sp>
      <p:sp>
        <p:nvSpPr>
          <p:cNvPr id="32" name="Shape 29"/>
          <p:cNvSpPr/>
          <p:nvPr/>
        </p:nvSpPr>
        <p:spPr>
          <a:xfrm>
            <a:off x="8019288" y="4345432"/>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43454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42997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no. of sites archived</a:t>
            </a:r>
            <a:endParaRPr lang="en-US" sz="880" dirty="0"/>
          </a:p>
        </p:txBody>
      </p:sp>
      <p:sp>
        <p:nvSpPr>
          <p:cNvPr id="35" name="Shape 32"/>
          <p:cNvSpPr/>
          <p:nvPr/>
        </p:nvSpPr>
        <p:spPr>
          <a:xfrm>
            <a:off x="8019288" y="4668012"/>
            <a:ext cx="731520" cy="169164"/>
          </a:xfrm>
          <a:prstGeom prst="roundRect">
            <a:avLst>
              <a:gd name="adj" fmla="val 48649"/>
            </a:avLst>
          </a:prstGeom>
          <a:solidFill>
            <a:srgbClr val="EAF4E4"/>
          </a:solidFill>
          <a:ln w="12700">
            <a:solidFill>
              <a:srgbClr val="EAF4E4"/>
            </a:solidFill>
            <a:prstDash val="solid"/>
          </a:ln>
        </p:spPr>
      </p:sp>
      <p:sp>
        <p:nvSpPr>
          <p:cNvPr id="36" name="Text 33"/>
          <p:cNvSpPr/>
          <p:nvPr/>
        </p:nvSpPr>
        <p:spPr>
          <a:xfrm>
            <a:off x="8019288" y="46680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7" name="Text 34"/>
          <p:cNvSpPr/>
          <p:nvPr/>
        </p:nvSpPr>
        <p:spPr>
          <a:xfrm>
            <a:off x="8842248" y="46222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inactive site for 90 days</a:t>
            </a:r>
            <a:endParaRPr lang="en-US" sz="880" dirty="0"/>
          </a:p>
        </p:txBody>
      </p:sp>
      <p:sp>
        <p:nvSpPr>
          <p:cNvPr id="38" name="Shape 35"/>
          <p:cNvSpPr/>
          <p:nvPr/>
        </p:nvSpPr>
        <p:spPr>
          <a:xfrm>
            <a:off x="502920" y="5779008"/>
            <a:ext cx="118872" cy="118872"/>
          </a:xfrm>
          <a:prstGeom prst="ellipse">
            <a:avLst/>
          </a:prstGeom>
          <a:solidFill>
            <a:srgbClr val="0072BC"/>
          </a:solidFill>
          <a:ln w="12700">
            <a:solidFill>
              <a:srgbClr val="0072BC"/>
            </a:solidFill>
            <a:prstDash val="solid"/>
          </a:ln>
        </p:spPr>
      </p:sp>
      <p:sp>
        <p:nvSpPr>
          <p:cNvPr id="39" name="Text 36"/>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Click any figure on the strip above and the table underneath changes.</a:t>
            </a:r>
            <a:endParaRPr lang="en-US" sz="1000" dirty="0"/>
          </a:p>
        </p:txBody>
      </p:sp>
      <p:sp>
        <p:nvSpPr>
          <p:cNvPr id="40" name="Shape 37"/>
          <p:cNvSpPr/>
          <p:nvPr/>
        </p:nvSpPr>
        <p:spPr>
          <a:xfrm>
            <a:off x="4270248" y="5779008"/>
            <a:ext cx="118872" cy="118872"/>
          </a:xfrm>
          <a:prstGeom prst="ellipse">
            <a:avLst/>
          </a:prstGeom>
          <a:solidFill>
            <a:srgbClr val="00A5A8"/>
          </a:solidFill>
          <a:ln w="12700">
            <a:solidFill>
              <a:srgbClr val="00A5A8"/>
            </a:solidFill>
            <a:prstDash val="solid"/>
          </a:ln>
        </p:spPr>
      </p:sp>
      <p:sp>
        <p:nvSpPr>
          <p:cNvPr id="41" name="Text 38"/>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 department name opens that department’s own dashboard.</a:t>
            </a:r>
            <a:endParaRPr lang="en-US" sz="1000" dirty="0"/>
          </a:p>
        </p:txBody>
      </p:sp>
      <p:sp>
        <p:nvSpPr>
          <p:cNvPr id="42" name="Shape 39"/>
          <p:cNvSpPr/>
          <p:nvPr/>
        </p:nvSpPr>
        <p:spPr>
          <a:xfrm>
            <a:off x="8037576" y="5779008"/>
            <a:ext cx="118872" cy="118872"/>
          </a:xfrm>
          <a:prstGeom prst="ellipse">
            <a:avLst/>
          </a:prstGeom>
          <a:solidFill>
            <a:srgbClr val="5CA943"/>
          </a:solidFill>
          <a:ln w="12700">
            <a:solidFill>
              <a:srgbClr val="5CA943"/>
            </a:solidFill>
            <a:prstDash val="solid"/>
          </a:ln>
        </p:spPr>
      </p:sp>
      <p:sp>
        <p:nvSpPr>
          <p:cNvPr id="43" name="Text 40"/>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four indicators on the right are sites created, deleted, archived and gone quiet.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Project sites, sovereign and nonsovereign</a:t>
            </a:r>
            <a:endParaRPr lang="en-US" sz="2500" dirty="0"/>
          </a:p>
        </p:txBody>
      </p:sp>
      <p:sp>
        <p:nvSpPr>
          <p:cNvPr id="4" name="Shape 2"/>
          <p:cNvSpPr/>
          <p:nvPr/>
        </p:nvSpPr>
        <p:spPr>
          <a:xfrm>
            <a:off x="470916" y="2050531"/>
            <a:ext cx="7178040" cy="2289684"/>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sov.png">    </p:cNvPr>
          <p:cNvPicPr>
            <a:picLocks noChangeAspect="1"/>
          </p:cNvPicPr>
          <p:nvPr/>
        </p:nvPicPr>
        <p:blipFill>
          <a:blip r:embed="rId1"/>
          <a:stretch>
            <a:fillRect/>
          </a:stretch>
        </p:blipFill>
        <p:spPr>
          <a:xfrm>
            <a:off x="502920" y="2082535"/>
            <a:ext cx="7114032" cy="2225676"/>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Sovereign project site list, all columns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Nonsovereign project site list, all columns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Project rows clickable into Project Insights</a:t>
            </a:r>
            <a:endParaRPr lang="en-US" sz="880" dirty="0"/>
          </a:p>
        </p:txBody>
      </p:sp>
      <p:sp>
        <p:nvSpPr>
          <p:cNvPr id="17" name="Shape 14"/>
          <p:cNvSpPr/>
          <p:nvPr/>
        </p:nvSpPr>
        <p:spPr>
          <a:xfrm>
            <a:off x="502920" y="5779008"/>
            <a:ext cx="118872" cy="118872"/>
          </a:xfrm>
          <a:prstGeom prst="ellipse">
            <a:avLst/>
          </a:prstGeom>
          <a:solidFill>
            <a:srgbClr val="0072BC"/>
          </a:solidFill>
          <a:ln w="12700">
            <a:solidFill>
              <a:srgbClr val="0072BC"/>
            </a:solidFill>
            <a:prstDash val="solid"/>
          </a:ln>
        </p:spPr>
      </p:sp>
      <p:sp>
        <p:nvSpPr>
          <p:cNvPr id="18" name="Text 15"/>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client asked for these as two separate lists. Both are here.</a:t>
            </a:r>
            <a:endParaRPr lang="en-US" sz="1000" dirty="0"/>
          </a:p>
        </p:txBody>
      </p:sp>
      <p:sp>
        <p:nvSpPr>
          <p:cNvPr id="19" name="Shape 16"/>
          <p:cNvSpPr/>
          <p:nvPr/>
        </p:nvSpPr>
        <p:spPr>
          <a:xfrm>
            <a:off x="4270248" y="5779008"/>
            <a:ext cx="118872" cy="118872"/>
          </a:xfrm>
          <a:prstGeom prst="ellipse">
            <a:avLst/>
          </a:prstGeom>
          <a:solidFill>
            <a:srgbClr val="00A5A8"/>
          </a:solidFill>
          <a:ln w="12700">
            <a:solidFill>
              <a:srgbClr val="00A5A8"/>
            </a:solidFill>
            <a:prstDash val="solid"/>
          </a:ln>
        </p:spPr>
      </p:sp>
      <p:sp>
        <p:nvSpPr>
          <p:cNvPr id="20" name="Text 17"/>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Any project row opens Project Insights for that project.</a:t>
            </a:r>
            <a:endParaRPr lang="en-US" sz="1000" dirty="0"/>
          </a:p>
        </p:txBody>
      </p:sp>
      <p:sp>
        <p:nvSpPr>
          <p:cNvPr id="21" name="Shape 18"/>
          <p:cNvSpPr/>
          <p:nvPr/>
        </p:nvSpPr>
        <p:spPr>
          <a:xfrm>
            <a:off x="8037576" y="5779008"/>
            <a:ext cx="118872" cy="118872"/>
          </a:xfrm>
          <a:prstGeom prst="ellipse">
            <a:avLst/>
          </a:prstGeom>
          <a:solidFill>
            <a:srgbClr val="5CA943"/>
          </a:solidFill>
          <a:ln w="12700">
            <a:solidFill>
              <a:srgbClr val="5CA943"/>
            </a:solidFill>
            <a:prstDash val="solid"/>
          </a:ln>
        </p:spPr>
      </p:sp>
      <p:sp>
        <p:nvSpPr>
          <p:cNvPr id="22" name="Text 19"/>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bottom row is the facility total, because their own slide ends the list with “Etc.”</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Users</a:t>
            </a:r>
            <a:endParaRPr lang="en-US" sz="2500" dirty="0"/>
          </a:p>
        </p:txBody>
      </p:sp>
      <p:sp>
        <p:nvSpPr>
          <p:cNvPr id="4" name="Shape 2"/>
          <p:cNvSpPr/>
          <p:nvPr/>
        </p:nvSpPr>
        <p:spPr>
          <a:xfrm>
            <a:off x="470916" y="1817631"/>
            <a:ext cx="7178040" cy="2848643"/>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users.png">    </p:cNvPr>
          <p:cNvPicPr>
            <a:picLocks noChangeAspect="1"/>
          </p:cNvPicPr>
          <p:nvPr/>
        </p:nvPicPr>
        <p:blipFill>
          <a:blip r:embed="rId1"/>
          <a:stretch>
            <a:fillRect/>
          </a:stretch>
        </p:blipFill>
        <p:spPr>
          <a:xfrm>
            <a:off x="502920" y="1849635"/>
            <a:ext cx="7114032" cy="2784635"/>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users, count</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 of active users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never accessed EDRMS</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not accessed in 90 days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users (staff)</a:t>
            </a:r>
            <a:endParaRPr lang="en-US" sz="880" dirty="0"/>
          </a:p>
        </p:txBody>
      </p:sp>
      <p:sp>
        <p:nvSpPr>
          <p:cNvPr id="23" name="Shape 20"/>
          <p:cNvSpPr/>
          <p:nvPr/>
        </p:nvSpPr>
        <p:spPr>
          <a:xfrm>
            <a:off x="8019288" y="3377692"/>
            <a:ext cx="731520" cy="169164"/>
          </a:xfrm>
          <a:prstGeom prst="roundRect">
            <a:avLst>
              <a:gd name="adj" fmla="val 48649"/>
            </a:avLst>
          </a:prstGeom>
          <a:solidFill>
            <a:srgbClr val="FBE6E4"/>
          </a:solidFill>
          <a:ln w="12700">
            <a:solidFill>
              <a:srgbClr val="FBE6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users (Contractors)</a:t>
            </a:r>
            <a:endParaRPr lang="en-US" sz="880" dirty="0"/>
          </a:p>
        </p:txBody>
      </p:sp>
      <p:sp>
        <p:nvSpPr>
          <p:cNvPr id="26" name="Shape 23"/>
          <p:cNvSpPr/>
          <p:nvPr/>
        </p:nvSpPr>
        <p:spPr>
          <a:xfrm>
            <a:off x="8019288" y="370027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users (Consultants)</a:t>
            </a:r>
            <a:endParaRPr lang="en-US" sz="880" dirty="0"/>
          </a:p>
        </p:txBody>
      </p:sp>
      <p:sp>
        <p:nvSpPr>
          <p:cNvPr id="29" name="Shape 26"/>
          <p:cNvSpPr/>
          <p:nvPr/>
        </p:nvSpPr>
        <p:spPr>
          <a:xfrm>
            <a:off x="8019288" y="4022852"/>
            <a:ext cx="731520" cy="169164"/>
          </a:xfrm>
          <a:prstGeom prst="roundRect">
            <a:avLst>
              <a:gd name="adj" fmla="val 48649"/>
            </a:avLst>
          </a:prstGeom>
          <a:solidFill>
            <a:srgbClr val="FBE6E4"/>
          </a:solidFill>
          <a:ln w="12700">
            <a:solidFill>
              <a:srgbClr val="FBE6E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Completion of training</a:t>
            </a:r>
            <a:endParaRPr lang="en-US" sz="880" dirty="0"/>
          </a:p>
        </p:txBody>
      </p:sp>
      <p:sp>
        <p:nvSpPr>
          <p:cNvPr id="32" name="Shape 29"/>
          <p:cNvSpPr/>
          <p:nvPr/>
        </p:nvSpPr>
        <p:spPr>
          <a:xfrm>
            <a:off x="8019288" y="4345432"/>
            <a:ext cx="731520" cy="169164"/>
          </a:xfrm>
          <a:prstGeom prst="roundRect">
            <a:avLst>
              <a:gd name="adj" fmla="val 48649"/>
            </a:avLst>
          </a:prstGeom>
          <a:solidFill>
            <a:srgbClr val="FBE6E4"/>
          </a:solidFill>
          <a:ln w="12700">
            <a:solidFill>
              <a:srgbClr val="FBE6E4"/>
            </a:solidFill>
            <a:prstDash val="solid"/>
          </a:ln>
        </p:spPr>
      </p:sp>
      <p:sp>
        <p:nvSpPr>
          <p:cNvPr id="33" name="Text 30"/>
          <p:cNvSpPr/>
          <p:nvPr/>
        </p:nvSpPr>
        <p:spPr>
          <a:xfrm>
            <a:off x="8019288" y="43454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4" name="Text 31"/>
          <p:cNvSpPr/>
          <p:nvPr/>
        </p:nvSpPr>
        <p:spPr>
          <a:xfrm>
            <a:off x="8842248" y="42997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Onboarded since go-live</a:t>
            </a:r>
            <a:endParaRPr lang="en-US" sz="880" dirty="0"/>
          </a:p>
        </p:txBody>
      </p:sp>
      <p:sp>
        <p:nvSpPr>
          <p:cNvPr id="35" name="Shape 32"/>
          <p:cNvSpPr/>
          <p:nvPr/>
        </p:nvSpPr>
        <p:spPr>
          <a:xfrm>
            <a:off x="8019288" y="4668012"/>
            <a:ext cx="731520" cy="169164"/>
          </a:xfrm>
          <a:prstGeom prst="roundRect">
            <a:avLst>
              <a:gd name="adj" fmla="val 48649"/>
            </a:avLst>
          </a:prstGeom>
          <a:solidFill>
            <a:srgbClr val="FBE6E4"/>
          </a:solidFill>
          <a:ln w="12700">
            <a:solidFill>
              <a:srgbClr val="FBE6E4"/>
            </a:solidFill>
            <a:prstDash val="solid"/>
          </a:ln>
        </p:spPr>
      </p:sp>
      <p:sp>
        <p:nvSpPr>
          <p:cNvPr id="36" name="Text 33"/>
          <p:cNvSpPr/>
          <p:nvPr/>
        </p:nvSpPr>
        <p:spPr>
          <a:xfrm>
            <a:off x="8019288" y="46680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7" name="Text 34"/>
          <p:cNvSpPr/>
          <p:nvPr/>
        </p:nvSpPr>
        <p:spPr>
          <a:xfrm>
            <a:off x="8842248" y="46222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User to department mapping</a:t>
            </a:r>
            <a:endParaRPr lang="en-US" sz="880" dirty="0"/>
          </a:p>
        </p:txBody>
      </p:sp>
      <p:sp>
        <p:nvSpPr>
          <p:cNvPr id="38" name="Shape 35"/>
          <p:cNvSpPr/>
          <p:nvPr/>
        </p:nvSpPr>
        <p:spPr>
          <a:xfrm>
            <a:off x="502920" y="5779008"/>
            <a:ext cx="118872" cy="118872"/>
          </a:xfrm>
          <a:prstGeom prst="ellipse">
            <a:avLst/>
          </a:prstGeom>
          <a:solidFill>
            <a:srgbClr val="0072BC"/>
          </a:solidFill>
          <a:ln w="12700">
            <a:solidFill>
              <a:srgbClr val="0072BC"/>
            </a:solidFill>
            <a:prstDash val="solid"/>
          </a:ln>
        </p:spPr>
      </p:sp>
      <p:sp>
        <p:nvSpPr>
          <p:cNvPr id="39" name="Text 36"/>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We can see who has actually used EDRMS. We cannot see who they are.</a:t>
            </a:r>
            <a:endParaRPr lang="en-US" sz="1000" dirty="0"/>
          </a:p>
        </p:txBody>
      </p:sp>
      <p:sp>
        <p:nvSpPr>
          <p:cNvPr id="40" name="Shape 37"/>
          <p:cNvSpPr/>
          <p:nvPr/>
        </p:nvSpPr>
        <p:spPr>
          <a:xfrm>
            <a:off x="4270248" y="5779008"/>
            <a:ext cx="118872" cy="118872"/>
          </a:xfrm>
          <a:prstGeom prst="ellipse">
            <a:avLst/>
          </a:prstGeom>
          <a:solidFill>
            <a:srgbClr val="00A5A8"/>
          </a:solidFill>
          <a:ln w="12700">
            <a:solidFill>
              <a:srgbClr val="00A5A8"/>
            </a:solidFill>
            <a:prstDash val="solid"/>
          </a:ln>
        </p:spPr>
      </p:sp>
      <p:sp>
        <p:nvSpPr>
          <p:cNvPr id="41" name="Text 38"/>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Six of the ten things asked for here need something from you.</a:t>
            </a:r>
            <a:endParaRPr lang="en-US" sz="1000" dirty="0"/>
          </a:p>
        </p:txBody>
      </p:sp>
      <p:sp>
        <p:nvSpPr>
          <p:cNvPr id="42" name="Shape 39"/>
          <p:cNvSpPr/>
          <p:nvPr/>
        </p:nvSpPr>
        <p:spPr>
          <a:xfrm>
            <a:off x="8037576" y="5779008"/>
            <a:ext cx="118872" cy="118872"/>
          </a:xfrm>
          <a:prstGeom prst="ellipse">
            <a:avLst/>
          </a:prstGeom>
          <a:solidFill>
            <a:srgbClr val="5CA943"/>
          </a:solidFill>
          <a:ln w="12700">
            <a:solidFill>
              <a:srgbClr val="5CA943"/>
            </a:solidFill>
            <a:prstDash val="solid"/>
          </a:ln>
        </p:spPr>
      </p:sp>
      <p:sp>
        <p:nvSpPr>
          <p:cNvPr id="43" name="Text 40"/>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biggest single gap in the whole report.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Documents</a:t>
            </a:r>
            <a:endParaRPr lang="en-US" sz="2500" dirty="0"/>
          </a:p>
        </p:txBody>
      </p:sp>
      <p:sp>
        <p:nvSpPr>
          <p:cNvPr id="4" name="Shape 2"/>
          <p:cNvSpPr/>
          <p:nvPr/>
        </p:nvSpPr>
        <p:spPr>
          <a:xfrm>
            <a:off x="470916" y="1785872"/>
            <a:ext cx="7178040" cy="2924865"/>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docs.png">    </p:cNvPr>
          <p:cNvPicPr>
            <a:picLocks noChangeAspect="1"/>
          </p:cNvPicPr>
          <p:nvPr/>
        </p:nvPicPr>
        <p:blipFill>
          <a:blip r:embed="rId1"/>
          <a:stretch>
            <a:fillRect/>
          </a:stretch>
        </p:blipFill>
        <p:spPr>
          <a:xfrm>
            <a:off x="502920" y="1817876"/>
            <a:ext cx="7114032" cy="2860857"/>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 created / uploaded</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Documents size (in GB)</a:t>
            </a:r>
            <a:endParaRPr lang="en-US" sz="880" dirty="0"/>
          </a:p>
        </p:txBody>
      </p:sp>
      <p:sp>
        <p:nvSpPr>
          <p:cNvPr id="14" name="Shape 11"/>
          <p:cNvSpPr/>
          <p:nvPr/>
        </p:nvSpPr>
        <p:spPr>
          <a:xfrm>
            <a:off x="8019288" y="2409952"/>
            <a:ext cx="731520" cy="169164"/>
          </a:xfrm>
          <a:prstGeom prst="roundRect">
            <a:avLst>
              <a:gd name="adj" fmla="val 48649"/>
            </a:avLst>
          </a:prstGeom>
          <a:solidFill>
            <a:srgbClr val="FBE6E4"/>
          </a:solidFill>
          <a:ln w="12700">
            <a:solidFill>
              <a:srgbClr val="FBE6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users creating documents</a:t>
            </a:r>
            <a:endParaRPr lang="en-US" sz="880" dirty="0"/>
          </a:p>
        </p:txBody>
      </p:sp>
      <p:sp>
        <p:nvSpPr>
          <p:cNvPr id="17" name="Shape 14"/>
          <p:cNvSpPr/>
          <p:nvPr/>
        </p:nvSpPr>
        <p:spPr>
          <a:xfrm>
            <a:off x="8019288" y="2732532"/>
            <a:ext cx="731520" cy="169164"/>
          </a:xfrm>
          <a:prstGeom prst="roundRect">
            <a:avLst>
              <a:gd name="adj" fmla="val 48649"/>
            </a:avLst>
          </a:prstGeom>
          <a:solidFill>
            <a:srgbClr val="FBE6E4"/>
          </a:solidFill>
          <a:ln w="12700">
            <a:solidFill>
              <a:srgbClr val="FBE6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Indicator: new documents month on month</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Indicator: average monthly storage growth</a:t>
            </a:r>
            <a:endParaRPr lang="en-US" sz="880" dirty="0"/>
          </a:p>
        </p:txBody>
      </p:sp>
      <p:sp>
        <p:nvSpPr>
          <p:cNvPr id="23" name="Shape 20"/>
          <p:cNvSpPr/>
          <p:nvPr/>
        </p:nvSpPr>
        <p:spPr>
          <a:xfrm>
            <a:off x="8019288" y="3377692"/>
            <a:ext cx="731520" cy="169164"/>
          </a:xfrm>
          <a:prstGeom prst="roundRect">
            <a:avLst>
              <a:gd name="adj" fmla="val 48649"/>
            </a:avLst>
          </a:prstGeom>
          <a:solidFill>
            <a:srgbClr val="FBE6E4"/>
          </a:solidFill>
          <a:ln w="12700">
            <a:solidFill>
              <a:srgbClr val="FBE6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Per division breakdown</a:t>
            </a:r>
            <a:endParaRPr lang="en-US" sz="880" dirty="0"/>
          </a:p>
        </p:txBody>
      </p:sp>
      <p:sp>
        <p:nvSpPr>
          <p:cNvPr id="26" name="Shape 23"/>
          <p:cNvSpPr/>
          <p:nvPr/>
        </p:nvSpPr>
        <p:spPr>
          <a:xfrm>
            <a:off x="502920" y="5779008"/>
            <a:ext cx="118872" cy="118872"/>
          </a:xfrm>
          <a:prstGeom prst="ellipse">
            <a:avLst/>
          </a:prstGeom>
          <a:solidFill>
            <a:srgbClr val="0072BC"/>
          </a:solidFill>
          <a:ln w="12700">
            <a:solidFill>
              <a:srgbClr val="0072BC"/>
            </a:solidFill>
            <a:prstDash val="solid"/>
          </a:ln>
        </p:spPr>
      </p:sp>
      <p:sp>
        <p:nvSpPr>
          <p:cNvPr id="27" name="Text 24"/>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Document counts and storage size are solid and come from real data.</a:t>
            </a:r>
            <a:endParaRPr lang="en-US" sz="1000" dirty="0"/>
          </a:p>
        </p:txBody>
      </p:sp>
      <p:sp>
        <p:nvSpPr>
          <p:cNvPr id="28" name="Shape 25"/>
          <p:cNvSpPr/>
          <p:nvPr/>
        </p:nvSpPr>
        <p:spPr>
          <a:xfrm>
            <a:off x="4270248" y="5779008"/>
            <a:ext cx="118872" cy="118872"/>
          </a:xfrm>
          <a:prstGeom prst="ellipse">
            <a:avLst/>
          </a:prstGeom>
          <a:solidFill>
            <a:srgbClr val="00A5A8"/>
          </a:solidFill>
          <a:ln w="12700">
            <a:solidFill>
              <a:srgbClr val="00A5A8"/>
            </a:solidFill>
            <a:prstDash val="solid"/>
          </a:ln>
        </p:spPr>
      </p:sp>
      <p:sp>
        <p:nvSpPr>
          <p:cNvPr id="29" name="Text 26"/>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What is missing is history: we can show today, not the trend.</a:t>
            </a:r>
            <a:endParaRPr lang="en-US" sz="1000" dirty="0"/>
          </a:p>
        </p:txBody>
      </p:sp>
      <p:sp>
        <p:nvSpPr>
          <p:cNvPr id="30" name="Shape 27"/>
          <p:cNvSpPr/>
          <p:nvPr/>
        </p:nvSpPr>
        <p:spPr>
          <a:xfrm>
            <a:off x="8037576" y="5779008"/>
            <a:ext cx="118872" cy="118872"/>
          </a:xfrm>
          <a:prstGeom prst="ellipse">
            <a:avLst/>
          </a:prstGeom>
          <a:solidFill>
            <a:srgbClr val="5CA943"/>
          </a:solidFill>
          <a:ln w="12700">
            <a:solidFill>
              <a:srgbClr val="5CA943"/>
            </a:solidFill>
            <a:prstDash val="solid"/>
          </a:ln>
        </p:spPr>
      </p:sp>
      <p:sp>
        <p:nvSpPr>
          <p:cNvPr id="31" name="Text 28"/>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“Per division” appears again here. It appears on six screens in total.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Records declared</a:t>
            </a:r>
            <a:endParaRPr lang="en-US" sz="2500" dirty="0"/>
          </a:p>
        </p:txBody>
      </p:sp>
      <p:sp>
        <p:nvSpPr>
          <p:cNvPr id="4" name="Shape 2"/>
          <p:cNvSpPr/>
          <p:nvPr/>
        </p:nvSpPr>
        <p:spPr>
          <a:xfrm>
            <a:off x="470916" y="1787989"/>
            <a:ext cx="7178040" cy="2919784"/>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rec.png">    </p:cNvPr>
          <p:cNvPicPr>
            <a:picLocks noChangeAspect="1"/>
          </p:cNvPicPr>
          <p:nvPr/>
        </p:nvPicPr>
        <p:blipFill>
          <a:blip r:embed="rId1"/>
          <a:stretch>
            <a:fillRect/>
          </a:stretch>
        </p:blipFill>
        <p:spPr>
          <a:xfrm>
            <a:off x="502920" y="1819993"/>
            <a:ext cx="7114032" cy="2855776"/>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users declaring records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zero record declarations</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declaration rate against documents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records declared per division</a:t>
            </a:r>
            <a:endParaRPr lang="en-US" sz="880" dirty="0"/>
          </a:p>
        </p:txBody>
      </p:sp>
      <p:sp>
        <p:nvSpPr>
          <p:cNvPr id="23" name="Shape 20"/>
          <p:cNvSpPr/>
          <p:nvPr/>
        </p:nvSpPr>
        <p:spPr>
          <a:xfrm>
            <a:off x="8019288" y="3377692"/>
            <a:ext cx="731520" cy="169164"/>
          </a:xfrm>
          <a:prstGeom prst="roundRect">
            <a:avLst>
              <a:gd name="adj" fmla="val 48649"/>
            </a:avLst>
          </a:prstGeom>
          <a:solidFill>
            <a:srgbClr val="FBE6E4"/>
          </a:solidFill>
          <a:ln w="12700">
            <a:solidFill>
              <a:srgbClr val="FBE6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users declaring records per division</a:t>
            </a:r>
            <a:endParaRPr lang="en-US" sz="880" dirty="0"/>
          </a:p>
        </p:txBody>
      </p:sp>
      <p:sp>
        <p:nvSpPr>
          <p:cNvPr id="26" name="Shape 23"/>
          <p:cNvSpPr/>
          <p:nvPr/>
        </p:nvSpPr>
        <p:spPr>
          <a:xfrm>
            <a:off x="502920" y="5779008"/>
            <a:ext cx="118872" cy="118872"/>
          </a:xfrm>
          <a:prstGeom prst="ellipse">
            <a:avLst/>
          </a:prstGeom>
          <a:solidFill>
            <a:srgbClr val="0072BC"/>
          </a:solidFill>
          <a:ln w="12700">
            <a:solidFill>
              <a:srgbClr val="0072BC"/>
            </a:solidFill>
            <a:prstDash val="solid"/>
          </a:ln>
        </p:spPr>
      </p:sp>
      <p:sp>
        <p:nvSpPr>
          <p:cNvPr id="27" name="Text 24"/>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number the whole programme is judged on.</a:t>
            </a:r>
            <a:endParaRPr lang="en-US" sz="1000" dirty="0"/>
          </a:p>
        </p:txBody>
      </p:sp>
      <p:sp>
        <p:nvSpPr>
          <p:cNvPr id="28" name="Shape 25"/>
          <p:cNvSpPr/>
          <p:nvPr/>
        </p:nvSpPr>
        <p:spPr>
          <a:xfrm>
            <a:off x="4270248" y="5779008"/>
            <a:ext cx="118872" cy="118872"/>
          </a:xfrm>
          <a:prstGeom prst="ellipse">
            <a:avLst/>
          </a:prstGeom>
          <a:solidFill>
            <a:srgbClr val="00A5A8"/>
          </a:solidFill>
          <a:ln w="12700">
            <a:solidFill>
              <a:srgbClr val="00A5A8"/>
            </a:solidFill>
            <a:prstDash val="solid"/>
          </a:ln>
        </p:spPr>
      </p:sp>
      <p:sp>
        <p:nvSpPr>
          <p:cNvPr id="29" name="Text 26"/>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declaration rate compares records declared against documents held.</a:t>
            </a:r>
            <a:endParaRPr lang="en-US" sz="1000" dirty="0"/>
          </a:p>
        </p:txBody>
      </p:sp>
      <p:sp>
        <p:nvSpPr>
          <p:cNvPr id="30" name="Shape 27"/>
          <p:cNvSpPr/>
          <p:nvPr/>
        </p:nvSpPr>
        <p:spPr>
          <a:xfrm>
            <a:off x="8037576" y="5779008"/>
            <a:ext cx="118872" cy="118872"/>
          </a:xfrm>
          <a:prstGeom prst="ellipse">
            <a:avLst/>
          </a:prstGeom>
          <a:solidFill>
            <a:srgbClr val="5CA943"/>
          </a:solidFill>
          <a:ln w="12700">
            <a:solidFill>
              <a:srgbClr val="5CA943"/>
            </a:solidFill>
            <a:prstDash val="solid"/>
          </a:ln>
        </p:spPr>
      </p:sp>
      <p:sp>
        <p:nvSpPr>
          <p:cNvPr id="31" name="Text 28"/>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Departments with zero declarations are flagged so they can be chased.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Physical counterparts</a:t>
            </a:r>
            <a:endParaRPr lang="en-US" sz="2500" dirty="0"/>
          </a:p>
        </p:txBody>
      </p:sp>
      <p:sp>
        <p:nvSpPr>
          <p:cNvPr id="4" name="Shape 2"/>
          <p:cNvSpPr/>
          <p:nvPr/>
        </p:nvSpPr>
        <p:spPr>
          <a:xfrm>
            <a:off x="470916" y="1785872"/>
            <a:ext cx="7178040" cy="2924865"/>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phys.png">    </p:cNvPr>
          <p:cNvPicPr>
            <a:picLocks noChangeAspect="1"/>
          </p:cNvPicPr>
          <p:nvPr/>
        </p:nvPicPr>
        <p:blipFill>
          <a:blip r:embed="rId1"/>
          <a:stretch>
            <a:fillRect/>
          </a:stretch>
        </p:blipFill>
        <p:spPr>
          <a:xfrm>
            <a:off x="502920" y="1817876"/>
            <a:ext cx="7114032" cy="2860857"/>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physical records declared</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users declaring records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Share of records with a counterpart</a:t>
            </a:r>
            <a:endParaRPr lang="en-US" sz="880" dirty="0"/>
          </a:p>
        </p:txBody>
      </p:sp>
      <p:sp>
        <p:nvSpPr>
          <p:cNvPr id="17" name="Shape 14"/>
          <p:cNvSpPr/>
          <p:nvPr/>
        </p:nvSpPr>
        <p:spPr>
          <a:xfrm>
            <a:off x="8019288" y="2732532"/>
            <a:ext cx="731520" cy="169164"/>
          </a:xfrm>
          <a:prstGeom prst="roundRect">
            <a:avLst>
              <a:gd name="adj" fmla="val 48649"/>
            </a:avLst>
          </a:prstGeom>
          <a:solidFill>
            <a:srgbClr val="FBE6E4"/>
          </a:solidFill>
          <a:ln w="12700">
            <a:solidFill>
              <a:srgbClr val="FBE6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Per division, two columns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4622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Indicator: physical counterpart completion rate (turned over to RAC)</a:t>
            </a:r>
            <a:endParaRPr lang="en-US" sz="880" dirty="0"/>
          </a:p>
        </p:txBody>
      </p:sp>
      <p:sp>
        <p:nvSpPr>
          <p:cNvPr id="23" name="Shape 20"/>
          <p:cNvSpPr/>
          <p:nvPr/>
        </p:nvSpPr>
        <p:spPr>
          <a:xfrm>
            <a:off x="502920" y="5779008"/>
            <a:ext cx="118872" cy="118872"/>
          </a:xfrm>
          <a:prstGeom prst="ellipse">
            <a:avLst/>
          </a:prstGeom>
          <a:solidFill>
            <a:srgbClr val="0072BC"/>
          </a:solidFill>
          <a:ln w="12700">
            <a:solidFill>
              <a:srgbClr val="0072BC"/>
            </a:solidFill>
            <a:prstDash val="solid"/>
          </a:ln>
        </p:spPr>
      </p:sp>
      <p:sp>
        <p:nvSpPr>
          <p:cNvPr id="24" name="Text 21"/>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 physical counterpart is a declared record that also exists on paper.</a:t>
            </a:r>
            <a:endParaRPr lang="en-US" sz="1000" dirty="0"/>
          </a:p>
        </p:txBody>
      </p:sp>
      <p:sp>
        <p:nvSpPr>
          <p:cNvPr id="25" name="Shape 22"/>
          <p:cNvSpPr/>
          <p:nvPr/>
        </p:nvSpPr>
        <p:spPr>
          <a:xfrm>
            <a:off x="4270248" y="5779008"/>
            <a:ext cx="118872" cy="118872"/>
          </a:xfrm>
          <a:prstGeom prst="ellipse">
            <a:avLst/>
          </a:prstGeom>
          <a:solidFill>
            <a:srgbClr val="00A5A8"/>
          </a:solidFill>
          <a:ln w="12700">
            <a:solidFill>
              <a:srgbClr val="00A5A8"/>
            </a:solidFill>
            <a:prstDash val="solid"/>
          </a:ln>
        </p:spPr>
      </p:sp>
      <p:sp>
        <p:nvSpPr>
          <p:cNvPr id="26" name="Text 23"/>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bridge between this report and what RAC holds in its rooms.</a:t>
            </a:r>
            <a:endParaRPr lang="en-US" sz="1000" dirty="0"/>
          </a:p>
        </p:txBody>
      </p:sp>
      <p:sp>
        <p:nvSpPr>
          <p:cNvPr id="27" name="Shape 24"/>
          <p:cNvSpPr/>
          <p:nvPr/>
        </p:nvSpPr>
        <p:spPr>
          <a:xfrm>
            <a:off x="8037576" y="5779008"/>
            <a:ext cx="118872" cy="118872"/>
          </a:xfrm>
          <a:prstGeom prst="ellipse">
            <a:avLst/>
          </a:prstGeom>
          <a:solidFill>
            <a:srgbClr val="5CA943"/>
          </a:solidFill>
          <a:ln w="12700">
            <a:solidFill>
              <a:srgbClr val="5CA943"/>
            </a:solidFill>
            <a:prstDash val="solid"/>
          </a:ln>
        </p:spPr>
      </p:sp>
      <p:sp>
        <p:nvSpPr>
          <p:cNvPr id="28" name="Text 25"/>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What we cannot show is whether the paper actually reached RAC.</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Records due for disposal</a:t>
            </a:r>
            <a:endParaRPr lang="en-US" sz="2500" dirty="0"/>
          </a:p>
        </p:txBody>
      </p:sp>
      <p:sp>
        <p:nvSpPr>
          <p:cNvPr id="4" name="Shape 2"/>
          <p:cNvSpPr/>
          <p:nvPr/>
        </p:nvSpPr>
        <p:spPr>
          <a:xfrm>
            <a:off x="470916" y="1762582"/>
            <a:ext cx="7178040" cy="2980761"/>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drill-disp.png">    </p:cNvPr>
          <p:cNvPicPr>
            <a:picLocks noChangeAspect="1"/>
          </p:cNvPicPr>
          <p:nvPr/>
        </p:nvPicPr>
        <p:blipFill>
          <a:blip r:embed="rId1"/>
          <a:stretch>
            <a:fillRect/>
          </a:stretch>
        </p:blipFill>
        <p:spPr>
          <a:xfrm>
            <a:off x="502920" y="1794586"/>
            <a:ext cx="7114032" cy="2916753"/>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due for disposal</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Next due date for disposal</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With physical counterpart?</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upcoming next quarter</a:t>
            </a:r>
            <a:endParaRPr lang="en-US" sz="880" dirty="0"/>
          </a:p>
        </p:txBody>
      </p:sp>
      <p:sp>
        <p:nvSpPr>
          <p:cNvPr id="20" name="Shape 17"/>
          <p:cNvSpPr/>
          <p:nvPr/>
        </p:nvSpPr>
        <p:spPr>
          <a:xfrm>
            <a:off x="8019288" y="3055112"/>
            <a:ext cx="731520" cy="169164"/>
          </a:xfrm>
          <a:prstGeom prst="roundRect">
            <a:avLst>
              <a:gd name="adj" fmla="val 48649"/>
            </a:avLst>
          </a:prstGeom>
          <a:solidFill>
            <a:srgbClr val="E6EEF4"/>
          </a:solidFill>
          <a:ln w="12700">
            <a:solidFill>
              <a:srgbClr val="E6EEF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Disposal approver</a:t>
            </a:r>
            <a:endParaRPr lang="en-US" sz="880" dirty="0"/>
          </a:p>
        </p:txBody>
      </p:sp>
      <p:sp>
        <p:nvSpPr>
          <p:cNvPr id="23" name="Shape 20"/>
          <p:cNvSpPr/>
          <p:nvPr/>
        </p:nvSpPr>
        <p:spPr>
          <a:xfrm>
            <a:off x="8019288" y="3377692"/>
            <a:ext cx="731520" cy="169164"/>
          </a:xfrm>
          <a:prstGeom prst="roundRect">
            <a:avLst>
              <a:gd name="adj" fmla="val 48649"/>
            </a:avLst>
          </a:prstGeom>
          <a:solidFill>
            <a:srgbClr val="E6EEF4"/>
          </a:solidFill>
          <a:ln w="12700">
            <a:solidFill>
              <a:srgbClr val="E6EEF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(Approved)</a:t>
            </a:r>
            <a:endParaRPr lang="en-US" sz="880" dirty="0"/>
          </a:p>
        </p:txBody>
      </p:sp>
      <p:sp>
        <p:nvSpPr>
          <p:cNvPr id="26" name="Shape 23"/>
          <p:cNvSpPr/>
          <p:nvPr/>
        </p:nvSpPr>
        <p:spPr>
          <a:xfrm>
            <a:off x="8019288" y="3700272"/>
            <a:ext cx="731520" cy="169164"/>
          </a:xfrm>
          <a:prstGeom prst="roundRect">
            <a:avLst>
              <a:gd name="adj" fmla="val 48649"/>
            </a:avLst>
          </a:prstGeom>
          <a:solidFill>
            <a:srgbClr val="E6EEF4"/>
          </a:solidFill>
          <a:ln w="12700">
            <a:solidFill>
              <a:srgbClr val="E6EEF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(Declined)</a:t>
            </a:r>
            <a:endParaRPr lang="en-US" sz="880" dirty="0"/>
          </a:p>
        </p:txBody>
      </p:sp>
      <p:sp>
        <p:nvSpPr>
          <p:cNvPr id="29" name="Shape 26"/>
          <p:cNvSpPr/>
          <p:nvPr/>
        </p:nvSpPr>
        <p:spPr>
          <a:xfrm>
            <a:off x="8019288" y="4022852"/>
            <a:ext cx="731520" cy="169164"/>
          </a:xfrm>
          <a:prstGeom prst="roundRect">
            <a:avLst>
              <a:gd name="adj" fmla="val 48649"/>
            </a:avLst>
          </a:prstGeom>
          <a:solidFill>
            <a:srgbClr val="E6EEF4"/>
          </a:solidFill>
          <a:ln w="12700">
            <a:solidFill>
              <a:srgbClr val="E6EEF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(Extended)</a:t>
            </a:r>
            <a:endParaRPr lang="en-US" sz="880" dirty="0"/>
          </a:p>
        </p:txBody>
      </p:sp>
      <p:sp>
        <p:nvSpPr>
          <p:cNvPr id="32" name="Shape 29"/>
          <p:cNvSpPr/>
          <p:nvPr/>
        </p:nvSpPr>
        <p:spPr>
          <a:xfrm>
            <a:off x="8019288" y="4345432"/>
            <a:ext cx="731520" cy="169164"/>
          </a:xfrm>
          <a:prstGeom prst="roundRect">
            <a:avLst>
              <a:gd name="adj" fmla="val 48649"/>
            </a:avLst>
          </a:prstGeom>
          <a:solidFill>
            <a:srgbClr val="E6EEF4"/>
          </a:solidFill>
          <a:ln w="12700">
            <a:solidFill>
              <a:srgbClr val="E6EEF4"/>
            </a:solidFill>
            <a:prstDash val="solid"/>
          </a:ln>
        </p:spPr>
      </p:sp>
      <p:sp>
        <p:nvSpPr>
          <p:cNvPr id="33" name="Text 30"/>
          <p:cNvSpPr/>
          <p:nvPr/>
        </p:nvSpPr>
        <p:spPr>
          <a:xfrm>
            <a:off x="8019288" y="434543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4" name="Text 31"/>
          <p:cNvSpPr/>
          <p:nvPr/>
        </p:nvSpPr>
        <p:spPr>
          <a:xfrm>
            <a:off x="8842248" y="42997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Indicator: records disposed month on month</a:t>
            </a:r>
            <a:endParaRPr lang="en-US" sz="880" dirty="0"/>
          </a:p>
        </p:txBody>
      </p:sp>
      <p:sp>
        <p:nvSpPr>
          <p:cNvPr id="35" name="Shape 32"/>
          <p:cNvSpPr/>
          <p:nvPr/>
        </p:nvSpPr>
        <p:spPr>
          <a:xfrm>
            <a:off x="8019288" y="4668012"/>
            <a:ext cx="731520" cy="169164"/>
          </a:xfrm>
          <a:prstGeom prst="roundRect">
            <a:avLst>
              <a:gd name="adj" fmla="val 48649"/>
            </a:avLst>
          </a:prstGeom>
          <a:solidFill>
            <a:srgbClr val="E6EEF4"/>
          </a:solidFill>
          <a:ln w="12700">
            <a:solidFill>
              <a:srgbClr val="E6EEF4"/>
            </a:solidFill>
            <a:prstDash val="solid"/>
          </a:ln>
        </p:spPr>
      </p:sp>
      <p:sp>
        <p:nvSpPr>
          <p:cNvPr id="36" name="Text 33"/>
          <p:cNvSpPr/>
          <p:nvPr/>
        </p:nvSpPr>
        <p:spPr>
          <a:xfrm>
            <a:off x="8019288" y="466801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7" name="Text 34"/>
          <p:cNvSpPr/>
          <p:nvPr/>
        </p:nvSpPr>
        <p:spPr>
          <a:xfrm>
            <a:off x="8842248" y="46222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Indicator: overdue actions, pending approvals</a:t>
            </a:r>
            <a:endParaRPr lang="en-US" sz="880" dirty="0"/>
          </a:p>
        </p:txBody>
      </p:sp>
      <p:sp>
        <p:nvSpPr>
          <p:cNvPr id="38" name="Shape 35"/>
          <p:cNvSpPr/>
          <p:nvPr/>
        </p:nvSpPr>
        <p:spPr>
          <a:xfrm>
            <a:off x="8019288" y="4990592"/>
            <a:ext cx="731520" cy="169164"/>
          </a:xfrm>
          <a:prstGeom prst="roundRect">
            <a:avLst>
              <a:gd name="adj" fmla="val 48649"/>
            </a:avLst>
          </a:prstGeom>
          <a:solidFill>
            <a:srgbClr val="E6EEF4"/>
          </a:solidFill>
          <a:ln w="12700">
            <a:solidFill>
              <a:srgbClr val="E6EEF4"/>
            </a:solidFill>
            <a:prstDash val="solid"/>
          </a:ln>
        </p:spPr>
      </p:sp>
      <p:sp>
        <p:nvSpPr>
          <p:cNvPr id="39" name="Text 36"/>
          <p:cNvSpPr/>
          <p:nvPr/>
        </p:nvSpPr>
        <p:spPr>
          <a:xfrm>
            <a:off x="8019288" y="49905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40" name="Text 37"/>
          <p:cNvSpPr/>
          <p:nvPr/>
        </p:nvSpPr>
        <p:spPr>
          <a:xfrm>
            <a:off x="8842248" y="49448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Indicator: disposal completion rate</a:t>
            </a:r>
            <a:endParaRPr lang="en-US" sz="880" dirty="0"/>
          </a:p>
        </p:txBody>
      </p:sp>
      <p:sp>
        <p:nvSpPr>
          <p:cNvPr id="41" name="Shape 38"/>
          <p:cNvSpPr/>
          <p:nvPr/>
        </p:nvSpPr>
        <p:spPr>
          <a:xfrm>
            <a:off x="502920" y="5779008"/>
            <a:ext cx="118872" cy="118872"/>
          </a:xfrm>
          <a:prstGeom prst="ellipse">
            <a:avLst/>
          </a:prstGeom>
          <a:solidFill>
            <a:srgbClr val="0072BC"/>
          </a:solidFill>
          <a:ln w="12700">
            <a:solidFill>
              <a:srgbClr val="0072BC"/>
            </a:solidFill>
            <a:prstDash val="solid"/>
          </a:ln>
        </p:spPr>
      </p:sp>
      <p:sp>
        <p:nvSpPr>
          <p:cNvPr id="42" name="Text 3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We can show what is due, and when. That part is solid.</a:t>
            </a:r>
            <a:endParaRPr lang="en-US" sz="1000" dirty="0"/>
          </a:p>
        </p:txBody>
      </p:sp>
      <p:sp>
        <p:nvSpPr>
          <p:cNvPr id="43" name="Shape 40"/>
          <p:cNvSpPr/>
          <p:nvPr/>
        </p:nvSpPr>
        <p:spPr>
          <a:xfrm>
            <a:off x="4270248" y="5779008"/>
            <a:ext cx="118872" cy="118872"/>
          </a:xfrm>
          <a:prstGeom prst="ellipse">
            <a:avLst/>
          </a:prstGeom>
          <a:solidFill>
            <a:srgbClr val="00A5A8"/>
          </a:solidFill>
          <a:ln w="12700">
            <a:solidFill>
              <a:srgbClr val="00A5A8"/>
            </a:solidFill>
            <a:prstDash val="solid"/>
          </a:ln>
        </p:spPr>
      </p:sp>
      <p:sp>
        <p:nvSpPr>
          <p:cNvPr id="44" name="Text 4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We cannot show what happened next, because nothing records an outcome.</a:t>
            </a:r>
            <a:endParaRPr lang="en-US" sz="1000" dirty="0"/>
          </a:p>
        </p:txBody>
      </p:sp>
      <p:sp>
        <p:nvSpPr>
          <p:cNvPr id="45" name="Shape 42"/>
          <p:cNvSpPr/>
          <p:nvPr/>
        </p:nvSpPr>
        <p:spPr>
          <a:xfrm>
            <a:off x="8037576" y="5779008"/>
            <a:ext cx="118872" cy="118872"/>
          </a:xfrm>
          <a:prstGeom prst="ellipse">
            <a:avLst/>
          </a:prstGeom>
          <a:solidFill>
            <a:srgbClr val="5CA943"/>
          </a:solidFill>
          <a:ln w="12700">
            <a:solidFill>
              <a:srgbClr val="5CA943"/>
            </a:solidFill>
            <a:prstDash val="solid"/>
          </a:ln>
        </p:spPr>
      </p:sp>
      <p:sp>
        <p:nvSpPr>
          <p:cNvPr id="46" name="Text 4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Seven of the eleven items here are waiting on that one gap.</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Trends and comparisons</a:t>
            </a:r>
            <a:endParaRPr lang="en-US" sz="2500" dirty="0"/>
          </a:p>
        </p:txBody>
      </p:sp>
      <p:sp>
        <p:nvSpPr>
          <p:cNvPr id="4" name="Shape 2"/>
          <p:cNvSpPr/>
          <p:nvPr/>
        </p:nvSpPr>
        <p:spPr>
          <a:xfrm>
            <a:off x="470916" y="1156716"/>
            <a:ext cx="7178040" cy="3087472"/>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bw-04.png">    </p:cNvPr>
          <p:cNvPicPr>
            <a:picLocks noChangeAspect="1"/>
          </p:cNvPicPr>
          <p:nvPr/>
        </p:nvPicPr>
        <p:blipFill>
          <a:blip r:embed="rId1"/>
          <a:stretch>
            <a:fillRect/>
          </a:stretch>
        </p:blipFill>
        <p:spPr>
          <a:xfrm>
            <a:off x="502920" y="1188720"/>
            <a:ext cx="7114032" cy="3023464"/>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Comparison, three named ratios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Bank-wide records declaration trend, cumulative</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declared in range</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Monthly average in range</a:t>
            </a:r>
            <a:endParaRPr lang="en-US" sz="880" dirty="0"/>
          </a:p>
        </p:txBody>
      </p:sp>
      <p:sp>
        <p:nvSpPr>
          <p:cNvPr id="20" name="Shape 17"/>
          <p:cNvSpPr/>
          <p:nvPr/>
        </p:nvSpPr>
        <p:spPr>
          <a:xfrm>
            <a:off x="502920" y="5779008"/>
            <a:ext cx="118872" cy="118872"/>
          </a:xfrm>
          <a:prstGeom prst="ellipse">
            <a:avLst/>
          </a:prstGeom>
          <a:solidFill>
            <a:srgbClr val="0072BC"/>
          </a:solidFill>
          <a:ln w="12700">
            <a:solidFill>
              <a:srgbClr val="0072BC"/>
            </a:solidFill>
            <a:prstDash val="solid"/>
          </a:ln>
        </p:spPr>
      </p:sp>
      <p:sp>
        <p:nvSpPr>
          <p:cNvPr id="21" name="Text 18"/>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curve is cumulative, so the last point is the running total to date.</a:t>
            </a:r>
            <a:endParaRPr lang="en-US" sz="1000" dirty="0"/>
          </a:p>
        </p:txBody>
      </p:sp>
      <p:sp>
        <p:nvSpPr>
          <p:cNvPr id="22" name="Shape 19"/>
          <p:cNvSpPr/>
          <p:nvPr/>
        </p:nvSpPr>
        <p:spPr>
          <a:xfrm>
            <a:off x="4270248" y="5779008"/>
            <a:ext cx="118872" cy="118872"/>
          </a:xfrm>
          <a:prstGeom prst="ellipse">
            <a:avLst/>
          </a:prstGeom>
          <a:solidFill>
            <a:srgbClr val="00A5A8"/>
          </a:solidFill>
          <a:ln w="12700">
            <a:solidFill>
              <a:srgbClr val="00A5A8"/>
            </a:solidFill>
            <a:prstDash val="solid"/>
          </a:ln>
        </p:spPr>
      </p:sp>
      <p:sp>
        <p:nvSpPr>
          <p:cNvPr id="23" name="Text 20"/>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You can set any date range and the two figures beneath update.</a:t>
            </a:r>
            <a:endParaRPr lang="en-US" sz="1000" dirty="0"/>
          </a:p>
        </p:txBody>
      </p:sp>
      <p:sp>
        <p:nvSpPr>
          <p:cNvPr id="24" name="Shape 21"/>
          <p:cNvSpPr/>
          <p:nvPr/>
        </p:nvSpPr>
        <p:spPr>
          <a:xfrm>
            <a:off x="8037576" y="5779008"/>
            <a:ext cx="118872" cy="118872"/>
          </a:xfrm>
          <a:prstGeom prst="ellipse">
            <a:avLst/>
          </a:prstGeom>
          <a:solidFill>
            <a:srgbClr val="5CA943"/>
          </a:solidFill>
          <a:ln w="12700">
            <a:solidFill>
              <a:srgbClr val="5CA943"/>
            </a:solidFill>
            <a:prstDash val="solid"/>
          </a:ln>
        </p:spPr>
      </p:sp>
      <p:sp>
        <p:nvSpPr>
          <p:cNvPr id="25" name="Text 22"/>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comparison panel above ranks departments on three named ratios.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 (1 of 2)</a:t>
            </a:r>
            <a:endParaRPr lang="en-US" sz="2500" dirty="0"/>
          </a:p>
        </p:txBody>
      </p:sp>
      <p:sp>
        <p:nvSpPr>
          <p:cNvPr id="4" name="Shape 2"/>
          <p:cNvSpPr/>
          <p:nvPr/>
        </p:nvSpPr>
        <p:spPr>
          <a:xfrm>
            <a:off x="502920" y="1280160"/>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496873"/>
            <a:ext cx="402336" cy="402336"/>
          </a:xfrm>
          <a:prstGeom prst="ellipse">
            <a:avLst/>
          </a:prstGeom>
          <a:solidFill>
            <a:srgbClr val="FBE6E4"/>
          </a:solidFill>
          <a:ln w="12700">
            <a:solidFill>
              <a:srgbClr val="FBE6E4"/>
            </a:solidFill>
            <a:prstDash val="solid"/>
          </a:ln>
        </p:spPr>
      </p:sp>
      <p:sp>
        <p:nvSpPr>
          <p:cNvPr id="6" name="Text 4"/>
          <p:cNvSpPr/>
          <p:nvPr/>
        </p:nvSpPr>
        <p:spPr>
          <a:xfrm>
            <a:off x="777240" y="1496873"/>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Who is staff, who is a consultant, and who is a contractor?</a:t>
            </a:r>
            <a:endParaRPr lang="en-US" sz="1350" dirty="0"/>
          </a:p>
        </p:txBody>
      </p:sp>
      <p:sp>
        <p:nvSpPr>
          <p:cNvPr id="8" name="Text 6"/>
          <p:cNvSpPr/>
          <p:nvPr/>
        </p:nvSpPr>
        <p:spPr>
          <a:xfrm>
            <a:off x="6217920" y="1399032"/>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The report can see that 1,200 people used EDRMS. It cannot see what kind of person each one is, so we cannot split any user figure three ways as you asked.</a:t>
            </a:r>
            <a:endParaRPr lang="en-US" sz="860" dirty="0"/>
          </a:p>
        </p:txBody>
      </p:sp>
      <p:sp>
        <p:nvSpPr>
          <p:cNvPr id="9" name="Text 7"/>
          <p:cNvSpPr/>
          <p:nvPr/>
        </p:nvSpPr>
        <p:spPr>
          <a:xfrm>
            <a:off x="9098280" y="1399032"/>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there a list somewhere — HR, or a directory — that says which category each person falls into? Even a monthly export would do.</a:t>
            </a:r>
            <a:endParaRPr lang="en-US" sz="860" dirty="0"/>
          </a:p>
        </p:txBody>
      </p:sp>
      <p:sp>
        <p:nvSpPr>
          <p:cNvPr id="10" name="Shape 8"/>
          <p:cNvSpPr/>
          <p:nvPr/>
        </p:nvSpPr>
        <p:spPr>
          <a:xfrm>
            <a:off x="502920" y="2225650"/>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2442362"/>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244236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2353666"/>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Which department does each person belong to?</a:t>
            </a:r>
            <a:endParaRPr lang="en-US" sz="1350" dirty="0"/>
          </a:p>
        </p:txBody>
      </p:sp>
      <p:sp>
        <p:nvSpPr>
          <p:cNvPr id="14" name="Text 12"/>
          <p:cNvSpPr/>
          <p:nvPr/>
        </p:nvSpPr>
        <p:spPr>
          <a:xfrm>
            <a:off x="6217920" y="2344522"/>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Same problem. We can count people, but we cannot say a person belongs to SARD rather than HRD, so “users per department” cannot be built.</a:t>
            </a:r>
            <a:endParaRPr lang="en-US" sz="860" dirty="0"/>
          </a:p>
        </p:txBody>
      </p:sp>
      <p:sp>
        <p:nvSpPr>
          <p:cNvPr id="15" name="Text 13"/>
          <p:cNvSpPr/>
          <p:nvPr/>
        </p:nvSpPr>
        <p:spPr>
          <a:xfrm>
            <a:off x="9098280" y="2344522"/>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Where is that held today, and could we read it?</a:t>
            </a:r>
            <a:endParaRPr lang="en-US" sz="860" dirty="0"/>
          </a:p>
        </p:txBody>
      </p:sp>
      <p:sp>
        <p:nvSpPr>
          <p:cNvPr id="16" name="Shape 14"/>
          <p:cNvSpPr/>
          <p:nvPr/>
        </p:nvSpPr>
        <p:spPr>
          <a:xfrm>
            <a:off x="502920" y="3171139"/>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3387852"/>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338785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71600" y="3299155"/>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Who has completed EDRMS training?</a:t>
            </a:r>
            <a:endParaRPr lang="en-US" sz="1350" dirty="0"/>
          </a:p>
        </p:txBody>
      </p:sp>
      <p:sp>
        <p:nvSpPr>
          <p:cNvPr id="20" name="Text 18"/>
          <p:cNvSpPr/>
          <p:nvPr/>
        </p:nvSpPr>
        <p:spPr>
          <a:xfrm>
            <a:off x="6217920" y="3290011"/>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 asked for a training completion figure on two screens. Nothing we can reach records training.</a:t>
            </a:r>
            <a:endParaRPr lang="en-US" sz="860" dirty="0"/>
          </a:p>
        </p:txBody>
      </p:sp>
      <p:sp>
        <p:nvSpPr>
          <p:cNvPr id="21" name="Text 19"/>
          <p:cNvSpPr/>
          <p:nvPr/>
        </p:nvSpPr>
        <p:spPr>
          <a:xfrm>
            <a:off x="9098280" y="3290011"/>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Who keeps the training records, and in what form?</a:t>
            </a:r>
            <a:endParaRPr lang="en-US" sz="860" dirty="0"/>
          </a:p>
        </p:txBody>
      </p:sp>
      <p:sp>
        <p:nvSpPr>
          <p:cNvPr id="22" name="Shape 20"/>
          <p:cNvSpPr/>
          <p:nvPr/>
        </p:nvSpPr>
        <p:spPr>
          <a:xfrm>
            <a:off x="502920" y="4116629"/>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777240" y="4333342"/>
            <a:ext cx="402336" cy="402336"/>
          </a:xfrm>
          <a:prstGeom prst="ellipse">
            <a:avLst/>
          </a:prstGeom>
          <a:solidFill>
            <a:srgbClr val="FBE6E4"/>
          </a:solidFill>
          <a:ln w="12700">
            <a:solidFill>
              <a:srgbClr val="FBE6E4"/>
            </a:solidFill>
            <a:prstDash val="solid"/>
          </a:ln>
        </p:spPr>
      </p:sp>
      <p:sp>
        <p:nvSpPr>
          <p:cNvPr id="24" name="Text 22"/>
          <p:cNvSpPr/>
          <p:nvPr/>
        </p:nvSpPr>
        <p:spPr>
          <a:xfrm>
            <a:off x="777240" y="433334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1371600" y="4244645"/>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Who joined since go-live?</a:t>
            </a:r>
            <a:endParaRPr lang="en-US" sz="1350" dirty="0"/>
          </a:p>
        </p:txBody>
      </p:sp>
      <p:sp>
        <p:nvSpPr>
          <p:cNvPr id="26" name="Text 24"/>
          <p:cNvSpPr/>
          <p:nvPr/>
        </p:nvSpPr>
        <p:spPr>
          <a:xfrm>
            <a:off x="6217920" y="4235501"/>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We can see activity, but not a start date, so “onboarded since go-live” cannot be counted.</a:t>
            </a:r>
            <a:endParaRPr lang="en-US" sz="860" dirty="0"/>
          </a:p>
        </p:txBody>
      </p:sp>
      <p:sp>
        <p:nvSpPr>
          <p:cNvPr id="27" name="Text 25"/>
          <p:cNvSpPr/>
          <p:nvPr/>
        </p:nvSpPr>
        <p:spPr>
          <a:xfrm>
            <a:off x="9098280" y="4235501"/>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a joining date recorded anywhere we could match to a person?</a:t>
            </a:r>
            <a:endParaRPr lang="en-US" sz="860" dirty="0"/>
          </a:p>
        </p:txBody>
      </p:sp>
      <p:sp>
        <p:nvSpPr>
          <p:cNvPr id="28" name="Shape 26"/>
          <p:cNvSpPr/>
          <p:nvPr/>
        </p:nvSpPr>
        <p:spPr>
          <a:xfrm>
            <a:off x="502920" y="5062118"/>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9" name="Shape 27"/>
          <p:cNvSpPr/>
          <p:nvPr/>
        </p:nvSpPr>
        <p:spPr>
          <a:xfrm>
            <a:off x="777240" y="5278831"/>
            <a:ext cx="402336" cy="402336"/>
          </a:xfrm>
          <a:prstGeom prst="ellipse">
            <a:avLst/>
          </a:prstGeom>
          <a:solidFill>
            <a:srgbClr val="FBE6E4"/>
          </a:solidFill>
          <a:ln w="12700">
            <a:solidFill>
              <a:srgbClr val="FBE6E4"/>
            </a:solidFill>
            <a:prstDash val="solid"/>
          </a:ln>
        </p:spPr>
      </p:sp>
      <p:sp>
        <p:nvSpPr>
          <p:cNvPr id="30" name="Text 28"/>
          <p:cNvSpPr/>
          <p:nvPr/>
        </p:nvSpPr>
        <p:spPr>
          <a:xfrm>
            <a:off x="777240" y="5278831"/>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5</a:t>
            </a:r>
            <a:endParaRPr lang="en-US" sz="1400" dirty="0"/>
          </a:p>
        </p:txBody>
      </p:sp>
      <p:sp>
        <p:nvSpPr>
          <p:cNvPr id="31" name="Text 29"/>
          <p:cNvSpPr/>
          <p:nvPr/>
        </p:nvSpPr>
        <p:spPr>
          <a:xfrm>
            <a:off x="1371600" y="5190134"/>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What counts as a division?</a:t>
            </a:r>
            <a:endParaRPr lang="en-US" sz="1350" dirty="0"/>
          </a:p>
        </p:txBody>
      </p:sp>
      <p:sp>
        <p:nvSpPr>
          <p:cNvPr id="32" name="Text 30"/>
          <p:cNvSpPr/>
          <p:nvPr/>
        </p:nvSpPr>
        <p:spPr>
          <a:xfrm>
            <a:off x="6217920" y="5180990"/>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“Per division” appears on six different screens. We can group by department today, but nothing tells us which division inside a department a site or a person belongs to.</a:t>
            </a:r>
            <a:endParaRPr lang="en-US" sz="860" dirty="0"/>
          </a:p>
        </p:txBody>
      </p:sp>
      <p:sp>
        <p:nvSpPr>
          <p:cNvPr id="33" name="Text 31"/>
          <p:cNvSpPr/>
          <p:nvPr/>
        </p:nvSpPr>
        <p:spPr>
          <a:xfrm>
            <a:off x="9098280" y="5180990"/>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there an agreed list of divisions, and does something already tag sites or people with one?</a:t>
            </a:r>
            <a:endParaRPr lang="en-US" sz="860" dirty="0"/>
          </a:p>
        </p:txBody>
      </p:sp>
      <p:sp>
        <p:nvSpPr>
          <p:cNvPr id="34" name="Text 32"/>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35" name="Text 33"/>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36" name="Text 34"/>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BANK-WIDE OVERSIGHT</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 (2 of 2)</a:t>
            </a:r>
            <a:endParaRPr lang="en-US" sz="2500" dirty="0"/>
          </a:p>
        </p:txBody>
      </p:sp>
      <p:sp>
        <p:nvSpPr>
          <p:cNvPr id="4" name="Shape 2"/>
          <p:cNvSpPr/>
          <p:nvPr/>
        </p:nvSpPr>
        <p:spPr>
          <a:xfrm>
            <a:off x="502920" y="1280160"/>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615059"/>
            <a:ext cx="402336" cy="402336"/>
          </a:xfrm>
          <a:prstGeom prst="ellipse">
            <a:avLst/>
          </a:prstGeom>
          <a:solidFill>
            <a:srgbClr val="FBE6E4"/>
          </a:solidFill>
          <a:ln w="12700">
            <a:solidFill>
              <a:srgbClr val="FBE6E4"/>
            </a:solidFill>
            <a:prstDash val="solid"/>
          </a:ln>
        </p:spPr>
      </p:sp>
      <p:sp>
        <p:nvSpPr>
          <p:cNvPr id="6" name="Text 4"/>
          <p:cNvSpPr/>
          <p:nvPr/>
        </p:nvSpPr>
        <p:spPr>
          <a:xfrm>
            <a:off x="777240" y="1615059"/>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6</a:t>
            </a:r>
            <a:endParaRPr lang="en-US" sz="1400" dirty="0"/>
          </a:p>
        </p:txBody>
      </p:sp>
      <p:sp>
        <p:nvSpPr>
          <p:cNvPr id="7" name="Text 5"/>
          <p:cNvSpPr/>
          <p:nvPr/>
        </p:nvSpPr>
        <p:spPr>
          <a:xfrm>
            <a:off x="1371600" y="1408176"/>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Can we keep a monthly history?</a:t>
            </a:r>
            <a:endParaRPr lang="en-US" sz="1350" dirty="0"/>
          </a:p>
        </p:txBody>
      </p:sp>
      <p:sp>
        <p:nvSpPr>
          <p:cNvPr id="8" name="Text 6"/>
          <p:cNvSpPr/>
          <p:nvPr/>
        </p:nvSpPr>
        <p:spPr>
          <a:xfrm>
            <a:off x="6217920" y="1399032"/>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Several of your indicators are month-on-month — new documents, storage growth, records disposed. Today we can only see the current position, not last month’s.</a:t>
            </a:r>
            <a:endParaRPr lang="en-US" sz="860" dirty="0"/>
          </a:p>
        </p:txBody>
      </p:sp>
      <p:sp>
        <p:nvSpPr>
          <p:cNvPr id="9" name="Text 7"/>
          <p:cNvSpPr/>
          <p:nvPr/>
        </p:nvSpPr>
        <p:spPr>
          <a:xfrm>
            <a:off x="9098280" y="1399032"/>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This one we can solve ourselves by taking a monthly snapshot. We just need your agreement to start, because the history only builds from the day we begin.</a:t>
            </a:r>
            <a:endParaRPr lang="en-US" sz="860" dirty="0"/>
          </a:p>
        </p:txBody>
      </p:sp>
      <p:sp>
        <p:nvSpPr>
          <p:cNvPr id="10" name="Shape 8"/>
          <p:cNvSpPr/>
          <p:nvPr/>
        </p:nvSpPr>
        <p:spPr>
          <a:xfrm>
            <a:off x="502920" y="2462022"/>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2796921"/>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2796921"/>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7</a:t>
            </a:r>
            <a:endParaRPr lang="en-US" sz="1400" dirty="0"/>
          </a:p>
        </p:txBody>
      </p:sp>
      <p:sp>
        <p:nvSpPr>
          <p:cNvPr id="13" name="Text 11"/>
          <p:cNvSpPr/>
          <p:nvPr/>
        </p:nvSpPr>
        <p:spPr>
          <a:xfrm>
            <a:off x="1371600" y="2590038"/>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Who approves a disposal, and what did they decide?</a:t>
            </a:r>
            <a:endParaRPr lang="en-US" sz="1350" dirty="0"/>
          </a:p>
        </p:txBody>
      </p:sp>
      <p:sp>
        <p:nvSpPr>
          <p:cNvPr id="14" name="Text 12"/>
          <p:cNvSpPr/>
          <p:nvPr/>
        </p:nvSpPr>
        <p:spPr>
          <a:xfrm>
            <a:off x="6217920" y="2580894"/>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The report can show what is due for disposal. It cannot show approved, declined or extended, because the system has nowhere to record that decision.</a:t>
            </a:r>
            <a:endParaRPr lang="en-US" sz="860" dirty="0"/>
          </a:p>
        </p:txBody>
      </p:sp>
      <p:sp>
        <p:nvSpPr>
          <p:cNvPr id="15" name="Text 13"/>
          <p:cNvSpPr/>
          <p:nvPr/>
        </p:nvSpPr>
        <p:spPr>
          <a:xfrm>
            <a:off x="9098280" y="2580894"/>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How is a disposal approved today — email, a form, a meeting? If we know where the decision lives, we can work out how to bring it in.</a:t>
            </a:r>
            <a:endParaRPr lang="en-US" sz="860" dirty="0"/>
          </a:p>
        </p:txBody>
      </p:sp>
      <p:sp>
        <p:nvSpPr>
          <p:cNvPr id="16" name="Shape 14"/>
          <p:cNvSpPr/>
          <p:nvPr/>
        </p:nvSpPr>
        <p:spPr>
          <a:xfrm>
            <a:off x="502920" y="3643884"/>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3978783"/>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3978783"/>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8</a:t>
            </a:r>
            <a:endParaRPr lang="en-US" sz="1400" dirty="0"/>
          </a:p>
        </p:txBody>
      </p:sp>
      <p:sp>
        <p:nvSpPr>
          <p:cNvPr id="19" name="Text 17"/>
          <p:cNvSpPr/>
          <p:nvPr/>
        </p:nvSpPr>
        <p:spPr>
          <a:xfrm>
            <a:off x="1371600" y="3771900"/>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How do we know a paper file actually reached RAC?</a:t>
            </a:r>
            <a:endParaRPr lang="en-US" sz="1350" dirty="0"/>
          </a:p>
        </p:txBody>
      </p:sp>
      <p:sp>
        <p:nvSpPr>
          <p:cNvPr id="20" name="Text 18"/>
          <p:cNvSpPr/>
          <p:nvPr/>
        </p:nvSpPr>
        <p:spPr>
          <a:xfrm>
            <a:off x="6217920" y="3762756"/>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We can see which records are marked as having a paper counterpart. We cannot see whether that paper was handed over.</a:t>
            </a:r>
            <a:endParaRPr lang="en-US" sz="860" dirty="0"/>
          </a:p>
        </p:txBody>
      </p:sp>
      <p:sp>
        <p:nvSpPr>
          <p:cNvPr id="21" name="Text 19"/>
          <p:cNvSpPr/>
          <p:nvPr/>
        </p:nvSpPr>
        <p:spPr>
          <a:xfrm>
            <a:off x="9098280" y="3762756"/>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Does RAC record what it receives, and could we match that back to the record in EDRMS?</a:t>
            </a:r>
            <a:endParaRPr lang="en-US" sz="860" dirty="0"/>
          </a:p>
        </p:txBody>
      </p:sp>
      <p:sp>
        <p:nvSpPr>
          <p:cNvPr id="22" name="Shape 20"/>
          <p:cNvSpPr/>
          <p:nvPr/>
        </p:nvSpPr>
        <p:spPr>
          <a:xfrm>
            <a:off x="502920" y="4825746"/>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777240" y="5160645"/>
            <a:ext cx="402336" cy="402336"/>
          </a:xfrm>
          <a:prstGeom prst="ellipse">
            <a:avLst/>
          </a:prstGeom>
          <a:solidFill>
            <a:srgbClr val="FBE6E4"/>
          </a:solidFill>
          <a:ln w="12700">
            <a:solidFill>
              <a:srgbClr val="FBE6E4"/>
            </a:solidFill>
            <a:prstDash val="solid"/>
          </a:ln>
        </p:spPr>
      </p:sp>
      <p:sp>
        <p:nvSpPr>
          <p:cNvPr id="24" name="Text 22"/>
          <p:cNvSpPr/>
          <p:nvPr/>
        </p:nvSpPr>
        <p:spPr>
          <a:xfrm>
            <a:off x="777240" y="5160645"/>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9</a:t>
            </a:r>
            <a:endParaRPr lang="en-US" sz="1400" dirty="0"/>
          </a:p>
        </p:txBody>
      </p:sp>
      <p:sp>
        <p:nvSpPr>
          <p:cNvPr id="25" name="Text 23"/>
          <p:cNvSpPr/>
          <p:nvPr/>
        </p:nvSpPr>
        <p:spPr>
          <a:xfrm>
            <a:off x="1371600" y="4953762"/>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How many people are creating documents?</a:t>
            </a:r>
            <a:endParaRPr lang="en-US" sz="1350" dirty="0"/>
          </a:p>
        </p:txBody>
      </p:sp>
      <p:sp>
        <p:nvSpPr>
          <p:cNvPr id="26" name="Text 24"/>
          <p:cNvSpPr/>
          <p:nvPr/>
        </p:nvSpPr>
        <p:spPr>
          <a:xfrm>
            <a:off x="6217920" y="4944618"/>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We can count documents. Counting the distinct people who created them needs a different kind of report than the one we have access to.</a:t>
            </a:r>
            <a:endParaRPr lang="en-US" sz="860" dirty="0"/>
          </a:p>
        </p:txBody>
      </p:sp>
      <p:sp>
        <p:nvSpPr>
          <p:cNvPr id="27" name="Text 25"/>
          <p:cNvSpPr/>
          <p:nvPr/>
        </p:nvSpPr>
        <p:spPr>
          <a:xfrm>
            <a:off x="9098280" y="4944618"/>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This is one for us to solve, but it may need a change request. Flagging it so it is not a surprise later.</a:t>
            </a:r>
            <a:endParaRPr lang="en-US" sz="860" dirty="0"/>
          </a:p>
        </p:txBody>
      </p:sp>
      <p:sp>
        <p:nvSpPr>
          <p:cNvPr id="28" name="Text 26"/>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29" name="Text 27"/>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30" name="Text 28"/>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2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Department Insights</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How is one department using EDRMS?</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59</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84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19 need your input</a:t>
            </a:r>
            <a:endParaRPr lang="en-US" sz="1100" dirty="0"/>
          </a:p>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6 wait on the next release</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9 screens to walk through</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department profile</a:t>
            </a:r>
            <a:endParaRPr lang="en-US" sz="2500" dirty="0"/>
          </a:p>
        </p:txBody>
      </p:sp>
      <p:sp>
        <p:nvSpPr>
          <p:cNvPr id="4" name="Shape 2"/>
          <p:cNvSpPr/>
          <p:nvPr/>
        </p:nvSpPr>
        <p:spPr>
          <a:xfrm>
            <a:off x="470916" y="1802810"/>
            <a:ext cx="7178040" cy="2884214"/>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01.png">    </p:cNvPr>
          <p:cNvPicPr>
            <a:picLocks noChangeAspect="1"/>
          </p:cNvPicPr>
          <p:nvPr/>
        </p:nvPicPr>
        <p:blipFill>
          <a:blip r:embed="rId1"/>
          <a:stretch>
            <a:fillRect/>
          </a:stretch>
        </p:blipFill>
        <p:spPr>
          <a:xfrm>
            <a:off x="502920" y="1834814"/>
            <a:ext cx="7114032" cy="2820206"/>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Department picker driving the whole screen</a:t>
            </a:r>
            <a:endParaRPr lang="en-US" sz="880" dirty="0"/>
          </a:p>
        </p:txBody>
      </p:sp>
      <p:sp>
        <p:nvSpPr>
          <p:cNvPr id="11" name="Shape 8"/>
          <p:cNvSpPr/>
          <p:nvPr/>
        </p:nvSpPr>
        <p:spPr>
          <a:xfrm>
            <a:off x="8019288" y="2084601"/>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4601"/>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38881"/>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sites created</a:t>
            </a:r>
            <a:endParaRPr lang="en-US" sz="880" dirty="0"/>
          </a:p>
        </p:txBody>
      </p:sp>
      <p:sp>
        <p:nvSpPr>
          <p:cNvPr id="14" name="Shape 11"/>
          <p:cNvSpPr/>
          <p:nvPr/>
        </p:nvSpPr>
        <p:spPr>
          <a:xfrm>
            <a:off x="8019288" y="2404410"/>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4410"/>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58690"/>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EDRMS users</a:t>
            </a:r>
            <a:endParaRPr lang="en-US" sz="880" dirty="0"/>
          </a:p>
        </p:txBody>
      </p:sp>
      <p:sp>
        <p:nvSpPr>
          <p:cNvPr id="17" name="Shape 14"/>
          <p:cNvSpPr/>
          <p:nvPr/>
        </p:nvSpPr>
        <p:spPr>
          <a:xfrm>
            <a:off x="8019288" y="2724219"/>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24219"/>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78499"/>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site visitors</a:t>
            </a:r>
            <a:endParaRPr lang="en-US" sz="880" dirty="0"/>
          </a:p>
        </p:txBody>
      </p:sp>
      <p:sp>
        <p:nvSpPr>
          <p:cNvPr id="20" name="Shape 17"/>
          <p:cNvSpPr/>
          <p:nvPr/>
        </p:nvSpPr>
        <p:spPr>
          <a:xfrm>
            <a:off x="8019288" y="3044028"/>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44028"/>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998308"/>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documents in EDRMS</a:t>
            </a:r>
            <a:endParaRPr lang="en-US" sz="880" dirty="0"/>
          </a:p>
        </p:txBody>
      </p:sp>
      <p:sp>
        <p:nvSpPr>
          <p:cNvPr id="23" name="Shape 20"/>
          <p:cNvSpPr/>
          <p:nvPr/>
        </p:nvSpPr>
        <p:spPr>
          <a:xfrm>
            <a:off x="8019288" y="3363837"/>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63837"/>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18117"/>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 in EDRMS</a:t>
            </a:r>
            <a:endParaRPr lang="en-US" sz="880" dirty="0"/>
          </a:p>
        </p:txBody>
      </p:sp>
      <p:sp>
        <p:nvSpPr>
          <p:cNvPr id="26" name="Shape 23"/>
          <p:cNvSpPr/>
          <p:nvPr/>
        </p:nvSpPr>
        <p:spPr>
          <a:xfrm>
            <a:off x="8019288" y="3683647"/>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683647"/>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637927"/>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physical counterparts identified</a:t>
            </a:r>
            <a:endParaRPr lang="en-US" sz="880" dirty="0"/>
          </a:p>
        </p:txBody>
      </p:sp>
      <p:sp>
        <p:nvSpPr>
          <p:cNvPr id="29" name="Shape 26"/>
          <p:cNvSpPr/>
          <p:nvPr/>
        </p:nvSpPr>
        <p:spPr>
          <a:xfrm>
            <a:off x="8019288" y="4003456"/>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4003456"/>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3957736"/>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due for disposal</a:t>
            </a:r>
            <a:endParaRPr lang="en-US" sz="880" dirty="0"/>
          </a:p>
        </p:txBody>
      </p:sp>
      <p:sp>
        <p:nvSpPr>
          <p:cNvPr id="32" name="Shape 29"/>
          <p:cNvSpPr/>
          <p:nvPr/>
        </p:nvSpPr>
        <p:spPr>
          <a:xfrm>
            <a:off x="8019288" y="4323265"/>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4323265"/>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4277545"/>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Clickable top panel stats</a:t>
            </a:r>
            <a:endParaRPr lang="en-US" sz="880" dirty="0"/>
          </a:p>
        </p:txBody>
      </p:sp>
      <p:sp>
        <p:nvSpPr>
          <p:cNvPr id="35" name="Shape 32"/>
          <p:cNvSpPr/>
          <p:nvPr/>
        </p:nvSpPr>
        <p:spPr>
          <a:xfrm>
            <a:off x="8019288" y="4643074"/>
            <a:ext cx="731520" cy="169164"/>
          </a:xfrm>
          <a:prstGeom prst="roundRect">
            <a:avLst>
              <a:gd name="adj" fmla="val 48649"/>
            </a:avLst>
          </a:prstGeom>
          <a:solidFill>
            <a:srgbClr val="FBE6E4"/>
          </a:solidFill>
          <a:ln w="12700">
            <a:solidFill>
              <a:srgbClr val="FBE6E4"/>
            </a:solidFill>
            <a:prstDash val="solid"/>
          </a:ln>
        </p:spPr>
      </p:sp>
      <p:sp>
        <p:nvSpPr>
          <p:cNvPr id="36" name="Text 33"/>
          <p:cNvSpPr/>
          <p:nvPr/>
        </p:nvSpPr>
        <p:spPr>
          <a:xfrm>
            <a:off x="8019288" y="4643074"/>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7" name="Text 34"/>
          <p:cNvSpPr/>
          <p:nvPr/>
        </p:nvSpPr>
        <p:spPr>
          <a:xfrm>
            <a:off x="8842248" y="4597354"/>
            <a:ext cx="2633472" cy="459509"/>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Approved SharePoint site, library and folder convention</a:t>
            </a:r>
            <a:endParaRPr lang="en-US" sz="880" dirty="0"/>
          </a:p>
        </p:txBody>
      </p:sp>
      <p:sp>
        <p:nvSpPr>
          <p:cNvPr id="38" name="Shape 35"/>
          <p:cNvSpPr/>
          <p:nvPr/>
        </p:nvSpPr>
        <p:spPr>
          <a:xfrm>
            <a:off x="8019288" y="5102583"/>
            <a:ext cx="731520" cy="169164"/>
          </a:xfrm>
          <a:prstGeom prst="roundRect">
            <a:avLst>
              <a:gd name="adj" fmla="val 48649"/>
            </a:avLst>
          </a:prstGeom>
          <a:solidFill>
            <a:srgbClr val="FBE6E4"/>
          </a:solidFill>
          <a:ln w="12700">
            <a:solidFill>
              <a:srgbClr val="FBE6E4"/>
            </a:solidFill>
            <a:prstDash val="solid"/>
          </a:ln>
        </p:spPr>
      </p:sp>
      <p:sp>
        <p:nvSpPr>
          <p:cNvPr id="39" name="Text 36"/>
          <p:cNvSpPr/>
          <p:nvPr/>
        </p:nvSpPr>
        <p:spPr>
          <a:xfrm>
            <a:off x="8019288" y="5102583"/>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0" name="Text 37"/>
          <p:cNvSpPr/>
          <p:nvPr/>
        </p:nvSpPr>
        <p:spPr>
          <a:xfrm>
            <a:off x="8842248" y="5056863"/>
            <a:ext cx="2633472" cy="319809"/>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Go-Live date</a:t>
            </a:r>
            <a:endParaRPr lang="en-US" sz="880" dirty="0"/>
          </a:p>
        </p:txBody>
      </p:sp>
      <p:sp>
        <p:nvSpPr>
          <p:cNvPr id="41" name="Shape 38"/>
          <p:cNvSpPr/>
          <p:nvPr/>
        </p:nvSpPr>
        <p:spPr>
          <a:xfrm>
            <a:off x="502920" y="5779008"/>
            <a:ext cx="118872" cy="118872"/>
          </a:xfrm>
          <a:prstGeom prst="ellipse">
            <a:avLst/>
          </a:prstGeom>
          <a:solidFill>
            <a:srgbClr val="0072BC"/>
          </a:solidFill>
          <a:ln w="12700">
            <a:solidFill>
              <a:srgbClr val="0072BC"/>
            </a:solidFill>
            <a:prstDash val="solid"/>
          </a:ln>
        </p:spPr>
      </p:sp>
      <p:sp>
        <p:nvSpPr>
          <p:cNvPr id="42" name="Text 3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Pick a department at the top and every figure on the screen follows it.</a:t>
            </a:r>
            <a:endParaRPr lang="en-US" sz="1000" dirty="0"/>
          </a:p>
        </p:txBody>
      </p:sp>
      <p:sp>
        <p:nvSpPr>
          <p:cNvPr id="43" name="Shape 40"/>
          <p:cNvSpPr/>
          <p:nvPr/>
        </p:nvSpPr>
        <p:spPr>
          <a:xfrm>
            <a:off x="4270248" y="5779008"/>
            <a:ext cx="118872" cy="118872"/>
          </a:xfrm>
          <a:prstGeom prst="ellipse">
            <a:avLst/>
          </a:prstGeom>
          <a:solidFill>
            <a:srgbClr val="00A5A8"/>
          </a:solidFill>
          <a:ln w="12700">
            <a:solidFill>
              <a:srgbClr val="00A5A8"/>
            </a:solidFill>
            <a:prstDash val="solid"/>
          </a:ln>
        </p:spPr>
      </p:sp>
      <p:sp>
        <p:nvSpPr>
          <p:cNvPr id="44" name="Text 4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same seven headline figures as bank-wide, narrowed to one unit.</a:t>
            </a:r>
            <a:endParaRPr lang="en-US" sz="1000" dirty="0"/>
          </a:p>
        </p:txBody>
      </p:sp>
      <p:sp>
        <p:nvSpPr>
          <p:cNvPr id="45" name="Shape 42"/>
          <p:cNvSpPr/>
          <p:nvPr/>
        </p:nvSpPr>
        <p:spPr>
          <a:xfrm>
            <a:off x="8037576" y="5779008"/>
            <a:ext cx="118872" cy="118872"/>
          </a:xfrm>
          <a:prstGeom prst="ellipse">
            <a:avLst/>
          </a:prstGeom>
          <a:solidFill>
            <a:srgbClr val="5CA943"/>
          </a:solidFill>
          <a:ln w="12700">
            <a:solidFill>
              <a:srgbClr val="5CA943"/>
            </a:solidFill>
            <a:prstDash val="solid"/>
          </a:ln>
        </p:spPr>
      </p:sp>
      <p:sp>
        <p:nvSpPr>
          <p:cNvPr id="46" name="Text 4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Two things are missing from the profile: the naming convention and the go-live date.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Users and activity</a:t>
            </a:r>
            <a:endParaRPr lang="en-US" sz="2500" dirty="0"/>
          </a:p>
        </p:txBody>
      </p:sp>
      <p:sp>
        <p:nvSpPr>
          <p:cNvPr id="4" name="Shape 2"/>
          <p:cNvSpPr/>
          <p:nvPr/>
        </p:nvSpPr>
        <p:spPr>
          <a:xfrm>
            <a:off x="470916" y="2211444"/>
            <a:ext cx="7178040" cy="1903493"/>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users.png">    </p:cNvPr>
          <p:cNvPicPr>
            <a:picLocks noChangeAspect="1"/>
          </p:cNvPicPr>
          <p:nvPr/>
        </p:nvPicPr>
        <p:blipFill>
          <a:blip r:embed="rId1"/>
          <a:stretch>
            <a:fillRect/>
          </a:stretch>
        </p:blipFill>
        <p:spPr>
          <a:xfrm>
            <a:off x="502920" y="2243448"/>
            <a:ext cx="7114032" cy="1839485"/>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active users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Used EDRMS in the last 180 days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access in EDRMS compliant sites, last 180 days</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Never accessed EDRMS compliant sites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staff</a:t>
            </a:r>
            <a:endParaRPr lang="en-US" sz="880" dirty="0"/>
          </a:p>
        </p:txBody>
      </p:sp>
      <p:sp>
        <p:nvSpPr>
          <p:cNvPr id="23" name="Shape 20"/>
          <p:cNvSpPr/>
          <p:nvPr/>
        </p:nvSpPr>
        <p:spPr>
          <a:xfrm>
            <a:off x="8019288" y="3377692"/>
            <a:ext cx="731520" cy="169164"/>
          </a:xfrm>
          <a:prstGeom prst="roundRect">
            <a:avLst>
              <a:gd name="adj" fmla="val 48649"/>
            </a:avLst>
          </a:prstGeom>
          <a:solidFill>
            <a:srgbClr val="FBE6E4"/>
          </a:solidFill>
          <a:ln w="12700">
            <a:solidFill>
              <a:srgbClr val="FBE6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contractors (#, %)</a:t>
            </a:r>
            <a:endParaRPr lang="en-US" sz="880" dirty="0"/>
          </a:p>
        </p:txBody>
      </p:sp>
      <p:sp>
        <p:nvSpPr>
          <p:cNvPr id="26" name="Shape 23"/>
          <p:cNvSpPr/>
          <p:nvPr/>
        </p:nvSpPr>
        <p:spPr>
          <a:xfrm>
            <a:off x="8019288" y="370027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consultants (#, %)</a:t>
            </a:r>
            <a:endParaRPr lang="en-US" sz="880" dirty="0"/>
          </a:p>
        </p:txBody>
      </p:sp>
      <p:sp>
        <p:nvSpPr>
          <p:cNvPr id="29" name="Shape 26"/>
          <p:cNvSpPr/>
          <p:nvPr/>
        </p:nvSpPr>
        <p:spPr>
          <a:xfrm>
            <a:off x="8019288" y="4022852"/>
            <a:ext cx="731520" cy="169164"/>
          </a:xfrm>
          <a:prstGeom prst="roundRect">
            <a:avLst>
              <a:gd name="adj" fmla="val 48649"/>
            </a:avLst>
          </a:prstGeom>
          <a:solidFill>
            <a:srgbClr val="FBE6E4"/>
          </a:solidFill>
          <a:ln w="12700">
            <a:solidFill>
              <a:srgbClr val="FBE6E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Training completion rate (%)</a:t>
            </a:r>
            <a:endParaRPr lang="en-US" sz="880" dirty="0"/>
          </a:p>
        </p:txBody>
      </p:sp>
      <p:sp>
        <p:nvSpPr>
          <p:cNvPr id="32" name="Shape 29"/>
          <p:cNvSpPr/>
          <p:nvPr/>
        </p:nvSpPr>
        <p:spPr>
          <a:xfrm>
            <a:off x="502920" y="5779008"/>
            <a:ext cx="118872" cy="118872"/>
          </a:xfrm>
          <a:prstGeom prst="ellipse">
            <a:avLst/>
          </a:prstGeom>
          <a:solidFill>
            <a:srgbClr val="0072BC"/>
          </a:solidFill>
          <a:ln w="12700">
            <a:solidFill>
              <a:srgbClr val="0072BC"/>
            </a:solidFill>
            <a:prstDash val="solid"/>
          </a:ln>
        </p:spPr>
      </p:sp>
      <p:sp>
        <p:nvSpPr>
          <p:cNvPr id="33" name="Text 30"/>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Used in the last 180 days, gone quiet, never touched it — all three are here.</a:t>
            </a:r>
            <a:endParaRPr lang="en-US" sz="1000" dirty="0"/>
          </a:p>
        </p:txBody>
      </p:sp>
      <p:sp>
        <p:nvSpPr>
          <p:cNvPr id="34" name="Shape 31"/>
          <p:cNvSpPr/>
          <p:nvPr/>
        </p:nvSpPr>
        <p:spPr>
          <a:xfrm>
            <a:off x="4270248" y="5779008"/>
            <a:ext cx="118872" cy="118872"/>
          </a:xfrm>
          <a:prstGeom prst="ellipse">
            <a:avLst/>
          </a:prstGeom>
          <a:solidFill>
            <a:srgbClr val="00A5A8"/>
          </a:solidFill>
          <a:ln w="12700">
            <a:solidFill>
              <a:srgbClr val="00A5A8"/>
            </a:solidFill>
            <a:prstDash val="solid"/>
          </a:ln>
        </p:spPr>
      </p:sp>
      <p:sp>
        <p:nvSpPr>
          <p:cNvPr id="35" name="Text 32"/>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same user-type gap as bank-wide appears again.</a:t>
            </a:r>
            <a:endParaRPr lang="en-US" sz="1000" dirty="0"/>
          </a:p>
        </p:txBody>
      </p:sp>
      <p:sp>
        <p:nvSpPr>
          <p:cNvPr id="36" name="Shape 33"/>
          <p:cNvSpPr/>
          <p:nvPr/>
        </p:nvSpPr>
        <p:spPr>
          <a:xfrm>
            <a:off x="8037576" y="5779008"/>
            <a:ext cx="118872" cy="118872"/>
          </a:xfrm>
          <a:prstGeom prst="ellipse">
            <a:avLst/>
          </a:prstGeom>
          <a:solidFill>
            <a:srgbClr val="5CA943"/>
          </a:solidFill>
          <a:ln w="12700">
            <a:solidFill>
              <a:srgbClr val="5CA943"/>
            </a:solidFill>
            <a:prstDash val="solid"/>
          </a:ln>
        </p:spPr>
      </p:sp>
      <p:sp>
        <p:nvSpPr>
          <p:cNvPr id="37" name="Text 34"/>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Training completion is asked for here too.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This department’s sites</a:t>
            </a:r>
            <a:endParaRPr lang="en-US" sz="2500" dirty="0"/>
          </a:p>
        </p:txBody>
      </p:sp>
      <p:sp>
        <p:nvSpPr>
          <p:cNvPr id="4" name="Shape 2"/>
          <p:cNvSpPr/>
          <p:nvPr/>
        </p:nvSpPr>
        <p:spPr>
          <a:xfrm>
            <a:off x="470916" y="1156716"/>
            <a:ext cx="7178040" cy="3849689"/>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sites.png">    </p:cNvPr>
          <p:cNvPicPr>
            <a:picLocks noChangeAspect="1"/>
          </p:cNvPicPr>
          <p:nvPr/>
        </p:nvPicPr>
        <p:blipFill>
          <a:blip r:embed="rId1"/>
          <a:stretch>
            <a:fillRect/>
          </a:stretch>
        </p:blipFill>
        <p:spPr>
          <a:xfrm>
            <a:off x="502920" y="1188720"/>
            <a:ext cx="7114032" cy="3785681"/>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sites created</a:t>
            </a:r>
            <a:endParaRPr lang="en-US" sz="880" dirty="0"/>
          </a:p>
        </p:txBody>
      </p:sp>
      <p:sp>
        <p:nvSpPr>
          <p:cNvPr id="11" name="Shape 8"/>
          <p:cNvSpPr/>
          <p:nvPr/>
        </p:nvSpPr>
        <p:spPr>
          <a:xfrm>
            <a:off x="8019288" y="2084601"/>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4601"/>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38881"/>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documents in EDRMS</a:t>
            </a:r>
            <a:endParaRPr lang="en-US" sz="880" dirty="0"/>
          </a:p>
        </p:txBody>
      </p:sp>
      <p:sp>
        <p:nvSpPr>
          <p:cNvPr id="14" name="Shape 11"/>
          <p:cNvSpPr/>
          <p:nvPr/>
        </p:nvSpPr>
        <p:spPr>
          <a:xfrm>
            <a:off x="8019288" y="2404410"/>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4410"/>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58690"/>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 in EDRMS</a:t>
            </a:r>
            <a:endParaRPr lang="en-US" sz="880" dirty="0"/>
          </a:p>
        </p:txBody>
      </p:sp>
      <p:sp>
        <p:nvSpPr>
          <p:cNvPr id="17" name="Shape 14"/>
          <p:cNvSpPr/>
          <p:nvPr/>
        </p:nvSpPr>
        <p:spPr>
          <a:xfrm>
            <a:off x="8019288" y="2724219"/>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24219"/>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78499"/>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physical counterparts identified</a:t>
            </a:r>
            <a:endParaRPr lang="en-US" sz="880" dirty="0"/>
          </a:p>
        </p:txBody>
      </p:sp>
      <p:sp>
        <p:nvSpPr>
          <p:cNvPr id="20" name="Shape 17"/>
          <p:cNvSpPr/>
          <p:nvPr/>
        </p:nvSpPr>
        <p:spPr>
          <a:xfrm>
            <a:off x="8019288" y="3044028"/>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44028"/>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998308"/>
            <a:ext cx="2633472" cy="4595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due for disposal within 12 months</a:t>
            </a:r>
            <a:endParaRPr lang="en-US" sz="880" dirty="0"/>
          </a:p>
        </p:txBody>
      </p:sp>
      <p:sp>
        <p:nvSpPr>
          <p:cNvPr id="23" name="Shape 20"/>
          <p:cNvSpPr/>
          <p:nvPr/>
        </p:nvSpPr>
        <p:spPr>
          <a:xfrm>
            <a:off x="8019288" y="3503537"/>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503537"/>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457817"/>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Name of sites</a:t>
            </a:r>
            <a:endParaRPr lang="en-US" sz="880" dirty="0"/>
          </a:p>
        </p:txBody>
      </p:sp>
      <p:sp>
        <p:nvSpPr>
          <p:cNvPr id="26" name="Shape 23"/>
          <p:cNvSpPr/>
          <p:nvPr/>
        </p:nvSpPr>
        <p:spPr>
          <a:xfrm>
            <a:off x="8019288" y="3823347"/>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823347"/>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777627"/>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Site owners</a:t>
            </a:r>
            <a:endParaRPr lang="en-US" sz="880" dirty="0"/>
          </a:p>
        </p:txBody>
      </p:sp>
      <p:sp>
        <p:nvSpPr>
          <p:cNvPr id="29" name="Shape 26"/>
          <p:cNvSpPr/>
          <p:nvPr/>
        </p:nvSpPr>
        <p:spPr>
          <a:xfrm>
            <a:off x="8019288" y="4143156"/>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4143156"/>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4097436"/>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a:t>
            </a:r>
            <a:endParaRPr lang="en-US" sz="880" dirty="0"/>
          </a:p>
        </p:txBody>
      </p:sp>
      <p:sp>
        <p:nvSpPr>
          <p:cNvPr id="32" name="Shape 29"/>
          <p:cNvSpPr/>
          <p:nvPr/>
        </p:nvSpPr>
        <p:spPr>
          <a:xfrm>
            <a:off x="8019288" y="4462965"/>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4462965"/>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4417245"/>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a:t>
            </a:r>
            <a:endParaRPr lang="en-US" sz="880" dirty="0"/>
          </a:p>
        </p:txBody>
      </p:sp>
      <p:sp>
        <p:nvSpPr>
          <p:cNvPr id="35" name="Shape 32"/>
          <p:cNvSpPr/>
          <p:nvPr/>
        </p:nvSpPr>
        <p:spPr>
          <a:xfrm>
            <a:off x="8019288" y="4782774"/>
            <a:ext cx="731520" cy="169164"/>
          </a:xfrm>
          <a:prstGeom prst="roundRect">
            <a:avLst>
              <a:gd name="adj" fmla="val 48649"/>
            </a:avLst>
          </a:prstGeom>
          <a:solidFill>
            <a:srgbClr val="EAF4E4"/>
          </a:solidFill>
          <a:ln w="12700">
            <a:solidFill>
              <a:srgbClr val="EAF4E4"/>
            </a:solidFill>
            <a:prstDash val="solid"/>
          </a:ln>
        </p:spPr>
      </p:sp>
      <p:sp>
        <p:nvSpPr>
          <p:cNvPr id="36" name="Text 33"/>
          <p:cNvSpPr/>
          <p:nvPr/>
        </p:nvSpPr>
        <p:spPr>
          <a:xfrm>
            <a:off x="8019288" y="4782774"/>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7" name="Text 34"/>
          <p:cNvSpPr/>
          <p:nvPr/>
        </p:nvSpPr>
        <p:spPr>
          <a:xfrm>
            <a:off x="8842248" y="4737054"/>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a:t>
            </a:r>
            <a:endParaRPr lang="en-US" sz="880" dirty="0"/>
          </a:p>
        </p:txBody>
      </p:sp>
      <p:sp>
        <p:nvSpPr>
          <p:cNvPr id="38" name="Shape 35"/>
          <p:cNvSpPr/>
          <p:nvPr/>
        </p:nvSpPr>
        <p:spPr>
          <a:xfrm>
            <a:off x="8019288" y="5102583"/>
            <a:ext cx="731520" cy="169164"/>
          </a:xfrm>
          <a:prstGeom prst="roundRect">
            <a:avLst>
              <a:gd name="adj" fmla="val 48649"/>
            </a:avLst>
          </a:prstGeom>
          <a:solidFill>
            <a:srgbClr val="EAF4E4"/>
          </a:solidFill>
          <a:ln w="12700">
            <a:solidFill>
              <a:srgbClr val="EAF4E4"/>
            </a:solidFill>
            <a:prstDash val="solid"/>
          </a:ln>
        </p:spPr>
      </p:sp>
      <p:sp>
        <p:nvSpPr>
          <p:cNvPr id="39" name="Text 36"/>
          <p:cNvSpPr/>
          <p:nvPr/>
        </p:nvSpPr>
        <p:spPr>
          <a:xfrm>
            <a:off x="8019288" y="5102583"/>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40" name="Text 37"/>
          <p:cNvSpPr/>
          <p:nvPr/>
        </p:nvSpPr>
        <p:spPr>
          <a:xfrm>
            <a:off x="8842248" y="5056863"/>
            <a:ext cx="2633472" cy="319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due for disposal</a:t>
            </a:r>
            <a:endParaRPr lang="en-US" sz="880" dirty="0"/>
          </a:p>
        </p:txBody>
      </p:sp>
      <p:sp>
        <p:nvSpPr>
          <p:cNvPr id="41" name="Shape 38"/>
          <p:cNvSpPr/>
          <p:nvPr/>
        </p:nvSpPr>
        <p:spPr>
          <a:xfrm>
            <a:off x="502920" y="5779008"/>
            <a:ext cx="118872" cy="118872"/>
          </a:xfrm>
          <a:prstGeom prst="ellipse">
            <a:avLst/>
          </a:prstGeom>
          <a:solidFill>
            <a:srgbClr val="0072BC"/>
          </a:solidFill>
          <a:ln w="12700">
            <a:solidFill>
              <a:srgbClr val="0072BC"/>
            </a:solidFill>
            <a:prstDash val="solid"/>
          </a:ln>
        </p:spPr>
      </p:sp>
      <p:sp>
        <p:nvSpPr>
          <p:cNvPr id="42" name="Text 3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 site the department owns, with its owner named.</a:t>
            </a:r>
            <a:endParaRPr lang="en-US" sz="1000" dirty="0"/>
          </a:p>
        </p:txBody>
      </p:sp>
      <p:sp>
        <p:nvSpPr>
          <p:cNvPr id="43" name="Shape 40"/>
          <p:cNvSpPr/>
          <p:nvPr/>
        </p:nvSpPr>
        <p:spPr>
          <a:xfrm>
            <a:off x="4270248" y="5779008"/>
            <a:ext cx="118872" cy="118872"/>
          </a:xfrm>
          <a:prstGeom prst="ellipse">
            <a:avLst/>
          </a:prstGeom>
          <a:solidFill>
            <a:srgbClr val="00A5A8"/>
          </a:solidFill>
          <a:ln w="12700">
            <a:solidFill>
              <a:srgbClr val="00A5A8"/>
            </a:solidFill>
            <a:prstDash val="solid"/>
          </a:ln>
        </p:spPr>
      </p:sp>
      <p:sp>
        <p:nvSpPr>
          <p:cNvPr id="44" name="Text 4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six columns the client drew are present.</a:t>
            </a:r>
            <a:endParaRPr lang="en-US" sz="1000" dirty="0"/>
          </a:p>
        </p:txBody>
      </p:sp>
      <p:sp>
        <p:nvSpPr>
          <p:cNvPr id="45" name="Shape 42"/>
          <p:cNvSpPr/>
          <p:nvPr/>
        </p:nvSpPr>
        <p:spPr>
          <a:xfrm>
            <a:off x="8037576" y="5779008"/>
            <a:ext cx="118872" cy="118872"/>
          </a:xfrm>
          <a:prstGeom prst="ellipse">
            <a:avLst/>
          </a:prstGeom>
          <a:solidFill>
            <a:srgbClr val="5CA943"/>
          </a:solidFill>
          <a:ln w="12700">
            <a:solidFill>
              <a:srgbClr val="5CA943"/>
            </a:solidFill>
            <a:prstDash val="solid"/>
          </a:ln>
        </p:spPr>
      </p:sp>
      <p:sp>
        <p:nvSpPr>
          <p:cNvPr id="46" name="Text 4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screen is complete — nothing red on it.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Site visitors</a:t>
            </a:r>
            <a:endParaRPr lang="en-US" sz="2500" dirty="0"/>
          </a:p>
        </p:txBody>
      </p:sp>
      <p:sp>
        <p:nvSpPr>
          <p:cNvPr id="4" name="Shape 2"/>
          <p:cNvSpPr/>
          <p:nvPr/>
        </p:nvSpPr>
        <p:spPr>
          <a:xfrm>
            <a:off x="470916" y="1156716"/>
            <a:ext cx="7178040" cy="409868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visitors.png">    </p:cNvPr>
          <p:cNvPicPr>
            <a:picLocks noChangeAspect="1"/>
          </p:cNvPicPr>
          <p:nvPr/>
        </p:nvPicPr>
        <p:blipFill>
          <a:blip r:embed="rId1"/>
          <a:stretch>
            <a:fillRect/>
          </a:stretch>
        </p:blipFill>
        <p:spPr>
          <a:xfrm>
            <a:off x="502920" y="1188720"/>
            <a:ext cx="7114032" cy="403467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visitors</a:t>
            </a:r>
            <a:endParaRPr lang="en-US" sz="880" dirty="0"/>
          </a:p>
        </p:txBody>
      </p:sp>
      <p:sp>
        <p:nvSpPr>
          <p:cNvPr id="11" name="Shape 8"/>
          <p:cNvSpPr/>
          <p:nvPr/>
        </p:nvSpPr>
        <p:spPr>
          <a:xfrm>
            <a:off x="8019288" y="2026049"/>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26049"/>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1980329"/>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Site visits table, by site</a:t>
            </a:r>
            <a:endParaRPr lang="en-US" sz="880" dirty="0"/>
          </a:p>
        </p:txBody>
      </p:sp>
      <p:sp>
        <p:nvSpPr>
          <p:cNvPr id="14" name="Shape 11"/>
          <p:cNvSpPr/>
          <p:nvPr/>
        </p:nvSpPr>
        <p:spPr>
          <a:xfrm>
            <a:off x="8019288" y="2287306"/>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287306"/>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241586"/>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Page View Count</a:t>
            </a:r>
            <a:endParaRPr lang="en-US" sz="880" dirty="0"/>
          </a:p>
        </p:txBody>
      </p:sp>
      <p:sp>
        <p:nvSpPr>
          <p:cNvPr id="17" name="Shape 14"/>
          <p:cNvSpPr/>
          <p:nvPr/>
        </p:nvSpPr>
        <p:spPr>
          <a:xfrm>
            <a:off x="8019288" y="2548563"/>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548563"/>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502843"/>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Visited Page Count</a:t>
            </a:r>
            <a:endParaRPr lang="en-US" sz="880" dirty="0"/>
          </a:p>
        </p:txBody>
      </p:sp>
      <p:sp>
        <p:nvSpPr>
          <p:cNvPr id="20" name="Shape 17"/>
          <p:cNvSpPr/>
          <p:nvPr/>
        </p:nvSpPr>
        <p:spPr>
          <a:xfrm>
            <a:off x="8019288" y="2809821"/>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2809821"/>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764101"/>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Quick Windows (Last 7,30,90,180 days)</a:t>
            </a:r>
            <a:endParaRPr lang="en-US" sz="880" dirty="0"/>
          </a:p>
        </p:txBody>
      </p:sp>
      <p:sp>
        <p:nvSpPr>
          <p:cNvPr id="23" name="Shape 20"/>
          <p:cNvSpPr/>
          <p:nvPr/>
        </p:nvSpPr>
        <p:spPr>
          <a:xfrm>
            <a:off x="8019288" y="3071078"/>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071078"/>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025358"/>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Filter by month/year</a:t>
            </a:r>
            <a:endParaRPr lang="en-US" sz="880" dirty="0"/>
          </a:p>
        </p:txBody>
      </p:sp>
      <p:sp>
        <p:nvSpPr>
          <p:cNvPr id="26" name="Shape 23"/>
          <p:cNvSpPr/>
          <p:nvPr/>
        </p:nvSpPr>
        <p:spPr>
          <a:xfrm>
            <a:off x="8019288" y="3332335"/>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332335"/>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286615"/>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Name of sites</a:t>
            </a:r>
            <a:endParaRPr lang="en-US" sz="880" dirty="0"/>
          </a:p>
        </p:txBody>
      </p:sp>
      <p:sp>
        <p:nvSpPr>
          <p:cNvPr id="29" name="Shape 26"/>
          <p:cNvSpPr/>
          <p:nvPr/>
        </p:nvSpPr>
        <p:spPr>
          <a:xfrm>
            <a:off x="8019288" y="3593592"/>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35935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3547872"/>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Page View Count</a:t>
            </a:r>
            <a:endParaRPr lang="en-US" sz="880" dirty="0"/>
          </a:p>
        </p:txBody>
      </p:sp>
      <p:sp>
        <p:nvSpPr>
          <p:cNvPr id="32" name="Shape 29"/>
          <p:cNvSpPr/>
          <p:nvPr/>
        </p:nvSpPr>
        <p:spPr>
          <a:xfrm>
            <a:off x="8019288" y="3854849"/>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3854849"/>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3809129"/>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Visited Page Count</a:t>
            </a:r>
            <a:endParaRPr lang="en-US" sz="880" dirty="0"/>
          </a:p>
        </p:txBody>
      </p:sp>
      <p:sp>
        <p:nvSpPr>
          <p:cNvPr id="35" name="Shape 32"/>
          <p:cNvSpPr/>
          <p:nvPr/>
        </p:nvSpPr>
        <p:spPr>
          <a:xfrm>
            <a:off x="8019288" y="4116106"/>
            <a:ext cx="731520" cy="169164"/>
          </a:xfrm>
          <a:prstGeom prst="roundRect">
            <a:avLst>
              <a:gd name="adj" fmla="val 48649"/>
            </a:avLst>
          </a:prstGeom>
          <a:solidFill>
            <a:srgbClr val="EAF4E4"/>
          </a:solidFill>
          <a:ln w="12700">
            <a:solidFill>
              <a:srgbClr val="EAF4E4"/>
            </a:solidFill>
            <a:prstDash val="solid"/>
          </a:ln>
        </p:spPr>
      </p:sp>
      <p:sp>
        <p:nvSpPr>
          <p:cNvPr id="36" name="Text 33"/>
          <p:cNvSpPr/>
          <p:nvPr/>
        </p:nvSpPr>
        <p:spPr>
          <a:xfrm>
            <a:off x="8019288" y="4116106"/>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7" name="Text 34"/>
          <p:cNvSpPr/>
          <p:nvPr/>
        </p:nvSpPr>
        <p:spPr>
          <a:xfrm>
            <a:off x="8842248" y="4070386"/>
            <a:ext cx="2633472" cy="261257"/>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EDRMS Site Type</a:t>
            </a:r>
            <a:endParaRPr lang="en-US" sz="880" dirty="0"/>
          </a:p>
        </p:txBody>
      </p:sp>
      <p:sp>
        <p:nvSpPr>
          <p:cNvPr id="38" name="Shape 35"/>
          <p:cNvSpPr/>
          <p:nvPr/>
        </p:nvSpPr>
        <p:spPr>
          <a:xfrm>
            <a:off x="8019288" y="4377363"/>
            <a:ext cx="731520" cy="169164"/>
          </a:xfrm>
          <a:prstGeom prst="roundRect">
            <a:avLst>
              <a:gd name="adj" fmla="val 48649"/>
            </a:avLst>
          </a:prstGeom>
          <a:solidFill>
            <a:srgbClr val="FBE6E4"/>
          </a:solidFill>
          <a:ln w="12700">
            <a:solidFill>
              <a:srgbClr val="FBE6E4"/>
            </a:solidFill>
            <a:prstDash val="solid"/>
          </a:ln>
        </p:spPr>
      </p:sp>
      <p:sp>
        <p:nvSpPr>
          <p:cNvPr id="39" name="Text 36"/>
          <p:cNvSpPr/>
          <p:nvPr/>
        </p:nvSpPr>
        <p:spPr>
          <a:xfrm>
            <a:off x="8019288" y="4377363"/>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0" name="Text 37"/>
          <p:cNvSpPr/>
          <p:nvPr/>
        </p:nvSpPr>
        <p:spPr>
          <a:xfrm>
            <a:off x="8842248" y="4331643"/>
            <a:ext cx="2633472" cy="261257"/>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visitors (external) (#, %)</a:t>
            </a:r>
            <a:endParaRPr lang="en-US" sz="880" dirty="0"/>
          </a:p>
        </p:txBody>
      </p:sp>
      <p:sp>
        <p:nvSpPr>
          <p:cNvPr id="41" name="Shape 38"/>
          <p:cNvSpPr/>
          <p:nvPr/>
        </p:nvSpPr>
        <p:spPr>
          <a:xfrm>
            <a:off x="8019288" y="4638621"/>
            <a:ext cx="731520" cy="169164"/>
          </a:xfrm>
          <a:prstGeom prst="roundRect">
            <a:avLst>
              <a:gd name="adj" fmla="val 48649"/>
            </a:avLst>
          </a:prstGeom>
          <a:solidFill>
            <a:srgbClr val="FBE6E4"/>
          </a:solidFill>
          <a:ln w="12700">
            <a:solidFill>
              <a:srgbClr val="FBE6E4"/>
            </a:solidFill>
            <a:prstDash val="solid"/>
          </a:ln>
        </p:spPr>
      </p:sp>
      <p:sp>
        <p:nvSpPr>
          <p:cNvPr id="42" name="Text 39"/>
          <p:cNvSpPr/>
          <p:nvPr/>
        </p:nvSpPr>
        <p:spPr>
          <a:xfrm>
            <a:off x="8019288" y="4638621"/>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3" name="Text 40"/>
          <p:cNvSpPr/>
          <p:nvPr/>
        </p:nvSpPr>
        <p:spPr>
          <a:xfrm>
            <a:off x="8842248" y="4592901"/>
            <a:ext cx="2633472" cy="261257"/>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visitors (internal) (#, %)</a:t>
            </a:r>
            <a:endParaRPr lang="en-US" sz="880" dirty="0"/>
          </a:p>
        </p:txBody>
      </p:sp>
      <p:sp>
        <p:nvSpPr>
          <p:cNvPr id="44" name="Shape 41"/>
          <p:cNvSpPr/>
          <p:nvPr/>
        </p:nvSpPr>
        <p:spPr>
          <a:xfrm>
            <a:off x="8019288" y="4899878"/>
            <a:ext cx="731520" cy="169164"/>
          </a:xfrm>
          <a:prstGeom prst="roundRect">
            <a:avLst>
              <a:gd name="adj" fmla="val 48649"/>
            </a:avLst>
          </a:prstGeom>
          <a:solidFill>
            <a:srgbClr val="FBE6E4"/>
          </a:solidFill>
          <a:ln w="12700">
            <a:solidFill>
              <a:srgbClr val="FBE6E4"/>
            </a:solidFill>
            <a:prstDash val="solid"/>
          </a:ln>
        </p:spPr>
      </p:sp>
      <p:sp>
        <p:nvSpPr>
          <p:cNvPr id="45" name="Text 42"/>
          <p:cNvSpPr/>
          <p:nvPr/>
        </p:nvSpPr>
        <p:spPr>
          <a:xfrm>
            <a:off x="8019288" y="4899878"/>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6" name="Text 43"/>
          <p:cNvSpPr/>
          <p:nvPr/>
        </p:nvSpPr>
        <p:spPr>
          <a:xfrm>
            <a:off x="8842248" y="4854158"/>
            <a:ext cx="2633472" cy="261257"/>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access requests granted (#, %)</a:t>
            </a:r>
            <a:endParaRPr lang="en-US" sz="880" dirty="0"/>
          </a:p>
        </p:txBody>
      </p:sp>
      <p:sp>
        <p:nvSpPr>
          <p:cNvPr id="47" name="Shape 44"/>
          <p:cNvSpPr/>
          <p:nvPr/>
        </p:nvSpPr>
        <p:spPr>
          <a:xfrm>
            <a:off x="8019288" y="5161135"/>
            <a:ext cx="731520" cy="169164"/>
          </a:xfrm>
          <a:prstGeom prst="roundRect">
            <a:avLst>
              <a:gd name="adj" fmla="val 48649"/>
            </a:avLst>
          </a:prstGeom>
          <a:solidFill>
            <a:srgbClr val="FBE6E4"/>
          </a:solidFill>
          <a:ln w="12700">
            <a:solidFill>
              <a:srgbClr val="FBE6E4"/>
            </a:solidFill>
            <a:prstDash val="solid"/>
          </a:ln>
        </p:spPr>
      </p:sp>
      <p:sp>
        <p:nvSpPr>
          <p:cNvPr id="48" name="Text 45"/>
          <p:cNvSpPr/>
          <p:nvPr/>
        </p:nvSpPr>
        <p:spPr>
          <a:xfrm>
            <a:off x="8019288" y="5161135"/>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9" name="Text 46"/>
          <p:cNvSpPr/>
          <p:nvPr/>
        </p:nvSpPr>
        <p:spPr>
          <a:xfrm>
            <a:off x="8842248" y="5115415"/>
            <a:ext cx="2633472" cy="261257"/>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Total number of access requests denied (#, %)</a:t>
            </a:r>
            <a:endParaRPr lang="en-US" sz="880" dirty="0"/>
          </a:p>
        </p:txBody>
      </p:sp>
      <p:sp>
        <p:nvSpPr>
          <p:cNvPr id="50" name="Shape 47"/>
          <p:cNvSpPr/>
          <p:nvPr/>
        </p:nvSpPr>
        <p:spPr>
          <a:xfrm>
            <a:off x="502920" y="5779008"/>
            <a:ext cx="118872" cy="118872"/>
          </a:xfrm>
          <a:prstGeom prst="ellipse">
            <a:avLst/>
          </a:prstGeom>
          <a:solidFill>
            <a:srgbClr val="0072BC"/>
          </a:solidFill>
          <a:ln w="12700">
            <a:solidFill>
              <a:srgbClr val="0072BC"/>
            </a:solidFill>
            <a:prstDash val="solid"/>
          </a:ln>
        </p:spPr>
      </p:sp>
      <p:sp>
        <p:nvSpPr>
          <p:cNvPr id="51" name="Text 48"/>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Page views and unique pages, per site, with quick date windows.</a:t>
            </a:r>
            <a:endParaRPr lang="en-US" sz="1000" dirty="0"/>
          </a:p>
        </p:txBody>
      </p:sp>
      <p:sp>
        <p:nvSpPr>
          <p:cNvPr id="52" name="Shape 49"/>
          <p:cNvSpPr/>
          <p:nvPr/>
        </p:nvSpPr>
        <p:spPr>
          <a:xfrm>
            <a:off x="4270248" y="5779008"/>
            <a:ext cx="118872" cy="118872"/>
          </a:xfrm>
          <a:prstGeom prst="ellipse">
            <a:avLst/>
          </a:prstGeom>
          <a:solidFill>
            <a:srgbClr val="00A5A8"/>
          </a:solidFill>
          <a:ln w="12700">
            <a:solidFill>
              <a:srgbClr val="00A5A8"/>
            </a:solidFill>
            <a:prstDash val="solid"/>
          </a:ln>
        </p:spPr>
      </p:sp>
      <p:sp>
        <p:nvSpPr>
          <p:cNvPr id="53" name="Text 50"/>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You can also pick any month and year.</a:t>
            </a:r>
            <a:endParaRPr lang="en-US" sz="1000" dirty="0"/>
          </a:p>
        </p:txBody>
      </p:sp>
      <p:sp>
        <p:nvSpPr>
          <p:cNvPr id="54" name="Shape 51"/>
          <p:cNvSpPr/>
          <p:nvPr/>
        </p:nvSpPr>
        <p:spPr>
          <a:xfrm>
            <a:off x="8037576" y="5779008"/>
            <a:ext cx="118872" cy="118872"/>
          </a:xfrm>
          <a:prstGeom prst="ellipse">
            <a:avLst/>
          </a:prstGeom>
          <a:solidFill>
            <a:srgbClr val="5CA943"/>
          </a:solidFill>
          <a:ln w="12700">
            <a:solidFill>
              <a:srgbClr val="5CA943"/>
            </a:solidFill>
            <a:prstDash val="solid"/>
          </a:ln>
        </p:spPr>
      </p:sp>
      <p:sp>
        <p:nvSpPr>
          <p:cNvPr id="55" name="Text 52"/>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What we cannot yet do is separate ADB people from outsiders.</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Documents</a:t>
            </a:r>
            <a:endParaRPr lang="en-US" sz="2500" dirty="0"/>
          </a:p>
        </p:txBody>
      </p:sp>
      <p:sp>
        <p:nvSpPr>
          <p:cNvPr id="4" name="Shape 2"/>
          <p:cNvSpPr/>
          <p:nvPr/>
        </p:nvSpPr>
        <p:spPr>
          <a:xfrm>
            <a:off x="470916" y="1156716"/>
            <a:ext cx="7178040" cy="3925911"/>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docs.png">    </p:cNvPr>
          <p:cNvPicPr>
            <a:picLocks noChangeAspect="1"/>
          </p:cNvPicPr>
          <p:nvPr/>
        </p:nvPicPr>
        <p:blipFill>
          <a:blip r:embed="rId1"/>
          <a:stretch>
            <a:fillRect/>
          </a:stretch>
        </p:blipFill>
        <p:spPr>
          <a:xfrm>
            <a:off x="502920" y="1188720"/>
            <a:ext cx="7114032" cy="3861903"/>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 created / uploaded</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EDRMS Active Sites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documents size</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Name of sites</a:t>
            </a:r>
            <a:endParaRPr lang="en-US" sz="880" dirty="0"/>
          </a:p>
        </p:txBody>
      </p:sp>
      <p:sp>
        <p:nvSpPr>
          <p:cNvPr id="20" name="Shape 17"/>
          <p:cNvSpPr/>
          <p:nvPr/>
        </p:nvSpPr>
        <p:spPr>
          <a:xfrm>
            <a:off x="8019288" y="30551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 created / uploaded</a:t>
            </a:r>
            <a:endParaRPr lang="en-US" sz="880" dirty="0"/>
          </a:p>
        </p:txBody>
      </p:sp>
      <p:sp>
        <p:nvSpPr>
          <p:cNvPr id="23" name="Shape 20"/>
          <p:cNvSpPr/>
          <p:nvPr/>
        </p:nvSpPr>
        <p:spPr>
          <a:xfrm>
            <a:off x="8019288" y="33776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Documents size (in GB)</a:t>
            </a:r>
            <a:endParaRPr lang="en-US" sz="880" dirty="0"/>
          </a:p>
        </p:txBody>
      </p:sp>
      <p:sp>
        <p:nvSpPr>
          <p:cNvPr id="26" name="Shape 23"/>
          <p:cNvSpPr/>
          <p:nvPr/>
        </p:nvSpPr>
        <p:spPr>
          <a:xfrm>
            <a:off x="8019288" y="370027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users creating documents</a:t>
            </a:r>
            <a:endParaRPr lang="en-US" sz="880" dirty="0"/>
          </a:p>
        </p:txBody>
      </p:sp>
      <p:sp>
        <p:nvSpPr>
          <p:cNvPr id="29" name="Shape 26"/>
          <p:cNvSpPr/>
          <p:nvPr/>
        </p:nvSpPr>
        <p:spPr>
          <a:xfrm>
            <a:off x="502920" y="5779008"/>
            <a:ext cx="118872" cy="118872"/>
          </a:xfrm>
          <a:prstGeom prst="ellipse">
            <a:avLst/>
          </a:prstGeom>
          <a:solidFill>
            <a:srgbClr val="0072BC"/>
          </a:solidFill>
          <a:ln w="12700">
            <a:solidFill>
              <a:srgbClr val="0072BC"/>
            </a:solidFill>
            <a:prstDash val="solid"/>
          </a:ln>
        </p:spPr>
      </p:sp>
      <p:sp>
        <p:nvSpPr>
          <p:cNvPr id="30" name="Text 27"/>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Counts and storage size, per site.</a:t>
            </a:r>
            <a:endParaRPr lang="en-US" sz="1000" dirty="0"/>
          </a:p>
        </p:txBody>
      </p:sp>
      <p:sp>
        <p:nvSpPr>
          <p:cNvPr id="31" name="Shape 28"/>
          <p:cNvSpPr/>
          <p:nvPr/>
        </p:nvSpPr>
        <p:spPr>
          <a:xfrm>
            <a:off x="4270248" y="5779008"/>
            <a:ext cx="118872" cy="118872"/>
          </a:xfrm>
          <a:prstGeom prst="ellipse">
            <a:avLst/>
          </a:prstGeom>
          <a:solidFill>
            <a:srgbClr val="00A5A8"/>
          </a:solidFill>
          <a:ln w="12700">
            <a:solidFill>
              <a:srgbClr val="00A5A8"/>
            </a:solidFill>
            <a:prstDash val="solid"/>
          </a:ln>
        </p:spPr>
      </p:sp>
      <p:sp>
        <p:nvSpPr>
          <p:cNvPr id="32" name="Text 29"/>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Solid and sourced, apart from one item.</a:t>
            </a:r>
            <a:endParaRPr lang="en-US" sz="1000" dirty="0"/>
          </a:p>
        </p:txBody>
      </p:sp>
      <p:sp>
        <p:nvSpPr>
          <p:cNvPr id="33" name="Shape 30"/>
          <p:cNvSpPr/>
          <p:nvPr/>
        </p:nvSpPr>
        <p:spPr>
          <a:xfrm>
            <a:off x="8037576" y="5779008"/>
            <a:ext cx="118872" cy="118872"/>
          </a:xfrm>
          <a:prstGeom prst="ellipse">
            <a:avLst/>
          </a:prstGeom>
          <a:solidFill>
            <a:srgbClr val="5CA943"/>
          </a:solidFill>
          <a:ln w="12700">
            <a:solidFill>
              <a:srgbClr val="5CA943"/>
            </a:solidFill>
            <a:prstDash val="solid"/>
          </a:ln>
        </p:spPr>
      </p:sp>
      <p:sp>
        <p:nvSpPr>
          <p:cNvPr id="34" name="Text 31"/>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Same “how many people are creating documents” question as bank-wide.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Records declaration</a:t>
            </a:r>
            <a:endParaRPr lang="en-US" sz="2500" dirty="0"/>
          </a:p>
        </p:txBody>
      </p:sp>
      <p:sp>
        <p:nvSpPr>
          <p:cNvPr id="4" name="Shape 2"/>
          <p:cNvSpPr/>
          <p:nvPr/>
        </p:nvSpPr>
        <p:spPr>
          <a:xfrm>
            <a:off x="470916" y="1156716"/>
            <a:ext cx="7178040" cy="3925911"/>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rec.png">    </p:cNvPr>
          <p:cNvPicPr>
            <a:picLocks noChangeAspect="1"/>
          </p:cNvPicPr>
          <p:nvPr/>
        </p:nvPicPr>
        <p:blipFill>
          <a:blip r:embed="rId1"/>
          <a:stretch>
            <a:fillRect/>
          </a:stretch>
        </p:blipFill>
        <p:spPr>
          <a:xfrm>
            <a:off x="502920" y="1188720"/>
            <a:ext cx="7114032" cy="3861903"/>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users declaring records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Sites with no declared record in 180 days</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a:t>
            </a:r>
            <a:endParaRPr lang="en-US" sz="880" dirty="0"/>
          </a:p>
        </p:txBody>
      </p:sp>
      <p:sp>
        <p:nvSpPr>
          <p:cNvPr id="20" name="Shape 17"/>
          <p:cNvSpPr/>
          <p:nvPr/>
        </p:nvSpPr>
        <p:spPr>
          <a:xfrm>
            <a:off x="8019288" y="30551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users declaring records</a:t>
            </a:r>
            <a:endParaRPr lang="en-US" sz="880" dirty="0"/>
          </a:p>
        </p:txBody>
      </p:sp>
      <p:sp>
        <p:nvSpPr>
          <p:cNvPr id="23" name="Shape 20"/>
          <p:cNvSpPr/>
          <p:nvPr/>
        </p:nvSpPr>
        <p:spPr>
          <a:xfrm>
            <a:off x="8019288" y="33776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declared record size (in GB)</a:t>
            </a:r>
            <a:endParaRPr lang="en-US" sz="880" dirty="0"/>
          </a:p>
        </p:txBody>
      </p:sp>
      <p:sp>
        <p:nvSpPr>
          <p:cNvPr id="26" name="Shape 23"/>
          <p:cNvSpPr/>
          <p:nvPr/>
        </p:nvSpPr>
        <p:spPr>
          <a:xfrm>
            <a:off x="8019288" y="370027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records declared per division</a:t>
            </a:r>
            <a:endParaRPr lang="en-US" sz="880" dirty="0"/>
          </a:p>
        </p:txBody>
      </p:sp>
      <p:sp>
        <p:nvSpPr>
          <p:cNvPr id="29" name="Shape 26"/>
          <p:cNvSpPr/>
          <p:nvPr/>
        </p:nvSpPr>
        <p:spPr>
          <a:xfrm>
            <a:off x="8019288" y="4022852"/>
            <a:ext cx="731520" cy="169164"/>
          </a:xfrm>
          <a:prstGeom prst="roundRect">
            <a:avLst>
              <a:gd name="adj" fmla="val 48649"/>
            </a:avLst>
          </a:prstGeom>
          <a:solidFill>
            <a:srgbClr val="FBE6E4"/>
          </a:solidFill>
          <a:ln w="12700">
            <a:solidFill>
              <a:srgbClr val="FBE6E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users declaring records per division</a:t>
            </a:r>
            <a:endParaRPr lang="en-US" sz="880" dirty="0"/>
          </a:p>
        </p:txBody>
      </p:sp>
      <p:sp>
        <p:nvSpPr>
          <p:cNvPr id="32" name="Shape 29"/>
          <p:cNvSpPr/>
          <p:nvPr/>
        </p:nvSpPr>
        <p:spPr>
          <a:xfrm>
            <a:off x="502920" y="5779008"/>
            <a:ext cx="118872" cy="118872"/>
          </a:xfrm>
          <a:prstGeom prst="ellipse">
            <a:avLst/>
          </a:prstGeom>
          <a:solidFill>
            <a:srgbClr val="0072BC"/>
          </a:solidFill>
          <a:ln w="12700">
            <a:solidFill>
              <a:srgbClr val="0072BC"/>
            </a:solidFill>
            <a:prstDash val="solid"/>
          </a:ln>
        </p:spPr>
      </p:sp>
      <p:sp>
        <p:nvSpPr>
          <p:cNvPr id="33" name="Text 30"/>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Records declared, people declaring, and total declared size.</a:t>
            </a:r>
            <a:endParaRPr lang="en-US" sz="1000" dirty="0"/>
          </a:p>
        </p:txBody>
      </p:sp>
      <p:sp>
        <p:nvSpPr>
          <p:cNvPr id="34" name="Shape 31"/>
          <p:cNvSpPr/>
          <p:nvPr/>
        </p:nvSpPr>
        <p:spPr>
          <a:xfrm>
            <a:off x="4270248" y="5779008"/>
            <a:ext cx="118872" cy="118872"/>
          </a:xfrm>
          <a:prstGeom prst="ellipse">
            <a:avLst/>
          </a:prstGeom>
          <a:solidFill>
            <a:srgbClr val="00A5A8"/>
          </a:solidFill>
          <a:ln w="12700">
            <a:solidFill>
              <a:srgbClr val="00A5A8"/>
            </a:solidFill>
            <a:prstDash val="solid"/>
          </a:ln>
        </p:spPr>
      </p:sp>
      <p:sp>
        <p:nvSpPr>
          <p:cNvPr id="35" name="Text 32"/>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Sites that have declared nothing in 180 days are flagged.</a:t>
            </a:r>
            <a:endParaRPr lang="en-US" sz="1000" dirty="0"/>
          </a:p>
        </p:txBody>
      </p:sp>
      <p:sp>
        <p:nvSpPr>
          <p:cNvPr id="36" name="Shape 33"/>
          <p:cNvSpPr/>
          <p:nvPr/>
        </p:nvSpPr>
        <p:spPr>
          <a:xfrm>
            <a:off x="8037576" y="5779008"/>
            <a:ext cx="118872" cy="118872"/>
          </a:xfrm>
          <a:prstGeom prst="ellipse">
            <a:avLst/>
          </a:prstGeom>
          <a:solidFill>
            <a:srgbClr val="5CA943"/>
          </a:solidFill>
          <a:ln w="12700">
            <a:solidFill>
              <a:srgbClr val="5CA943"/>
            </a:solidFill>
            <a:prstDash val="solid"/>
          </a:ln>
        </p:spPr>
      </p:sp>
      <p:sp>
        <p:nvSpPr>
          <p:cNvPr id="37" name="Text 34"/>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Only the two per-division items are missing.</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Physical counterparts</a:t>
            </a:r>
            <a:endParaRPr lang="en-US" sz="2500" dirty="0"/>
          </a:p>
        </p:txBody>
      </p:sp>
      <p:sp>
        <p:nvSpPr>
          <p:cNvPr id="4" name="Shape 2"/>
          <p:cNvSpPr/>
          <p:nvPr/>
        </p:nvSpPr>
        <p:spPr>
          <a:xfrm>
            <a:off x="470916" y="1156716"/>
            <a:ext cx="7178040" cy="378363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phys.png">    </p:cNvPr>
          <p:cNvPicPr>
            <a:picLocks noChangeAspect="1"/>
          </p:cNvPicPr>
          <p:nvPr/>
        </p:nvPicPr>
        <p:blipFill>
          <a:blip r:embed="rId1"/>
          <a:stretch>
            <a:fillRect/>
          </a:stretch>
        </p:blipFill>
        <p:spPr>
          <a:xfrm>
            <a:off x="502920" y="1188720"/>
            <a:ext cx="7114032" cy="371962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with a counterpart, by site</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records declared</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Share of records with a counterpart</a:t>
            </a:r>
            <a:endParaRPr lang="en-US" sz="880" dirty="0"/>
          </a:p>
        </p:txBody>
      </p:sp>
      <p:sp>
        <p:nvSpPr>
          <p:cNvPr id="17" name="Shape 14"/>
          <p:cNvSpPr/>
          <p:nvPr/>
        </p:nvSpPr>
        <p:spPr>
          <a:xfrm>
            <a:off x="8019288" y="2732532"/>
            <a:ext cx="731520" cy="169164"/>
          </a:xfrm>
          <a:prstGeom prst="roundRect">
            <a:avLst>
              <a:gd name="adj" fmla="val 48649"/>
            </a:avLst>
          </a:prstGeom>
          <a:solidFill>
            <a:srgbClr val="FBE6E4"/>
          </a:solidFill>
          <a:ln w="12700">
            <a:solidFill>
              <a:srgbClr val="FBE6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Per division, two columns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4622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Physical counterpart completion rate (turned over to RAC)</a:t>
            </a:r>
            <a:endParaRPr lang="en-US" sz="880" dirty="0"/>
          </a:p>
        </p:txBody>
      </p:sp>
      <p:sp>
        <p:nvSpPr>
          <p:cNvPr id="23" name="Shape 20"/>
          <p:cNvSpPr/>
          <p:nvPr/>
        </p:nvSpPr>
        <p:spPr>
          <a:xfrm>
            <a:off x="502920" y="5779008"/>
            <a:ext cx="118872" cy="118872"/>
          </a:xfrm>
          <a:prstGeom prst="ellipse">
            <a:avLst/>
          </a:prstGeom>
          <a:solidFill>
            <a:srgbClr val="0072BC"/>
          </a:solidFill>
          <a:ln w="12700">
            <a:solidFill>
              <a:srgbClr val="0072BC"/>
            </a:solidFill>
            <a:prstDash val="solid"/>
          </a:ln>
        </p:spPr>
      </p:sp>
      <p:sp>
        <p:nvSpPr>
          <p:cNvPr id="24" name="Text 21"/>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Which sites hold records with a paper copy, and what share that is.</a:t>
            </a:r>
            <a:endParaRPr lang="en-US" sz="1000" dirty="0"/>
          </a:p>
        </p:txBody>
      </p:sp>
      <p:sp>
        <p:nvSpPr>
          <p:cNvPr id="25" name="Shape 22"/>
          <p:cNvSpPr/>
          <p:nvPr/>
        </p:nvSpPr>
        <p:spPr>
          <a:xfrm>
            <a:off x="4270248" y="5779008"/>
            <a:ext cx="118872" cy="118872"/>
          </a:xfrm>
          <a:prstGeom prst="ellipse">
            <a:avLst/>
          </a:prstGeom>
          <a:solidFill>
            <a:srgbClr val="00A5A8"/>
          </a:solidFill>
          <a:ln w="12700">
            <a:solidFill>
              <a:srgbClr val="00A5A8"/>
            </a:solidFill>
            <a:prstDash val="solid"/>
          </a:ln>
        </p:spPr>
      </p:sp>
      <p:sp>
        <p:nvSpPr>
          <p:cNvPr id="26" name="Text 23"/>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Same handover gap as bank-wide.</a:t>
            </a:r>
            <a:endParaRPr lang="en-US" sz="1000" dirty="0"/>
          </a:p>
        </p:txBody>
      </p:sp>
      <p:sp>
        <p:nvSpPr>
          <p:cNvPr id="27" name="Shape 24"/>
          <p:cNvSpPr/>
          <p:nvPr/>
        </p:nvSpPr>
        <p:spPr>
          <a:xfrm>
            <a:off x="8037576" y="5779008"/>
            <a:ext cx="118872" cy="118872"/>
          </a:xfrm>
          <a:prstGeom prst="ellipse">
            <a:avLst/>
          </a:prstGeom>
          <a:solidFill>
            <a:srgbClr val="5CA943"/>
          </a:solidFill>
          <a:ln w="12700">
            <a:solidFill>
              <a:srgbClr val="5CA943"/>
            </a:solidFill>
            <a:prstDash val="solid"/>
          </a:ln>
        </p:spPr>
      </p:sp>
      <p:sp>
        <p:nvSpPr>
          <p:cNvPr id="28" name="Text 25"/>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Note items 60 and 61 sit under this heading in the workbook.</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Disposal</a:t>
            </a:r>
            <a:endParaRPr lang="en-US" sz="2500" dirty="0"/>
          </a:p>
        </p:txBody>
      </p:sp>
      <p:sp>
        <p:nvSpPr>
          <p:cNvPr id="4" name="Shape 2"/>
          <p:cNvSpPr/>
          <p:nvPr/>
        </p:nvSpPr>
        <p:spPr>
          <a:xfrm>
            <a:off x="470916" y="1156716"/>
            <a:ext cx="7178040" cy="378363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drill-disp.png">    </p:cNvPr>
          <p:cNvPicPr>
            <a:picLocks noChangeAspect="1"/>
          </p:cNvPicPr>
          <p:nvPr/>
        </p:nvPicPr>
        <p:blipFill>
          <a:blip r:embed="rId1"/>
          <a:stretch>
            <a:fillRect/>
          </a:stretch>
        </p:blipFill>
        <p:spPr>
          <a:xfrm>
            <a:off x="502920" y="1188720"/>
            <a:ext cx="7114032" cy="371962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due for disposal within 3 months</a:t>
            </a:r>
            <a:endParaRPr lang="en-US" sz="880" dirty="0"/>
          </a:p>
        </p:txBody>
      </p:sp>
      <p:sp>
        <p:nvSpPr>
          <p:cNvPr id="11" name="Shape 8"/>
          <p:cNvSpPr/>
          <p:nvPr/>
        </p:nvSpPr>
        <p:spPr>
          <a:xfrm>
            <a:off x="8019288" y="206959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695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238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due for disposal within 6 months</a:t>
            </a:r>
            <a:endParaRPr lang="en-US" sz="880" dirty="0"/>
          </a:p>
        </p:txBody>
      </p:sp>
      <p:sp>
        <p:nvSpPr>
          <p:cNvPr id="14" name="Shape 11"/>
          <p:cNvSpPr/>
          <p:nvPr/>
        </p:nvSpPr>
        <p:spPr>
          <a:xfrm>
            <a:off x="8019288" y="237439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3743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286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due for disposal within 12 months</a:t>
            </a:r>
            <a:endParaRPr lang="en-US" sz="880" dirty="0"/>
          </a:p>
        </p:txBody>
      </p:sp>
      <p:sp>
        <p:nvSpPr>
          <p:cNvPr id="17" name="Shape 14"/>
          <p:cNvSpPr/>
          <p:nvPr/>
        </p:nvSpPr>
        <p:spPr>
          <a:xfrm>
            <a:off x="8019288" y="267919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6791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334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due for disposal</a:t>
            </a:r>
            <a:endParaRPr lang="en-US" sz="880" dirty="0"/>
          </a:p>
        </p:txBody>
      </p:sp>
      <p:sp>
        <p:nvSpPr>
          <p:cNvPr id="20" name="Shape 17"/>
          <p:cNvSpPr/>
          <p:nvPr/>
        </p:nvSpPr>
        <p:spPr>
          <a:xfrm>
            <a:off x="8019288" y="298399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29839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9382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Next due date for disposal</a:t>
            </a:r>
            <a:endParaRPr lang="en-US" sz="880" dirty="0"/>
          </a:p>
        </p:txBody>
      </p:sp>
      <p:sp>
        <p:nvSpPr>
          <p:cNvPr id="23" name="Shape 20"/>
          <p:cNvSpPr/>
          <p:nvPr/>
        </p:nvSpPr>
        <p:spPr>
          <a:xfrm>
            <a:off x="8019288" y="32887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288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2430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With physical counterpart?</a:t>
            </a:r>
            <a:endParaRPr lang="en-US" sz="880" dirty="0"/>
          </a:p>
        </p:txBody>
      </p:sp>
      <p:sp>
        <p:nvSpPr>
          <p:cNvPr id="26" name="Shape 23"/>
          <p:cNvSpPr/>
          <p:nvPr/>
        </p:nvSpPr>
        <p:spPr>
          <a:xfrm>
            <a:off x="8019288" y="3593592"/>
            <a:ext cx="731520" cy="169164"/>
          </a:xfrm>
          <a:prstGeom prst="roundRect">
            <a:avLst>
              <a:gd name="adj" fmla="val 48649"/>
            </a:avLst>
          </a:prstGeom>
          <a:solidFill>
            <a:srgbClr val="E6EEF4"/>
          </a:solidFill>
          <a:ln w="12700">
            <a:solidFill>
              <a:srgbClr val="E6EEF4"/>
            </a:solidFill>
            <a:prstDash val="solid"/>
          </a:ln>
        </p:spPr>
      </p:sp>
      <p:sp>
        <p:nvSpPr>
          <p:cNvPr id="27" name="Text 24"/>
          <p:cNvSpPr/>
          <p:nvPr/>
        </p:nvSpPr>
        <p:spPr>
          <a:xfrm>
            <a:off x="8019288" y="35935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8" name="Text 25"/>
          <p:cNvSpPr/>
          <p:nvPr/>
        </p:nvSpPr>
        <p:spPr>
          <a:xfrm>
            <a:off x="8842248" y="35478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Disposal approver</a:t>
            </a:r>
            <a:endParaRPr lang="en-US" sz="880" dirty="0"/>
          </a:p>
        </p:txBody>
      </p:sp>
      <p:sp>
        <p:nvSpPr>
          <p:cNvPr id="29" name="Shape 26"/>
          <p:cNvSpPr/>
          <p:nvPr/>
        </p:nvSpPr>
        <p:spPr>
          <a:xfrm>
            <a:off x="8019288" y="3898392"/>
            <a:ext cx="731520" cy="169164"/>
          </a:xfrm>
          <a:prstGeom prst="roundRect">
            <a:avLst>
              <a:gd name="adj" fmla="val 48649"/>
            </a:avLst>
          </a:prstGeom>
          <a:solidFill>
            <a:srgbClr val="E6EEF4"/>
          </a:solidFill>
          <a:ln w="12700">
            <a:solidFill>
              <a:srgbClr val="E6EEF4"/>
            </a:solidFill>
            <a:prstDash val="solid"/>
          </a:ln>
        </p:spPr>
      </p:sp>
      <p:sp>
        <p:nvSpPr>
          <p:cNvPr id="30" name="Text 27"/>
          <p:cNvSpPr/>
          <p:nvPr/>
        </p:nvSpPr>
        <p:spPr>
          <a:xfrm>
            <a:off x="8019288" y="38983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1" name="Text 28"/>
          <p:cNvSpPr/>
          <p:nvPr/>
        </p:nvSpPr>
        <p:spPr>
          <a:xfrm>
            <a:off x="8842248" y="38526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(Approved)</a:t>
            </a:r>
            <a:endParaRPr lang="en-US" sz="880" dirty="0"/>
          </a:p>
        </p:txBody>
      </p:sp>
      <p:sp>
        <p:nvSpPr>
          <p:cNvPr id="32" name="Shape 29"/>
          <p:cNvSpPr/>
          <p:nvPr/>
        </p:nvSpPr>
        <p:spPr>
          <a:xfrm>
            <a:off x="8019288" y="4203192"/>
            <a:ext cx="731520" cy="169164"/>
          </a:xfrm>
          <a:prstGeom prst="roundRect">
            <a:avLst>
              <a:gd name="adj" fmla="val 48649"/>
            </a:avLst>
          </a:prstGeom>
          <a:solidFill>
            <a:srgbClr val="E6EEF4"/>
          </a:solidFill>
          <a:ln w="12700">
            <a:solidFill>
              <a:srgbClr val="E6EEF4"/>
            </a:solidFill>
            <a:prstDash val="solid"/>
          </a:ln>
        </p:spPr>
      </p:sp>
      <p:sp>
        <p:nvSpPr>
          <p:cNvPr id="33" name="Text 30"/>
          <p:cNvSpPr/>
          <p:nvPr/>
        </p:nvSpPr>
        <p:spPr>
          <a:xfrm>
            <a:off x="8019288" y="42031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4" name="Text 31"/>
          <p:cNvSpPr/>
          <p:nvPr/>
        </p:nvSpPr>
        <p:spPr>
          <a:xfrm>
            <a:off x="8842248" y="41574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(Declined)</a:t>
            </a:r>
            <a:endParaRPr lang="en-US" sz="880" dirty="0"/>
          </a:p>
        </p:txBody>
      </p:sp>
      <p:sp>
        <p:nvSpPr>
          <p:cNvPr id="35" name="Shape 32"/>
          <p:cNvSpPr/>
          <p:nvPr/>
        </p:nvSpPr>
        <p:spPr>
          <a:xfrm>
            <a:off x="8019288" y="4507992"/>
            <a:ext cx="731520" cy="169164"/>
          </a:xfrm>
          <a:prstGeom prst="roundRect">
            <a:avLst>
              <a:gd name="adj" fmla="val 48649"/>
            </a:avLst>
          </a:prstGeom>
          <a:solidFill>
            <a:srgbClr val="E6EEF4"/>
          </a:solidFill>
          <a:ln w="12700">
            <a:solidFill>
              <a:srgbClr val="E6EEF4"/>
            </a:solidFill>
            <a:prstDash val="solid"/>
          </a:ln>
        </p:spPr>
      </p:sp>
      <p:sp>
        <p:nvSpPr>
          <p:cNvPr id="36" name="Text 33"/>
          <p:cNvSpPr/>
          <p:nvPr/>
        </p:nvSpPr>
        <p:spPr>
          <a:xfrm>
            <a:off x="8019288" y="45079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7" name="Text 34"/>
          <p:cNvSpPr/>
          <p:nvPr/>
        </p:nvSpPr>
        <p:spPr>
          <a:xfrm>
            <a:off x="8842248" y="44622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Status (Extended)</a:t>
            </a:r>
            <a:endParaRPr lang="en-US" sz="880" dirty="0"/>
          </a:p>
        </p:txBody>
      </p:sp>
      <p:sp>
        <p:nvSpPr>
          <p:cNvPr id="38" name="Shape 35"/>
          <p:cNvSpPr/>
          <p:nvPr/>
        </p:nvSpPr>
        <p:spPr>
          <a:xfrm>
            <a:off x="8019288" y="4812792"/>
            <a:ext cx="731520" cy="169164"/>
          </a:xfrm>
          <a:prstGeom prst="roundRect">
            <a:avLst>
              <a:gd name="adj" fmla="val 48649"/>
            </a:avLst>
          </a:prstGeom>
          <a:solidFill>
            <a:srgbClr val="E6EEF4"/>
          </a:solidFill>
          <a:ln w="12700">
            <a:solidFill>
              <a:srgbClr val="E6EEF4"/>
            </a:solidFill>
            <a:prstDash val="solid"/>
          </a:ln>
        </p:spPr>
      </p:sp>
      <p:sp>
        <p:nvSpPr>
          <p:cNvPr id="39" name="Text 36"/>
          <p:cNvSpPr/>
          <p:nvPr/>
        </p:nvSpPr>
        <p:spPr>
          <a:xfrm>
            <a:off x="8019288" y="48127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40" name="Text 37"/>
          <p:cNvSpPr/>
          <p:nvPr/>
        </p:nvSpPr>
        <p:spPr>
          <a:xfrm>
            <a:off x="8842248" y="47670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Total number of records disposed, per year and month</a:t>
            </a:r>
            <a:endParaRPr lang="en-US" sz="880" dirty="0"/>
          </a:p>
        </p:txBody>
      </p:sp>
      <p:sp>
        <p:nvSpPr>
          <p:cNvPr id="41" name="Shape 38"/>
          <p:cNvSpPr/>
          <p:nvPr/>
        </p:nvSpPr>
        <p:spPr>
          <a:xfrm>
            <a:off x="8019288" y="5117592"/>
            <a:ext cx="731520" cy="169164"/>
          </a:xfrm>
          <a:prstGeom prst="roundRect">
            <a:avLst>
              <a:gd name="adj" fmla="val 48649"/>
            </a:avLst>
          </a:prstGeom>
          <a:solidFill>
            <a:srgbClr val="E6EEF4"/>
          </a:solidFill>
          <a:ln w="12700">
            <a:solidFill>
              <a:srgbClr val="E6EEF4"/>
            </a:solidFill>
            <a:prstDash val="solid"/>
          </a:ln>
        </p:spPr>
      </p:sp>
      <p:sp>
        <p:nvSpPr>
          <p:cNvPr id="42" name="Text 39"/>
          <p:cNvSpPr/>
          <p:nvPr/>
        </p:nvSpPr>
        <p:spPr>
          <a:xfrm>
            <a:off x="8019288" y="51175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43" name="Text 40"/>
          <p:cNvSpPr/>
          <p:nvPr/>
        </p:nvSpPr>
        <p:spPr>
          <a:xfrm>
            <a:off x="8842248" y="50718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Total disposed record size (in GB)</a:t>
            </a:r>
            <a:endParaRPr lang="en-US" sz="880" dirty="0"/>
          </a:p>
        </p:txBody>
      </p:sp>
      <p:sp>
        <p:nvSpPr>
          <p:cNvPr id="44" name="Shape 41"/>
          <p:cNvSpPr/>
          <p:nvPr/>
        </p:nvSpPr>
        <p:spPr>
          <a:xfrm>
            <a:off x="502920" y="5779008"/>
            <a:ext cx="118872" cy="118872"/>
          </a:xfrm>
          <a:prstGeom prst="ellipse">
            <a:avLst/>
          </a:prstGeom>
          <a:solidFill>
            <a:srgbClr val="0072BC"/>
          </a:solidFill>
          <a:ln w="12700">
            <a:solidFill>
              <a:srgbClr val="0072BC"/>
            </a:solidFill>
            <a:prstDash val="solid"/>
          </a:ln>
        </p:spPr>
      </p:sp>
      <p:sp>
        <p:nvSpPr>
          <p:cNvPr id="45" name="Text 42"/>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Due within three, six and twelve months, all three windows.</a:t>
            </a:r>
            <a:endParaRPr lang="en-US" sz="1000" dirty="0"/>
          </a:p>
        </p:txBody>
      </p:sp>
      <p:sp>
        <p:nvSpPr>
          <p:cNvPr id="46" name="Shape 43"/>
          <p:cNvSpPr/>
          <p:nvPr/>
        </p:nvSpPr>
        <p:spPr>
          <a:xfrm>
            <a:off x="4270248" y="5779008"/>
            <a:ext cx="118872" cy="118872"/>
          </a:xfrm>
          <a:prstGeom prst="ellipse">
            <a:avLst/>
          </a:prstGeom>
          <a:solidFill>
            <a:srgbClr val="00A5A8"/>
          </a:solidFill>
          <a:ln w="12700">
            <a:solidFill>
              <a:srgbClr val="00A5A8"/>
            </a:solidFill>
            <a:prstDash val="solid"/>
          </a:ln>
        </p:spPr>
      </p:sp>
      <p:sp>
        <p:nvSpPr>
          <p:cNvPr id="47" name="Text 44"/>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Next due date and whether there is paper alongside.</a:t>
            </a:r>
            <a:endParaRPr lang="en-US" sz="1000" dirty="0"/>
          </a:p>
        </p:txBody>
      </p:sp>
      <p:sp>
        <p:nvSpPr>
          <p:cNvPr id="48" name="Shape 45"/>
          <p:cNvSpPr/>
          <p:nvPr/>
        </p:nvSpPr>
        <p:spPr>
          <a:xfrm>
            <a:off x="8037576" y="5779008"/>
            <a:ext cx="118872" cy="118872"/>
          </a:xfrm>
          <a:prstGeom prst="ellipse">
            <a:avLst/>
          </a:prstGeom>
          <a:solidFill>
            <a:srgbClr val="5CA943"/>
          </a:solidFill>
          <a:ln w="12700">
            <a:solidFill>
              <a:srgbClr val="5CA943"/>
            </a:solidFill>
            <a:prstDash val="solid"/>
          </a:ln>
        </p:spPr>
      </p:sp>
      <p:sp>
        <p:nvSpPr>
          <p:cNvPr id="49" name="Text 46"/>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Six of the twelve items wait on the same disposal-outcome gap.</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Library usage</a:t>
            </a:r>
            <a:endParaRPr lang="en-US" sz="2500" dirty="0"/>
          </a:p>
        </p:txBody>
      </p:sp>
      <p:sp>
        <p:nvSpPr>
          <p:cNvPr id="4" name="Shape 2"/>
          <p:cNvSpPr/>
          <p:nvPr/>
        </p:nvSpPr>
        <p:spPr>
          <a:xfrm>
            <a:off x="470916" y="1156716"/>
            <a:ext cx="7178040" cy="3448255"/>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dp-03.png">    </p:cNvPr>
          <p:cNvPicPr>
            <a:picLocks noChangeAspect="1"/>
          </p:cNvPicPr>
          <p:nvPr/>
        </p:nvPicPr>
        <p:blipFill>
          <a:blip r:embed="rId1"/>
          <a:stretch>
            <a:fillRect/>
          </a:stretch>
        </p:blipFill>
        <p:spPr>
          <a:xfrm>
            <a:off x="502920" y="1188720"/>
            <a:ext cx="7114032" cy="3384247"/>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Library names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declared</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a:t>
            </a:r>
            <a:endParaRPr lang="en-US" sz="880" dirty="0"/>
          </a:p>
        </p:txBody>
      </p:sp>
      <p:sp>
        <p:nvSpPr>
          <p:cNvPr id="20" name="Shape 17"/>
          <p:cNvSpPr/>
          <p:nvPr/>
        </p:nvSpPr>
        <p:spPr>
          <a:xfrm>
            <a:off x="8019288" y="3055112"/>
            <a:ext cx="731520" cy="169164"/>
          </a:xfrm>
          <a:prstGeom prst="roundRect">
            <a:avLst>
              <a:gd name="adj" fmla="val 48649"/>
            </a:avLst>
          </a:prstGeom>
          <a:solidFill>
            <a:srgbClr val="FBE6E4"/>
          </a:solidFill>
          <a:ln w="12700">
            <a:solidFill>
              <a:srgbClr val="FBE6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Category picker across the six categories</a:t>
            </a:r>
            <a:endParaRPr lang="en-US" sz="880" dirty="0"/>
          </a:p>
        </p:txBody>
      </p:sp>
      <p:sp>
        <p:nvSpPr>
          <p:cNvPr id="23" name="Shape 20"/>
          <p:cNvSpPr/>
          <p:nvPr/>
        </p:nvSpPr>
        <p:spPr>
          <a:xfrm>
            <a:off x="8019288" y="3377692"/>
            <a:ext cx="731520" cy="169164"/>
          </a:xfrm>
          <a:prstGeom prst="roundRect">
            <a:avLst>
              <a:gd name="adj" fmla="val 48649"/>
            </a:avLst>
          </a:prstGeom>
          <a:solidFill>
            <a:srgbClr val="FBE6E4"/>
          </a:solidFill>
          <a:ln w="12700">
            <a:solidFill>
              <a:srgbClr val="FBE6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users per library</a:t>
            </a:r>
            <a:endParaRPr lang="en-US" sz="880" dirty="0"/>
          </a:p>
        </p:txBody>
      </p:sp>
      <p:sp>
        <p:nvSpPr>
          <p:cNvPr id="26" name="Shape 23"/>
          <p:cNvSpPr/>
          <p:nvPr/>
        </p:nvSpPr>
        <p:spPr>
          <a:xfrm>
            <a:off x="8019288" y="370027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Indicators per library, per division</a:t>
            </a:r>
            <a:endParaRPr lang="en-US" sz="880" dirty="0"/>
          </a:p>
        </p:txBody>
      </p:sp>
      <p:sp>
        <p:nvSpPr>
          <p:cNvPr id="29" name="Shape 26"/>
          <p:cNvSpPr/>
          <p:nvPr/>
        </p:nvSpPr>
        <p:spPr>
          <a:xfrm>
            <a:off x="8019288" y="4022852"/>
            <a:ext cx="731520" cy="169164"/>
          </a:xfrm>
          <a:prstGeom prst="roundRect">
            <a:avLst>
              <a:gd name="adj" fmla="val 48649"/>
            </a:avLst>
          </a:prstGeom>
          <a:solidFill>
            <a:srgbClr val="FBE6E4"/>
          </a:solidFill>
          <a:ln w="12700">
            <a:solidFill>
              <a:srgbClr val="FBE6E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Programme dates</a:t>
            </a:r>
            <a:endParaRPr lang="en-US" sz="880" dirty="0"/>
          </a:p>
        </p:txBody>
      </p:sp>
      <p:sp>
        <p:nvSpPr>
          <p:cNvPr id="32" name="Shape 29"/>
          <p:cNvSpPr/>
          <p:nvPr/>
        </p:nvSpPr>
        <p:spPr>
          <a:xfrm>
            <a:off x="502920" y="5779008"/>
            <a:ext cx="118872" cy="118872"/>
          </a:xfrm>
          <a:prstGeom prst="ellipse">
            <a:avLst/>
          </a:prstGeom>
          <a:solidFill>
            <a:srgbClr val="0072BC"/>
          </a:solidFill>
          <a:ln w="12700">
            <a:solidFill>
              <a:srgbClr val="0072BC"/>
            </a:solidFill>
            <a:prstDash val="solid"/>
          </a:ln>
        </p:spPr>
      </p:sp>
      <p:sp>
        <p:nvSpPr>
          <p:cNvPr id="33" name="Text 30"/>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client drew this as six screens, one per file plan category.</a:t>
            </a:r>
            <a:endParaRPr lang="en-US" sz="1000" dirty="0"/>
          </a:p>
        </p:txBody>
      </p:sp>
      <p:sp>
        <p:nvSpPr>
          <p:cNvPr id="34" name="Shape 31"/>
          <p:cNvSpPr/>
          <p:nvPr/>
        </p:nvSpPr>
        <p:spPr>
          <a:xfrm>
            <a:off x="4270248" y="5779008"/>
            <a:ext cx="118872" cy="118872"/>
          </a:xfrm>
          <a:prstGeom prst="ellipse">
            <a:avLst/>
          </a:prstGeom>
          <a:solidFill>
            <a:srgbClr val="00A5A8"/>
          </a:solidFill>
          <a:ln w="12700">
            <a:solidFill>
              <a:srgbClr val="00A5A8"/>
            </a:solidFill>
            <a:prstDash val="solid"/>
          </a:ln>
        </p:spPr>
      </p:sp>
      <p:sp>
        <p:nvSpPr>
          <p:cNvPr id="35" name="Text 32"/>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We have the library table. We cannot yet group libraries by category.</a:t>
            </a:r>
            <a:endParaRPr lang="en-US" sz="1000" dirty="0"/>
          </a:p>
        </p:txBody>
      </p:sp>
      <p:sp>
        <p:nvSpPr>
          <p:cNvPr id="36" name="Shape 33"/>
          <p:cNvSpPr/>
          <p:nvPr/>
        </p:nvSpPr>
        <p:spPr>
          <a:xfrm>
            <a:off x="8037576" y="5779008"/>
            <a:ext cx="118872" cy="118872"/>
          </a:xfrm>
          <a:prstGeom prst="ellipse">
            <a:avLst/>
          </a:prstGeom>
          <a:solidFill>
            <a:srgbClr val="5CA943"/>
          </a:solidFill>
          <a:ln w="12700">
            <a:solidFill>
              <a:srgbClr val="5CA943"/>
            </a:solidFill>
            <a:prstDash val="solid"/>
          </a:ln>
        </p:spPr>
      </p:sp>
      <p:sp>
        <p:nvSpPr>
          <p:cNvPr id="37" name="Text 34"/>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That is the same file plan gap we will see on the next dashboard.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 (1 of 2)</a:t>
            </a:r>
            <a:endParaRPr lang="en-US" sz="2500" dirty="0"/>
          </a:p>
        </p:txBody>
      </p:sp>
      <p:sp>
        <p:nvSpPr>
          <p:cNvPr id="4" name="Shape 2"/>
          <p:cNvSpPr/>
          <p:nvPr/>
        </p:nvSpPr>
        <p:spPr>
          <a:xfrm>
            <a:off x="502920" y="1280160"/>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496873"/>
            <a:ext cx="402336" cy="402336"/>
          </a:xfrm>
          <a:prstGeom prst="ellipse">
            <a:avLst/>
          </a:prstGeom>
          <a:solidFill>
            <a:srgbClr val="FBE6E4"/>
          </a:solidFill>
          <a:ln w="12700">
            <a:solidFill>
              <a:srgbClr val="FBE6E4"/>
            </a:solidFill>
            <a:prstDash val="solid"/>
          </a:ln>
        </p:spPr>
      </p:sp>
      <p:sp>
        <p:nvSpPr>
          <p:cNvPr id="6" name="Text 4"/>
          <p:cNvSpPr/>
          <p:nvPr/>
        </p:nvSpPr>
        <p:spPr>
          <a:xfrm>
            <a:off x="777240" y="1496873"/>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What is the approved naming convention?</a:t>
            </a:r>
            <a:endParaRPr lang="en-US" sz="1350" dirty="0"/>
          </a:p>
        </p:txBody>
      </p:sp>
      <p:sp>
        <p:nvSpPr>
          <p:cNvPr id="8" name="Text 6"/>
          <p:cNvSpPr/>
          <p:nvPr/>
        </p:nvSpPr>
        <p:spPr>
          <a:xfrm>
            <a:off x="6217920" y="1399032"/>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 asked us to show whether sites, libraries and folders follow the approved convention. We have never been shown what the convention actually is.</a:t>
            </a:r>
            <a:endParaRPr lang="en-US" sz="860" dirty="0"/>
          </a:p>
        </p:txBody>
      </p:sp>
      <p:sp>
        <p:nvSpPr>
          <p:cNvPr id="9" name="Text 7"/>
          <p:cNvSpPr/>
          <p:nvPr/>
        </p:nvSpPr>
        <p:spPr>
          <a:xfrm>
            <a:off x="9098280" y="1399032"/>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it written down? If we have the rule, we can check every site against it automatically.</a:t>
            </a:r>
            <a:endParaRPr lang="en-US" sz="860" dirty="0"/>
          </a:p>
        </p:txBody>
      </p:sp>
      <p:sp>
        <p:nvSpPr>
          <p:cNvPr id="10" name="Shape 8"/>
          <p:cNvSpPr/>
          <p:nvPr/>
        </p:nvSpPr>
        <p:spPr>
          <a:xfrm>
            <a:off x="502920" y="2225650"/>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2442362"/>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244236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2353666"/>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When did each department go live?</a:t>
            </a:r>
            <a:endParaRPr lang="en-US" sz="1350" dirty="0"/>
          </a:p>
        </p:txBody>
      </p:sp>
      <p:sp>
        <p:nvSpPr>
          <p:cNvPr id="14" name="Text 12"/>
          <p:cNvSpPr/>
          <p:nvPr/>
        </p:nvSpPr>
        <p:spPr>
          <a:xfrm>
            <a:off x="6217920" y="2344522"/>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The profile has a space for a go-live date, but nothing records one.</a:t>
            </a:r>
            <a:endParaRPr lang="en-US" sz="860" dirty="0"/>
          </a:p>
        </p:txBody>
      </p:sp>
      <p:sp>
        <p:nvSpPr>
          <p:cNvPr id="15" name="Text 13"/>
          <p:cNvSpPr/>
          <p:nvPr/>
        </p:nvSpPr>
        <p:spPr>
          <a:xfrm>
            <a:off x="9098280" y="2344522"/>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there a rollout schedule we could use — even a spreadsheet?</a:t>
            </a:r>
            <a:endParaRPr lang="en-US" sz="860" dirty="0"/>
          </a:p>
        </p:txBody>
      </p:sp>
      <p:sp>
        <p:nvSpPr>
          <p:cNvPr id="16" name="Shape 14"/>
          <p:cNvSpPr/>
          <p:nvPr/>
        </p:nvSpPr>
        <p:spPr>
          <a:xfrm>
            <a:off x="502920" y="3171139"/>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3387852"/>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338785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71600" y="3299155"/>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Who is an ADB person and who is an outside visitor?</a:t>
            </a:r>
            <a:endParaRPr lang="en-US" sz="1350" dirty="0"/>
          </a:p>
        </p:txBody>
      </p:sp>
      <p:sp>
        <p:nvSpPr>
          <p:cNvPr id="20" name="Text 18"/>
          <p:cNvSpPr/>
          <p:nvPr/>
        </p:nvSpPr>
        <p:spPr>
          <a:xfrm>
            <a:off x="6217920" y="3290011"/>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We can count visits to a site. We cannot tell whether the visitor was ADB staff or someone external, so the internal / external split cannot be built.</a:t>
            </a:r>
            <a:endParaRPr lang="en-US" sz="860" dirty="0"/>
          </a:p>
        </p:txBody>
      </p:sp>
      <p:sp>
        <p:nvSpPr>
          <p:cNvPr id="21" name="Text 19"/>
          <p:cNvSpPr/>
          <p:nvPr/>
        </p:nvSpPr>
        <p:spPr>
          <a:xfrm>
            <a:off x="9098280" y="3290011"/>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Same underlying question as the user types on the last dashboard. One answer would unlock both.</a:t>
            </a:r>
            <a:endParaRPr lang="en-US" sz="860" dirty="0"/>
          </a:p>
        </p:txBody>
      </p:sp>
      <p:sp>
        <p:nvSpPr>
          <p:cNvPr id="22" name="Shape 20"/>
          <p:cNvSpPr/>
          <p:nvPr/>
        </p:nvSpPr>
        <p:spPr>
          <a:xfrm>
            <a:off x="502920" y="4116629"/>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777240" y="4333342"/>
            <a:ext cx="402336" cy="402336"/>
          </a:xfrm>
          <a:prstGeom prst="ellipse">
            <a:avLst/>
          </a:prstGeom>
          <a:solidFill>
            <a:srgbClr val="FBE6E4"/>
          </a:solidFill>
          <a:ln w="12700">
            <a:solidFill>
              <a:srgbClr val="FBE6E4"/>
            </a:solidFill>
            <a:prstDash val="solid"/>
          </a:ln>
        </p:spPr>
      </p:sp>
      <p:sp>
        <p:nvSpPr>
          <p:cNvPr id="24" name="Text 22"/>
          <p:cNvSpPr/>
          <p:nvPr/>
        </p:nvSpPr>
        <p:spPr>
          <a:xfrm>
            <a:off x="777240" y="433334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1371600" y="4244645"/>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Where are access requests recorded?</a:t>
            </a:r>
            <a:endParaRPr lang="en-US" sz="1350" dirty="0"/>
          </a:p>
        </p:txBody>
      </p:sp>
      <p:sp>
        <p:nvSpPr>
          <p:cNvPr id="26" name="Text 24"/>
          <p:cNvSpPr/>
          <p:nvPr/>
        </p:nvSpPr>
        <p:spPr>
          <a:xfrm>
            <a:off x="6217920" y="4235501"/>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 asked how many requests for access were granted and how many were denied. Nothing we reach records either.</a:t>
            </a:r>
            <a:endParaRPr lang="en-US" sz="860" dirty="0"/>
          </a:p>
        </p:txBody>
      </p:sp>
      <p:sp>
        <p:nvSpPr>
          <p:cNvPr id="27" name="Text 25"/>
          <p:cNvSpPr/>
          <p:nvPr/>
        </p:nvSpPr>
        <p:spPr>
          <a:xfrm>
            <a:off x="9098280" y="4235501"/>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When someone asks for access to a site, where does that request go, and is the outcome kept?</a:t>
            </a:r>
            <a:endParaRPr lang="en-US" sz="860" dirty="0"/>
          </a:p>
        </p:txBody>
      </p:sp>
      <p:sp>
        <p:nvSpPr>
          <p:cNvPr id="28" name="Shape 26"/>
          <p:cNvSpPr/>
          <p:nvPr/>
        </p:nvSpPr>
        <p:spPr>
          <a:xfrm>
            <a:off x="502920" y="5062118"/>
            <a:ext cx="11155680" cy="835762"/>
          </a:xfrm>
          <a:prstGeom prst="roundRect">
            <a:avLst>
              <a:gd name="adj" fmla="val 6565"/>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9" name="Shape 27"/>
          <p:cNvSpPr/>
          <p:nvPr/>
        </p:nvSpPr>
        <p:spPr>
          <a:xfrm>
            <a:off x="777240" y="5278831"/>
            <a:ext cx="402336" cy="402336"/>
          </a:xfrm>
          <a:prstGeom prst="ellipse">
            <a:avLst/>
          </a:prstGeom>
          <a:solidFill>
            <a:srgbClr val="FBE6E4"/>
          </a:solidFill>
          <a:ln w="12700">
            <a:solidFill>
              <a:srgbClr val="FBE6E4"/>
            </a:solidFill>
            <a:prstDash val="solid"/>
          </a:ln>
        </p:spPr>
      </p:sp>
      <p:sp>
        <p:nvSpPr>
          <p:cNvPr id="30" name="Text 28"/>
          <p:cNvSpPr/>
          <p:nvPr/>
        </p:nvSpPr>
        <p:spPr>
          <a:xfrm>
            <a:off x="777240" y="5278831"/>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5</a:t>
            </a:r>
            <a:endParaRPr lang="en-US" sz="1400" dirty="0"/>
          </a:p>
        </p:txBody>
      </p:sp>
      <p:sp>
        <p:nvSpPr>
          <p:cNvPr id="31" name="Text 29"/>
          <p:cNvSpPr/>
          <p:nvPr/>
        </p:nvSpPr>
        <p:spPr>
          <a:xfrm>
            <a:off x="1371600" y="5190134"/>
            <a:ext cx="4663440" cy="579730"/>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Which libraries belong to which file plan category?</a:t>
            </a:r>
            <a:endParaRPr lang="en-US" sz="1350" dirty="0"/>
          </a:p>
        </p:txBody>
      </p:sp>
      <p:sp>
        <p:nvSpPr>
          <p:cNvPr id="32" name="Text 30"/>
          <p:cNvSpPr/>
          <p:nvPr/>
        </p:nvSpPr>
        <p:spPr>
          <a:xfrm>
            <a:off x="6217920" y="5180990"/>
            <a:ext cx="2743200" cy="598018"/>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 drew library usage as six screens, one per category. We can list the libraries; we cannot say which category each one belongs to.</a:t>
            </a:r>
            <a:endParaRPr lang="en-US" sz="860" dirty="0"/>
          </a:p>
        </p:txBody>
      </p:sp>
      <p:sp>
        <p:nvSpPr>
          <p:cNvPr id="33" name="Text 31"/>
          <p:cNvSpPr/>
          <p:nvPr/>
        </p:nvSpPr>
        <p:spPr>
          <a:xfrm>
            <a:off x="9098280" y="5180990"/>
            <a:ext cx="2423160" cy="598018"/>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that mapping written down anywhere, or does it live in someone’s head?</a:t>
            </a:r>
            <a:endParaRPr lang="en-US" sz="860" dirty="0"/>
          </a:p>
        </p:txBody>
      </p:sp>
      <p:sp>
        <p:nvSpPr>
          <p:cNvPr id="34" name="Text 32"/>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35" name="Text 33"/>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36" name="Text 34"/>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DEPARTMENT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 (2 of 2)</a:t>
            </a:r>
            <a:endParaRPr lang="en-US" sz="2500" dirty="0"/>
          </a:p>
        </p:txBody>
      </p:sp>
      <p:sp>
        <p:nvSpPr>
          <p:cNvPr id="4" name="Shape 2"/>
          <p:cNvSpPr/>
          <p:nvPr/>
        </p:nvSpPr>
        <p:spPr>
          <a:xfrm>
            <a:off x="502920" y="1280160"/>
            <a:ext cx="11155680" cy="1965960"/>
          </a:xfrm>
          <a:prstGeom prst="roundRect">
            <a:avLst>
              <a:gd name="adj" fmla="val 2791"/>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2061972"/>
            <a:ext cx="402336" cy="402336"/>
          </a:xfrm>
          <a:prstGeom prst="ellipse">
            <a:avLst/>
          </a:prstGeom>
          <a:solidFill>
            <a:srgbClr val="FBE6E4"/>
          </a:solidFill>
          <a:ln w="12700">
            <a:solidFill>
              <a:srgbClr val="FBE6E4"/>
            </a:solidFill>
            <a:prstDash val="solid"/>
          </a:ln>
        </p:spPr>
      </p:sp>
      <p:sp>
        <p:nvSpPr>
          <p:cNvPr id="6" name="Text 4"/>
          <p:cNvSpPr/>
          <p:nvPr/>
        </p:nvSpPr>
        <p:spPr>
          <a:xfrm>
            <a:off x="777240" y="206197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6</a:t>
            </a:r>
            <a:endParaRPr lang="en-US" sz="1400" dirty="0"/>
          </a:p>
        </p:txBody>
      </p:sp>
      <p:sp>
        <p:nvSpPr>
          <p:cNvPr id="7" name="Text 5"/>
          <p:cNvSpPr/>
          <p:nvPr/>
        </p:nvSpPr>
        <p:spPr>
          <a:xfrm>
            <a:off x="1371600" y="1408176"/>
            <a:ext cx="4663440" cy="1709928"/>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What are the programme dates?</a:t>
            </a:r>
            <a:endParaRPr lang="en-US" sz="1350" dirty="0"/>
          </a:p>
        </p:txBody>
      </p:sp>
      <p:sp>
        <p:nvSpPr>
          <p:cNvPr id="8" name="Text 6"/>
          <p:cNvSpPr/>
          <p:nvPr/>
        </p:nvSpPr>
        <p:spPr>
          <a:xfrm>
            <a:off x="6217920" y="1399032"/>
            <a:ext cx="2743200" cy="1728216"/>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The deck refers to programme milestones. We have no dates to plot against.</a:t>
            </a:r>
            <a:endParaRPr lang="en-US" sz="860" dirty="0"/>
          </a:p>
        </p:txBody>
      </p:sp>
      <p:sp>
        <p:nvSpPr>
          <p:cNvPr id="9" name="Text 7"/>
          <p:cNvSpPr/>
          <p:nvPr/>
        </p:nvSpPr>
        <p:spPr>
          <a:xfrm>
            <a:off x="9098280" y="1399032"/>
            <a:ext cx="2423160" cy="1728216"/>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Can we have the agreed milestone dates, so progress can be shown against plan?</a:t>
            </a:r>
            <a:endParaRPr lang="en-US" sz="860" dirty="0"/>
          </a:p>
        </p:txBody>
      </p:sp>
      <p:sp>
        <p:nvSpPr>
          <p:cNvPr id="10" name="Text 8"/>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11" name="Text 9"/>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12" name="Text 10"/>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3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Project Insights</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Are project sites being kept up to recordkeeping standards?</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21</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21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00A5A8"/>
                </a:solidFill>
                <a:latin typeface="Calibri" pitchFamily="34" charset="0"/>
                <a:ea typeface="Calibri" pitchFamily="34" charset="-122"/>
                <a:cs typeface="Calibri" pitchFamily="34" charset="-120"/>
              </a:rPr>
              <a:t>nothing outstanding on the checklist</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3 screens to walk through</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PROJECT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project list</a:t>
            </a:r>
            <a:endParaRPr lang="en-US" sz="2500" dirty="0"/>
          </a:p>
        </p:txBody>
      </p:sp>
      <p:sp>
        <p:nvSpPr>
          <p:cNvPr id="4" name="Shape 2"/>
          <p:cNvSpPr/>
          <p:nvPr/>
        </p:nvSpPr>
        <p:spPr>
          <a:xfrm>
            <a:off x="470916" y="1754113"/>
            <a:ext cx="7178040" cy="3001087"/>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pj-01.png">    </p:cNvPr>
          <p:cNvPicPr>
            <a:picLocks noChangeAspect="1"/>
          </p:cNvPicPr>
          <p:nvPr/>
        </p:nvPicPr>
        <p:blipFill>
          <a:blip r:embed="rId1"/>
          <a:stretch>
            <a:fillRect/>
          </a:stretch>
        </p:blipFill>
        <p:spPr>
          <a:xfrm>
            <a:off x="502920" y="1786117"/>
            <a:ext cx="7114032" cy="2937079"/>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Project Insights, as one of the six required key views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Sovereign project site list</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Nonsovereign project site list</a:t>
            </a:r>
            <a:endParaRPr lang="en-US" sz="880" dirty="0"/>
          </a:p>
        </p:txBody>
      </p:sp>
      <p:sp>
        <p:nvSpPr>
          <p:cNvPr id="17" name="Shape 14"/>
          <p:cNvSpPr/>
          <p:nvPr/>
        </p:nvSpPr>
        <p:spPr>
          <a:xfrm>
            <a:off x="502920" y="5779008"/>
            <a:ext cx="118872" cy="118872"/>
          </a:xfrm>
          <a:prstGeom prst="ellipse">
            <a:avLst/>
          </a:prstGeom>
          <a:solidFill>
            <a:srgbClr val="0072BC"/>
          </a:solidFill>
          <a:ln w="12700">
            <a:solidFill>
              <a:srgbClr val="0072BC"/>
            </a:solidFill>
            <a:prstDash val="solid"/>
          </a:ln>
        </p:spPr>
      </p:sp>
      <p:sp>
        <p:nvSpPr>
          <p:cNvPr id="18" name="Text 15"/>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Sovereign and nonsovereign, switched with the picker.</a:t>
            </a:r>
            <a:endParaRPr lang="en-US" sz="1000" dirty="0"/>
          </a:p>
        </p:txBody>
      </p:sp>
      <p:sp>
        <p:nvSpPr>
          <p:cNvPr id="19" name="Shape 16"/>
          <p:cNvSpPr/>
          <p:nvPr/>
        </p:nvSpPr>
        <p:spPr>
          <a:xfrm>
            <a:off x="4270248" y="5779008"/>
            <a:ext cx="118872" cy="118872"/>
          </a:xfrm>
          <a:prstGeom prst="ellipse">
            <a:avLst/>
          </a:prstGeom>
          <a:solidFill>
            <a:srgbClr val="00A5A8"/>
          </a:solidFill>
          <a:ln w="12700">
            <a:solidFill>
              <a:srgbClr val="00A5A8"/>
            </a:solidFill>
            <a:prstDash val="solid"/>
          </a:ln>
        </p:spPr>
      </p:sp>
      <p:sp>
        <p:nvSpPr>
          <p:cNvPr id="20" name="Text 17"/>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Click any project to open its profile below.</a:t>
            </a:r>
            <a:endParaRPr lang="en-US" sz="1000" dirty="0"/>
          </a:p>
        </p:txBody>
      </p:sp>
      <p:sp>
        <p:nvSpPr>
          <p:cNvPr id="21" name="Shape 18"/>
          <p:cNvSpPr/>
          <p:nvPr/>
        </p:nvSpPr>
        <p:spPr>
          <a:xfrm>
            <a:off x="8037576" y="5779008"/>
            <a:ext cx="118872" cy="118872"/>
          </a:xfrm>
          <a:prstGeom prst="ellipse">
            <a:avLst/>
          </a:prstGeom>
          <a:solidFill>
            <a:srgbClr val="5CA943"/>
          </a:solidFill>
          <a:ln w="12700">
            <a:solidFill>
              <a:srgbClr val="5CA943"/>
            </a:solidFill>
            <a:prstDash val="solid"/>
          </a:ln>
        </p:spPr>
      </p:sp>
      <p:sp>
        <p:nvSpPr>
          <p:cNvPr id="22" name="Text 19"/>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totals reconcile: named projects sit inside the facility total, which sits inside bank-wide.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PROJECT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project profile and its seven figures</a:t>
            </a:r>
            <a:endParaRPr lang="en-US" sz="2500" dirty="0"/>
          </a:p>
        </p:txBody>
      </p:sp>
      <p:sp>
        <p:nvSpPr>
          <p:cNvPr id="4" name="Shape 2"/>
          <p:cNvSpPr/>
          <p:nvPr/>
        </p:nvSpPr>
        <p:spPr>
          <a:xfrm>
            <a:off x="470916" y="1156716"/>
            <a:ext cx="7178040" cy="3793793"/>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pj-02.png">    </p:cNvPr>
          <p:cNvPicPr>
            <a:picLocks noChangeAspect="1"/>
          </p:cNvPicPr>
          <p:nvPr/>
        </p:nvPicPr>
        <p:blipFill>
          <a:blip r:embed="rId1"/>
          <a:stretch>
            <a:fillRect/>
          </a:stretch>
        </p:blipFill>
        <p:spPr>
          <a:xfrm>
            <a:off x="502920" y="1188720"/>
            <a:ext cx="7114032" cy="3729785"/>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Facility type</a:t>
            </a:r>
            <a:endParaRPr lang="en-US" sz="880" dirty="0"/>
          </a:p>
        </p:txBody>
      </p:sp>
      <p:sp>
        <p:nvSpPr>
          <p:cNvPr id="11" name="Shape 8"/>
          <p:cNvSpPr/>
          <p:nvPr/>
        </p:nvSpPr>
        <p:spPr>
          <a:xfrm>
            <a:off x="8019288" y="200863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086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196291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Modality</a:t>
            </a:r>
            <a:endParaRPr lang="en-US" sz="880" dirty="0"/>
          </a:p>
        </p:txBody>
      </p:sp>
      <p:sp>
        <p:nvSpPr>
          <p:cNvPr id="14" name="Shape 11"/>
          <p:cNvSpPr/>
          <p:nvPr/>
        </p:nvSpPr>
        <p:spPr>
          <a:xfrm>
            <a:off x="8019288" y="225247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2524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20675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Country</a:t>
            </a:r>
            <a:endParaRPr lang="en-US" sz="880" dirty="0"/>
          </a:p>
        </p:txBody>
      </p:sp>
      <p:sp>
        <p:nvSpPr>
          <p:cNvPr id="17" name="Shape 14"/>
          <p:cNvSpPr/>
          <p:nvPr/>
        </p:nvSpPr>
        <p:spPr>
          <a:xfrm>
            <a:off x="8019288" y="249631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4963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45059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Status</a:t>
            </a:r>
            <a:endParaRPr lang="en-US" sz="880" dirty="0"/>
          </a:p>
        </p:txBody>
      </p:sp>
      <p:sp>
        <p:nvSpPr>
          <p:cNvPr id="20" name="Shape 17"/>
          <p:cNvSpPr/>
          <p:nvPr/>
        </p:nvSpPr>
        <p:spPr>
          <a:xfrm>
            <a:off x="8019288" y="274015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27401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69443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Effectivity date</a:t>
            </a:r>
            <a:endParaRPr lang="en-US" sz="880" dirty="0"/>
          </a:p>
        </p:txBody>
      </p:sp>
      <p:sp>
        <p:nvSpPr>
          <p:cNvPr id="23" name="Shape 20"/>
          <p:cNvSpPr/>
          <p:nvPr/>
        </p:nvSpPr>
        <p:spPr>
          <a:xfrm>
            <a:off x="8019288" y="29839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29839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293827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Closing date</a:t>
            </a:r>
            <a:endParaRPr lang="en-US" sz="880" dirty="0"/>
          </a:p>
        </p:txBody>
      </p:sp>
      <p:sp>
        <p:nvSpPr>
          <p:cNvPr id="26" name="Shape 23"/>
          <p:cNvSpPr/>
          <p:nvPr/>
        </p:nvSpPr>
        <p:spPr>
          <a:xfrm>
            <a:off x="8019288" y="3227832"/>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2278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18211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Project number</a:t>
            </a:r>
            <a:endParaRPr lang="en-US" sz="880" dirty="0"/>
          </a:p>
        </p:txBody>
      </p:sp>
      <p:sp>
        <p:nvSpPr>
          <p:cNvPr id="29" name="Shape 26"/>
          <p:cNvSpPr/>
          <p:nvPr/>
        </p:nvSpPr>
        <p:spPr>
          <a:xfrm>
            <a:off x="8019288" y="3471672"/>
            <a:ext cx="731520" cy="169164"/>
          </a:xfrm>
          <a:prstGeom prst="roundRect">
            <a:avLst>
              <a:gd name="adj" fmla="val 48649"/>
            </a:avLst>
          </a:prstGeom>
          <a:solidFill>
            <a:srgbClr val="EAF4E4"/>
          </a:solidFill>
          <a:ln w="12700">
            <a:solidFill>
              <a:srgbClr val="EAF4E4"/>
            </a:solidFill>
            <a:prstDash val="solid"/>
          </a:ln>
        </p:spPr>
      </p:sp>
      <p:sp>
        <p:nvSpPr>
          <p:cNvPr id="30" name="Text 27"/>
          <p:cNvSpPr/>
          <p:nvPr/>
        </p:nvSpPr>
        <p:spPr>
          <a:xfrm>
            <a:off x="8019288" y="34716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1" name="Text 28"/>
          <p:cNvSpPr/>
          <p:nvPr/>
        </p:nvSpPr>
        <p:spPr>
          <a:xfrm>
            <a:off x="8842248" y="342595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Project name</a:t>
            </a:r>
            <a:endParaRPr lang="en-US" sz="880" dirty="0"/>
          </a:p>
        </p:txBody>
      </p:sp>
      <p:sp>
        <p:nvSpPr>
          <p:cNvPr id="32" name="Shape 29"/>
          <p:cNvSpPr/>
          <p:nvPr/>
        </p:nvSpPr>
        <p:spPr>
          <a:xfrm>
            <a:off x="8019288" y="3715512"/>
            <a:ext cx="731520" cy="169164"/>
          </a:xfrm>
          <a:prstGeom prst="roundRect">
            <a:avLst>
              <a:gd name="adj" fmla="val 48649"/>
            </a:avLst>
          </a:prstGeom>
          <a:solidFill>
            <a:srgbClr val="EAF4E4"/>
          </a:solidFill>
          <a:ln w="12700">
            <a:solidFill>
              <a:srgbClr val="EAF4E4"/>
            </a:solidFill>
            <a:prstDash val="solid"/>
          </a:ln>
        </p:spPr>
      </p:sp>
      <p:sp>
        <p:nvSpPr>
          <p:cNvPr id="33" name="Text 30"/>
          <p:cNvSpPr/>
          <p:nvPr/>
        </p:nvSpPr>
        <p:spPr>
          <a:xfrm>
            <a:off x="8019288" y="37155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4" name="Text 31"/>
          <p:cNvSpPr/>
          <p:nvPr/>
        </p:nvSpPr>
        <p:spPr>
          <a:xfrm>
            <a:off x="8842248" y="366979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Sites for this project</a:t>
            </a:r>
            <a:endParaRPr lang="en-US" sz="880" dirty="0"/>
          </a:p>
        </p:txBody>
      </p:sp>
      <p:sp>
        <p:nvSpPr>
          <p:cNvPr id="35" name="Shape 32"/>
          <p:cNvSpPr/>
          <p:nvPr/>
        </p:nvSpPr>
        <p:spPr>
          <a:xfrm>
            <a:off x="8019288" y="3959352"/>
            <a:ext cx="731520" cy="169164"/>
          </a:xfrm>
          <a:prstGeom prst="roundRect">
            <a:avLst>
              <a:gd name="adj" fmla="val 48649"/>
            </a:avLst>
          </a:prstGeom>
          <a:solidFill>
            <a:srgbClr val="EAF4E4"/>
          </a:solidFill>
          <a:ln w="12700">
            <a:solidFill>
              <a:srgbClr val="EAF4E4"/>
            </a:solidFill>
            <a:prstDash val="solid"/>
          </a:ln>
        </p:spPr>
      </p:sp>
      <p:sp>
        <p:nvSpPr>
          <p:cNvPr id="36" name="Text 33"/>
          <p:cNvSpPr/>
          <p:nvPr/>
        </p:nvSpPr>
        <p:spPr>
          <a:xfrm>
            <a:off x="8019288" y="39593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37" name="Text 34"/>
          <p:cNvSpPr/>
          <p:nvPr/>
        </p:nvSpPr>
        <p:spPr>
          <a:xfrm>
            <a:off x="8842248" y="391363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Users for this project</a:t>
            </a:r>
            <a:endParaRPr lang="en-US" sz="880" dirty="0"/>
          </a:p>
        </p:txBody>
      </p:sp>
      <p:sp>
        <p:nvSpPr>
          <p:cNvPr id="38" name="Shape 35"/>
          <p:cNvSpPr/>
          <p:nvPr/>
        </p:nvSpPr>
        <p:spPr>
          <a:xfrm>
            <a:off x="8019288" y="4203192"/>
            <a:ext cx="731520" cy="169164"/>
          </a:xfrm>
          <a:prstGeom prst="roundRect">
            <a:avLst>
              <a:gd name="adj" fmla="val 48649"/>
            </a:avLst>
          </a:prstGeom>
          <a:solidFill>
            <a:srgbClr val="EAF4E4"/>
          </a:solidFill>
          <a:ln w="12700">
            <a:solidFill>
              <a:srgbClr val="EAF4E4"/>
            </a:solidFill>
            <a:prstDash val="solid"/>
          </a:ln>
        </p:spPr>
      </p:sp>
      <p:sp>
        <p:nvSpPr>
          <p:cNvPr id="39" name="Text 36"/>
          <p:cNvSpPr/>
          <p:nvPr/>
        </p:nvSpPr>
        <p:spPr>
          <a:xfrm>
            <a:off x="8019288" y="42031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40" name="Text 37"/>
          <p:cNvSpPr/>
          <p:nvPr/>
        </p:nvSpPr>
        <p:spPr>
          <a:xfrm>
            <a:off x="8842248" y="415747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Site visits for this project</a:t>
            </a:r>
            <a:endParaRPr lang="en-US" sz="880" dirty="0"/>
          </a:p>
        </p:txBody>
      </p:sp>
      <p:sp>
        <p:nvSpPr>
          <p:cNvPr id="41" name="Shape 38"/>
          <p:cNvSpPr/>
          <p:nvPr/>
        </p:nvSpPr>
        <p:spPr>
          <a:xfrm>
            <a:off x="8019288" y="4447032"/>
            <a:ext cx="731520" cy="169164"/>
          </a:xfrm>
          <a:prstGeom prst="roundRect">
            <a:avLst>
              <a:gd name="adj" fmla="val 48649"/>
            </a:avLst>
          </a:prstGeom>
          <a:solidFill>
            <a:srgbClr val="EAF4E4"/>
          </a:solidFill>
          <a:ln w="12700">
            <a:solidFill>
              <a:srgbClr val="EAF4E4"/>
            </a:solidFill>
            <a:prstDash val="solid"/>
          </a:ln>
        </p:spPr>
      </p:sp>
      <p:sp>
        <p:nvSpPr>
          <p:cNvPr id="42" name="Text 39"/>
          <p:cNvSpPr/>
          <p:nvPr/>
        </p:nvSpPr>
        <p:spPr>
          <a:xfrm>
            <a:off x="8019288" y="44470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43" name="Text 40"/>
          <p:cNvSpPr/>
          <p:nvPr/>
        </p:nvSpPr>
        <p:spPr>
          <a:xfrm>
            <a:off x="8842248" y="440131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Documents for this project</a:t>
            </a:r>
            <a:endParaRPr lang="en-US" sz="880" dirty="0"/>
          </a:p>
        </p:txBody>
      </p:sp>
      <p:sp>
        <p:nvSpPr>
          <p:cNvPr id="44" name="Shape 41"/>
          <p:cNvSpPr/>
          <p:nvPr/>
        </p:nvSpPr>
        <p:spPr>
          <a:xfrm>
            <a:off x="8019288" y="4690872"/>
            <a:ext cx="731520" cy="169164"/>
          </a:xfrm>
          <a:prstGeom prst="roundRect">
            <a:avLst>
              <a:gd name="adj" fmla="val 48649"/>
            </a:avLst>
          </a:prstGeom>
          <a:solidFill>
            <a:srgbClr val="EAF4E4"/>
          </a:solidFill>
          <a:ln w="12700">
            <a:solidFill>
              <a:srgbClr val="EAF4E4"/>
            </a:solidFill>
            <a:prstDash val="solid"/>
          </a:ln>
        </p:spPr>
      </p:sp>
      <p:sp>
        <p:nvSpPr>
          <p:cNvPr id="45" name="Text 42"/>
          <p:cNvSpPr/>
          <p:nvPr/>
        </p:nvSpPr>
        <p:spPr>
          <a:xfrm>
            <a:off x="8019288" y="46908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46" name="Text 43"/>
          <p:cNvSpPr/>
          <p:nvPr/>
        </p:nvSpPr>
        <p:spPr>
          <a:xfrm>
            <a:off x="8842248" y="464515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declared for this project</a:t>
            </a:r>
            <a:endParaRPr lang="en-US" sz="880" dirty="0"/>
          </a:p>
        </p:txBody>
      </p:sp>
      <p:sp>
        <p:nvSpPr>
          <p:cNvPr id="47" name="Shape 44"/>
          <p:cNvSpPr/>
          <p:nvPr/>
        </p:nvSpPr>
        <p:spPr>
          <a:xfrm>
            <a:off x="8019288" y="4934712"/>
            <a:ext cx="731520" cy="169164"/>
          </a:xfrm>
          <a:prstGeom prst="roundRect">
            <a:avLst>
              <a:gd name="adj" fmla="val 48649"/>
            </a:avLst>
          </a:prstGeom>
          <a:solidFill>
            <a:srgbClr val="EAF4E4"/>
          </a:solidFill>
          <a:ln w="12700">
            <a:solidFill>
              <a:srgbClr val="EAF4E4"/>
            </a:solidFill>
            <a:prstDash val="solid"/>
          </a:ln>
        </p:spPr>
      </p:sp>
      <p:sp>
        <p:nvSpPr>
          <p:cNvPr id="48" name="Text 45"/>
          <p:cNvSpPr/>
          <p:nvPr/>
        </p:nvSpPr>
        <p:spPr>
          <a:xfrm>
            <a:off x="8019288" y="49347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49" name="Text 46"/>
          <p:cNvSpPr/>
          <p:nvPr/>
        </p:nvSpPr>
        <p:spPr>
          <a:xfrm>
            <a:off x="8842248" y="488899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Physical counterparts for this project</a:t>
            </a:r>
            <a:endParaRPr lang="en-US" sz="880" dirty="0"/>
          </a:p>
        </p:txBody>
      </p:sp>
      <p:sp>
        <p:nvSpPr>
          <p:cNvPr id="50" name="Shape 47"/>
          <p:cNvSpPr/>
          <p:nvPr/>
        </p:nvSpPr>
        <p:spPr>
          <a:xfrm>
            <a:off x="8019288" y="5178552"/>
            <a:ext cx="731520" cy="169164"/>
          </a:xfrm>
          <a:prstGeom prst="roundRect">
            <a:avLst>
              <a:gd name="adj" fmla="val 48649"/>
            </a:avLst>
          </a:prstGeom>
          <a:solidFill>
            <a:srgbClr val="EAF4E4"/>
          </a:solidFill>
          <a:ln w="12700">
            <a:solidFill>
              <a:srgbClr val="EAF4E4"/>
            </a:solidFill>
            <a:prstDash val="solid"/>
          </a:ln>
        </p:spPr>
      </p:sp>
      <p:sp>
        <p:nvSpPr>
          <p:cNvPr id="51" name="Text 48"/>
          <p:cNvSpPr/>
          <p:nvPr/>
        </p:nvSpPr>
        <p:spPr>
          <a:xfrm>
            <a:off x="8019288" y="51785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52" name="Text 49"/>
          <p:cNvSpPr/>
          <p:nvPr/>
        </p:nvSpPr>
        <p:spPr>
          <a:xfrm>
            <a:off x="8842248" y="5132832"/>
            <a:ext cx="2633472" cy="24384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due for disposal for this project</a:t>
            </a:r>
            <a:endParaRPr lang="en-US" sz="880" dirty="0"/>
          </a:p>
        </p:txBody>
      </p:sp>
      <p:sp>
        <p:nvSpPr>
          <p:cNvPr id="53" name="Shape 50"/>
          <p:cNvSpPr/>
          <p:nvPr/>
        </p:nvSpPr>
        <p:spPr>
          <a:xfrm>
            <a:off x="502920" y="5779008"/>
            <a:ext cx="118872" cy="118872"/>
          </a:xfrm>
          <a:prstGeom prst="ellipse">
            <a:avLst/>
          </a:prstGeom>
          <a:solidFill>
            <a:srgbClr val="0072BC"/>
          </a:solidFill>
          <a:ln w="12700">
            <a:solidFill>
              <a:srgbClr val="0072BC"/>
            </a:solidFill>
            <a:prstDash val="solid"/>
          </a:ln>
        </p:spPr>
      </p:sp>
      <p:sp>
        <p:nvSpPr>
          <p:cNvPr id="54" name="Text 51"/>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eight profile fields the client drew, in their order.</a:t>
            </a:r>
            <a:endParaRPr lang="en-US" sz="1000" dirty="0"/>
          </a:p>
        </p:txBody>
      </p:sp>
      <p:sp>
        <p:nvSpPr>
          <p:cNvPr id="55" name="Shape 52"/>
          <p:cNvSpPr/>
          <p:nvPr/>
        </p:nvSpPr>
        <p:spPr>
          <a:xfrm>
            <a:off x="4270248" y="5779008"/>
            <a:ext cx="118872" cy="118872"/>
          </a:xfrm>
          <a:prstGeom prst="ellipse">
            <a:avLst/>
          </a:prstGeom>
          <a:solidFill>
            <a:srgbClr val="00A5A8"/>
          </a:solidFill>
          <a:ln w="12700">
            <a:solidFill>
              <a:srgbClr val="00A5A8"/>
            </a:solidFill>
            <a:prstDash val="solid"/>
          </a:ln>
        </p:spPr>
      </p:sp>
      <p:sp>
        <p:nvSpPr>
          <p:cNvPr id="56" name="Text 53"/>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seven figures are clickable and open a table site by site.</a:t>
            </a:r>
            <a:endParaRPr lang="en-US" sz="1000" dirty="0"/>
          </a:p>
        </p:txBody>
      </p:sp>
      <p:sp>
        <p:nvSpPr>
          <p:cNvPr id="57" name="Shape 54"/>
          <p:cNvSpPr/>
          <p:nvPr/>
        </p:nvSpPr>
        <p:spPr>
          <a:xfrm>
            <a:off x="8037576" y="5779008"/>
            <a:ext cx="118872" cy="118872"/>
          </a:xfrm>
          <a:prstGeom prst="ellipse">
            <a:avLst/>
          </a:prstGeom>
          <a:solidFill>
            <a:srgbClr val="5CA943"/>
          </a:solidFill>
          <a:ln w="12700">
            <a:solidFill>
              <a:srgbClr val="5CA943"/>
            </a:solidFill>
            <a:prstDash val="solid"/>
          </a:ln>
        </p:spPr>
      </p:sp>
      <p:sp>
        <p:nvSpPr>
          <p:cNvPr id="58" name="Text 55"/>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site rows always add back up to the project total.</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PROJECT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three charts</a:t>
            </a:r>
            <a:endParaRPr lang="en-US" sz="2500" dirty="0"/>
          </a:p>
        </p:txBody>
      </p:sp>
      <p:sp>
        <p:nvSpPr>
          <p:cNvPr id="4" name="Shape 2"/>
          <p:cNvSpPr/>
          <p:nvPr/>
        </p:nvSpPr>
        <p:spPr>
          <a:xfrm>
            <a:off x="470916" y="1156716"/>
            <a:ext cx="7178040" cy="4073273"/>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pj-03.png">    </p:cNvPr>
          <p:cNvPicPr>
            <a:picLocks noChangeAspect="1"/>
          </p:cNvPicPr>
          <p:nvPr/>
        </p:nvPicPr>
        <p:blipFill>
          <a:blip r:embed="rId1"/>
          <a:stretch>
            <a:fillRect/>
          </a:stretch>
        </p:blipFill>
        <p:spPr>
          <a:xfrm>
            <a:off x="502920" y="1188720"/>
            <a:ext cx="7114032" cy="4009265"/>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Users pie, split staff / consultants / contractors</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Cumulative declaration trend for this project</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Documents against records declared, site by site, with declaration rate</a:t>
            </a:r>
            <a:endParaRPr lang="en-US" sz="880" dirty="0"/>
          </a:p>
        </p:txBody>
      </p:sp>
      <p:sp>
        <p:nvSpPr>
          <p:cNvPr id="17" name="Shape 14"/>
          <p:cNvSpPr/>
          <p:nvPr/>
        </p:nvSpPr>
        <p:spPr>
          <a:xfrm>
            <a:off x="502920" y="5779008"/>
            <a:ext cx="118872" cy="118872"/>
          </a:xfrm>
          <a:prstGeom prst="ellipse">
            <a:avLst/>
          </a:prstGeom>
          <a:solidFill>
            <a:srgbClr val="0072BC"/>
          </a:solidFill>
          <a:ln w="12700">
            <a:solidFill>
              <a:srgbClr val="0072BC"/>
            </a:solidFill>
            <a:prstDash val="solid"/>
          </a:ln>
        </p:spPr>
      </p:sp>
      <p:sp>
        <p:nvSpPr>
          <p:cNvPr id="18" name="Text 15"/>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User mix uses the client’s own three-way split.</a:t>
            </a:r>
            <a:endParaRPr lang="en-US" sz="1000" dirty="0"/>
          </a:p>
        </p:txBody>
      </p:sp>
      <p:sp>
        <p:nvSpPr>
          <p:cNvPr id="19" name="Shape 16"/>
          <p:cNvSpPr/>
          <p:nvPr/>
        </p:nvSpPr>
        <p:spPr>
          <a:xfrm>
            <a:off x="4270248" y="5779008"/>
            <a:ext cx="118872" cy="118872"/>
          </a:xfrm>
          <a:prstGeom prst="ellipse">
            <a:avLst/>
          </a:prstGeom>
          <a:solidFill>
            <a:srgbClr val="00A5A8"/>
          </a:solidFill>
          <a:ln w="12700">
            <a:solidFill>
              <a:srgbClr val="00A5A8"/>
            </a:solidFill>
            <a:prstDash val="solid"/>
          </a:ln>
        </p:spPr>
      </p:sp>
      <p:sp>
        <p:nvSpPr>
          <p:cNvPr id="20" name="Text 17"/>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curve is cumulative, so it ends at the project’s declared total.</a:t>
            </a:r>
            <a:endParaRPr lang="en-US" sz="1000" dirty="0"/>
          </a:p>
        </p:txBody>
      </p:sp>
      <p:sp>
        <p:nvSpPr>
          <p:cNvPr id="21" name="Shape 18"/>
          <p:cNvSpPr/>
          <p:nvPr/>
        </p:nvSpPr>
        <p:spPr>
          <a:xfrm>
            <a:off x="8037576" y="5779008"/>
            <a:ext cx="118872" cy="118872"/>
          </a:xfrm>
          <a:prstGeom prst="ellipse">
            <a:avLst/>
          </a:prstGeom>
          <a:solidFill>
            <a:srgbClr val="5CA943"/>
          </a:solidFill>
          <a:ln w="12700">
            <a:solidFill>
              <a:srgbClr val="5CA943"/>
            </a:solidFill>
            <a:prstDash val="solid"/>
          </a:ln>
        </p:spPr>
      </p:sp>
      <p:sp>
        <p:nvSpPr>
          <p:cNvPr id="22" name="Text 19"/>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bottom chart shows why one site declares everything and another almost nothing.</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PROJECT INSIGHTS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a:t>
            </a:r>
            <a:endParaRPr lang="en-US" sz="2500" dirty="0"/>
          </a:p>
        </p:txBody>
      </p:sp>
      <p:sp>
        <p:nvSpPr>
          <p:cNvPr id="4" name="Shape 2"/>
          <p:cNvSpPr/>
          <p:nvPr/>
        </p:nvSpPr>
        <p:spPr>
          <a:xfrm>
            <a:off x="502920" y="1280160"/>
            <a:ext cx="11155680" cy="1965960"/>
          </a:xfrm>
          <a:prstGeom prst="roundRect">
            <a:avLst>
              <a:gd name="adj" fmla="val 2791"/>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2061972"/>
            <a:ext cx="402336" cy="402336"/>
          </a:xfrm>
          <a:prstGeom prst="ellipse">
            <a:avLst/>
          </a:prstGeom>
          <a:solidFill>
            <a:srgbClr val="FBE6E4"/>
          </a:solidFill>
          <a:ln w="12700">
            <a:solidFill>
              <a:srgbClr val="FBE6E4"/>
            </a:solidFill>
            <a:prstDash val="solid"/>
          </a:ln>
        </p:spPr>
      </p:sp>
      <p:sp>
        <p:nvSpPr>
          <p:cNvPr id="6" name="Text 4"/>
          <p:cNvSpPr/>
          <p:nvPr/>
        </p:nvSpPr>
        <p:spPr>
          <a:xfrm>
            <a:off x="777240" y="206197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1709928"/>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Which SharePoint site belongs to which project?</a:t>
            </a:r>
            <a:endParaRPr lang="en-US" sz="1350" dirty="0"/>
          </a:p>
        </p:txBody>
      </p:sp>
      <p:sp>
        <p:nvSpPr>
          <p:cNvPr id="8" name="Text 6"/>
          <p:cNvSpPr/>
          <p:nvPr/>
        </p:nvSpPr>
        <p:spPr>
          <a:xfrm>
            <a:off x="6217920" y="1399032"/>
            <a:ext cx="2743200" cy="1728216"/>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This is the one that matters. Nothing today connects a SharePoint site to a project number, so every figure on this dashboard is a placeholder — the layout is right, the numbers are invented.</a:t>
            </a:r>
            <a:endParaRPr lang="en-US" sz="860" dirty="0"/>
          </a:p>
        </p:txBody>
      </p:sp>
      <p:sp>
        <p:nvSpPr>
          <p:cNvPr id="9" name="Text 7"/>
          <p:cNvSpPr/>
          <p:nvPr/>
        </p:nvSpPr>
        <p:spPr>
          <a:xfrm>
            <a:off x="9098280" y="1399032"/>
            <a:ext cx="2423160" cy="1728216"/>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there a list anywhere, even a spreadsheet someone keeps by hand? If sites are named to a pattern that includes the project number, that would work too.</a:t>
            </a:r>
            <a:endParaRPr lang="en-US" sz="860" dirty="0"/>
          </a:p>
        </p:txBody>
      </p:sp>
      <p:sp>
        <p:nvSpPr>
          <p:cNvPr id="10" name="Shape 8"/>
          <p:cNvSpPr/>
          <p:nvPr/>
        </p:nvSpPr>
        <p:spPr>
          <a:xfrm>
            <a:off x="502920" y="3355848"/>
            <a:ext cx="11155680" cy="1965960"/>
          </a:xfrm>
          <a:prstGeom prst="roundRect">
            <a:avLst>
              <a:gd name="adj" fmla="val 2791"/>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4137660"/>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4137660"/>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3483864"/>
            <a:ext cx="4663440" cy="1709928"/>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Where do the eight project details come from?</a:t>
            </a:r>
            <a:endParaRPr lang="en-US" sz="1350" dirty="0"/>
          </a:p>
        </p:txBody>
      </p:sp>
      <p:sp>
        <p:nvSpPr>
          <p:cNvPr id="14" name="Text 12"/>
          <p:cNvSpPr/>
          <p:nvPr/>
        </p:nvSpPr>
        <p:spPr>
          <a:xfrm>
            <a:off x="6217920" y="3474720"/>
            <a:ext cx="2743200" cy="1728216"/>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Facility type, modality, country, status, effectivity and closing dates — these clearly live in an ADB project system, but that system has never been named in this work.</a:t>
            </a:r>
            <a:endParaRPr lang="en-US" sz="860" dirty="0"/>
          </a:p>
        </p:txBody>
      </p:sp>
      <p:sp>
        <p:nvSpPr>
          <p:cNvPr id="15" name="Text 13"/>
          <p:cNvSpPr/>
          <p:nvPr/>
        </p:nvSpPr>
        <p:spPr>
          <a:xfrm>
            <a:off x="9098280" y="3474720"/>
            <a:ext cx="2423160" cy="1728216"/>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Which system holds them, and who owns it? Once we know, we can ask for a feed.</a:t>
            </a:r>
            <a:endParaRPr lang="en-US" sz="860" dirty="0"/>
          </a:p>
        </p:txBody>
      </p:sp>
      <p:sp>
        <p:nvSpPr>
          <p:cNvPr id="16" name="Text 14"/>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17" name="Text 15"/>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18" name="Text 16"/>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4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Institutional File Plan</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Is the file plan actually being used?</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22</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26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4 need your input</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5 screens to walk through</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five categories</a:t>
            </a:r>
            <a:endParaRPr lang="en-US" sz="2500" dirty="0"/>
          </a:p>
        </p:txBody>
      </p:sp>
      <p:sp>
        <p:nvSpPr>
          <p:cNvPr id="4" name="Shape 2"/>
          <p:cNvSpPr/>
          <p:nvPr/>
        </p:nvSpPr>
        <p:spPr>
          <a:xfrm>
            <a:off x="470916" y="1156716"/>
            <a:ext cx="7178040" cy="4047866"/>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fp-01.png">    </p:cNvPr>
          <p:cNvPicPr>
            <a:picLocks noChangeAspect="1"/>
          </p:cNvPicPr>
          <p:nvPr/>
        </p:nvPicPr>
        <p:blipFill>
          <a:blip r:embed="rId1"/>
          <a:stretch>
            <a:fillRect/>
          </a:stretch>
        </p:blipFill>
        <p:spPr>
          <a:xfrm>
            <a:off x="502920" y="1188720"/>
            <a:ext cx="7114032" cy="3983858"/>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Institutional Management terms</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Administration terms</a:t>
            </a:r>
            <a:endParaRPr lang="en-US" sz="880" dirty="0"/>
          </a:p>
        </p:txBody>
      </p:sp>
      <p:sp>
        <p:nvSpPr>
          <p:cNvPr id="14" name="Shape 11"/>
          <p:cNvSpPr/>
          <p:nvPr/>
        </p:nvSpPr>
        <p:spPr>
          <a:xfrm>
            <a:off x="8019288" y="2409952"/>
            <a:ext cx="731520" cy="169164"/>
          </a:xfrm>
          <a:prstGeom prst="roundRect">
            <a:avLst>
              <a:gd name="adj" fmla="val 48649"/>
            </a:avLst>
          </a:prstGeom>
          <a:solidFill>
            <a:srgbClr val="FDF1DE"/>
          </a:solidFill>
          <a:ln w="12700">
            <a:solidFill>
              <a:srgbClr val="FDF1DE"/>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People management terms</a:t>
            </a:r>
            <a:endParaRPr lang="en-US" sz="880" dirty="0"/>
          </a:p>
        </p:txBody>
      </p:sp>
      <p:sp>
        <p:nvSpPr>
          <p:cNvPr id="17" name="Shape 14"/>
          <p:cNvSpPr/>
          <p:nvPr/>
        </p:nvSpPr>
        <p:spPr>
          <a:xfrm>
            <a:off x="8019288" y="2732532"/>
            <a:ext cx="731520" cy="169164"/>
          </a:xfrm>
          <a:prstGeom prst="roundRect">
            <a:avLst>
              <a:gd name="adj" fmla="val 48649"/>
            </a:avLst>
          </a:prstGeom>
          <a:solidFill>
            <a:srgbClr val="FDF1DE"/>
          </a:solidFill>
          <a:ln w="12700">
            <a:solidFill>
              <a:srgbClr val="FDF1DE"/>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Programs and operations terms</a:t>
            </a:r>
            <a:endParaRPr lang="en-US" sz="880" dirty="0"/>
          </a:p>
        </p:txBody>
      </p:sp>
      <p:sp>
        <p:nvSpPr>
          <p:cNvPr id="20" name="Shape 17"/>
          <p:cNvSpPr/>
          <p:nvPr/>
        </p:nvSpPr>
        <p:spPr>
          <a:xfrm>
            <a:off x="8019288" y="3055112"/>
            <a:ext cx="731520" cy="169164"/>
          </a:xfrm>
          <a:prstGeom prst="roundRect">
            <a:avLst>
              <a:gd name="adj" fmla="val 48649"/>
            </a:avLst>
          </a:prstGeom>
          <a:solidFill>
            <a:srgbClr val="FDF1DE"/>
          </a:solidFill>
          <a:ln w="12700">
            <a:solidFill>
              <a:srgbClr val="FDF1DE"/>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other terms</a:t>
            </a:r>
            <a:endParaRPr lang="en-US" sz="880" dirty="0"/>
          </a:p>
        </p:txBody>
      </p:sp>
      <p:sp>
        <p:nvSpPr>
          <p:cNvPr id="23" name="Shape 20"/>
          <p:cNvSpPr/>
          <p:nvPr/>
        </p:nvSpPr>
        <p:spPr>
          <a:xfrm>
            <a:off x="8019288" y="3377692"/>
            <a:ext cx="731520" cy="169164"/>
          </a:xfrm>
          <a:prstGeom prst="roundRect">
            <a:avLst>
              <a:gd name="adj" fmla="val 48649"/>
            </a:avLst>
          </a:prstGeom>
          <a:solidFill>
            <a:srgbClr val="FDF1DE"/>
          </a:solidFill>
          <a:ln w="12700">
            <a:solidFill>
              <a:srgbClr val="FDF1DE"/>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terms</a:t>
            </a:r>
            <a:endParaRPr lang="en-US" sz="880" dirty="0"/>
          </a:p>
        </p:txBody>
      </p:sp>
      <p:sp>
        <p:nvSpPr>
          <p:cNvPr id="26" name="Shape 23"/>
          <p:cNvSpPr/>
          <p:nvPr/>
        </p:nvSpPr>
        <p:spPr>
          <a:xfrm>
            <a:off x="8019288" y="3700272"/>
            <a:ext cx="731520" cy="169164"/>
          </a:xfrm>
          <a:prstGeom prst="roundRect">
            <a:avLst>
              <a:gd name="adj" fmla="val 48649"/>
            </a:avLst>
          </a:prstGeom>
          <a:solidFill>
            <a:srgbClr val="FDF1DE"/>
          </a:solidFill>
          <a:ln w="12700">
            <a:solidFill>
              <a:srgbClr val="FDF1DE"/>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Departments / Offices / RMs provisioned</a:t>
            </a:r>
            <a:endParaRPr lang="en-US" sz="880" dirty="0"/>
          </a:p>
        </p:txBody>
      </p:sp>
      <p:sp>
        <p:nvSpPr>
          <p:cNvPr id="29" name="Shape 26"/>
          <p:cNvSpPr/>
          <p:nvPr/>
        </p:nvSpPr>
        <p:spPr>
          <a:xfrm>
            <a:off x="8019288" y="4022852"/>
            <a:ext cx="731520" cy="169164"/>
          </a:xfrm>
          <a:prstGeom prst="roundRect">
            <a:avLst>
              <a:gd name="adj" fmla="val 48649"/>
            </a:avLst>
          </a:prstGeom>
          <a:solidFill>
            <a:srgbClr val="FDF1DE"/>
          </a:solidFill>
          <a:ln w="12700">
            <a:solidFill>
              <a:srgbClr val="FDF1DE"/>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libraries provisioned</a:t>
            </a:r>
            <a:endParaRPr lang="en-US" sz="880" dirty="0"/>
          </a:p>
        </p:txBody>
      </p:sp>
      <p:sp>
        <p:nvSpPr>
          <p:cNvPr id="32" name="Shape 29"/>
          <p:cNvSpPr/>
          <p:nvPr/>
        </p:nvSpPr>
        <p:spPr>
          <a:xfrm>
            <a:off x="8019288" y="4345432"/>
            <a:ext cx="731520" cy="169164"/>
          </a:xfrm>
          <a:prstGeom prst="roundRect">
            <a:avLst>
              <a:gd name="adj" fmla="val 48649"/>
            </a:avLst>
          </a:prstGeom>
          <a:solidFill>
            <a:srgbClr val="FDF1DE"/>
          </a:solidFill>
          <a:ln w="12700">
            <a:solidFill>
              <a:srgbClr val="FDF1DE"/>
            </a:solidFill>
            <a:prstDash val="solid"/>
          </a:ln>
        </p:spPr>
      </p:sp>
      <p:sp>
        <p:nvSpPr>
          <p:cNvPr id="33" name="Text 30"/>
          <p:cNvSpPr/>
          <p:nvPr/>
        </p:nvSpPr>
        <p:spPr>
          <a:xfrm>
            <a:off x="8019288" y="434543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4" name="Text 31"/>
          <p:cNvSpPr/>
          <p:nvPr/>
        </p:nvSpPr>
        <p:spPr>
          <a:xfrm>
            <a:off x="8842248" y="42997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a:t>
            </a:r>
            <a:endParaRPr lang="en-US" sz="880" dirty="0"/>
          </a:p>
        </p:txBody>
      </p:sp>
      <p:sp>
        <p:nvSpPr>
          <p:cNvPr id="35" name="Shape 32"/>
          <p:cNvSpPr/>
          <p:nvPr/>
        </p:nvSpPr>
        <p:spPr>
          <a:xfrm>
            <a:off x="8019288" y="4668012"/>
            <a:ext cx="731520" cy="169164"/>
          </a:xfrm>
          <a:prstGeom prst="roundRect">
            <a:avLst>
              <a:gd name="adj" fmla="val 48649"/>
            </a:avLst>
          </a:prstGeom>
          <a:solidFill>
            <a:srgbClr val="FDF1DE"/>
          </a:solidFill>
          <a:ln w="12700">
            <a:solidFill>
              <a:srgbClr val="FDF1DE"/>
            </a:solidFill>
            <a:prstDash val="solid"/>
          </a:ln>
        </p:spPr>
      </p:sp>
      <p:sp>
        <p:nvSpPr>
          <p:cNvPr id="36" name="Text 33"/>
          <p:cNvSpPr/>
          <p:nvPr/>
        </p:nvSpPr>
        <p:spPr>
          <a:xfrm>
            <a:off x="8019288" y="466801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7" name="Text 34"/>
          <p:cNvSpPr/>
          <p:nvPr/>
        </p:nvSpPr>
        <p:spPr>
          <a:xfrm>
            <a:off x="8842248" y="46222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declared</a:t>
            </a:r>
            <a:endParaRPr lang="en-US" sz="880" dirty="0"/>
          </a:p>
        </p:txBody>
      </p:sp>
      <p:sp>
        <p:nvSpPr>
          <p:cNvPr id="38" name="Shape 35"/>
          <p:cNvSpPr/>
          <p:nvPr/>
        </p:nvSpPr>
        <p:spPr>
          <a:xfrm>
            <a:off x="8019288" y="4990592"/>
            <a:ext cx="731520" cy="169164"/>
          </a:xfrm>
          <a:prstGeom prst="roundRect">
            <a:avLst>
              <a:gd name="adj" fmla="val 48649"/>
            </a:avLst>
          </a:prstGeom>
          <a:solidFill>
            <a:srgbClr val="FDF1DE"/>
          </a:solidFill>
          <a:ln w="12700">
            <a:solidFill>
              <a:srgbClr val="FDF1DE"/>
            </a:solidFill>
            <a:prstDash val="solid"/>
          </a:ln>
        </p:spPr>
      </p:sp>
      <p:sp>
        <p:nvSpPr>
          <p:cNvPr id="39" name="Text 36"/>
          <p:cNvSpPr/>
          <p:nvPr/>
        </p:nvSpPr>
        <p:spPr>
          <a:xfrm>
            <a:off x="8019288" y="49905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40" name="Text 37"/>
          <p:cNvSpPr/>
          <p:nvPr/>
        </p:nvSpPr>
        <p:spPr>
          <a:xfrm>
            <a:off x="8842248" y="49448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a:t>
            </a:r>
            <a:endParaRPr lang="en-US" sz="880" dirty="0"/>
          </a:p>
        </p:txBody>
      </p:sp>
      <p:sp>
        <p:nvSpPr>
          <p:cNvPr id="41" name="Shape 38"/>
          <p:cNvSpPr/>
          <p:nvPr/>
        </p:nvSpPr>
        <p:spPr>
          <a:xfrm>
            <a:off x="502920" y="5779008"/>
            <a:ext cx="118872" cy="118872"/>
          </a:xfrm>
          <a:prstGeom prst="ellipse">
            <a:avLst/>
          </a:prstGeom>
          <a:solidFill>
            <a:srgbClr val="0072BC"/>
          </a:solidFill>
          <a:ln w="12700">
            <a:solidFill>
              <a:srgbClr val="0072BC"/>
            </a:solidFill>
            <a:prstDash val="solid"/>
          </a:ln>
        </p:spPr>
      </p:sp>
      <p:sp>
        <p:nvSpPr>
          <p:cNvPr id="42" name="Text 3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Five categories and a total, with the client’s own column names.</a:t>
            </a:r>
            <a:endParaRPr lang="en-US" sz="1000" dirty="0"/>
          </a:p>
        </p:txBody>
      </p:sp>
      <p:sp>
        <p:nvSpPr>
          <p:cNvPr id="43" name="Shape 40"/>
          <p:cNvSpPr/>
          <p:nvPr/>
        </p:nvSpPr>
        <p:spPr>
          <a:xfrm>
            <a:off x="4270248" y="5779008"/>
            <a:ext cx="118872" cy="118872"/>
          </a:xfrm>
          <a:prstGeom prst="ellipse">
            <a:avLst/>
          </a:prstGeom>
          <a:solidFill>
            <a:srgbClr val="00A5A8"/>
          </a:solidFill>
          <a:ln w="12700">
            <a:solidFill>
              <a:srgbClr val="00A5A8"/>
            </a:solidFill>
            <a:prstDash val="solid"/>
          </a:ln>
        </p:spPr>
      </p:sp>
      <p:sp>
        <p:nvSpPr>
          <p:cNvPr id="44" name="Text 4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total row is checked against the bank-wide figures automatically.</a:t>
            </a:r>
            <a:endParaRPr lang="en-US" sz="1000" dirty="0"/>
          </a:p>
        </p:txBody>
      </p:sp>
      <p:sp>
        <p:nvSpPr>
          <p:cNvPr id="45" name="Shape 42"/>
          <p:cNvSpPr/>
          <p:nvPr/>
        </p:nvSpPr>
        <p:spPr>
          <a:xfrm>
            <a:off x="8037576" y="5779008"/>
            <a:ext cx="118872" cy="118872"/>
          </a:xfrm>
          <a:prstGeom prst="ellipse">
            <a:avLst/>
          </a:prstGeom>
          <a:solidFill>
            <a:srgbClr val="5CA943"/>
          </a:solidFill>
          <a:ln w="12700">
            <a:solidFill>
              <a:srgbClr val="5CA943"/>
            </a:solidFill>
            <a:prstDash val="solid"/>
          </a:ln>
        </p:spPr>
      </p:sp>
      <p:sp>
        <p:nvSpPr>
          <p:cNvPr id="46" name="Text 4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department column is assigned, not measured. That is the gap on this dashboard.</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Inside one category</a:t>
            </a:r>
            <a:endParaRPr lang="en-US" sz="2500" dirty="0"/>
          </a:p>
        </p:txBody>
      </p:sp>
      <p:sp>
        <p:nvSpPr>
          <p:cNvPr id="4" name="Shape 2"/>
          <p:cNvSpPr/>
          <p:nvPr/>
        </p:nvSpPr>
        <p:spPr>
          <a:xfrm>
            <a:off x="470916" y="1156716"/>
            <a:ext cx="7178040" cy="3910667"/>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fp-02.png">    </p:cNvPr>
          <p:cNvPicPr>
            <a:picLocks noChangeAspect="1"/>
          </p:cNvPicPr>
          <p:nvPr/>
        </p:nvPicPr>
        <p:blipFill>
          <a:blip r:embed="rId1"/>
          <a:stretch>
            <a:fillRect/>
          </a:stretch>
        </p:blipFill>
        <p:spPr>
          <a:xfrm>
            <a:off x="502920" y="1188720"/>
            <a:ext cx="7114032" cy="3846659"/>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Term (Top level) list per category</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Category screens, all five present</a:t>
            </a:r>
            <a:endParaRPr lang="en-US" sz="880" dirty="0"/>
          </a:p>
        </p:txBody>
      </p:sp>
      <p:sp>
        <p:nvSpPr>
          <p:cNvPr id="14" name="Shape 11"/>
          <p:cNvSpPr/>
          <p:nvPr/>
        </p:nvSpPr>
        <p:spPr>
          <a:xfrm>
            <a:off x="8019288" y="2409952"/>
            <a:ext cx="731520" cy="169164"/>
          </a:xfrm>
          <a:prstGeom prst="roundRect">
            <a:avLst>
              <a:gd name="adj" fmla="val 48649"/>
            </a:avLst>
          </a:prstGeom>
          <a:solidFill>
            <a:srgbClr val="FBE6E4"/>
          </a:solidFill>
          <a:ln w="12700">
            <a:solidFill>
              <a:srgbClr val="FBE6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A notice saying what is missing behind this dashboard</a:t>
            </a:r>
            <a:endParaRPr lang="en-US" sz="880" dirty="0"/>
          </a:p>
        </p:txBody>
      </p:sp>
      <p:sp>
        <p:nvSpPr>
          <p:cNvPr id="17" name="Shape 14"/>
          <p:cNvSpPr/>
          <p:nvPr/>
        </p:nvSpPr>
        <p:spPr>
          <a:xfrm>
            <a:off x="8019288" y="2732532"/>
            <a:ext cx="731520" cy="169164"/>
          </a:xfrm>
          <a:prstGeom prst="roundRect">
            <a:avLst>
              <a:gd name="adj" fmla="val 48649"/>
            </a:avLst>
          </a:prstGeom>
          <a:solidFill>
            <a:srgbClr val="FBE6E4"/>
          </a:solidFill>
          <a:ln w="12700">
            <a:solidFill>
              <a:srgbClr val="FBE6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Departments / Offices / RMs provisioned, per term</a:t>
            </a:r>
            <a:endParaRPr lang="en-US" sz="880" dirty="0"/>
          </a:p>
        </p:txBody>
      </p:sp>
      <p:sp>
        <p:nvSpPr>
          <p:cNvPr id="20" name="Shape 17"/>
          <p:cNvSpPr/>
          <p:nvPr/>
        </p:nvSpPr>
        <p:spPr>
          <a:xfrm>
            <a:off x="8019288" y="3055112"/>
            <a:ext cx="731520" cy="169164"/>
          </a:xfrm>
          <a:prstGeom prst="roundRect">
            <a:avLst>
              <a:gd name="adj" fmla="val 48649"/>
            </a:avLst>
          </a:prstGeom>
          <a:solidFill>
            <a:srgbClr val="FDF1DE"/>
          </a:solidFill>
          <a:ln w="12700">
            <a:solidFill>
              <a:srgbClr val="FDF1DE"/>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libraries provisioned, per term</a:t>
            </a:r>
            <a:endParaRPr lang="en-US" sz="880" dirty="0"/>
          </a:p>
        </p:txBody>
      </p:sp>
      <p:sp>
        <p:nvSpPr>
          <p:cNvPr id="23" name="Shape 20"/>
          <p:cNvSpPr/>
          <p:nvPr/>
        </p:nvSpPr>
        <p:spPr>
          <a:xfrm>
            <a:off x="8019288" y="3377692"/>
            <a:ext cx="731520" cy="169164"/>
          </a:xfrm>
          <a:prstGeom prst="roundRect">
            <a:avLst>
              <a:gd name="adj" fmla="val 48649"/>
            </a:avLst>
          </a:prstGeom>
          <a:solidFill>
            <a:srgbClr val="FDF1DE"/>
          </a:solidFill>
          <a:ln w="12700">
            <a:solidFill>
              <a:srgbClr val="FDF1DE"/>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documents, per term</a:t>
            </a:r>
            <a:endParaRPr lang="en-US" sz="880" dirty="0"/>
          </a:p>
        </p:txBody>
      </p:sp>
      <p:sp>
        <p:nvSpPr>
          <p:cNvPr id="26" name="Shape 23"/>
          <p:cNvSpPr/>
          <p:nvPr/>
        </p:nvSpPr>
        <p:spPr>
          <a:xfrm>
            <a:off x="8019288" y="3700272"/>
            <a:ext cx="731520" cy="169164"/>
          </a:xfrm>
          <a:prstGeom prst="roundRect">
            <a:avLst>
              <a:gd name="adj" fmla="val 48649"/>
            </a:avLst>
          </a:prstGeom>
          <a:solidFill>
            <a:srgbClr val="FDF1DE"/>
          </a:solidFill>
          <a:ln w="12700">
            <a:solidFill>
              <a:srgbClr val="FDF1DE"/>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declared, per term</a:t>
            </a:r>
            <a:endParaRPr lang="en-US" sz="880" dirty="0"/>
          </a:p>
        </p:txBody>
      </p:sp>
      <p:sp>
        <p:nvSpPr>
          <p:cNvPr id="29" name="Shape 26"/>
          <p:cNvSpPr/>
          <p:nvPr/>
        </p:nvSpPr>
        <p:spPr>
          <a:xfrm>
            <a:off x="8019288" y="4022852"/>
            <a:ext cx="731520" cy="169164"/>
          </a:xfrm>
          <a:prstGeom prst="roundRect">
            <a:avLst>
              <a:gd name="adj" fmla="val 48649"/>
            </a:avLst>
          </a:prstGeom>
          <a:solidFill>
            <a:srgbClr val="FDF1DE"/>
          </a:solidFill>
          <a:ln w="12700">
            <a:solidFill>
              <a:srgbClr val="FDF1DE"/>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 per term</a:t>
            </a:r>
            <a:endParaRPr lang="en-US" sz="880" dirty="0"/>
          </a:p>
        </p:txBody>
      </p:sp>
      <p:sp>
        <p:nvSpPr>
          <p:cNvPr id="32" name="Shape 29"/>
          <p:cNvSpPr/>
          <p:nvPr/>
        </p:nvSpPr>
        <p:spPr>
          <a:xfrm>
            <a:off x="502920" y="5779008"/>
            <a:ext cx="118872" cy="118872"/>
          </a:xfrm>
          <a:prstGeom prst="ellipse">
            <a:avLst/>
          </a:prstGeom>
          <a:solidFill>
            <a:srgbClr val="0072BC"/>
          </a:solidFill>
          <a:ln w="12700">
            <a:solidFill>
              <a:srgbClr val="0072BC"/>
            </a:solidFill>
            <a:prstDash val="solid"/>
          </a:ln>
        </p:spPr>
      </p:sp>
      <p:sp>
        <p:nvSpPr>
          <p:cNvPr id="33" name="Text 30"/>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client drew five screens. We built one screen with a category picker.</a:t>
            </a:r>
            <a:endParaRPr lang="en-US" sz="1000" dirty="0"/>
          </a:p>
        </p:txBody>
      </p:sp>
      <p:sp>
        <p:nvSpPr>
          <p:cNvPr id="34" name="Shape 31"/>
          <p:cNvSpPr/>
          <p:nvPr/>
        </p:nvSpPr>
        <p:spPr>
          <a:xfrm>
            <a:off x="4270248" y="5779008"/>
            <a:ext cx="118872" cy="118872"/>
          </a:xfrm>
          <a:prstGeom prst="ellipse">
            <a:avLst/>
          </a:prstGeom>
          <a:solidFill>
            <a:srgbClr val="00A5A8"/>
          </a:solidFill>
          <a:ln w="12700">
            <a:solidFill>
              <a:srgbClr val="00A5A8"/>
            </a:solidFill>
            <a:prstDash val="solid"/>
          </a:ln>
        </p:spPr>
      </p:sp>
      <p:sp>
        <p:nvSpPr>
          <p:cNvPr id="35" name="Text 32"/>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Five figures at the top, then every top-level term underneath.</a:t>
            </a:r>
            <a:endParaRPr lang="en-US" sz="1000" dirty="0"/>
          </a:p>
        </p:txBody>
      </p:sp>
      <p:sp>
        <p:nvSpPr>
          <p:cNvPr id="36" name="Shape 33"/>
          <p:cNvSpPr/>
          <p:nvPr/>
        </p:nvSpPr>
        <p:spPr>
          <a:xfrm>
            <a:off x="8037576" y="5779008"/>
            <a:ext cx="118872" cy="118872"/>
          </a:xfrm>
          <a:prstGeom prst="ellipse">
            <a:avLst/>
          </a:prstGeom>
          <a:solidFill>
            <a:srgbClr val="5CA943"/>
          </a:solidFill>
          <a:ln w="12700">
            <a:solidFill>
              <a:srgbClr val="5CA943"/>
            </a:solidFill>
            <a:prstDash val="solid"/>
          </a:ln>
        </p:spPr>
      </p:sp>
      <p:sp>
        <p:nvSpPr>
          <p:cNvPr id="37" name="Text 34"/>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Most used and least used terms are charted below the table.</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Unused terms</a:t>
            </a:r>
            <a:endParaRPr lang="en-US" sz="2500" dirty="0"/>
          </a:p>
        </p:txBody>
      </p:sp>
      <p:sp>
        <p:nvSpPr>
          <p:cNvPr id="4" name="Shape 2"/>
          <p:cNvSpPr/>
          <p:nvPr/>
        </p:nvSpPr>
        <p:spPr>
          <a:xfrm>
            <a:off x="470916" y="2198740"/>
            <a:ext cx="7178040" cy="1933982"/>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fp-03.png">    </p:cNvPr>
          <p:cNvPicPr>
            <a:picLocks noChangeAspect="1"/>
          </p:cNvPicPr>
          <p:nvPr/>
        </p:nvPicPr>
        <p:blipFill>
          <a:blip r:embed="rId1"/>
          <a:stretch>
            <a:fillRect/>
          </a:stretch>
        </p:blipFill>
        <p:spPr>
          <a:xfrm>
            <a:off x="502920" y="2230744"/>
            <a:ext cx="7114032" cy="1869974"/>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top most used terms</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least used and unused terms</a:t>
            </a:r>
            <a:endParaRPr lang="en-US" sz="880" dirty="0"/>
          </a:p>
        </p:txBody>
      </p:sp>
      <p:sp>
        <p:nvSpPr>
          <p:cNvPr id="14" name="Shape 11"/>
          <p:cNvSpPr/>
          <p:nvPr/>
        </p:nvSpPr>
        <p:spPr>
          <a:xfrm>
            <a:off x="502920" y="5779008"/>
            <a:ext cx="118872" cy="118872"/>
          </a:xfrm>
          <a:prstGeom prst="ellipse">
            <a:avLst/>
          </a:prstGeom>
          <a:solidFill>
            <a:srgbClr val="0072BC"/>
          </a:solidFill>
          <a:ln w="12700">
            <a:solidFill>
              <a:srgbClr val="0072BC"/>
            </a:solidFill>
            <a:prstDash val="solid"/>
          </a:ln>
        </p:spPr>
      </p:sp>
      <p:sp>
        <p:nvSpPr>
          <p:cNvPr id="15" name="Text 12"/>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Terms nobody is using, with when they were last touched and why they are flagged.</a:t>
            </a:r>
            <a:endParaRPr lang="en-US" sz="1000" dirty="0"/>
          </a:p>
        </p:txBody>
      </p:sp>
      <p:sp>
        <p:nvSpPr>
          <p:cNvPr id="16" name="Shape 13"/>
          <p:cNvSpPr/>
          <p:nvPr/>
        </p:nvSpPr>
        <p:spPr>
          <a:xfrm>
            <a:off x="4270248" y="5779008"/>
            <a:ext cx="118872" cy="118872"/>
          </a:xfrm>
          <a:prstGeom prst="ellipse">
            <a:avLst/>
          </a:prstGeom>
          <a:solidFill>
            <a:srgbClr val="00A5A8"/>
          </a:solidFill>
          <a:ln w="12700">
            <a:solidFill>
              <a:srgbClr val="00A5A8"/>
            </a:solidFill>
            <a:prstDash val="solid"/>
          </a:ln>
        </p:spPr>
      </p:sp>
      <p:sp>
        <p:nvSpPr>
          <p:cNvPr id="17" name="Text 14"/>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list you would work from when tidying the file plan.</a:t>
            </a:r>
            <a:endParaRPr lang="en-US" sz="1000" dirty="0"/>
          </a:p>
        </p:txBody>
      </p:sp>
      <p:sp>
        <p:nvSpPr>
          <p:cNvPr id="18" name="Shape 15"/>
          <p:cNvSpPr/>
          <p:nvPr/>
        </p:nvSpPr>
        <p:spPr>
          <a:xfrm>
            <a:off x="8037576" y="5779008"/>
            <a:ext cx="118872" cy="118872"/>
          </a:xfrm>
          <a:prstGeom prst="ellipse">
            <a:avLst/>
          </a:prstGeom>
          <a:solidFill>
            <a:srgbClr val="5CA943"/>
          </a:solidFill>
          <a:ln w="12700">
            <a:solidFill>
              <a:srgbClr val="5CA943"/>
            </a:solidFill>
            <a:prstDash val="solid"/>
          </a:ln>
        </p:spPr>
      </p:sp>
      <p:sp>
        <p:nvSpPr>
          <p:cNvPr id="19" name="Text 16"/>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figures are illustrative until we can measure real usage.</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Libraries created outside convention</a:t>
            </a:r>
            <a:endParaRPr lang="en-US" sz="2500" dirty="0"/>
          </a:p>
        </p:txBody>
      </p:sp>
      <p:sp>
        <p:nvSpPr>
          <p:cNvPr id="4" name="Shape 2"/>
          <p:cNvSpPr/>
          <p:nvPr/>
        </p:nvSpPr>
        <p:spPr>
          <a:xfrm>
            <a:off x="470916" y="2262258"/>
            <a:ext cx="7178040" cy="1781539"/>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fp-04.png">    </p:cNvPr>
          <p:cNvPicPr>
            <a:picLocks noChangeAspect="1"/>
          </p:cNvPicPr>
          <p:nvPr/>
        </p:nvPicPr>
        <p:blipFill>
          <a:blip r:embed="rId1"/>
          <a:stretch>
            <a:fillRect/>
          </a:stretch>
        </p:blipFill>
        <p:spPr>
          <a:xfrm>
            <a:off x="502920" y="2294262"/>
            <a:ext cx="7114032" cy="1717531"/>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new libraries created outside convention</a:t>
            </a:r>
            <a:endParaRPr lang="en-US" sz="880" dirty="0"/>
          </a:p>
        </p:txBody>
      </p:sp>
      <p:sp>
        <p:nvSpPr>
          <p:cNvPr id="11" name="Shape 8"/>
          <p:cNvSpPr/>
          <p:nvPr/>
        </p:nvSpPr>
        <p:spPr>
          <a:xfrm>
            <a:off x="502920" y="5779008"/>
            <a:ext cx="118872" cy="118872"/>
          </a:xfrm>
          <a:prstGeom prst="ellipse">
            <a:avLst/>
          </a:prstGeom>
          <a:solidFill>
            <a:srgbClr val="0072BC"/>
          </a:solidFill>
          <a:ln w="12700">
            <a:solidFill>
              <a:srgbClr val="0072BC"/>
            </a:solidFill>
            <a:prstDash val="solid"/>
          </a:ln>
        </p:spPr>
      </p:sp>
      <p:sp>
        <p:nvSpPr>
          <p:cNvPr id="12" name="Text 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Libraries that do not follow the standard pattern.</a:t>
            </a:r>
            <a:endParaRPr lang="en-US" sz="1000" dirty="0"/>
          </a:p>
        </p:txBody>
      </p:sp>
      <p:sp>
        <p:nvSpPr>
          <p:cNvPr id="13" name="Shape 10"/>
          <p:cNvSpPr/>
          <p:nvPr/>
        </p:nvSpPr>
        <p:spPr>
          <a:xfrm>
            <a:off x="4270248" y="5779008"/>
            <a:ext cx="118872" cy="118872"/>
          </a:xfrm>
          <a:prstGeom prst="ellipse">
            <a:avLst/>
          </a:prstGeom>
          <a:solidFill>
            <a:srgbClr val="00A5A8"/>
          </a:solidFill>
          <a:ln w="12700">
            <a:solidFill>
              <a:srgbClr val="00A5A8"/>
            </a:solidFill>
            <a:prstDash val="solid"/>
          </a:ln>
        </p:spPr>
      </p:sp>
      <p:sp>
        <p:nvSpPr>
          <p:cNvPr id="14" name="Text 1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To make this real we need the convention itself.</a:t>
            </a:r>
            <a:endParaRPr lang="en-US" sz="1000" dirty="0"/>
          </a:p>
        </p:txBody>
      </p:sp>
      <p:sp>
        <p:nvSpPr>
          <p:cNvPr id="15" name="Shape 12"/>
          <p:cNvSpPr/>
          <p:nvPr/>
        </p:nvSpPr>
        <p:spPr>
          <a:xfrm>
            <a:off x="8037576" y="5779008"/>
            <a:ext cx="118872" cy="118872"/>
          </a:xfrm>
          <a:prstGeom prst="ellipse">
            <a:avLst/>
          </a:prstGeom>
          <a:solidFill>
            <a:srgbClr val="5CA943"/>
          </a:solidFill>
          <a:ln w="12700">
            <a:solidFill>
              <a:srgbClr val="5CA943"/>
            </a:solidFill>
            <a:prstDash val="solid"/>
          </a:ln>
        </p:spPr>
      </p:sp>
      <p:sp>
        <p:nvSpPr>
          <p:cNvPr id="16" name="Text 1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Same question as on Department Insights.</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Requests waiting for a decision</a:t>
            </a:r>
            <a:endParaRPr lang="en-US" sz="2500" dirty="0"/>
          </a:p>
        </p:txBody>
      </p:sp>
      <p:sp>
        <p:nvSpPr>
          <p:cNvPr id="4" name="Shape 2"/>
          <p:cNvSpPr/>
          <p:nvPr/>
        </p:nvSpPr>
        <p:spPr>
          <a:xfrm>
            <a:off x="470916" y="2192388"/>
            <a:ext cx="7178040" cy="1949226"/>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fp-05.png">    </p:cNvPr>
          <p:cNvPicPr>
            <a:picLocks noChangeAspect="1"/>
          </p:cNvPicPr>
          <p:nvPr/>
        </p:nvPicPr>
        <p:blipFill>
          <a:blip r:embed="rId1"/>
          <a:stretch>
            <a:fillRect/>
          </a:stretch>
        </p:blipFill>
        <p:spPr>
          <a:xfrm>
            <a:off x="502920" y="2224392"/>
            <a:ext cx="7114032" cy="1885218"/>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Request for new library creation and/or deletion</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Request for new term</a:t>
            </a:r>
            <a:endParaRPr lang="en-US" sz="880" dirty="0"/>
          </a:p>
        </p:txBody>
      </p:sp>
      <p:sp>
        <p:nvSpPr>
          <p:cNvPr id="14" name="Shape 11"/>
          <p:cNvSpPr/>
          <p:nvPr/>
        </p:nvSpPr>
        <p:spPr>
          <a:xfrm>
            <a:off x="8019288" y="2409952"/>
            <a:ext cx="731520" cy="169164"/>
          </a:xfrm>
          <a:prstGeom prst="roundRect">
            <a:avLst>
              <a:gd name="adj" fmla="val 48649"/>
            </a:avLst>
          </a:prstGeom>
          <a:solidFill>
            <a:srgbClr val="FBE6E4"/>
          </a:solidFill>
          <a:ln w="12700">
            <a:solidFill>
              <a:srgbClr val="FBE6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Where the Institutional File Plan actually lives</a:t>
            </a:r>
            <a:endParaRPr lang="en-US" sz="880" dirty="0"/>
          </a:p>
        </p:txBody>
      </p:sp>
      <p:sp>
        <p:nvSpPr>
          <p:cNvPr id="17" name="Shape 14"/>
          <p:cNvSpPr/>
          <p:nvPr/>
        </p:nvSpPr>
        <p:spPr>
          <a:xfrm>
            <a:off x="8019288" y="2732532"/>
            <a:ext cx="731520" cy="169164"/>
          </a:xfrm>
          <a:prstGeom prst="roundRect">
            <a:avLst>
              <a:gd name="adj" fmla="val 48649"/>
            </a:avLst>
          </a:prstGeom>
          <a:solidFill>
            <a:srgbClr val="FBE6E4"/>
          </a:solidFill>
          <a:ln w="12700">
            <a:solidFill>
              <a:srgbClr val="FBE6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How a library or document is known to use a term</a:t>
            </a:r>
            <a:endParaRPr lang="en-US" sz="880" dirty="0"/>
          </a:p>
        </p:txBody>
      </p:sp>
      <p:sp>
        <p:nvSpPr>
          <p:cNvPr id="20" name="Shape 17"/>
          <p:cNvSpPr/>
          <p:nvPr/>
        </p:nvSpPr>
        <p:spPr>
          <a:xfrm>
            <a:off x="502920" y="5779008"/>
            <a:ext cx="118872" cy="118872"/>
          </a:xfrm>
          <a:prstGeom prst="ellipse">
            <a:avLst/>
          </a:prstGeom>
          <a:solidFill>
            <a:srgbClr val="0072BC"/>
          </a:solidFill>
          <a:ln w="12700">
            <a:solidFill>
              <a:srgbClr val="0072BC"/>
            </a:solidFill>
            <a:prstDash val="solid"/>
          </a:ln>
        </p:spPr>
      </p:sp>
      <p:sp>
        <p:nvSpPr>
          <p:cNvPr id="21" name="Text 18"/>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New library, new term, and both kinds of deletion, in one place.</a:t>
            </a:r>
            <a:endParaRPr lang="en-US" sz="1000" dirty="0"/>
          </a:p>
        </p:txBody>
      </p:sp>
      <p:sp>
        <p:nvSpPr>
          <p:cNvPr id="22" name="Shape 19"/>
          <p:cNvSpPr/>
          <p:nvPr/>
        </p:nvSpPr>
        <p:spPr>
          <a:xfrm>
            <a:off x="4270248" y="5779008"/>
            <a:ext cx="118872" cy="118872"/>
          </a:xfrm>
          <a:prstGeom prst="ellipse">
            <a:avLst/>
          </a:prstGeom>
          <a:solidFill>
            <a:srgbClr val="00A5A8"/>
          </a:solidFill>
          <a:ln w="12700">
            <a:solidFill>
              <a:srgbClr val="00A5A8"/>
            </a:solidFill>
            <a:prstDash val="solid"/>
          </a:ln>
        </p:spPr>
      </p:sp>
      <p:sp>
        <p:nvSpPr>
          <p:cNvPr id="23" name="Text 20"/>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Requestor, status and date submitted on every row.</a:t>
            </a:r>
            <a:endParaRPr lang="en-US" sz="1000" dirty="0"/>
          </a:p>
        </p:txBody>
      </p:sp>
      <p:sp>
        <p:nvSpPr>
          <p:cNvPr id="24" name="Shape 21"/>
          <p:cNvSpPr/>
          <p:nvPr/>
        </p:nvSpPr>
        <p:spPr>
          <a:xfrm>
            <a:off x="8037576" y="5779008"/>
            <a:ext cx="118872" cy="118872"/>
          </a:xfrm>
          <a:prstGeom prst="ellipse">
            <a:avLst/>
          </a:prstGeom>
          <a:solidFill>
            <a:srgbClr val="5CA943"/>
          </a:solidFill>
          <a:ln w="12700">
            <a:solidFill>
              <a:srgbClr val="5CA943"/>
            </a:solidFill>
            <a:prstDash val="solid"/>
          </a:ln>
        </p:spPr>
      </p:sp>
      <p:sp>
        <p:nvSpPr>
          <p:cNvPr id="25" name="Text 22"/>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last two rows are the gaps that govern this whole dashboard.</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INSTITUTIONAL FILE PLAN</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a:t>
            </a:r>
            <a:endParaRPr lang="en-US" sz="2500" dirty="0"/>
          </a:p>
        </p:txBody>
      </p:sp>
      <p:sp>
        <p:nvSpPr>
          <p:cNvPr id="4" name="Shape 2"/>
          <p:cNvSpPr/>
          <p:nvPr/>
        </p:nvSpPr>
        <p:spPr>
          <a:xfrm>
            <a:off x="502920" y="1280160"/>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615059"/>
            <a:ext cx="402336" cy="402336"/>
          </a:xfrm>
          <a:prstGeom prst="ellipse">
            <a:avLst/>
          </a:prstGeom>
          <a:solidFill>
            <a:srgbClr val="FBE6E4"/>
          </a:solidFill>
          <a:ln w="12700">
            <a:solidFill>
              <a:srgbClr val="FBE6E4"/>
            </a:solidFill>
            <a:prstDash val="solid"/>
          </a:ln>
        </p:spPr>
      </p:sp>
      <p:sp>
        <p:nvSpPr>
          <p:cNvPr id="6" name="Text 4"/>
          <p:cNvSpPr/>
          <p:nvPr/>
        </p:nvSpPr>
        <p:spPr>
          <a:xfrm>
            <a:off x="777240" y="1615059"/>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Where does the official file plan live?</a:t>
            </a:r>
            <a:endParaRPr lang="en-US" sz="1350" dirty="0"/>
          </a:p>
        </p:txBody>
      </p:sp>
      <p:sp>
        <p:nvSpPr>
          <p:cNvPr id="8" name="Text 6"/>
          <p:cNvSpPr/>
          <p:nvPr/>
        </p:nvSpPr>
        <p:spPr>
          <a:xfrm>
            <a:off x="6217920" y="1399032"/>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Every term you can see on these screens is our own example. Nothing in this work has ever named the system that holds the real institutional file plan.</a:t>
            </a:r>
            <a:endParaRPr lang="en-US" sz="860" dirty="0"/>
          </a:p>
        </p:txBody>
      </p:sp>
      <p:sp>
        <p:nvSpPr>
          <p:cNvPr id="9" name="Text 7"/>
          <p:cNvSpPr/>
          <p:nvPr/>
        </p:nvSpPr>
        <p:spPr>
          <a:xfrm>
            <a:off x="9098280" y="1399032"/>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Which system is it? If it is a document rather than a system, that is fine too — we just need to know.</a:t>
            </a:r>
            <a:endParaRPr lang="en-US" sz="860" dirty="0"/>
          </a:p>
        </p:txBody>
      </p:sp>
      <p:sp>
        <p:nvSpPr>
          <p:cNvPr id="10" name="Shape 8"/>
          <p:cNvSpPr/>
          <p:nvPr/>
        </p:nvSpPr>
        <p:spPr>
          <a:xfrm>
            <a:off x="502920" y="2462022"/>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2796921"/>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2796921"/>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2590038"/>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How do we know a library is using a term?</a:t>
            </a:r>
            <a:endParaRPr lang="en-US" sz="1350" dirty="0"/>
          </a:p>
        </p:txBody>
      </p:sp>
      <p:sp>
        <p:nvSpPr>
          <p:cNvPr id="14" name="Text 12"/>
          <p:cNvSpPr/>
          <p:nvPr/>
        </p:nvSpPr>
        <p:spPr>
          <a:xfrm>
            <a:off x="6217920" y="2580894"/>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This is the technical heart of the problem, put simply: the system knows which library a document sits in, but nothing says which file plan category that library belongs to. Without that link, no figure on this dashboard can be measured.</a:t>
            </a:r>
            <a:endParaRPr lang="en-US" sz="860" dirty="0"/>
          </a:p>
        </p:txBody>
      </p:sp>
      <p:sp>
        <p:nvSpPr>
          <p:cNvPr id="15" name="Text 13"/>
          <p:cNvSpPr/>
          <p:nvPr/>
        </p:nvSpPr>
        <p:spPr>
          <a:xfrm>
            <a:off x="9098280" y="2580894"/>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Is that mapping recorded anywhere? If not, is there a rule we could apply — for example, does the library name tell you the category?</a:t>
            </a:r>
            <a:endParaRPr lang="en-US" sz="860" dirty="0"/>
          </a:p>
        </p:txBody>
      </p:sp>
      <p:sp>
        <p:nvSpPr>
          <p:cNvPr id="16" name="Shape 14"/>
          <p:cNvSpPr/>
          <p:nvPr/>
        </p:nvSpPr>
        <p:spPr>
          <a:xfrm>
            <a:off x="502920" y="3643884"/>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3978783"/>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3978783"/>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71600" y="3771900"/>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Where are new term and new library requests raised?</a:t>
            </a:r>
            <a:endParaRPr lang="en-US" sz="1350" dirty="0"/>
          </a:p>
        </p:txBody>
      </p:sp>
      <p:sp>
        <p:nvSpPr>
          <p:cNvPr id="20" name="Text 18"/>
          <p:cNvSpPr/>
          <p:nvPr/>
        </p:nvSpPr>
        <p:spPr>
          <a:xfrm>
            <a:off x="6217920" y="3762756"/>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The screen shows requests waiting for a decision. We invented them, because we do not know where real ones are submitted.</a:t>
            </a:r>
            <a:endParaRPr lang="en-US" sz="860" dirty="0"/>
          </a:p>
        </p:txBody>
      </p:sp>
      <p:sp>
        <p:nvSpPr>
          <p:cNvPr id="21" name="Text 19"/>
          <p:cNvSpPr/>
          <p:nvPr/>
        </p:nvSpPr>
        <p:spPr>
          <a:xfrm>
            <a:off x="9098280" y="3762756"/>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When someone wants a new term or a new library, what do they do today?</a:t>
            </a:r>
            <a:endParaRPr lang="en-US" sz="860" dirty="0"/>
          </a:p>
        </p:txBody>
      </p:sp>
      <p:sp>
        <p:nvSpPr>
          <p:cNvPr id="22" name="Shape 20"/>
          <p:cNvSpPr/>
          <p:nvPr/>
        </p:nvSpPr>
        <p:spPr>
          <a:xfrm>
            <a:off x="502920" y="4825746"/>
            <a:ext cx="11155680" cy="1072134"/>
          </a:xfrm>
          <a:prstGeom prst="roundRect">
            <a:avLst>
              <a:gd name="adj" fmla="val 511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777240" y="5160645"/>
            <a:ext cx="402336" cy="402336"/>
          </a:xfrm>
          <a:prstGeom prst="ellipse">
            <a:avLst/>
          </a:prstGeom>
          <a:solidFill>
            <a:srgbClr val="FBE6E4"/>
          </a:solidFill>
          <a:ln w="12700">
            <a:solidFill>
              <a:srgbClr val="FBE6E4"/>
            </a:solidFill>
            <a:prstDash val="solid"/>
          </a:ln>
        </p:spPr>
      </p:sp>
      <p:sp>
        <p:nvSpPr>
          <p:cNvPr id="24" name="Text 22"/>
          <p:cNvSpPr/>
          <p:nvPr/>
        </p:nvSpPr>
        <p:spPr>
          <a:xfrm>
            <a:off x="777240" y="5160645"/>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4</a:t>
            </a:r>
            <a:endParaRPr lang="en-US" sz="1400" dirty="0"/>
          </a:p>
        </p:txBody>
      </p:sp>
      <p:sp>
        <p:nvSpPr>
          <p:cNvPr id="25" name="Text 23"/>
          <p:cNvSpPr/>
          <p:nvPr/>
        </p:nvSpPr>
        <p:spPr>
          <a:xfrm>
            <a:off x="1371600" y="4953762"/>
            <a:ext cx="4663440" cy="816102"/>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Should the screen say what is missing?</a:t>
            </a:r>
            <a:endParaRPr lang="en-US" sz="1350" dirty="0"/>
          </a:p>
        </p:txBody>
      </p:sp>
      <p:sp>
        <p:nvSpPr>
          <p:cNvPr id="26" name="Text 24"/>
          <p:cNvSpPr/>
          <p:nvPr/>
        </p:nvSpPr>
        <p:spPr>
          <a:xfrm>
            <a:off x="6217920" y="4944618"/>
            <a:ext cx="2743200" cy="834390"/>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Until yesterday this dashboard carried a notice explaining that the figures were placeholders. It has been taken off.</a:t>
            </a:r>
            <a:endParaRPr lang="en-US" sz="860" dirty="0"/>
          </a:p>
        </p:txBody>
      </p:sp>
      <p:sp>
        <p:nvSpPr>
          <p:cNvPr id="27" name="Text 25"/>
          <p:cNvSpPr/>
          <p:nvPr/>
        </p:nvSpPr>
        <p:spPr>
          <a:xfrm>
            <a:off x="9098280" y="4944618"/>
            <a:ext cx="2423160" cy="834390"/>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For the workshop — do you want that notice back on screen, or is it enough that it is tracked in the checklist?</a:t>
            </a:r>
            <a:endParaRPr lang="en-US" sz="860" dirty="0"/>
          </a:p>
        </p:txBody>
      </p:sp>
      <p:sp>
        <p:nvSpPr>
          <p:cNvPr id="28" name="Text 26"/>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29" name="Text 27"/>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30" name="Text 28"/>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5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Retention and Disposal</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What must be kept forever, and what is coming up for disposal?</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18</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27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8 need your input</a:t>
            </a:r>
            <a:endParaRPr lang="en-US" sz="1100" dirty="0"/>
          </a:p>
          <a:p>
            <a:pPr algn="ctr" indent="0" marL="0">
              <a:lnSpc>
                <a:spcPts val="1400"/>
              </a:lnSpc>
              <a:buNone/>
            </a:pPr>
            <a:r>
              <a:rPr lang="en-US" sz="1100" b="1" dirty="0">
                <a:solidFill>
                  <a:srgbClr val="E88A82"/>
                </a:solidFill>
                <a:latin typeface="Calibri" pitchFamily="34" charset="0"/>
                <a:ea typeface="Calibri" pitchFamily="34" charset="-122"/>
                <a:cs typeface="Calibri" pitchFamily="34" charset="-120"/>
              </a:rPr>
              <a:t>1 wait on the Disposal release</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4 screens to walk through</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Permanent against temporary</a:t>
            </a:r>
            <a:endParaRPr lang="en-US" sz="2500" dirty="0"/>
          </a:p>
        </p:txBody>
      </p:sp>
      <p:sp>
        <p:nvSpPr>
          <p:cNvPr id="4" name="Shape 2"/>
          <p:cNvSpPr/>
          <p:nvPr/>
        </p:nvSpPr>
        <p:spPr>
          <a:xfrm>
            <a:off x="470916" y="1823983"/>
            <a:ext cx="7178040" cy="2833399"/>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d-01.png">    </p:cNvPr>
          <p:cNvPicPr>
            <a:picLocks noChangeAspect="1"/>
          </p:cNvPicPr>
          <p:nvPr/>
        </p:nvPicPr>
        <p:blipFill>
          <a:blip r:embed="rId1"/>
          <a:stretch>
            <a:fillRect/>
          </a:stretch>
        </p:blipFill>
        <p:spPr>
          <a:xfrm>
            <a:off x="502920" y="1855987"/>
            <a:ext cx="7114032" cy="2769391"/>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Permanent retention sites</a:t>
            </a:r>
            <a:endParaRPr lang="en-US" sz="880" dirty="0"/>
          </a:p>
        </p:txBody>
      </p:sp>
      <p:sp>
        <p:nvSpPr>
          <p:cNvPr id="11" name="Shape 8"/>
          <p:cNvSpPr/>
          <p:nvPr/>
        </p:nvSpPr>
        <p:spPr>
          <a:xfrm>
            <a:off x="8019288" y="206959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695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238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Permanent retention libraries</a:t>
            </a:r>
            <a:endParaRPr lang="en-US" sz="880" dirty="0"/>
          </a:p>
        </p:txBody>
      </p:sp>
      <p:sp>
        <p:nvSpPr>
          <p:cNvPr id="14" name="Shape 11"/>
          <p:cNvSpPr/>
          <p:nvPr/>
        </p:nvSpPr>
        <p:spPr>
          <a:xfrm>
            <a:off x="8019288" y="237439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3743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286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Permanent retention records</a:t>
            </a:r>
            <a:endParaRPr lang="en-US" sz="880" dirty="0"/>
          </a:p>
        </p:txBody>
      </p:sp>
      <p:sp>
        <p:nvSpPr>
          <p:cNvPr id="17" name="Shape 14"/>
          <p:cNvSpPr/>
          <p:nvPr/>
        </p:nvSpPr>
        <p:spPr>
          <a:xfrm>
            <a:off x="8019288" y="267919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6791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334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Temporary retention sites</a:t>
            </a:r>
            <a:endParaRPr lang="en-US" sz="880" dirty="0"/>
          </a:p>
        </p:txBody>
      </p:sp>
      <p:sp>
        <p:nvSpPr>
          <p:cNvPr id="20" name="Shape 17"/>
          <p:cNvSpPr/>
          <p:nvPr/>
        </p:nvSpPr>
        <p:spPr>
          <a:xfrm>
            <a:off x="8019288" y="298399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29839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29382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Temporary retention libraries</a:t>
            </a:r>
            <a:endParaRPr lang="en-US" sz="880" dirty="0"/>
          </a:p>
        </p:txBody>
      </p:sp>
      <p:sp>
        <p:nvSpPr>
          <p:cNvPr id="23" name="Shape 20"/>
          <p:cNvSpPr/>
          <p:nvPr/>
        </p:nvSpPr>
        <p:spPr>
          <a:xfrm>
            <a:off x="8019288" y="32887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288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243072"/>
            <a:ext cx="2633472" cy="30480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Temporary retention records</a:t>
            </a:r>
            <a:endParaRPr lang="en-US" sz="880" dirty="0"/>
          </a:p>
        </p:txBody>
      </p:sp>
      <p:sp>
        <p:nvSpPr>
          <p:cNvPr id="26" name="Shape 23"/>
          <p:cNvSpPr/>
          <p:nvPr/>
        </p:nvSpPr>
        <p:spPr>
          <a:xfrm>
            <a:off x="8019288" y="3593592"/>
            <a:ext cx="731520" cy="169164"/>
          </a:xfrm>
          <a:prstGeom prst="roundRect">
            <a:avLst>
              <a:gd name="adj" fmla="val 48649"/>
            </a:avLst>
          </a:prstGeom>
          <a:solidFill>
            <a:srgbClr val="FBE6E4"/>
          </a:solidFill>
          <a:ln w="12700">
            <a:solidFill>
              <a:srgbClr val="FBE6E4"/>
            </a:solidFill>
            <a:prstDash val="solid"/>
          </a:ln>
        </p:spPr>
      </p:sp>
      <p:sp>
        <p:nvSpPr>
          <p:cNvPr id="27" name="Text 24"/>
          <p:cNvSpPr/>
          <p:nvPr/>
        </p:nvSpPr>
        <p:spPr>
          <a:xfrm>
            <a:off x="8019288" y="35935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28" name="Text 25"/>
          <p:cNvSpPr/>
          <p:nvPr/>
        </p:nvSpPr>
        <p:spPr>
          <a:xfrm>
            <a:off x="8842248" y="35478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Departments / Offices / RMs provisioned</a:t>
            </a:r>
            <a:endParaRPr lang="en-US" sz="880" dirty="0"/>
          </a:p>
        </p:txBody>
      </p:sp>
      <p:sp>
        <p:nvSpPr>
          <p:cNvPr id="29" name="Shape 26"/>
          <p:cNvSpPr/>
          <p:nvPr/>
        </p:nvSpPr>
        <p:spPr>
          <a:xfrm>
            <a:off x="8019288" y="3898392"/>
            <a:ext cx="731520" cy="169164"/>
          </a:xfrm>
          <a:prstGeom prst="roundRect">
            <a:avLst>
              <a:gd name="adj" fmla="val 48649"/>
            </a:avLst>
          </a:prstGeom>
          <a:solidFill>
            <a:srgbClr val="FBE6E4"/>
          </a:solidFill>
          <a:ln w="12700">
            <a:solidFill>
              <a:srgbClr val="FBE6E4"/>
            </a:solidFill>
            <a:prstDash val="solid"/>
          </a:ln>
        </p:spPr>
      </p:sp>
      <p:sp>
        <p:nvSpPr>
          <p:cNvPr id="30" name="Text 27"/>
          <p:cNvSpPr/>
          <p:nvPr/>
        </p:nvSpPr>
        <p:spPr>
          <a:xfrm>
            <a:off x="8019288" y="38983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1" name="Text 28"/>
          <p:cNvSpPr/>
          <p:nvPr/>
        </p:nvSpPr>
        <p:spPr>
          <a:xfrm>
            <a:off x="8842248" y="38526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libraries provisioned</a:t>
            </a:r>
            <a:endParaRPr lang="en-US" sz="880" dirty="0"/>
          </a:p>
        </p:txBody>
      </p:sp>
      <p:sp>
        <p:nvSpPr>
          <p:cNvPr id="32" name="Shape 29"/>
          <p:cNvSpPr/>
          <p:nvPr/>
        </p:nvSpPr>
        <p:spPr>
          <a:xfrm>
            <a:off x="8019288" y="4203192"/>
            <a:ext cx="731520" cy="169164"/>
          </a:xfrm>
          <a:prstGeom prst="roundRect">
            <a:avLst>
              <a:gd name="adj" fmla="val 48649"/>
            </a:avLst>
          </a:prstGeom>
          <a:solidFill>
            <a:srgbClr val="FBE6E4"/>
          </a:solidFill>
          <a:ln w="12700">
            <a:solidFill>
              <a:srgbClr val="FBE6E4"/>
            </a:solidFill>
            <a:prstDash val="solid"/>
          </a:ln>
        </p:spPr>
      </p:sp>
      <p:sp>
        <p:nvSpPr>
          <p:cNvPr id="33" name="Text 30"/>
          <p:cNvSpPr/>
          <p:nvPr/>
        </p:nvSpPr>
        <p:spPr>
          <a:xfrm>
            <a:off x="8019288" y="42031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4" name="Text 31"/>
          <p:cNvSpPr/>
          <p:nvPr/>
        </p:nvSpPr>
        <p:spPr>
          <a:xfrm>
            <a:off x="8842248" y="41574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records declared</a:t>
            </a:r>
            <a:endParaRPr lang="en-US" sz="880" dirty="0"/>
          </a:p>
        </p:txBody>
      </p:sp>
      <p:sp>
        <p:nvSpPr>
          <p:cNvPr id="35" name="Shape 32"/>
          <p:cNvSpPr/>
          <p:nvPr/>
        </p:nvSpPr>
        <p:spPr>
          <a:xfrm>
            <a:off x="8019288" y="4507992"/>
            <a:ext cx="731520" cy="169164"/>
          </a:xfrm>
          <a:prstGeom prst="roundRect">
            <a:avLst>
              <a:gd name="adj" fmla="val 48649"/>
            </a:avLst>
          </a:prstGeom>
          <a:solidFill>
            <a:srgbClr val="FBE6E4"/>
          </a:solidFill>
          <a:ln w="12700">
            <a:solidFill>
              <a:srgbClr val="FBE6E4"/>
            </a:solidFill>
            <a:prstDash val="solid"/>
          </a:ln>
        </p:spPr>
      </p:sp>
      <p:sp>
        <p:nvSpPr>
          <p:cNvPr id="36" name="Text 33"/>
          <p:cNvSpPr/>
          <p:nvPr/>
        </p:nvSpPr>
        <p:spPr>
          <a:xfrm>
            <a:off x="8019288" y="45079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37" name="Text 34"/>
          <p:cNvSpPr/>
          <p:nvPr/>
        </p:nvSpPr>
        <p:spPr>
          <a:xfrm>
            <a:off x="8842248" y="44622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physical counterparts</a:t>
            </a:r>
            <a:endParaRPr lang="en-US" sz="880" dirty="0"/>
          </a:p>
        </p:txBody>
      </p:sp>
      <p:sp>
        <p:nvSpPr>
          <p:cNvPr id="38" name="Shape 35"/>
          <p:cNvSpPr/>
          <p:nvPr/>
        </p:nvSpPr>
        <p:spPr>
          <a:xfrm>
            <a:off x="8019288" y="4812792"/>
            <a:ext cx="731520" cy="169164"/>
          </a:xfrm>
          <a:prstGeom prst="roundRect">
            <a:avLst>
              <a:gd name="adj" fmla="val 48649"/>
            </a:avLst>
          </a:prstGeom>
          <a:solidFill>
            <a:srgbClr val="FBE6E4"/>
          </a:solidFill>
          <a:ln w="12700">
            <a:solidFill>
              <a:srgbClr val="FBE6E4"/>
            </a:solidFill>
            <a:prstDash val="solid"/>
          </a:ln>
        </p:spPr>
      </p:sp>
      <p:sp>
        <p:nvSpPr>
          <p:cNvPr id="39" name="Text 36"/>
          <p:cNvSpPr/>
          <p:nvPr/>
        </p:nvSpPr>
        <p:spPr>
          <a:xfrm>
            <a:off x="8019288" y="48127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0" name="Text 37"/>
          <p:cNvSpPr/>
          <p:nvPr/>
        </p:nvSpPr>
        <p:spPr>
          <a:xfrm>
            <a:off x="8842248" y="47670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records due for disposal</a:t>
            </a:r>
            <a:endParaRPr lang="en-US" sz="880" dirty="0"/>
          </a:p>
        </p:txBody>
      </p:sp>
      <p:sp>
        <p:nvSpPr>
          <p:cNvPr id="41" name="Shape 38"/>
          <p:cNvSpPr/>
          <p:nvPr/>
        </p:nvSpPr>
        <p:spPr>
          <a:xfrm>
            <a:off x="8019288" y="5117592"/>
            <a:ext cx="731520" cy="169164"/>
          </a:xfrm>
          <a:prstGeom prst="roundRect">
            <a:avLst>
              <a:gd name="adj" fmla="val 48649"/>
            </a:avLst>
          </a:prstGeom>
          <a:solidFill>
            <a:srgbClr val="FBE6E4"/>
          </a:solidFill>
          <a:ln w="12700">
            <a:solidFill>
              <a:srgbClr val="FBE6E4"/>
            </a:solidFill>
            <a:prstDash val="solid"/>
          </a:ln>
        </p:spPr>
      </p:sp>
      <p:sp>
        <p:nvSpPr>
          <p:cNvPr id="42" name="Text 39"/>
          <p:cNvSpPr/>
          <p:nvPr/>
        </p:nvSpPr>
        <p:spPr>
          <a:xfrm>
            <a:off x="8019288" y="51175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43" name="Text 40"/>
          <p:cNvSpPr/>
          <p:nvPr/>
        </p:nvSpPr>
        <p:spPr>
          <a:xfrm>
            <a:off x="8842248" y="5071872"/>
            <a:ext cx="2633472" cy="30480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Number of records disposed</a:t>
            </a:r>
            <a:endParaRPr lang="en-US" sz="880" dirty="0"/>
          </a:p>
        </p:txBody>
      </p:sp>
      <p:sp>
        <p:nvSpPr>
          <p:cNvPr id="44" name="Shape 41"/>
          <p:cNvSpPr/>
          <p:nvPr/>
        </p:nvSpPr>
        <p:spPr>
          <a:xfrm>
            <a:off x="502920" y="5779008"/>
            <a:ext cx="118872" cy="118872"/>
          </a:xfrm>
          <a:prstGeom prst="ellipse">
            <a:avLst/>
          </a:prstGeom>
          <a:solidFill>
            <a:srgbClr val="0072BC"/>
          </a:solidFill>
          <a:ln w="12700">
            <a:solidFill>
              <a:srgbClr val="0072BC"/>
            </a:solidFill>
            <a:prstDash val="solid"/>
          </a:ln>
        </p:spPr>
      </p:sp>
      <p:sp>
        <p:nvSpPr>
          <p:cNvPr id="45" name="Text 42"/>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Six figures: sites, libraries and records, split permanent and temporary.</a:t>
            </a:r>
            <a:endParaRPr lang="en-US" sz="1000" dirty="0"/>
          </a:p>
        </p:txBody>
      </p:sp>
      <p:sp>
        <p:nvSpPr>
          <p:cNvPr id="46" name="Shape 43"/>
          <p:cNvSpPr/>
          <p:nvPr/>
        </p:nvSpPr>
        <p:spPr>
          <a:xfrm>
            <a:off x="4270248" y="5779008"/>
            <a:ext cx="118872" cy="118872"/>
          </a:xfrm>
          <a:prstGeom prst="ellipse">
            <a:avLst/>
          </a:prstGeom>
          <a:solidFill>
            <a:srgbClr val="00A5A8"/>
          </a:solidFill>
          <a:ln w="12700">
            <a:solidFill>
              <a:srgbClr val="00A5A8"/>
            </a:solidFill>
            <a:prstDash val="solid"/>
          </a:ln>
        </p:spPr>
      </p:sp>
      <p:sp>
        <p:nvSpPr>
          <p:cNvPr id="47" name="Text 44"/>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closest match of the six to something we already had built.</a:t>
            </a:r>
            <a:endParaRPr lang="en-US" sz="1000" dirty="0"/>
          </a:p>
        </p:txBody>
      </p:sp>
      <p:sp>
        <p:nvSpPr>
          <p:cNvPr id="48" name="Shape 45"/>
          <p:cNvSpPr/>
          <p:nvPr/>
        </p:nvSpPr>
        <p:spPr>
          <a:xfrm>
            <a:off x="8037576" y="5779008"/>
            <a:ext cx="118872" cy="118872"/>
          </a:xfrm>
          <a:prstGeom prst="ellipse">
            <a:avLst/>
          </a:prstGeom>
          <a:solidFill>
            <a:srgbClr val="5CA943"/>
          </a:solidFill>
          <a:ln w="12700">
            <a:solidFill>
              <a:srgbClr val="5CA943"/>
            </a:solidFill>
            <a:prstDash val="solid"/>
          </a:ln>
        </p:spPr>
      </p:sp>
      <p:sp>
        <p:nvSpPr>
          <p:cNvPr id="49" name="Text 46"/>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summary table the client drew on slide 44 was taken off. That needs your view.</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Permanent retention</a:t>
            </a:r>
            <a:endParaRPr lang="en-US" sz="2500" dirty="0"/>
          </a:p>
        </p:txBody>
      </p:sp>
      <p:sp>
        <p:nvSpPr>
          <p:cNvPr id="4" name="Shape 2"/>
          <p:cNvSpPr/>
          <p:nvPr/>
        </p:nvSpPr>
        <p:spPr>
          <a:xfrm>
            <a:off x="470916" y="1792224"/>
            <a:ext cx="7178040" cy="2909621"/>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d-02.png">    </p:cNvPr>
          <p:cNvPicPr>
            <a:picLocks noChangeAspect="1"/>
          </p:cNvPicPr>
          <p:nvPr/>
        </p:nvPicPr>
        <p:blipFill>
          <a:blip r:embed="rId1"/>
          <a:stretch>
            <a:fillRect/>
          </a:stretch>
        </p:blipFill>
        <p:spPr>
          <a:xfrm>
            <a:off x="502920" y="1824228"/>
            <a:ext cx="7114032" cy="2845613"/>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BE6E4"/>
          </a:solidFill>
          <a:ln w="12700">
            <a:solidFill>
              <a:srgbClr val="FBE6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Term (Top level)</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Departments / Offices / RMs provisioned</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sites provisioned</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libraries provisioned</a:t>
            </a:r>
            <a:endParaRPr lang="en-US" sz="880" dirty="0"/>
          </a:p>
        </p:txBody>
      </p:sp>
      <p:sp>
        <p:nvSpPr>
          <p:cNvPr id="20" name="Shape 17"/>
          <p:cNvSpPr/>
          <p:nvPr/>
        </p:nvSpPr>
        <p:spPr>
          <a:xfrm>
            <a:off x="8019288" y="30551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declared</a:t>
            </a:r>
            <a:endParaRPr lang="en-US" sz="880" dirty="0"/>
          </a:p>
        </p:txBody>
      </p:sp>
      <p:sp>
        <p:nvSpPr>
          <p:cNvPr id="23" name="Shape 20"/>
          <p:cNvSpPr/>
          <p:nvPr/>
        </p:nvSpPr>
        <p:spPr>
          <a:xfrm>
            <a:off x="8019288" y="33776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a:t>
            </a:r>
            <a:endParaRPr lang="en-US" sz="880" dirty="0"/>
          </a:p>
        </p:txBody>
      </p:sp>
      <p:sp>
        <p:nvSpPr>
          <p:cNvPr id="26" name="Shape 23"/>
          <p:cNvSpPr/>
          <p:nvPr/>
        </p:nvSpPr>
        <p:spPr>
          <a:xfrm>
            <a:off x="502920" y="5779008"/>
            <a:ext cx="118872" cy="118872"/>
          </a:xfrm>
          <a:prstGeom prst="ellipse">
            <a:avLst/>
          </a:prstGeom>
          <a:solidFill>
            <a:srgbClr val="0072BC"/>
          </a:solidFill>
          <a:ln w="12700">
            <a:solidFill>
              <a:srgbClr val="0072BC"/>
            </a:solidFill>
            <a:prstDash val="solid"/>
          </a:ln>
        </p:spPr>
      </p:sp>
      <p:sp>
        <p:nvSpPr>
          <p:cNvPr id="27" name="Text 24"/>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Everything that must be kept indefinitely, department by department.</a:t>
            </a:r>
            <a:endParaRPr lang="en-US" sz="1000" dirty="0"/>
          </a:p>
        </p:txBody>
      </p:sp>
      <p:sp>
        <p:nvSpPr>
          <p:cNvPr id="28" name="Shape 25"/>
          <p:cNvSpPr/>
          <p:nvPr/>
        </p:nvSpPr>
        <p:spPr>
          <a:xfrm>
            <a:off x="4270248" y="5779008"/>
            <a:ext cx="118872" cy="118872"/>
          </a:xfrm>
          <a:prstGeom prst="ellipse">
            <a:avLst/>
          </a:prstGeom>
          <a:solidFill>
            <a:srgbClr val="00A5A8"/>
          </a:solidFill>
          <a:ln w="12700">
            <a:solidFill>
              <a:srgbClr val="00A5A8"/>
            </a:solidFill>
            <a:prstDash val="solid"/>
          </a:ln>
        </p:spPr>
      </p:sp>
      <p:sp>
        <p:nvSpPr>
          <p:cNvPr id="29" name="Text 26"/>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five columns the client asked for are here.</a:t>
            </a:r>
            <a:endParaRPr lang="en-US" sz="1000" dirty="0"/>
          </a:p>
        </p:txBody>
      </p:sp>
      <p:sp>
        <p:nvSpPr>
          <p:cNvPr id="30" name="Shape 27"/>
          <p:cNvSpPr/>
          <p:nvPr/>
        </p:nvSpPr>
        <p:spPr>
          <a:xfrm>
            <a:off x="8037576" y="5779008"/>
            <a:ext cx="118872" cy="118872"/>
          </a:xfrm>
          <a:prstGeom prst="ellipse">
            <a:avLst/>
          </a:prstGeom>
          <a:solidFill>
            <a:srgbClr val="5CA943"/>
          </a:solidFill>
          <a:ln w="12700">
            <a:solidFill>
              <a:srgbClr val="5CA943"/>
            </a:solidFill>
            <a:prstDash val="solid"/>
          </a:ln>
        </p:spPr>
      </p:sp>
      <p:sp>
        <p:nvSpPr>
          <p:cNvPr id="31" name="Text 28"/>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One column is missing: the file plan term.</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Temporary retention</a:t>
            </a:r>
            <a:endParaRPr lang="en-US" sz="2500" dirty="0"/>
          </a:p>
        </p:txBody>
      </p:sp>
      <p:sp>
        <p:nvSpPr>
          <p:cNvPr id="4" name="Shape 2"/>
          <p:cNvSpPr/>
          <p:nvPr/>
        </p:nvSpPr>
        <p:spPr>
          <a:xfrm>
            <a:off x="470916" y="1156716"/>
            <a:ext cx="7178040" cy="371249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d-03.png">    </p:cNvPr>
          <p:cNvPicPr>
            <a:picLocks noChangeAspect="1"/>
          </p:cNvPicPr>
          <p:nvPr/>
        </p:nvPicPr>
        <p:blipFill>
          <a:blip r:embed="rId1"/>
          <a:stretch>
            <a:fillRect/>
          </a:stretch>
        </p:blipFill>
        <p:spPr>
          <a:xfrm>
            <a:off x="502920" y="1188720"/>
            <a:ext cx="7114032" cy="364848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BE6E4"/>
          </a:solidFill>
          <a:ln w="12700">
            <a:solidFill>
              <a:srgbClr val="FBE6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B3241C"/>
                </a:solidFill>
                <a:latin typeface="Calibri" pitchFamily="34" charset="0"/>
                <a:ea typeface="Calibri" pitchFamily="34" charset="-122"/>
                <a:cs typeface="Calibri" pitchFamily="34" charset="-120"/>
              </a:rPr>
              <a:t>NEEDS YOU</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B3241C"/>
                </a:solidFill>
                <a:latin typeface="Calibri" pitchFamily="34" charset="0"/>
                <a:ea typeface="Calibri" pitchFamily="34" charset="-122"/>
                <a:cs typeface="Calibri" pitchFamily="34" charset="-120"/>
              </a:rPr>
              <a:t>Term (Top level)</a:t>
            </a:r>
            <a:endParaRPr lang="en-US" sz="880" dirty="0"/>
          </a:p>
        </p:txBody>
      </p:sp>
      <p:sp>
        <p:nvSpPr>
          <p:cNvPr id="11" name="Shape 8"/>
          <p:cNvSpPr/>
          <p:nvPr/>
        </p:nvSpPr>
        <p:spPr>
          <a:xfrm>
            <a:off x="8019288" y="2087372"/>
            <a:ext cx="731520" cy="169164"/>
          </a:xfrm>
          <a:prstGeom prst="roundRect">
            <a:avLst>
              <a:gd name="adj" fmla="val 48649"/>
            </a:avLst>
          </a:prstGeom>
          <a:solidFill>
            <a:srgbClr val="EAF4E4"/>
          </a:solidFill>
          <a:ln w="12700">
            <a:solidFill>
              <a:srgbClr val="EAF4E4"/>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Departments / Offices / RMs provisioned</a:t>
            </a:r>
            <a:endParaRPr lang="en-US" sz="880" dirty="0"/>
          </a:p>
        </p:txBody>
      </p:sp>
      <p:sp>
        <p:nvSpPr>
          <p:cNvPr id="14" name="Shape 11"/>
          <p:cNvSpPr/>
          <p:nvPr/>
        </p:nvSpPr>
        <p:spPr>
          <a:xfrm>
            <a:off x="8019288" y="2409952"/>
            <a:ext cx="731520" cy="169164"/>
          </a:xfrm>
          <a:prstGeom prst="roundRect">
            <a:avLst>
              <a:gd name="adj" fmla="val 48649"/>
            </a:avLst>
          </a:prstGeom>
          <a:solidFill>
            <a:srgbClr val="EAF4E4"/>
          </a:solidFill>
          <a:ln w="12700">
            <a:solidFill>
              <a:srgbClr val="EAF4E4"/>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sites provisioned</a:t>
            </a:r>
            <a:endParaRPr lang="en-US" sz="880" dirty="0"/>
          </a:p>
        </p:txBody>
      </p:sp>
      <p:sp>
        <p:nvSpPr>
          <p:cNvPr id="17" name="Shape 14"/>
          <p:cNvSpPr/>
          <p:nvPr/>
        </p:nvSpPr>
        <p:spPr>
          <a:xfrm>
            <a:off x="8019288" y="2732532"/>
            <a:ext cx="731520" cy="169164"/>
          </a:xfrm>
          <a:prstGeom prst="roundRect">
            <a:avLst>
              <a:gd name="adj" fmla="val 48649"/>
            </a:avLst>
          </a:prstGeom>
          <a:solidFill>
            <a:srgbClr val="EAF4E4"/>
          </a:solidFill>
          <a:ln w="12700">
            <a:solidFill>
              <a:srgbClr val="EAF4E4"/>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libraries provisioned</a:t>
            </a:r>
            <a:endParaRPr lang="en-US" sz="880" dirty="0"/>
          </a:p>
        </p:txBody>
      </p:sp>
      <p:sp>
        <p:nvSpPr>
          <p:cNvPr id="20" name="Shape 17"/>
          <p:cNvSpPr/>
          <p:nvPr/>
        </p:nvSpPr>
        <p:spPr>
          <a:xfrm>
            <a:off x="8019288" y="3055112"/>
            <a:ext cx="731520" cy="169164"/>
          </a:xfrm>
          <a:prstGeom prst="roundRect">
            <a:avLst>
              <a:gd name="adj" fmla="val 48649"/>
            </a:avLst>
          </a:prstGeom>
          <a:solidFill>
            <a:srgbClr val="EAF4E4"/>
          </a:solidFill>
          <a:ln w="12700">
            <a:solidFill>
              <a:srgbClr val="EAF4E4"/>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records declared</a:t>
            </a:r>
            <a:endParaRPr lang="en-US" sz="880" dirty="0"/>
          </a:p>
        </p:txBody>
      </p:sp>
      <p:sp>
        <p:nvSpPr>
          <p:cNvPr id="23" name="Shape 20"/>
          <p:cNvSpPr/>
          <p:nvPr/>
        </p:nvSpPr>
        <p:spPr>
          <a:xfrm>
            <a:off x="8019288" y="3377692"/>
            <a:ext cx="731520" cy="169164"/>
          </a:xfrm>
          <a:prstGeom prst="roundRect">
            <a:avLst>
              <a:gd name="adj" fmla="val 48649"/>
            </a:avLst>
          </a:prstGeom>
          <a:solidFill>
            <a:srgbClr val="EAF4E4"/>
          </a:solidFill>
          <a:ln w="12700">
            <a:solidFill>
              <a:srgbClr val="EAF4E4"/>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Number of physical counterparts</a:t>
            </a:r>
            <a:endParaRPr lang="en-US" sz="880" dirty="0"/>
          </a:p>
        </p:txBody>
      </p:sp>
      <p:sp>
        <p:nvSpPr>
          <p:cNvPr id="26" name="Shape 23"/>
          <p:cNvSpPr/>
          <p:nvPr/>
        </p:nvSpPr>
        <p:spPr>
          <a:xfrm>
            <a:off x="8019288" y="3700272"/>
            <a:ext cx="731520" cy="169164"/>
          </a:xfrm>
          <a:prstGeom prst="roundRect">
            <a:avLst>
              <a:gd name="adj" fmla="val 48649"/>
            </a:avLst>
          </a:prstGeom>
          <a:solidFill>
            <a:srgbClr val="EAF4E4"/>
          </a:solidFill>
          <a:ln w="12700">
            <a:solidFill>
              <a:srgbClr val="EAF4E4"/>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Retention filter (All, 3, 5, 7, 10, others. years)</a:t>
            </a:r>
            <a:endParaRPr lang="en-US" sz="880" dirty="0"/>
          </a:p>
        </p:txBody>
      </p:sp>
      <p:sp>
        <p:nvSpPr>
          <p:cNvPr id="29" name="Shape 26"/>
          <p:cNvSpPr/>
          <p:nvPr/>
        </p:nvSpPr>
        <p:spPr>
          <a:xfrm>
            <a:off x="8019288" y="4022852"/>
            <a:ext cx="731520" cy="169164"/>
          </a:xfrm>
          <a:prstGeom prst="roundRect">
            <a:avLst>
              <a:gd name="adj" fmla="val 48649"/>
            </a:avLst>
          </a:prstGeom>
          <a:solidFill>
            <a:srgbClr val="E6EEF4"/>
          </a:solidFill>
          <a:ln w="12700">
            <a:solidFill>
              <a:srgbClr val="E6EEF4"/>
            </a:solidFill>
            <a:prstDash val="solid"/>
          </a:ln>
        </p:spPr>
      </p:sp>
      <p:sp>
        <p:nvSpPr>
          <p:cNvPr id="30" name="Text 27"/>
          <p:cNvSpPr/>
          <p:nvPr/>
        </p:nvSpPr>
        <p:spPr>
          <a:xfrm>
            <a:off x="8019288" y="402285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31" name="Text 28"/>
          <p:cNvSpPr/>
          <p:nvPr/>
        </p:nvSpPr>
        <p:spPr>
          <a:xfrm>
            <a:off x="8842248" y="397713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Number of records disposed</a:t>
            </a:r>
            <a:endParaRPr lang="en-US" sz="880" dirty="0"/>
          </a:p>
        </p:txBody>
      </p:sp>
      <p:sp>
        <p:nvSpPr>
          <p:cNvPr id="32" name="Shape 29"/>
          <p:cNvSpPr/>
          <p:nvPr/>
        </p:nvSpPr>
        <p:spPr>
          <a:xfrm>
            <a:off x="502920" y="5779008"/>
            <a:ext cx="118872" cy="118872"/>
          </a:xfrm>
          <a:prstGeom prst="ellipse">
            <a:avLst/>
          </a:prstGeom>
          <a:solidFill>
            <a:srgbClr val="0072BC"/>
          </a:solidFill>
          <a:ln w="12700">
            <a:solidFill>
              <a:srgbClr val="0072BC"/>
            </a:solidFill>
            <a:prstDash val="solid"/>
          </a:ln>
        </p:spPr>
      </p:sp>
      <p:sp>
        <p:nvSpPr>
          <p:cNvPr id="33" name="Text 30"/>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Same shape, for records with an end date.</a:t>
            </a:r>
            <a:endParaRPr lang="en-US" sz="1000" dirty="0"/>
          </a:p>
        </p:txBody>
      </p:sp>
      <p:sp>
        <p:nvSpPr>
          <p:cNvPr id="34" name="Shape 31"/>
          <p:cNvSpPr/>
          <p:nvPr/>
        </p:nvSpPr>
        <p:spPr>
          <a:xfrm>
            <a:off x="4270248" y="5779008"/>
            <a:ext cx="118872" cy="118872"/>
          </a:xfrm>
          <a:prstGeom prst="ellipse">
            <a:avLst/>
          </a:prstGeom>
          <a:solidFill>
            <a:srgbClr val="00A5A8"/>
          </a:solidFill>
          <a:ln w="12700">
            <a:solidFill>
              <a:srgbClr val="00A5A8"/>
            </a:solidFill>
            <a:prstDash val="solid"/>
          </a:ln>
        </p:spPr>
      </p:sp>
      <p:sp>
        <p:nvSpPr>
          <p:cNvPr id="35" name="Text 32"/>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retention filter lets you look at just the seven-year records, or just the ten-year.</a:t>
            </a:r>
            <a:endParaRPr lang="en-US" sz="1000" dirty="0"/>
          </a:p>
        </p:txBody>
      </p:sp>
      <p:sp>
        <p:nvSpPr>
          <p:cNvPr id="36" name="Shape 33"/>
          <p:cNvSpPr/>
          <p:nvPr/>
        </p:nvSpPr>
        <p:spPr>
          <a:xfrm>
            <a:off x="8037576" y="5779008"/>
            <a:ext cx="118872" cy="118872"/>
          </a:xfrm>
          <a:prstGeom prst="ellipse">
            <a:avLst/>
          </a:prstGeom>
          <a:solidFill>
            <a:srgbClr val="5CA943"/>
          </a:solidFill>
          <a:ln w="12700">
            <a:solidFill>
              <a:srgbClr val="5CA943"/>
            </a:solidFill>
            <a:prstDash val="solid"/>
          </a:ln>
        </p:spPr>
      </p:sp>
      <p:sp>
        <p:nvSpPr>
          <p:cNvPr id="37" name="Text 34"/>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What we cannot show is anything that has already been disposed of.</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Retention labels</a:t>
            </a:r>
            <a:endParaRPr lang="en-US" sz="2500" dirty="0"/>
          </a:p>
        </p:txBody>
      </p:sp>
      <p:sp>
        <p:nvSpPr>
          <p:cNvPr id="4" name="Shape 2"/>
          <p:cNvSpPr/>
          <p:nvPr/>
        </p:nvSpPr>
        <p:spPr>
          <a:xfrm>
            <a:off x="470916" y="1946785"/>
            <a:ext cx="7178040" cy="2538675"/>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d-04.png">    </p:cNvPr>
          <p:cNvPicPr>
            <a:picLocks noChangeAspect="1"/>
          </p:cNvPicPr>
          <p:nvPr/>
        </p:nvPicPr>
        <p:blipFill>
          <a:blip r:embed="rId1"/>
          <a:stretch>
            <a:fillRect/>
          </a:stretch>
        </p:blipFill>
        <p:spPr>
          <a:xfrm>
            <a:off x="502920" y="1978789"/>
            <a:ext cx="7114032" cy="2474667"/>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EAF4E4"/>
          </a:solidFill>
          <a:ln w="12700">
            <a:solidFill>
              <a:srgbClr val="EAF4E4"/>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5CA943"/>
                </a:solidFill>
                <a:latin typeface="Calibri" pitchFamily="34" charset="0"/>
                <a:ea typeface="Calibri" pitchFamily="34" charset="-122"/>
                <a:cs typeface="Calibri" pitchFamily="34" charset="-120"/>
              </a:rPr>
              <a:t>BUILT</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Declared records by retention label</a:t>
            </a:r>
            <a:endParaRPr lang="en-US" sz="880" dirty="0"/>
          </a:p>
        </p:txBody>
      </p:sp>
      <p:sp>
        <p:nvSpPr>
          <p:cNvPr id="11" name="Shape 8"/>
          <p:cNvSpPr/>
          <p:nvPr/>
        </p:nvSpPr>
        <p:spPr>
          <a:xfrm>
            <a:off x="502920" y="5779008"/>
            <a:ext cx="118872" cy="118872"/>
          </a:xfrm>
          <a:prstGeom prst="ellipse">
            <a:avLst/>
          </a:prstGeom>
          <a:solidFill>
            <a:srgbClr val="0072BC"/>
          </a:solidFill>
          <a:ln w="12700">
            <a:solidFill>
              <a:srgbClr val="0072BC"/>
            </a:solidFill>
            <a:prstDash val="solid"/>
          </a:ln>
        </p:spPr>
      </p:sp>
      <p:sp>
        <p:nvSpPr>
          <p:cNvPr id="12" name="Text 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 declared record grouped by the label actually applied to it.</a:t>
            </a:r>
            <a:endParaRPr lang="en-US" sz="1000" dirty="0"/>
          </a:p>
        </p:txBody>
      </p:sp>
      <p:sp>
        <p:nvSpPr>
          <p:cNvPr id="13" name="Shape 10"/>
          <p:cNvSpPr/>
          <p:nvPr/>
        </p:nvSpPr>
        <p:spPr>
          <a:xfrm>
            <a:off x="4270248" y="5779008"/>
            <a:ext cx="118872" cy="118872"/>
          </a:xfrm>
          <a:prstGeom prst="ellipse">
            <a:avLst/>
          </a:prstGeom>
          <a:solidFill>
            <a:srgbClr val="00A5A8"/>
          </a:solidFill>
          <a:ln w="12700">
            <a:solidFill>
              <a:srgbClr val="00A5A8"/>
            </a:solidFill>
            <a:prstDash val="solid"/>
          </a:ln>
        </p:spPr>
      </p:sp>
      <p:sp>
        <p:nvSpPr>
          <p:cNvPr id="14" name="Text 1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comes from real data — it is one of the most solid panels in the report.</a:t>
            </a:r>
            <a:endParaRPr lang="en-US" sz="1000" dirty="0"/>
          </a:p>
        </p:txBody>
      </p:sp>
      <p:sp>
        <p:nvSpPr>
          <p:cNvPr id="15" name="Shape 12"/>
          <p:cNvSpPr/>
          <p:nvPr/>
        </p:nvSpPr>
        <p:spPr>
          <a:xfrm>
            <a:off x="8037576" y="5779008"/>
            <a:ext cx="118872" cy="118872"/>
          </a:xfrm>
          <a:prstGeom prst="ellipse">
            <a:avLst/>
          </a:prstGeom>
          <a:solidFill>
            <a:srgbClr val="5CA943"/>
          </a:solidFill>
          <a:ln w="12700">
            <a:solidFill>
              <a:srgbClr val="5CA943"/>
            </a:solidFill>
            <a:prstDash val="solid"/>
          </a:ln>
        </p:spPr>
      </p:sp>
      <p:sp>
        <p:nvSpPr>
          <p:cNvPr id="16" name="Text 1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It is also a good check: labels nobody expected will show up here.</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Retention works today. Disposal is not in the system yet.</a:t>
            </a:r>
            <a:endParaRPr lang="en-US" sz="2500" dirty="0"/>
          </a:p>
        </p:txBody>
      </p:sp>
      <p:sp>
        <p:nvSpPr>
          <p:cNvPr id="4" name="Shape 2"/>
          <p:cNvSpPr/>
          <p:nvPr/>
        </p:nvSpPr>
        <p:spPr>
          <a:xfrm>
            <a:off x="502920" y="1207008"/>
            <a:ext cx="5486400" cy="3200400"/>
          </a:xfrm>
          <a:prstGeom prst="roundRect">
            <a:avLst>
              <a:gd name="adj" fmla="val 2000"/>
            </a:avLst>
          </a:prstGeom>
          <a:solidFill>
            <a:srgbClr val="EAF4E4"/>
          </a:solidFill>
          <a:ln w="12700">
            <a:solidFill>
              <a:srgbClr val="CFE4C2"/>
            </a:solidFill>
            <a:prstDash val="solid"/>
          </a:ln>
        </p:spPr>
      </p:sp>
      <p:sp>
        <p:nvSpPr>
          <p:cNvPr id="5" name="Text 3"/>
          <p:cNvSpPr/>
          <p:nvPr/>
        </p:nvSpPr>
        <p:spPr>
          <a:xfrm>
            <a:off x="822960" y="1481328"/>
            <a:ext cx="4572000" cy="219456"/>
          </a:xfrm>
          <a:prstGeom prst="rect">
            <a:avLst/>
          </a:prstGeom>
          <a:noFill/>
          <a:ln/>
        </p:spPr>
        <p:txBody>
          <a:bodyPr wrap="square" lIns="0" tIns="0" rIns="0" bIns="0" rtlCol="0" anchor="ctr"/>
          <a:lstStyle/>
          <a:p>
            <a:pPr indent="0" marL="0">
              <a:buNone/>
            </a:pPr>
            <a:r>
              <a:rPr lang="en-US" sz="900" b="1" spc="100" kern="0" dirty="0">
                <a:solidFill>
                  <a:srgbClr val="3F7A2C"/>
                </a:solidFill>
                <a:latin typeface="Calibri" pitchFamily="34" charset="0"/>
                <a:ea typeface="Calibri" pitchFamily="34" charset="-122"/>
                <a:cs typeface="Calibri" pitchFamily="34" charset="-120"/>
              </a:rPr>
              <a:t>WHAT WORKS TODAY</a:t>
            </a:r>
            <a:endParaRPr lang="en-US" sz="900" dirty="0"/>
          </a:p>
        </p:txBody>
      </p:sp>
      <p:sp>
        <p:nvSpPr>
          <p:cNvPr id="6" name="Text 4"/>
          <p:cNvSpPr/>
          <p:nvPr/>
        </p:nvSpPr>
        <p:spPr>
          <a:xfrm>
            <a:off x="822960" y="1847088"/>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170432" y="1810512"/>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Retention labels are being applied to records right now, and we can read them.</a:t>
            </a:r>
            <a:endParaRPr lang="en-US" sz="1150" dirty="0"/>
          </a:p>
        </p:txBody>
      </p:sp>
      <p:sp>
        <p:nvSpPr>
          <p:cNvPr id="8" name="Text 6"/>
          <p:cNvSpPr/>
          <p:nvPr/>
        </p:nvSpPr>
        <p:spPr>
          <a:xfrm>
            <a:off x="822960" y="2633472"/>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70432" y="2596896"/>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We can show what is permanent, what is temporary, and when each item falls due.</a:t>
            </a:r>
            <a:endParaRPr lang="en-US" sz="1150" dirty="0"/>
          </a:p>
        </p:txBody>
      </p:sp>
      <p:sp>
        <p:nvSpPr>
          <p:cNvPr id="10" name="Text 8"/>
          <p:cNvSpPr/>
          <p:nvPr/>
        </p:nvSpPr>
        <p:spPr>
          <a:xfrm>
            <a:off x="822960" y="3419856"/>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170432" y="3383280"/>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That half of this dashboard is real and working.</a:t>
            </a:r>
            <a:endParaRPr lang="en-US" sz="1150" dirty="0"/>
          </a:p>
        </p:txBody>
      </p:sp>
      <p:sp>
        <p:nvSpPr>
          <p:cNvPr id="12" name="Shape 10"/>
          <p:cNvSpPr/>
          <p:nvPr/>
        </p:nvSpPr>
        <p:spPr>
          <a:xfrm>
            <a:off x="6199632" y="1207008"/>
            <a:ext cx="5486400" cy="3200400"/>
          </a:xfrm>
          <a:prstGeom prst="roundRect">
            <a:avLst>
              <a:gd name="adj" fmla="val 2000"/>
            </a:avLst>
          </a:prstGeom>
          <a:solidFill>
            <a:srgbClr val="E6EEF4"/>
          </a:solidFill>
          <a:ln w="12700">
            <a:solidFill>
              <a:srgbClr val="C6D6E2"/>
            </a:solidFill>
            <a:prstDash val="solid"/>
          </a:ln>
        </p:spPr>
      </p:sp>
      <p:sp>
        <p:nvSpPr>
          <p:cNvPr id="13" name="Text 11"/>
          <p:cNvSpPr/>
          <p:nvPr/>
        </p:nvSpPr>
        <p:spPr>
          <a:xfrm>
            <a:off x="6519672" y="1481328"/>
            <a:ext cx="4846320" cy="219456"/>
          </a:xfrm>
          <a:prstGeom prst="rect">
            <a:avLst/>
          </a:prstGeom>
          <a:noFill/>
          <a:ln/>
        </p:spPr>
        <p:txBody>
          <a:bodyPr wrap="square" lIns="0" tIns="0" rIns="0" bIns="0" rtlCol="0" anchor="ctr"/>
          <a:lstStyle/>
          <a:p>
            <a:pPr indent="0" marL="0">
              <a:buNone/>
            </a:pPr>
            <a:r>
              <a:rPr lang="en-US" sz="900" b="1" spc="100" kern="0" dirty="0">
                <a:solidFill>
                  <a:srgbClr val="3D6E8C"/>
                </a:solidFill>
                <a:latin typeface="Calibri" pitchFamily="34" charset="0"/>
                <a:ea typeface="Calibri" pitchFamily="34" charset="-122"/>
                <a:cs typeface="Calibri" pitchFamily="34" charset="-120"/>
              </a:rPr>
              <a:t>WHAT CANNOT WORK YET, AND WHY</a:t>
            </a:r>
            <a:endParaRPr lang="en-US" sz="900" dirty="0"/>
          </a:p>
        </p:txBody>
      </p:sp>
      <p:sp>
        <p:nvSpPr>
          <p:cNvPr id="14" name="Text 12"/>
          <p:cNvSpPr/>
          <p:nvPr/>
        </p:nvSpPr>
        <p:spPr>
          <a:xfrm>
            <a:off x="6519672" y="1847088"/>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6867144" y="1810512"/>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There is no screen in EDRMS where somebody approves a disposal.</a:t>
            </a:r>
            <a:endParaRPr lang="en-US" sz="1150" dirty="0"/>
          </a:p>
        </p:txBody>
      </p:sp>
      <p:sp>
        <p:nvSpPr>
          <p:cNvPr id="16" name="Text 14"/>
          <p:cNvSpPr/>
          <p:nvPr/>
        </p:nvSpPr>
        <p:spPr>
          <a:xfrm>
            <a:off x="6519672" y="2633472"/>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6867144" y="2596896"/>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There is no field anywhere that records approved, declined or extended.</a:t>
            </a:r>
            <a:endParaRPr lang="en-US" sz="1150" dirty="0"/>
          </a:p>
        </p:txBody>
      </p:sp>
      <p:sp>
        <p:nvSpPr>
          <p:cNvPr id="18" name="Text 16"/>
          <p:cNvSpPr/>
          <p:nvPr/>
        </p:nvSpPr>
        <p:spPr>
          <a:xfrm>
            <a:off x="6519672" y="3419856"/>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6867144" y="3383280"/>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So nothing can tell the report that a disposal actually happened.</a:t>
            </a:r>
            <a:endParaRPr lang="en-US" sz="1150" dirty="0"/>
          </a:p>
        </p:txBody>
      </p:sp>
      <p:sp>
        <p:nvSpPr>
          <p:cNvPr id="20" name="Shape 18"/>
          <p:cNvSpPr/>
          <p:nvPr/>
        </p:nvSpPr>
        <p:spPr>
          <a:xfrm>
            <a:off x="502920" y="4617720"/>
            <a:ext cx="11183112" cy="1417320"/>
          </a:xfrm>
          <a:prstGeom prst="roundRect">
            <a:avLst>
              <a:gd name="adj" fmla="val 4516"/>
            </a:avLst>
          </a:prstGeom>
          <a:solidFill>
            <a:srgbClr val="0E1F35"/>
          </a:solidFill>
          <a:ln w="12700">
            <a:solidFill>
              <a:srgbClr val="0E1F35"/>
            </a:solidFill>
            <a:prstDash val="solid"/>
          </a:ln>
        </p:spPr>
      </p:sp>
      <p:sp>
        <p:nvSpPr>
          <p:cNvPr id="21" name="Text 19"/>
          <p:cNvSpPr/>
          <p:nvPr/>
        </p:nvSpPr>
        <p:spPr>
          <a:xfrm>
            <a:off x="868680" y="4828032"/>
            <a:ext cx="3657600" cy="219456"/>
          </a:xfrm>
          <a:prstGeom prst="rect">
            <a:avLst/>
          </a:prstGeom>
          <a:noFill/>
          <a:ln/>
        </p:spPr>
        <p:txBody>
          <a:bodyPr wrap="square" lIns="0" tIns="0" rIns="0" bIns="0" rtlCol="0" anchor="ctr"/>
          <a:lstStyle/>
          <a:p>
            <a:pPr indent="0" marL="0">
              <a:buNone/>
            </a:pPr>
            <a:r>
              <a:rPr lang="en-US" sz="900" b="1" spc="100" kern="0" dirty="0">
                <a:solidFill>
                  <a:srgbClr val="00A5A8"/>
                </a:solidFill>
                <a:latin typeface="Calibri" pitchFamily="34" charset="0"/>
                <a:ea typeface="Calibri" pitchFamily="34" charset="-122"/>
                <a:cs typeface="Calibri" pitchFamily="34" charset="-120"/>
              </a:rPr>
              <a:t>WHAT WE PROPOSE</a:t>
            </a:r>
            <a:endParaRPr lang="en-US" sz="900" dirty="0"/>
          </a:p>
        </p:txBody>
      </p:sp>
      <p:sp>
        <p:nvSpPr>
          <p:cNvPr id="22" name="Text 20"/>
          <p:cNvSpPr/>
          <p:nvPr/>
        </p:nvSpPr>
        <p:spPr>
          <a:xfrm>
            <a:off x="868680" y="5084064"/>
            <a:ext cx="7589520" cy="786384"/>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We propose building the retention half now, and the disposal half once the Disposal release ships. The screens are already drawn and waiting — when the feature exists, they fill in.</a:t>
            </a:r>
            <a:endParaRPr lang="en-US" sz="1250" dirty="0"/>
          </a:p>
        </p:txBody>
      </p:sp>
      <p:sp>
        <p:nvSpPr>
          <p:cNvPr id="23" name="Text 21"/>
          <p:cNvSpPr/>
          <p:nvPr/>
        </p:nvSpPr>
        <p:spPr>
          <a:xfrm>
            <a:off x="8778240" y="4864608"/>
            <a:ext cx="1371600" cy="658368"/>
          </a:xfrm>
          <a:prstGeom prst="rect">
            <a:avLst/>
          </a:prstGeom>
          <a:noFill/>
          <a:ln/>
        </p:spPr>
        <p:txBody>
          <a:bodyPr wrap="square" lIns="0" tIns="0" rIns="0" bIns="0" rtlCol="0" anchor="ctr"/>
          <a:lstStyle/>
          <a:p>
            <a:pPr algn="r" indent="0" marL="0">
              <a:buNone/>
            </a:pPr>
            <a:r>
              <a:rPr lang="en-US" sz="3800" b="1" dirty="0">
                <a:solidFill>
                  <a:srgbClr val="00A5A8"/>
                </a:solidFill>
                <a:latin typeface="Cambria" pitchFamily="34" charset="0"/>
                <a:ea typeface="Cambria" pitchFamily="34" charset="-122"/>
                <a:cs typeface="Cambria" pitchFamily="34" charset="-120"/>
              </a:rPr>
              <a:t>14</a:t>
            </a:r>
            <a:endParaRPr lang="en-US" sz="3800" dirty="0"/>
          </a:p>
        </p:txBody>
      </p:sp>
      <p:sp>
        <p:nvSpPr>
          <p:cNvPr id="24" name="Text 22"/>
          <p:cNvSpPr/>
          <p:nvPr/>
        </p:nvSpPr>
        <p:spPr>
          <a:xfrm>
            <a:off x="10241280" y="4974336"/>
            <a:ext cx="1371600" cy="548640"/>
          </a:xfrm>
          <a:prstGeom prst="rect">
            <a:avLst/>
          </a:prstGeom>
          <a:noFill/>
          <a:ln/>
        </p:spPr>
        <p:txBody>
          <a:bodyPr wrap="square" lIns="0" tIns="0" rIns="0" bIns="0" rtlCol="0" anchor="ctr"/>
          <a:lstStyle/>
          <a:p>
            <a:pPr indent="0" marL="0">
              <a:lnSpc>
                <a:spcPts val="1200"/>
              </a:lnSpc>
              <a:buNone/>
            </a:pPr>
            <a:r>
              <a:rPr lang="en-US" sz="950" dirty="0">
                <a:solidFill>
                  <a:srgbClr val="AFC4D8"/>
                </a:solidFill>
                <a:latin typeface="Calibri" pitchFamily="34" charset="0"/>
                <a:ea typeface="Calibri" pitchFamily="34" charset="-122"/>
                <a:cs typeface="Calibri" pitchFamily="34" charset="-120"/>
              </a:rPr>
              <a:t>items move to the</a:t>
            </a:r>
            <a:endParaRPr lang="en-US" sz="950" dirty="0"/>
          </a:p>
          <a:p>
            <a:pPr indent="0" marL="0">
              <a:lnSpc>
                <a:spcPts val="1200"/>
              </a:lnSpc>
              <a:buNone/>
            </a:pPr>
            <a:r>
              <a:rPr lang="en-US" sz="950" dirty="0">
                <a:solidFill>
                  <a:srgbClr val="AFC4D8"/>
                </a:solidFill>
                <a:latin typeface="Calibri" pitchFamily="34" charset="0"/>
                <a:ea typeface="Calibri" pitchFamily="34" charset="-122"/>
                <a:cs typeface="Calibri" pitchFamily="34" charset="-120"/>
              </a:rPr>
              <a:t>Disposal release</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RETENTION AND DISPOSAL</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a:t>
            </a:r>
            <a:endParaRPr lang="en-US" sz="2500" dirty="0"/>
          </a:p>
        </p:txBody>
      </p:sp>
      <p:sp>
        <p:nvSpPr>
          <p:cNvPr id="4" name="Shape 2"/>
          <p:cNvSpPr/>
          <p:nvPr/>
        </p:nvSpPr>
        <p:spPr>
          <a:xfrm>
            <a:off x="502920" y="1280160"/>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812036"/>
            <a:ext cx="402336" cy="402336"/>
          </a:xfrm>
          <a:prstGeom prst="ellipse">
            <a:avLst/>
          </a:prstGeom>
          <a:solidFill>
            <a:srgbClr val="FBE6E4"/>
          </a:solidFill>
          <a:ln w="12700">
            <a:solidFill>
              <a:srgbClr val="FBE6E4"/>
            </a:solidFill>
            <a:prstDash val="solid"/>
          </a:ln>
        </p:spPr>
      </p:sp>
      <p:sp>
        <p:nvSpPr>
          <p:cNvPr id="6" name="Text 4"/>
          <p:cNvSpPr/>
          <p:nvPr/>
        </p:nvSpPr>
        <p:spPr>
          <a:xfrm>
            <a:off x="777240" y="1812036"/>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Can we agree the disposal half follows the Disposal release?</a:t>
            </a:r>
            <a:endParaRPr lang="en-US" sz="1350" dirty="0"/>
          </a:p>
        </p:txBody>
      </p:sp>
      <p:sp>
        <p:nvSpPr>
          <p:cNvPr id="8" name="Text 6"/>
          <p:cNvSpPr/>
          <p:nvPr/>
        </p:nvSpPr>
        <p:spPr>
          <a:xfrm>
            <a:off x="6217920" y="1399032"/>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This is not a data problem we can solve by looking harder. Disposal is not built in EDRMS yet — there is no approval screen and no field to record an outcome. Fourteen items across three dashboards are waiting on that one release.</a:t>
            </a:r>
            <a:endParaRPr lang="en-US" sz="860" dirty="0"/>
          </a:p>
        </p:txBody>
      </p:sp>
      <p:sp>
        <p:nvSpPr>
          <p:cNvPr id="9" name="Text 7"/>
          <p:cNvSpPr/>
          <p:nvPr/>
        </p:nvSpPr>
        <p:spPr>
          <a:xfrm>
            <a:off x="9098280" y="1399032"/>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We build the screens now so they are ready, and switch them on when Disposal ships. Nothing is wasted and nothing is invented in the meantime.</a:t>
            </a:r>
            <a:endParaRPr lang="en-US" sz="860" dirty="0"/>
          </a:p>
        </p:txBody>
      </p:sp>
      <p:sp>
        <p:nvSpPr>
          <p:cNvPr id="10" name="Shape 8"/>
          <p:cNvSpPr/>
          <p:nvPr/>
        </p:nvSpPr>
        <p:spPr>
          <a:xfrm>
            <a:off x="502920" y="2855976"/>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3387852"/>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338785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2983992"/>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Do you still want the slide 44 summary table?</a:t>
            </a:r>
            <a:endParaRPr lang="en-US" sz="1350" dirty="0"/>
          </a:p>
        </p:txBody>
      </p:sp>
      <p:sp>
        <p:nvSpPr>
          <p:cNvPr id="14" name="Text 12"/>
          <p:cNvSpPr/>
          <p:nvPr/>
        </p:nvSpPr>
        <p:spPr>
          <a:xfrm>
            <a:off x="6217920" y="2974848"/>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Your slide 44 had a table across the top with six columns. It was taken out of the prototype because most of its columns repeat what the screens below already show.</a:t>
            </a:r>
            <a:endParaRPr lang="en-US" sz="860" dirty="0"/>
          </a:p>
        </p:txBody>
      </p:sp>
      <p:sp>
        <p:nvSpPr>
          <p:cNvPr id="15" name="Text 13"/>
          <p:cNvSpPr/>
          <p:nvPr/>
        </p:nvSpPr>
        <p:spPr>
          <a:xfrm>
            <a:off x="9098280" y="2974848"/>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Do you want it back, or is the current layout clearer? Your call — we can put it back easily.</a:t>
            </a:r>
            <a:endParaRPr lang="en-US" sz="860" dirty="0"/>
          </a:p>
        </p:txBody>
      </p:sp>
      <p:sp>
        <p:nvSpPr>
          <p:cNvPr id="16" name="Shape 14"/>
          <p:cNvSpPr/>
          <p:nvPr/>
        </p:nvSpPr>
        <p:spPr>
          <a:xfrm>
            <a:off x="502920" y="4431792"/>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4963668"/>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4963668"/>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71600" y="4559808"/>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Should retention be shown per file plan term?</a:t>
            </a:r>
            <a:endParaRPr lang="en-US" sz="1350" dirty="0"/>
          </a:p>
        </p:txBody>
      </p:sp>
      <p:sp>
        <p:nvSpPr>
          <p:cNvPr id="20" name="Text 18"/>
          <p:cNvSpPr/>
          <p:nvPr/>
        </p:nvSpPr>
        <p:spPr>
          <a:xfrm>
            <a:off x="6217920" y="4550664"/>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Slides 45 and 46 both start with a “Term (top level)” column. We cannot fill it for the same reason as the file plan dashboard — nothing links a record to a term.</a:t>
            </a:r>
            <a:endParaRPr lang="en-US" sz="860" dirty="0"/>
          </a:p>
        </p:txBody>
      </p:sp>
      <p:sp>
        <p:nvSpPr>
          <p:cNvPr id="21" name="Text 19"/>
          <p:cNvSpPr/>
          <p:nvPr/>
        </p:nvSpPr>
        <p:spPr>
          <a:xfrm>
            <a:off x="9098280" y="4550664"/>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If the file plan question gets answered, this fills itself in. Same root cause.</a:t>
            </a:r>
            <a:endParaRPr lang="en-US" sz="860" dirty="0"/>
          </a:p>
        </p:txBody>
      </p:sp>
      <p:sp>
        <p:nvSpPr>
          <p:cNvPr id="22" name="Text 20"/>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23" name="Text 21"/>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24" name="Text 22"/>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00A5A8"/>
          </a:solidFill>
          <a:ln w="12700">
            <a:solidFill>
              <a:srgbClr val="00A5A8"/>
            </a:solidFill>
            <a:prstDash val="solid"/>
          </a:ln>
        </p:spPr>
      </p:sp>
      <p:sp>
        <p:nvSpPr>
          <p:cNvPr id="3" name="Text 1"/>
          <p:cNvSpPr/>
          <p:nvPr/>
        </p:nvSpPr>
        <p:spPr>
          <a:xfrm>
            <a:off x="822960" y="2103120"/>
            <a:ext cx="5486400" cy="274320"/>
          </a:xfrm>
          <a:prstGeom prst="rect">
            <a:avLst/>
          </a:prstGeom>
          <a:noFill/>
          <a:ln/>
        </p:spPr>
        <p:txBody>
          <a:bodyPr wrap="square" lIns="0" tIns="0" rIns="0" bIns="0" rtlCol="0" anchor="ctr"/>
          <a:lstStyle/>
          <a:p>
            <a:pPr indent="0" marL="0">
              <a:buNone/>
            </a:pPr>
            <a:r>
              <a:rPr lang="en-US" sz="1150" b="1" spc="160" kern="0" dirty="0">
                <a:solidFill>
                  <a:srgbClr val="00A5A8"/>
                </a:solidFill>
                <a:latin typeface="Calibri" pitchFamily="34" charset="0"/>
                <a:ea typeface="Calibri" pitchFamily="34" charset="-122"/>
                <a:cs typeface="Calibri" pitchFamily="34" charset="-120"/>
              </a:rPr>
              <a:t>VIEW 6 OF 6</a:t>
            </a:r>
            <a:endParaRPr lang="en-US" sz="1150" dirty="0"/>
          </a:p>
        </p:txBody>
      </p:sp>
      <p:sp>
        <p:nvSpPr>
          <p:cNvPr id="4" name="Text 2"/>
          <p:cNvSpPr/>
          <p:nvPr/>
        </p:nvSpPr>
        <p:spPr>
          <a:xfrm>
            <a:off x="822960" y="246888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Records and Archive Holdings</a:t>
            </a:r>
            <a:endParaRPr lang="en-US" sz="4000" dirty="0"/>
          </a:p>
        </p:txBody>
      </p:sp>
      <p:sp>
        <p:nvSpPr>
          <p:cNvPr id="5" name="Text 3"/>
          <p:cNvSpPr/>
          <p:nvPr/>
        </p:nvSpPr>
        <p:spPr>
          <a:xfrm>
            <a:off x="822960" y="3520440"/>
            <a:ext cx="7498080" cy="91440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What is in the physical archive, and what is moving in and out?</a:t>
            </a:r>
            <a:endParaRPr lang="en-US" sz="1700" dirty="0"/>
          </a:p>
        </p:txBody>
      </p:sp>
      <p:sp>
        <p:nvSpPr>
          <p:cNvPr id="6" name="Shape 4"/>
          <p:cNvSpPr/>
          <p:nvPr/>
        </p:nvSpPr>
        <p:spPr>
          <a:xfrm>
            <a:off x="8961120" y="2286000"/>
            <a:ext cx="2606040" cy="2103120"/>
          </a:xfrm>
          <a:prstGeom prst="roundRect">
            <a:avLst>
              <a:gd name="adj" fmla="val 3478"/>
            </a:avLst>
          </a:prstGeom>
          <a:solidFill>
            <a:srgbClr val="16304F"/>
          </a:solidFill>
          <a:ln w="12700">
            <a:solidFill>
              <a:srgbClr val="27476C"/>
            </a:solidFill>
            <a:prstDash val="solid"/>
          </a:ln>
        </p:spPr>
      </p:sp>
      <p:sp>
        <p:nvSpPr>
          <p:cNvPr id="7" name="Text 5"/>
          <p:cNvSpPr/>
          <p:nvPr/>
        </p:nvSpPr>
        <p:spPr>
          <a:xfrm>
            <a:off x="8961120" y="2514600"/>
            <a:ext cx="2606040" cy="777240"/>
          </a:xfrm>
          <a:prstGeom prst="rect">
            <a:avLst/>
          </a:prstGeom>
          <a:noFill/>
          <a:ln/>
        </p:spPr>
        <p:txBody>
          <a:bodyPr wrap="square" lIns="0" tIns="0" rIns="0" bIns="0" rtlCol="0" anchor="ctr"/>
          <a:lstStyle/>
          <a:p>
            <a:pPr algn="ctr" indent="0" marL="0">
              <a:buNone/>
            </a:pPr>
            <a:r>
              <a:rPr lang="en-US" sz="4600" b="1" dirty="0">
                <a:solidFill>
                  <a:srgbClr val="5CA943"/>
                </a:solidFill>
                <a:latin typeface="Cambria" pitchFamily="34" charset="0"/>
                <a:ea typeface="Cambria" pitchFamily="34" charset="-122"/>
                <a:cs typeface="Cambria" pitchFamily="34" charset="-120"/>
              </a:rPr>
              <a:t>24</a:t>
            </a:r>
            <a:endParaRPr lang="en-US" sz="4600" dirty="0"/>
          </a:p>
        </p:txBody>
      </p:sp>
      <p:sp>
        <p:nvSpPr>
          <p:cNvPr id="8" name="Text 6"/>
          <p:cNvSpPr/>
          <p:nvPr/>
        </p:nvSpPr>
        <p:spPr>
          <a:xfrm>
            <a:off x="8961120" y="3291840"/>
            <a:ext cx="2606040" cy="274320"/>
          </a:xfrm>
          <a:prstGeom prst="rect">
            <a:avLst/>
          </a:prstGeom>
          <a:noFill/>
          <a:ln/>
        </p:spPr>
        <p:txBody>
          <a:bodyPr wrap="square" lIns="0" tIns="0" rIns="0" bIns="0" rtlCol="0" anchor="ctr"/>
          <a:lstStyle/>
          <a:p>
            <a:pPr algn="ctr" indent="0" marL="0">
              <a:buNone/>
            </a:pPr>
            <a:r>
              <a:rPr lang="en-US" sz="1250" dirty="0">
                <a:solidFill>
                  <a:srgbClr val="AFC4D8"/>
                </a:solidFill>
                <a:latin typeface="Calibri" pitchFamily="34" charset="0"/>
                <a:ea typeface="Calibri" pitchFamily="34" charset="-122"/>
                <a:cs typeface="Calibri" pitchFamily="34" charset="-120"/>
              </a:rPr>
              <a:t>of 26 built</a:t>
            </a:r>
            <a:endParaRPr lang="en-US" sz="1250" dirty="0"/>
          </a:p>
        </p:txBody>
      </p:sp>
      <p:sp>
        <p:nvSpPr>
          <p:cNvPr id="9" name="Text 7"/>
          <p:cNvSpPr/>
          <p:nvPr/>
        </p:nvSpPr>
        <p:spPr>
          <a:xfrm>
            <a:off x="9052560" y="3639312"/>
            <a:ext cx="2423160" cy="658368"/>
          </a:xfrm>
          <a:prstGeom prst="rect">
            <a:avLst/>
          </a:prstGeom>
          <a:noFill/>
          <a:ln/>
        </p:spPr>
        <p:txBody>
          <a:bodyPr wrap="square" lIns="0" tIns="0" rIns="0" bIns="0" rtlCol="0" anchor="ctr"/>
          <a:lstStyle/>
          <a:p>
            <a:pPr algn="ctr" indent="0" marL="0">
              <a:lnSpc>
                <a:spcPts val="1400"/>
              </a:lnSpc>
              <a:buNone/>
            </a:pPr>
            <a:r>
              <a:rPr lang="en-US" sz="1100" b="1" dirty="0">
                <a:solidFill>
                  <a:srgbClr val="9FC0D8"/>
                </a:solidFill>
                <a:latin typeface="Calibri" pitchFamily="34" charset="0"/>
                <a:ea typeface="Calibri" pitchFamily="34" charset="-122"/>
                <a:cs typeface="Calibri" pitchFamily="34" charset="-120"/>
              </a:rPr>
              <a:t>2 wait on the Physical Records release</a:t>
            </a:r>
            <a:endParaRPr lang="en-US" sz="1100" dirty="0"/>
          </a:p>
        </p:txBody>
      </p:sp>
      <p:sp>
        <p:nvSpPr>
          <p:cNvPr id="10" name="Text 8"/>
          <p:cNvSpPr/>
          <p:nvPr/>
        </p:nvSpPr>
        <p:spPr>
          <a:xfrm>
            <a:off x="822960" y="4937760"/>
            <a:ext cx="7315200" cy="274320"/>
          </a:xfrm>
          <a:prstGeom prst="rect">
            <a:avLst/>
          </a:prstGeom>
          <a:noFill/>
          <a:ln/>
        </p:spPr>
        <p:txBody>
          <a:bodyPr wrap="square" lIns="0" tIns="0" rIns="0" bIns="0" rtlCol="0" anchor="ctr"/>
          <a:lstStyle/>
          <a:p>
            <a:pPr indent="0" marL="0">
              <a:buNone/>
            </a:pPr>
            <a:r>
              <a:rPr lang="en-US" sz="1200" dirty="0">
                <a:solidFill>
                  <a:srgbClr val="7E97B0"/>
                </a:solidFill>
                <a:latin typeface="Calibri" pitchFamily="34" charset="0"/>
                <a:ea typeface="Calibri" pitchFamily="34" charset="-122"/>
                <a:cs typeface="Calibri" pitchFamily="34" charset="-120"/>
              </a:rPr>
              <a:t>4 screens to walk through</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can and cannot see</a:t>
            </a:r>
            <a:endParaRPr lang="en-US" sz="2500" dirty="0"/>
          </a:p>
        </p:txBody>
      </p:sp>
      <p:sp>
        <p:nvSpPr>
          <p:cNvPr id="4" name="Shape 2"/>
          <p:cNvSpPr/>
          <p:nvPr/>
        </p:nvSpPr>
        <p:spPr>
          <a:xfrm>
            <a:off x="470916" y="1156716"/>
            <a:ext cx="7178040" cy="3285648"/>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a-01.png">    </p:cNvPr>
          <p:cNvPicPr>
            <a:picLocks noChangeAspect="1"/>
          </p:cNvPicPr>
          <p:nvPr/>
        </p:nvPicPr>
        <p:blipFill>
          <a:blip r:embed="rId1"/>
          <a:stretch>
            <a:fillRect/>
          </a:stretch>
        </p:blipFill>
        <p:spPr>
          <a:xfrm>
            <a:off x="502920" y="1188720"/>
            <a:ext cx="7114032" cy="3221640"/>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Records and Archive Holdings, as a key view</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The two tables drawn with the client's own column headings</a:t>
            </a:r>
            <a:endParaRPr lang="en-US" sz="880" dirty="0"/>
          </a:p>
        </p:txBody>
      </p:sp>
      <p:sp>
        <p:nvSpPr>
          <p:cNvPr id="14" name="Shape 11"/>
          <p:cNvSpPr/>
          <p:nvPr/>
        </p:nvSpPr>
        <p:spPr>
          <a:xfrm>
            <a:off x="502920" y="5779008"/>
            <a:ext cx="118872" cy="118872"/>
          </a:xfrm>
          <a:prstGeom prst="ellipse">
            <a:avLst/>
          </a:prstGeom>
          <a:solidFill>
            <a:srgbClr val="0072BC"/>
          </a:solidFill>
          <a:ln w="12700">
            <a:solidFill>
              <a:srgbClr val="0072BC"/>
            </a:solidFill>
            <a:prstDash val="solid"/>
          </a:ln>
        </p:spPr>
      </p:sp>
      <p:sp>
        <p:nvSpPr>
          <p:cNvPr id="15" name="Text 12"/>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One figure here is real: the count of records with a paper counterpart.</a:t>
            </a:r>
            <a:endParaRPr lang="en-US" sz="1000" dirty="0"/>
          </a:p>
        </p:txBody>
      </p:sp>
      <p:sp>
        <p:nvSpPr>
          <p:cNvPr id="16" name="Shape 13"/>
          <p:cNvSpPr/>
          <p:nvPr/>
        </p:nvSpPr>
        <p:spPr>
          <a:xfrm>
            <a:off x="4270248" y="5779008"/>
            <a:ext cx="118872" cy="118872"/>
          </a:xfrm>
          <a:prstGeom prst="ellipse">
            <a:avLst/>
          </a:prstGeom>
          <a:solidFill>
            <a:srgbClr val="00A5A8"/>
          </a:solidFill>
          <a:ln w="12700">
            <a:solidFill>
              <a:srgbClr val="00A5A8"/>
            </a:solidFill>
            <a:prstDash val="solid"/>
          </a:ln>
        </p:spPr>
      </p:sp>
      <p:sp>
        <p:nvSpPr>
          <p:cNvPr id="17" name="Text 14"/>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Everything else on this dashboard is a placeholder.</a:t>
            </a:r>
            <a:endParaRPr lang="en-US" sz="1000" dirty="0"/>
          </a:p>
        </p:txBody>
      </p:sp>
      <p:sp>
        <p:nvSpPr>
          <p:cNvPr id="18" name="Shape 15"/>
          <p:cNvSpPr/>
          <p:nvPr/>
        </p:nvSpPr>
        <p:spPr>
          <a:xfrm>
            <a:off x="8037576" y="5779008"/>
            <a:ext cx="118872" cy="118872"/>
          </a:xfrm>
          <a:prstGeom prst="ellipse">
            <a:avLst/>
          </a:prstGeom>
          <a:solidFill>
            <a:srgbClr val="5CA943"/>
          </a:solidFill>
          <a:ln w="12700">
            <a:solidFill>
              <a:srgbClr val="5CA943"/>
            </a:solidFill>
            <a:prstDash val="solid"/>
          </a:ln>
        </p:spPr>
      </p:sp>
      <p:sp>
        <p:nvSpPr>
          <p:cNvPr id="19" name="Text 16"/>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This is the dashboard with the least data behind it, and the most to discuss.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Storage</a:t>
            </a:r>
            <a:endParaRPr lang="en-US" sz="2500" dirty="0"/>
          </a:p>
        </p:txBody>
      </p:sp>
      <p:sp>
        <p:nvSpPr>
          <p:cNvPr id="4" name="Shape 2"/>
          <p:cNvSpPr/>
          <p:nvPr/>
        </p:nvSpPr>
        <p:spPr>
          <a:xfrm>
            <a:off x="470916" y="1156716"/>
            <a:ext cx="7178040" cy="343301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a-02.png">    </p:cNvPr>
          <p:cNvPicPr>
            <a:picLocks noChangeAspect="1"/>
          </p:cNvPicPr>
          <p:nvPr/>
        </p:nvPicPr>
        <p:blipFill>
          <a:blip r:embed="rId1"/>
          <a:stretch>
            <a:fillRect/>
          </a:stretch>
        </p:blipFill>
        <p:spPr>
          <a:xfrm>
            <a:off x="502920" y="1188720"/>
            <a:ext cx="7114032" cy="336900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446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Location, as Archives Room / Records Center / Offsite Storage</a:t>
            </a:r>
            <a:endParaRPr lang="en-US" sz="880" dirty="0"/>
          </a:p>
        </p:txBody>
      </p:sp>
      <p:sp>
        <p:nvSpPr>
          <p:cNvPr id="11" name="Shape 8"/>
          <p:cNvSpPr/>
          <p:nvPr/>
        </p:nvSpPr>
        <p:spPr>
          <a:xfrm>
            <a:off x="8019288" y="2211601"/>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211601"/>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165881"/>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of requests</a:t>
            </a:r>
            <a:endParaRPr lang="en-US" sz="880" dirty="0"/>
          </a:p>
        </p:txBody>
      </p:sp>
      <p:sp>
        <p:nvSpPr>
          <p:cNvPr id="14" name="Shape 11"/>
          <p:cNvSpPr/>
          <p:nvPr/>
        </p:nvSpPr>
        <p:spPr>
          <a:xfrm>
            <a:off x="8019288" y="2518710"/>
            <a:ext cx="731520" cy="169164"/>
          </a:xfrm>
          <a:prstGeom prst="roundRect">
            <a:avLst>
              <a:gd name="adj" fmla="val 48649"/>
            </a:avLst>
          </a:prstGeom>
          <a:solidFill>
            <a:srgbClr val="FDF1DE"/>
          </a:solidFill>
          <a:ln w="12700">
            <a:solidFill>
              <a:srgbClr val="FDF1DE"/>
            </a:solidFill>
            <a:prstDash val="solid"/>
          </a:ln>
        </p:spPr>
      </p:sp>
      <p:sp>
        <p:nvSpPr>
          <p:cNvPr id="15" name="Text 12"/>
          <p:cNvSpPr/>
          <p:nvPr/>
        </p:nvSpPr>
        <p:spPr>
          <a:xfrm>
            <a:off x="8019288" y="2518710"/>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6" name="Text 13"/>
          <p:cNvSpPr/>
          <p:nvPr/>
        </p:nvSpPr>
        <p:spPr>
          <a:xfrm>
            <a:off x="8842248" y="2472990"/>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requestors (departments)</a:t>
            </a:r>
            <a:endParaRPr lang="en-US" sz="880" dirty="0"/>
          </a:p>
        </p:txBody>
      </p:sp>
      <p:sp>
        <p:nvSpPr>
          <p:cNvPr id="17" name="Shape 14"/>
          <p:cNvSpPr/>
          <p:nvPr/>
        </p:nvSpPr>
        <p:spPr>
          <a:xfrm>
            <a:off x="8019288" y="2825819"/>
            <a:ext cx="731520" cy="169164"/>
          </a:xfrm>
          <a:prstGeom prst="roundRect">
            <a:avLst>
              <a:gd name="adj" fmla="val 48649"/>
            </a:avLst>
          </a:prstGeom>
          <a:solidFill>
            <a:srgbClr val="FDF1DE"/>
          </a:solidFill>
          <a:ln w="12700">
            <a:solidFill>
              <a:srgbClr val="FDF1DE"/>
            </a:solidFill>
            <a:prstDash val="solid"/>
          </a:ln>
        </p:spPr>
      </p:sp>
      <p:sp>
        <p:nvSpPr>
          <p:cNvPr id="18" name="Text 15"/>
          <p:cNvSpPr/>
          <p:nvPr/>
        </p:nvSpPr>
        <p:spPr>
          <a:xfrm>
            <a:off x="8019288" y="2825819"/>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9" name="Text 16"/>
          <p:cNvSpPr/>
          <p:nvPr/>
        </p:nvSpPr>
        <p:spPr>
          <a:xfrm>
            <a:off x="8842248" y="2780099"/>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requestors (RMs)</a:t>
            </a:r>
            <a:endParaRPr lang="en-US" sz="880" dirty="0"/>
          </a:p>
        </p:txBody>
      </p:sp>
      <p:sp>
        <p:nvSpPr>
          <p:cNvPr id="20" name="Shape 17"/>
          <p:cNvSpPr/>
          <p:nvPr/>
        </p:nvSpPr>
        <p:spPr>
          <a:xfrm>
            <a:off x="8019288" y="3132928"/>
            <a:ext cx="731520" cy="169164"/>
          </a:xfrm>
          <a:prstGeom prst="roundRect">
            <a:avLst>
              <a:gd name="adj" fmla="val 48649"/>
            </a:avLst>
          </a:prstGeom>
          <a:solidFill>
            <a:srgbClr val="FDF1DE"/>
          </a:solidFill>
          <a:ln w="12700">
            <a:solidFill>
              <a:srgbClr val="FDF1DE"/>
            </a:solidFill>
            <a:prstDash val="solid"/>
          </a:ln>
        </p:spPr>
      </p:sp>
      <p:sp>
        <p:nvSpPr>
          <p:cNvPr id="21" name="Text 18"/>
          <p:cNvSpPr/>
          <p:nvPr/>
        </p:nvSpPr>
        <p:spPr>
          <a:xfrm>
            <a:off x="8019288" y="3132928"/>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2" name="Text 19"/>
          <p:cNvSpPr/>
          <p:nvPr/>
        </p:nvSpPr>
        <p:spPr>
          <a:xfrm>
            <a:off x="8842248" y="3087208"/>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boxes stored</a:t>
            </a:r>
            <a:endParaRPr lang="en-US" sz="880" dirty="0"/>
          </a:p>
        </p:txBody>
      </p:sp>
      <p:sp>
        <p:nvSpPr>
          <p:cNvPr id="23" name="Shape 20"/>
          <p:cNvSpPr/>
          <p:nvPr/>
        </p:nvSpPr>
        <p:spPr>
          <a:xfrm>
            <a:off x="8019288" y="3440037"/>
            <a:ext cx="731520" cy="169164"/>
          </a:xfrm>
          <a:prstGeom prst="roundRect">
            <a:avLst>
              <a:gd name="adj" fmla="val 48649"/>
            </a:avLst>
          </a:prstGeom>
          <a:solidFill>
            <a:srgbClr val="FDF1DE"/>
          </a:solidFill>
          <a:ln w="12700">
            <a:solidFill>
              <a:srgbClr val="FDF1DE"/>
            </a:solidFill>
            <a:prstDash val="solid"/>
          </a:ln>
        </p:spPr>
      </p:sp>
      <p:sp>
        <p:nvSpPr>
          <p:cNvPr id="24" name="Text 21"/>
          <p:cNvSpPr/>
          <p:nvPr/>
        </p:nvSpPr>
        <p:spPr>
          <a:xfrm>
            <a:off x="8019288" y="3440037"/>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5" name="Text 22"/>
          <p:cNvSpPr/>
          <p:nvPr/>
        </p:nvSpPr>
        <p:spPr>
          <a:xfrm>
            <a:off x="8842248" y="3394317"/>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folders stored</a:t>
            </a:r>
            <a:endParaRPr lang="en-US" sz="880" dirty="0"/>
          </a:p>
        </p:txBody>
      </p:sp>
      <p:sp>
        <p:nvSpPr>
          <p:cNvPr id="26" name="Shape 23"/>
          <p:cNvSpPr/>
          <p:nvPr/>
        </p:nvSpPr>
        <p:spPr>
          <a:xfrm>
            <a:off x="8019288" y="3747147"/>
            <a:ext cx="731520" cy="169164"/>
          </a:xfrm>
          <a:prstGeom prst="roundRect">
            <a:avLst>
              <a:gd name="adj" fmla="val 48649"/>
            </a:avLst>
          </a:prstGeom>
          <a:solidFill>
            <a:srgbClr val="FDF1DE"/>
          </a:solidFill>
          <a:ln w="12700">
            <a:solidFill>
              <a:srgbClr val="FDF1DE"/>
            </a:solidFill>
            <a:prstDash val="solid"/>
          </a:ln>
        </p:spPr>
      </p:sp>
      <p:sp>
        <p:nvSpPr>
          <p:cNvPr id="27" name="Text 24"/>
          <p:cNvSpPr/>
          <p:nvPr/>
        </p:nvSpPr>
        <p:spPr>
          <a:xfrm>
            <a:off x="8019288" y="3747147"/>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8" name="Text 25"/>
          <p:cNvSpPr/>
          <p:nvPr/>
        </p:nvSpPr>
        <p:spPr>
          <a:xfrm>
            <a:off x="8842248" y="3701427"/>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Remarks</a:t>
            </a:r>
            <a:endParaRPr lang="en-US" sz="880" dirty="0"/>
          </a:p>
        </p:txBody>
      </p:sp>
      <p:sp>
        <p:nvSpPr>
          <p:cNvPr id="29" name="Shape 26"/>
          <p:cNvSpPr/>
          <p:nvPr/>
        </p:nvSpPr>
        <p:spPr>
          <a:xfrm>
            <a:off x="8019288" y="4054256"/>
            <a:ext cx="731520" cy="169164"/>
          </a:xfrm>
          <a:prstGeom prst="roundRect">
            <a:avLst>
              <a:gd name="adj" fmla="val 48649"/>
            </a:avLst>
          </a:prstGeom>
          <a:solidFill>
            <a:srgbClr val="FDF1DE"/>
          </a:solidFill>
          <a:ln w="12700">
            <a:solidFill>
              <a:srgbClr val="FDF1DE"/>
            </a:solidFill>
            <a:prstDash val="solid"/>
          </a:ln>
        </p:spPr>
      </p:sp>
      <p:sp>
        <p:nvSpPr>
          <p:cNvPr id="30" name="Text 27"/>
          <p:cNvSpPr/>
          <p:nvPr/>
        </p:nvSpPr>
        <p:spPr>
          <a:xfrm>
            <a:off x="8019288" y="4054256"/>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1" name="Text 28"/>
          <p:cNvSpPr/>
          <p:nvPr/>
        </p:nvSpPr>
        <p:spPr>
          <a:xfrm>
            <a:off x="8842248" y="4008536"/>
            <a:ext cx="2633472" cy="4468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new boxes and folders month on month per department</a:t>
            </a:r>
            <a:endParaRPr lang="en-US" sz="880" dirty="0"/>
          </a:p>
        </p:txBody>
      </p:sp>
      <p:sp>
        <p:nvSpPr>
          <p:cNvPr id="32" name="Shape 29"/>
          <p:cNvSpPr/>
          <p:nvPr/>
        </p:nvSpPr>
        <p:spPr>
          <a:xfrm>
            <a:off x="8019288" y="4501065"/>
            <a:ext cx="731520" cy="169164"/>
          </a:xfrm>
          <a:prstGeom prst="roundRect">
            <a:avLst>
              <a:gd name="adj" fmla="val 48649"/>
            </a:avLst>
          </a:prstGeom>
          <a:solidFill>
            <a:srgbClr val="FDF1DE"/>
          </a:solidFill>
          <a:ln w="12700">
            <a:solidFill>
              <a:srgbClr val="FDF1DE"/>
            </a:solidFill>
            <a:prstDash val="solid"/>
          </a:ln>
        </p:spPr>
      </p:sp>
      <p:sp>
        <p:nvSpPr>
          <p:cNvPr id="33" name="Text 30"/>
          <p:cNvSpPr/>
          <p:nvPr/>
        </p:nvSpPr>
        <p:spPr>
          <a:xfrm>
            <a:off x="8019288" y="4501065"/>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4" name="Text 31"/>
          <p:cNvSpPr/>
          <p:nvPr/>
        </p:nvSpPr>
        <p:spPr>
          <a:xfrm>
            <a:off x="8842248" y="4455345"/>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and list of outstanding / pending requests</a:t>
            </a:r>
            <a:endParaRPr lang="en-US" sz="880" dirty="0"/>
          </a:p>
        </p:txBody>
      </p:sp>
      <p:sp>
        <p:nvSpPr>
          <p:cNvPr id="35" name="Shape 32"/>
          <p:cNvSpPr/>
          <p:nvPr/>
        </p:nvSpPr>
        <p:spPr>
          <a:xfrm>
            <a:off x="8019288" y="4808174"/>
            <a:ext cx="731520" cy="169164"/>
          </a:xfrm>
          <a:prstGeom prst="roundRect">
            <a:avLst>
              <a:gd name="adj" fmla="val 48649"/>
            </a:avLst>
          </a:prstGeom>
          <a:solidFill>
            <a:srgbClr val="FDF1DE"/>
          </a:solidFill>
          <a:ln w="12700">
            <a:solidFill>
              <a:srgbClr val="FDF1DE"/>
            </a:solidFill>
            <a:prstDash val="solid"/>
          </a:ln>
        </p:spPr>
      </p:sp>
      <p:sp>
        <p:nvSpPr>
          <p:cNvPr id="36" name="Text 33"/>
          <p:cNvSpPr/>
          <p:nvPr/>
        </p:nvSpPr>
        <p:spPr>
          <a:xfrm>
            <a:off x="8019288" y="4808174"/>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37" name="Text 34"/>
          <p:cNvSpPr/>
          <p:nvPr/>
        </p:nvSpPr>
        <p:spPr>
          <a:xfrm>
            <a:off x="8842248" y="4762454"/>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Physical counterparts identified but not transferred</a:t>
            </a:r>
            <a:endParaRPr lang="en-US" sz="880" dirty="0"/>
          </a:p>
        </p:txBody>
      </p:sp>
      <p:sp>
        <p:nvSpPr>
          <p:cNvPr id="38" name="Shape 35"/>
          <p:cNvSpPr/>
          <p:nvPr/>
        </p:nvSpPr>
        <p:spPr>
          <a:xfrm>
            <a:off x="8019288" y="5115283"/>
            <a:ext cx="731520" cy="169164"/>
          </a:xfrm>
          <a:prstGeom prst="roundRect">
            <a:avLst>
              <a:gd name="adj" fmla="val 48649"/>
            </a:avLst>
          </a:prstGeom>
          <a:solidFill>
            <a:srgbClr val="FDF1DE"/>
          </a:solidFill>
          <a:ln w="12700">
            <a:solidFill>
              <a:srgbClr val="FDF1DE"/>
            </a:solidFill>
            <a:prstDash val="solid"/>
          </a:ln>
        </p:spPr>
      </p:sp>
      <p:sp>
        <p:nvSpPr>
          <p:cNvPr id="39" name="Text 36"/>
          <p:cNvSpPr/>
          <p:nvPr/>
        </p:nvSpPr>
        <p:spPr>
          <a:xfrm>
            <a:off x="8019288" y="5115283"/>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40" name="Text 37"/>
          <p:cNvSpPr/>
          <p:nvPr/>
        </p:nvSpPr>
        <p:spPr>
          <a:xfrm>
            <a:off x="8842248" y="5069563"/>
            <a:ext cx="2633472" cy="307109"/>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Room capacity and % available storage capacity</a:t>
            </a:r>
            <a:endParaRPr lang="en-US" sz="880" dirty="0"/>
          </a:p>
        </p:txBody>
      </p:sp>
      <p:sp>
        <p:nvSpPr>
          <p:cNvPr id="41" name="Shape 38"/>
          <p:cNvSpPr/>
          <p:nvPr/>
        </p:nvSpPr>
        <p:spPr>
          <a:xfrm>
            <a:off x="502920" y="5779008"/>
            <a:ext cx="118872" cy="118872"/>
          </a:xfrm>
          <a:prstGeom prst="ellipse">
            <a:avLst/>
          </a:prstGeom>
          <a:solidFill>
            <a:srgbClr val="0072BC"/>
          </a:solidFill>
          <a:ln w="12700">
            <a:solidFill>
              <a:srgbClr val="0072BC"/>
            </a:solidFill>
            <a:prstDash val="solid"/>
          </a:ln>
        </p:spPr>
      </p:sp>
      <p:sp>
        <p:nvSpPr>
          <p:cNvPr id="42" name="Text 39"/>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seven columns from your slide 68, with your own wording.</a:t>
            </a:r>
            <a:endParaRPr lang="en-US" sz="1000" dirty="0"/>
          </a:p>
        </p:txBody>
      </p:sp>
      <p:sp>
        <p:nvSpPr>
          <p:cNvPr id="43" name="Shape 40"/>
          <p:cNvSpPr/>
          <p:nvPr/>
        </p:nvSpPr>
        <p:spPr>
          <a:xfrm>
            <a:off x="4270248" y="5779008"/>
            <a:ext cx="118872" cy="118872"/>
          </a:xfrm>
          <a:prstGeom prst="ellipse">
            <a:avLst/>
          </a:prstGeom>
          <a:solidFill>
            <a:srgbClr val="00A5A8"/>
          </a:solidFill>
          <a:ln w="12700">
            <a:solidFill>
              <a:srgbClr val="00A5A8"/>
            </a:solidFill>
            <a:prstDash val="solid"/>
          </a:ln>
        </p:spPr>
      </p:sp>
      <p:sp>
        <p:nvSpPr>
          <p:cNvPr id="44" name="Text 41"/>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Three locations: Archives Room, Records Center, Offsite Storage.</a:t>
            </a:r>
            <a:endParaRPr lang="en-US" sz="1000" dirty="0"/>
          </a:p>
        </p:txBody>
      </p:sp>
      <p:sp>
        <p:nvSpPr>
          <p:cNvPr id="45" name="Shape 42"/>
          <p:cNvSpPr/>
          <p:nvPr/>
        </p:nvSpPr>
        <p:spPr>
          <a:xfrm>
            <a:off x="8037576" y="5779008"/>
            <a:ext cx="118872" cy="118872"/>
          </a:xfrm>
          <a:prstGeom prst="ellipse">
            <a:avLst/>
          </a:prstGeom>
          <a:solidFill>
            <a:srgbClr val="5CA943"/>
          </a:solidFill>
          <a:ln w="12700">
            <a:solidFill>
              <a:srgbClr val="5CA943"/>
            </a:solidFill>
            <a:prstDash val="solid"/>
          </a:ln>
        </p:spPr>
      </p:sp>
      <p:sp>
        <p:nvSpPr>
          <p:cNvPr id="46" name="Text 43"/>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Below it, storage activity by department and how full each room is.</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Retrieval</a:t>
            </a:r>
            <a:endParaRPr lang="en-US" sz="2500" dirty="0"/>
          </a:p>
        </p:txBody>
      </p:sp>
      <p:sp>
        <p:nvSpPr>
          <p:cNvPr id="4" name="Shape 2"/>
          <p:cNvSpPr/>
          <p:nvPr/>
        </p:nvSpPr>
        <p:spPr>
          <a:xfrm>
            <a:off x="470916" y="1156716"/>
            <a:ext cx="7178040" cy="4103762"/>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a-03.png">    </p:cNvPr>
          <p:cNvPicPr>
            <a:picLocks noChangeAspect="1"/>
          </p:cNvPicPr>
          <p:nvPr/>
        </p:nvPicPr>
        <p:blipFill>
          <a:blip r:embed="rId1"/>
          <a:stretch>
            <a:fillRect/>
          </a:stretch>
        </p:blipFill>
        <p:spPr>
          <a:xfrm>
            <a:off x="502920" y="1188720"/>
            <a:ext cx="7114032" cy="4039754"/>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Location</a:t>
            </a:r>
            <a:endParaRPr lang="en-US" sz="880" dirty="0"/>
          </a:p>
        </p:txBody>
      </p:sp>
      <p:sp>
        <p:nvSpPr>
          <p:cNvPr id="11" name="Shape 8"/>
          <p:cNvSpPr/>
          <p:nvPr/>
        </p:nvSpPr>
        <p:spPr>
          <a:xfrm>
            <a:off x="8019288" y="20873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0873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0416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of requests</a:t>
            </a:r>
            <a:endParaRPr lang="en-US" sz="880" dirty="0"/>
          </a:p>
        </p:txBody>
      </p:sp>
      <p:sp>
        <p:nvSpPr>
          <p:cNvPr id="14" name="Shape 11"/>
          <p:cNvSpPr/>
          <p:nvPr/>
        </p:nvSpPr>
        <p:spPr>
          <a:xfrm>
            <a:off x="8019288" y="2409952"/>
            <a:ext cx="731520" cy="169164"/>
          </a:xfrm>
          <a:prstGeom prst="roundRect">
            <a:avLst>
              <a:gd name="adj" fmla="val 48649"/>
            </a:avLst>
          </a:prstGeom>
          <a:solidFill>
            <a:srgbClr val="FDF1DE"/>
          </a:solidFill>
          <a:ln w="12700">
            <a:solidFill>
              <a:srgbClr val="FDF1DE"/>
            </a:solidFill>
            <a:prstDash val="solid"/>
          </a:ln>
        </p:spPr>
      </p:sp>
      <p:sp>
        <p:nvSpPr>
          <p:cNvPr id="15" name="Text 12"/>
          <p:cNvSpPr/>
          <p:nvPr/>
        </p:nvSpPr>
        <p:spPr>
          <a:xfrm>
            <a:off x="8019288" y="240995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6" name="Text 13"/>
          <p:cNvSpPr/>
          <p:nvPr/>
        </p:nvSpPr>
        <p:spPr>
          <a:xfrm>
            <a:off x="8842248" y="23642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requestors (departments / RMs)</a:t>
            </a:r>
            <a:endParaRPr lang="en-US" sz="880" dirty="0"/>
          </a:p>
        </p:txBody>
      </p:sp>
      <p:sp>
        <p:nvSpPr>
          <p:cNvPr id="17" name="Shape 14"/>
          <p:cNvSpPr/>
          <p:nvPr/>
        </p:nvSpPr>
        <p:spPr>
          <a:xfrm>
            <a:off x="8019288" y="2732532"/>
            <a:ext cx="731520" cy="169164"/>
          </a:xfrm>
          <a:prstGeom prst="roundRect">
            <a:avLst>
              <a:gd name="adj" fmla="val 48649"/>
            </a:avLst>
          </a:prstGeom>
          <a:solidFill>
            <a:srgbClr val="FDF1DE"/>
          </a:solidFill>
          <a:ln w="12700">
            <a:solidFill>
              <a:srgbClr val="FDF1DE"/>
            </a:solidFill>
            <a:prstDash val="solid"/>
          </a:ln>
        </p:spPr>
      </p:sp>
      <p:sp>
        <p:nvSpPr>
          <p:cNvPr id="18" name="Text 15"/>
          <p:cNvSpPr/>
          <p:nvPr/>
        </p:nvSpPr>
        <p:spPr>
          <a:xfrm>
            <a:off x="8019288" y="273253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9" name="Text 16"/>
          <p:cNvSpPr/>
          <p:nvPr/>
        </p:nvSpPr>
        <p:spPr>
          <a:xfrm>
            <a:off x="8842248" y="268681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boxes retrieved</a:t>
            </a:r>
            <a:endParaRPr lang="en-US" sz="880" dirty="0"/>
          </a:p>
        </p:txBody>
      </p:sp>
      <p:sp>
        <p:nvSpPr>
          <p:cNvPr id="20" name="Shape 17"/>
          <p:cNvSpPr/>
          <p:nvPr/>
        </p:nvSpPr>
        <p:spPr>
          <a:xfrm>
            <a:off x="8019288" y="3055112"/>
            <a:ext cx="731520" cy="169164"/>
          </a:xfrm>
          <a:prstGeom prst="roundRect">
            <a:avLst>
              <a:gd name="adj" fmla="val 48649"/>
            </a:avLst>
          </a:prstGeom>
          <a:solidFill>
            <a:srgbClr val="FDF1DE"/>
          </a:solidFill>
          <a:ln w="12700">
            <a:solidFill>
              <a:srgbClr val="FDF1DE"/>
            </a:solidFill>
            <a:prstDash val="solid"/>
          </a:ln>
        </p:spPr>
      </p:sp>
      <p:sp>
        <p:nvSpPr>
          <p:cNvPr id="21" name="Text 18"/>
          <p:cNvSpPr/>
          <p:nvPr/>
        </p:nvSpPr>
        <p:spPr>
          <a:xfrm>
            <a:off x="8019288" y="305511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2" name="Text 19"/>
          <p:cNvSpPr/>
          <p:nvPr/>
        </p:nvSpPr>
        <p:spPr>
          <a:xfrm>
            <a:off x="8842248" y="300939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Total number of folders retrieved</a:t>
            </a:r>
            <a:endParaRPr lang="en-US" sz="880" dirty="0"/>
          </a:p>
        </p:txBody>
      </p:sp>
      <p:sp>
        <p:nvSpPr>
          <p:cNvPr id="23" name="Shape 20"/>
          <p:cNvSpPr/>
          <p:nvPr/>
        </p:nvSpPr>
        <p:spPr>
          <a:xfrm>
            <a:off x="8019288" y="3377692"/>
            <a:ext cx="731520" cy="169164"/>
          </a:xfrm>
          <a:prstGeom prst="roundRect">
            <a:avLst>
              <a:gd name="adj" fmla="val 48649"/>
            </a:avLst>
          </a:prstGeom>
          <a:solidFill>
            <a:srgbClr val="FDF1DE"/>
          </a:solidFill>
          <a:ln w="12700">
            <a:solidFill>
              <a:srgbClr val="FDF1DE"/>
            </a:solidFill>
            <a:prstDash val="solid"/>
          </a:ln>
        </p:spPr>
      </p:sp>
      <p:sp>
        <p:nvSpPr>
          <p:cNvPr id="24" name="Text 21"/>
          <p:cNvSpPr/>
          <p:nvPr/>
        </p:nvSpPr>
        <p:spPr>
          <a:xfrm>
            <a:off x="8019288" y="33776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5" name="Text 22"/>
          <p:cNvSpPr/>
          <p:nvPr/>
        </p:nvSpPr>
        <p:spPr>
          <a:xfrm>
            <a:off x="8842248" y="333197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Status: Loan, Return to owner, For Disposal</a:t>
            </a:r>
            <a:endParaRPr lang="en-US" sz="880" dirty="0"/>
          </a:p>
        </p:txBody>
      </p:sp>
      <p:sp>
        <p:nvSpPr>
          <p:cNvPr id="26" name="Shape 23"/>
          <p:cNvSpPr/>
          <p:nvPr/>
        </p:nvSpPr>
        <p:spPr>
          <a:xfrm>
            <a:off x="8019288" y="3700272"/>
            <a:ext cx="731520" cy="169164"/>
          </a:xfrm>
          <a:prstGeom prst="roundRect">
            <a:avLst>
              <a:gd name="adj" fmla="val 48649"/>
            </a:avLst>
          </a:prstGeom>
          <a:solidFill>
            <a:srgbClr val="FDF1DE"/>
          </a:solidFill>
          <a:ln w="12700">
            <a:solidFill>
              <a:srgbClr val="FDF1DE"/>
            </a:solidFill>
            <a:prstDash val="solid"/>
          </a:ln>
        </p:spPr>
      </p:sp>
      <p:sp>
        <p:nvSpPr>
          <p:cNvPr id="27" name="Text 24"/>
          <p:cNvSpPr/>
          <p:nvPr/>
        </p:nvSpPr>
        <p:spPr>
          <a:xfrm>
            <a:off x="8019288" y="37002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28" name="Text 25"/>
          <p:cNvSpPr/>
          <p:nvPr/>
        </p:nvSpPr>
        <p:spPr>
          <a:xfrm>
            <a:off x="8842248" y="36545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Remarks</a:t>
            </a:r>
            <a:endParaRPr lang="en-US" sz="880" dirty="0"/>
          </a:p>
        </p:txBody>
      </p:sp>
      <p:sp>
        <p:nvSpPr>
          <p:cNvPr id="29" name="Shape 26"/>
          <p:cNvSpPr/>
          <p:nvPr/>
        </p:nvSpPr>
        <p:spPr>
          <a:xfrm>
            <a:off x="502920" y="5779008"/>
            <a:ext cx="118872" cy="118872"/>
          </a:xfrm>
          <a:prstGeom prst="ellipse">
            <a:avLst/>
          </a:prstGeom>
          <a:solidFill>
            <a:srgbClr val="0072BC"/>
          </a:solidFill>
          <a:ln w="12700">
            <a:solidFill>
              <a:srgbClr val="0072BC"/>
            </a:solidFill>
            <a:prstDash val="solid"/>
          </a:ln>
        </p:spPr>
      </p:sp>
      <p:sp>
        <p:nvSpPr>
          <p:cNvPr id="30" name="Text 27"/>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All seven columns from your slide 69.</a:t>
            </a:r>
            <a:endParaRPr lang="en-US" sz="1000" dirty="0"/>
          </a:p>
        </p:txBody>
      </p:sp>
      <p:sp>
        <p:nvSpPr>
          <p:cNvPr id="31" name="Shape 28"/>
          <p:cNvSpPr/>
          <p:nvPr/>
        </p:nvSpPr>
        <p:spPr>
          <a:xfrm>
            <a:off x="4270248" y="5779008"/>
            <a:ext cx="118872" cy="118872"/>
          </a:xfrm>
          <a:prstGeom prst="ellipse">
            <a:avLst/>
          </a:prstGeom>
          <a:solidFill>
            <a:srgbClr val="00A5A8"/>
          </a:solidFill>
          <a:ln w="12700">
            <a:solidFill>
              <a:srgbClr val="00A5A8"/>
            </a:solidFill>
            <a:prstDash val="solid"/>
          </a:ln>
        </p:spPr>
      </p:sp>
      <p:sp>
        <p:nvSpPr>
          <p:cNvPr id="32" name="Text 29"/>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Status uses your own three words: Loan, Return to owner, For Disposal.</a:t>
            </a:r>
            <a:endParaRPr lang="en-US" sz="1000" dirty="0"/>
          </a:p>
        </p:txBody>
      </p:sp>
      <p:sp>
        <p:nvSpPr>
          <p:cNvPr id="33" name="Shape 30"/>
          <p:cNvSpPr/>
          <p:nvPr/>
        </p:nvSpPr>
        <p:spPr>
          <a:xfrm>
            <a:off x="8037576" y="5779008"/>
            <a:ext cx="118872" cy="118872"/>
          </a:xfrm>
          <a:prstGeom prst="ellipse">
            <a:avLst/>
          </a:prstGeom>
          <a:solidFill>
            <a:srgbClr val="5CA943"/>
          </a:solidFill>
          <a:ln w="12700">
            <a:solidFill>
              <a:srgbClr val="5CA943"/>
            </a:solidFill>
            <a:prstDash val="solid"/>
          </a:ln>
        </p:spPr>
      </p:sp>
      <p:sp>
        <p:nvSpPr>
          <p:cNvPr id="34" name="Text 31"/>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Everything on this table is invented, because we cannot reach the request system.</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Activity, disposal and capacity</a:t>
            </a:r>
            <a:endParaRPr lang="en-US" sz="2500" dirty="0"/>
          </a:p>
        </p:txBody>
      </p:sp>
      <p:sp>
        <p:nvSpPr>
          <p:cNvPr id="4" name="Shape 2"/>
          <p:cNvSpPr/>
          <p:nvPr/>
        </p:nvSpPr>
        <p:spPr>
          <a:xfrm>
            <a:off x="470916" y="1156716"/>
            <a:ext cx="7178040" cy="3290730"/>
          </a:xfrm>
          <a:prstGeom prst="rect">
            <a:avLst/>
          </a:prstGeom>
          <a:solidFill>
            <a:srgbClr val="F0F4F8"/>
          </a:solidFill>
          <a:ln w="12700">
            <a:solidFill>
              <a:srgbClr val="DCE4EC"/>
            </a:solidFill>
            <a:prstDash val="solid"/>
          </a:ln>
          <a:effectLst>
            <a:outerShdw sx="100000" sy="100000" kx="0" ky="0" algn="bl" rotWithShape="0" blurRad="177800" dist="25400" dir="5400000">
              <a:srgbClr val="8FA3B8">
                <a:alpha val="35000"/>
              </a:srgbClr>
            </a:outerShdw>
          </a:effectLst>
        </p:spPr>
      </p:sp>
      <p:pic>
        <p:nvPicPr>
          <p:cNvPr id="5" name="Image 0" descr="/home/user/Jim/deck/shots/ra-04.png">    </p:cNvPr>
          <p:cNvPicPr>
            <a:picLocks noChangeAspect="1"/>
          </p:cNvPicPr>
          <p:nvPr/>
        </p:nvPicPr>
        <p:blipFill>
          <a:blip r:embed="rId1"/>
          <a:stretch>
            <a:fillRect/>
          </a:stretch>
        </p:blipFill>
        <p:spPr>
          <a:xfrm>
            <a:off x="502920" y="1188720"/>
            <a:ext cx="7114032" cy="3226722"/>
          </a:xfrm>
          <a:prstGeom prst="rect">
            <a:avLst/>
          </a:prstGeom>
        </p:spPr>
      </p:pic>
      <p:sp>
        <p:nvSpPr>
          <p:cNvPr id="6" name="Shape 3"/>
          <p:cNvSpPr/>
          <p:nvPr/>
        </p:nvSpPr>
        <p:spPr>
          <a:xfrm>
            <a:off x="7818120" y="1188720"/>
            <a:ext cx="3867912" cy="4370832"/>
          </a:xfrm>
          <a:prstGeom prst="roundRect">
            <a:avLst>
              <a:gd name="adj" fmla="val 1418"/>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7" name="Text 4"/>
          <p:cNvSpPr/>
          <p:nvPr/>
        </p:nvSpPr>
        <p:spPr>
          <a:xfrm>
            <a:off x="8046720" y="1389888"/>
            <a:ext cx="3410712" cy="219456"/>
          </a:xfrm>
          <a:prstGeom prst="rect">
            <a:avLst/>
          </a:prstGeom>
          <a:noFill/>
          <a:ln/>
        </p:spPr>
        <p:txBody>
          <a:bodyPr wrap="square" lIns="0" tIns="0" rIns="0" bIns="0" rtlCol="0" anchor="ctr"/>
          <a:lstStyle/>
          <a:p>
            <a:pPr indent="0" marL="0">
              <a:buNone/>
            </a:pPr>
            <a:r>
              <a:rPr lang="en-US" sz="800" b="1" spc="90" kern="0" dirty="0">
                <a:solidFill>
                  <a:srgbClr val="6B7A8C"/>
                </a:solidFill>
                <a:latin typeface="Calibri" pitchFamily="34" charset="0"/>
                <a:ea typeface="Calibri" pitchFamily="34" charset="-122"/>
                <a:cs typeface="Calibri" pitchFamily="34" charset="-120"/>
              </a:rPr>
              <a:t>WHAT YOU ASKED FOR ON THIS SCREEN</a:t>
            </a:r>
            <a:endParaRPr lang="en-US" sz="800" dirty="0"/>
          </a:p>
        </p:txBody>
      </p:sp>
      <p:sp>
        <p:nvSpPr>
          <p:cNvPr id="8" name="Shape 5"/>
          <p:cNvSpPr/>
          <p:nvPr/>
        </p:nvSpPr>
        <p:spPr>
          <a:xfrm>
            <a:off x="8019288" y="1764792"/>
            <a:ext cx="731520" cy="169164"/>
          </a:xfrm>
          <a:prstGeom prst="roundRect">
            <a:avLst>
              <a:gd name="adj" fmla="val 48649"/>
            </a:avLst>
          </a:prstGeom>
          <a:solidFill>
            <a:srgbClr val="FDF1DE"/>
          </a:solidFill>
          <a:ln w="12700">
            <a:solidFill>
              <a:srgbClr val="FDF1DE"/>
            </a:solidFill>
            <a:prstDash val="solid"/>
          </a:ln>
        </p:spPr>
      </p:sp>
      <p:sp>
        <p:nvSpPr>
          <p:cNvPr id="9" name="Text 6"/>
          <p:cNvSpPr/>
          <p:nvPr/>
        </p:nvSpPr>
        <p:spPr>
          <a:xfrm>
            <a:off x="8019288" y="176479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0" name="Text 7"/>
          <p:cNvSpPr/>
          <p:nvPr/>
        </p:nvSpPr>
        <p:spPr>
          <a:xfrm>
            <a:off x="8842248" y="171907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Indicator: retrieval requests and boxes / folders retrieved month on month per department</a:t>
            </a:r>
            <a:endParaRPr lang="en-US" sz="880" dirty="0"/>
          </a:p>
        </p:txBody>
      </p:sp>
      <p:sp>
        <p:nvSpPr>
          <p:cNvPr id="11" name="Shape 8"/>
          <p:cNvSpPr/>
          <p:nvPr/>
        </p:nvSpPr>
        <p:spPr>
          <a:xfrm>
            <a:off x="8019288" y="2227072"/>
            <a:ext cx="731520" cy="169164"/>
          </a:xfrm>
          <a:prstGeom prst="roundRect">
            <a:avLst>
              <a:gd name="adj" fmla="val 48649"/>
            </a:avLst>
          </a:prstGeom>
          <a:solidFill>
            <a:srgbClr val="FDF1DE"/>
          </a:solidFill>
          <a:ln w="12700">
            <a:solidFill>
              <a:srgbClr val="FDF1DE"/>
            </a:solidFill>
            <a:prstDash val="solid"/>
          </a:ln>
        </p:spPr>
      </p:sp>
      <p:sp>
        <p:nvSpPr>
          <p:cNvPr id="12" name="Text 9"/>
          <p:cNvSpPr/>
          <p:nvPr/>
        </p:nvSpPr>
        <p:spPr>
          <a:xfrm>
            <a:off x="8019288" y="222707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3" name="Text 10"/>
          <p:cNvSpPr/>
          <p:nvPr/>
        </p:nvSpPr>
        <p:spPr>
          <a:xfrm>
            <a:off x="8842248" y="218135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and list of outstanding / pending requests</a:t>
            </a:r>
            <a:endParaRPr lang="en-US" sz="880" dirty="0"/>
          </a:p>
        </p:txBody>
      </p:sp>
      <p:sp>
        <p:nvSpPr>
          <p:cNvPr id="14" name="Shape 11"/>
          <p:cNvSpPr/>
          <p:nvPr/>
        </p:nvSpPr>
        <p:spPr>
          <a:xfrm>
            <a:off x="8019288" y="2549652"/>
            <a:ext cx="731520" cy="169164"/>
          </a:xfrm>
          <a:prstGeom prst="roundRect">
            <a:avLst>
              <a:gd name="adj" fmla="val 48649"/>
            </a:avLst>
          </a:prstGeom>
          <a:solidFill>
            <a:srgbClr val="FDF1DE"/>
          </a:solidFill>
          <a:ln w="12700">
            <a:solidFill>
              <a:srgbClr val="FDF1DE"/>
            </a:solidFill>
            <a:prstDash val="solid"/>
          </a:ln>
        </p:spPr>
      </p:sp>
      <p:sp>
        <p:nvSpPr>
          <p:cNvPr id="15" name="Text 12"/>
          <p:cNvSpPr/>
          <p:nvPr/>
        </p:nvSpPr>
        <p:spPr>
          <a:xfrm>
            <a:off x="8019288" y="254965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6" name="Text 13"/>
          <p:cNvSpPr/>
          <p:nvPr/>
        </p:nvSpPr>
        <p:spPr>
          <a:xfrm>
            <a:off x="8842248" y="2503932"/>
            <a:ext cx="2633472" cy="3225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No. of boxes / folders disposed</a:t>
            </a:r>
            <a:endParaRPr lang="en-US" sz="880" dirty="0"/>
          </a:p>
        </p:txBody>
      </p:sp>
      <p:sp>
        <p:nvSpPr>
          <p:cNvPr id="17" name="Shape 14"/>
          <p:cNvSpPr/>
          <p:nvPr/>
        </p:nvSpPr>
        <p:spPr>
          <a:xfrm>
            <a:off x="8019288" y="2872232"/>
            <a:ext cx="731520" cy="169164"/>
          </a:xfrm>
          <a:prstGeom prst="roundRect">
            <a:avLst>
              <a:gd name="adj" fmla="val 48649"/>
            </a:avLst>
          </a:prstGeom>
          <a:solidFill>
            <a:srgbClr val="FDF1DE"/>
          </a:solidFill>
          <a:ln w="12700">
            <a:solidFill>
              <a:srgbClr val="FDF1DE"/>
            </a:solidFill>
            <a:prstDash val="solid"/>
          </a:ln>
        </p:spPr>
      </p:sp>
      <p:sp>
        <p:nvSpPr>
          <p:cNvPr id="18" name="Text 15"/>
          <p:cNvSpPr/>
          <p:nvPr/>
        </p:nvSpPr>
        <p:spPr>
          <a:xfrm>
            <a:off x="8019288" y="2872232"/>
            <a:ext cx="731520" cy="169164"/>
          </a:xfrm>
          <a:prstGeom prst="rect">
            <a:avLst/>
          </a:prstGeom>
          <a:noFill/>
          <a:ln/>
        </p:spPr>
        <p:txBody>
          <a:bodyPr wrap="square" lIns="0" tIns="0" rIns="0" bIns="0" rtlCol="0" anchor="ctr"/>
          <a:lstStyle/>
          <a:p>
            <a:pPr algn="ctr" indent="0" marL="0">
              <a:buNone/>
            </a:pPr>
            <a:r>
              <a:rPr lang="en-US" sz="630" b="1" spc="30" kern="0" dirty="0">
                <a:solidFill>
                  <a:srgbClr val="C77B18"/>
                </a:solidFill>
                <a:latin typeface="Calibri" pitchFamily="34" charset="0"/>
                <a:ea typeface="Calibri" pitchFamily="34" charset="-122"/>
                <a:cs typeface="Calibri" pitchFamily="34" charset="-120"/>
              </a:rPr>
              <a:t>PLACEHOLDER</a:t>
            </a:r>
            <a:endParaRPr lang="en-US" sz="630" dirty="0"/>
          </a:p>
        </p:txBody>
      </p:sp>
      <p:sp>
        <p:nvSpPr>
          <p:cNvPr id="19" name="Text 16"/>
          <p:cNvSpPr/>
          <p:nvPr/>
        </p:nvSpPr>
        <p:spPr>
          <a:xfrm>
            <a:off x="8842248" y="2826512"/>
            <a:ext cx="2633472" cy="462280"/>
          </a:xfrm>
          <a:prstGeom prst="rect">
            <a:avLst/>
          </a:prstGeom>
          <a:noFill/>
          <a:ln/>
        </p:spPr>
        <p:txBody>
          <a:bodyPr wrap="square" lIns="0" tIns="0" rIns="0" bIns="0" rtlCol="0" anchor="t"/>
          <a:lstStyle/>
          <a:p>
            <a:pPr indent="0" marL="0">
              <a:lnSpc>
                <a:spcPts val="1100"/>
              </a:lnSpc>
              <a:buNone/>
            </a:pPr>
            <a:r>
              <a:rPr lang="en-US" sz="880" dirty="0">
                <a:solidFill>
                  <a:srgbClr val="33475F"/>
                </a:solidFill>
                <a:latin typeface="Calibri" pitchFamily="34" charset="0"/>
                <a:ea typeface="Calibri" pitchFamily="34" charset="-122"/>
                <a:cs typeface="Calibri" pitchFamily="34" charset="-120"/>
              </a:rPr>
              <a:t>Can room activities update capacity and freed up storage?</a:t>
            </a:r>
            <a:endParaRPr lang="en-US" sz="880" dirty="0"/>
          </a:p>
        </p:txBody>
      </p:sp>
      <p:sp>
        <p:nvSpPr>
          <p:cNvPr id="20" name="Shape 17"/>
          <p:cNvSpPr/>
          <p:nvPr/>
        </p:nvSpPr>
        <p:spPr>
          <a:xfrm>
            <a:off x="8019288" y="3334512"/>
            <a:ext cx="731520" cy="169164"/>
          </a:xfrm>
          <a:prstGeom prst="roundRect">
            <a:avLst>
              <a:gd name="adj" fmla="val 48649"/>
            </a:avLst>
          </a:prstGeom>
          <a:solidFill>
            <a:srgbClr val="E6EEF4"/>
          </a:solidFill>
          <a:ln w="12700">
            <a:solidFill>
              <a:srgbClr val="E6EEF4"/>
            </a:solidFill>
            <a:prstDash val="solid"/>
          </a:ln>
        </p:spPr>
      </p:sp>
      <p:sp>
        <p:nvSpPr>
          <p:cNvPr id="21" name="Text 18"/>
          <p:cNvSpPr/>
          <p:nvPr/>
        </p:nvSpPr>
        <p:spPr>
          <a:xfrm>
            <a:off x="8019288" y="333451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2" name="Text 19"/>
          <p:cNvSpPr/>
          <p:nvPr/>
        </p:nvSpPr>
        <p:spPr>
          <a:xfrm>
            <a:off x="8842248" y="328879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Retrieval as processed from eServe</a:t>
            </a:r>
            <a:endParaRPr lang="en-US" sz="880" dirty="0"/>
          </a:p>
        </p:txBody>
      </p:sp>
      <p:sp>
        <p:nvSpPr>
          <p:cNvPr id="23" name="Shape 20"/>
          <p:cNvSpPr/>
          <p:nvPr/>
        </p:nvSpPr>
        <p:spPr>
          <a:xfrm>
            <a:off x="8019288" y="3657092"/>
            <a:ext cx="731520" cy="169164"/>
          </a:xfrm>
          <a:prstGeom prst="roundRect">
            <a:avLst>
              <a:gd name="adj" fmla="val 48649"/>
            </a:avLst>
          </a:prstGeom>
          <a:solidFill>
            <a:srgbClr val="E6EEF4"/>
          </a:solidFill>
          <a:ln w="12700">
            <a:solidFill>
              <a:srgbClr val="E6EEF4"/>
            </a:solidFill>
            <a:prstDash val="solid"/>
          </a:ln>
        </p:spPr>
      </p:sp>
      <p:sp>
        <p:nvSpPr>
          <p:cNvPr id="24" name="Text 21"/>
          <p:cNvSpPr/>
          <p:nvPr/>
        </p:nvSpPr>
        <p:spPr>
          <a:xfrm>
            <a:off x="8019288" y="3657092"/>
            <a:ext cx="731520" cy="169164"/>
          </a:xfrm>
          <a:prstGeom prst="rect">
            <a:avLst/>
          </a:prstGeom>
          <a:noFill/>
          <a:ln/>
        </p:spPr>
        <p:txBody>
          <a:bodyPr wrap="square" lIns="0" tIns="0" rIns="0" bIns="0" rtlCol="0" anchor="ctr"/>
          <a:lstStyle/>
          <a:p>
            <a:pPr algn="ctr" indent="0" marL="0">
              <a:buNone/>
            </a:pPr>
            <a:r>
              <a:rPr lang="en-US" sz="630" b="1" spc="30" kern="0" dirty="0">
                <a:solidFill>
                  <a:srgbClr val="3D6E8C"/>
                </a:solidFill>
                <a:latin typeface="Calibri" pitchFamily="34" charset="0"/>
                <a:ea typeface="Calibri" pitchFamily="34" charset="-122"/>
                <a:cs typeface="Calibri" pitchFamily="34" charset="-120"/>
              </a:rPr>
              <a:t>LATER RELEASE</a:t>
            </a:r>
            <a:endParaRPr lang="en-US" sz="630" dirty="0"/>
          </a:p>
        </p:txBody>
      </p:sp>
      <p:sp>
        <p:nvSpPr>
          <p:cNvPr id="25" name="Text 22"/>
          <p:cNvSpPr/>
          <p:nvPr/>
        </p:nvSpPr>
        <p:spPr>
          <a:xfrm>
            <a:off x="8842248" y="3611372"/>
            <a:ext cx="2633472" cy="322580"/>
          </a:xfrm>
          <a:prstGeom prst="rect">
            <a:avLst/>
          </a:prstGeom>
          <a:noFill/>
          <a:ln/>
        </p:spPr>
        <p:txBody>
          <a:bodyPr wrap="square" lIns="0" tIns="0" rIns="0" bIns="0" rtlCol="0" anchor="t"/>
          <a:lstStyle/>
          <a:p>
            <a:pPr indent="0" marL="0">
              <a:lnSpc>
                <a:spcPts val="1100"/>
              </a:lnSpc>
              <a:buNone/>
            </a:pPr>
            <a:r>
              <a:rPr lang="en-US" sz="880" b="1" dirty="0">
                <a:solidFill>
                  <a:srgbClr val="3D6E8C"/>
                </a:solidFill>
                <a:latin typeface="Calibri" pitchFamily="34" charset="0"/>
                <a:ea typeface="Calibri" pitchFamily="34" charset="-122"/>
                <a:cs typeface="Calibri" pitchFamily="34" charset="-120"/>
              </a:rPr>
              <a:t>What is available in Opus and how we can apply it</a:t>
            </a:r>
            <a:endParaRPr lang="en-US" sz="880" dirty="0"/>
          </a:p>
        </p:txBody>
      </p:sp>
      <p:sp>
        <p:nvSpPr>
          <p:cNvPr id="26" name="Shape 23"/>
          <p:cNvSpPr/>
          <p:nvPr/>
        </p:nvSpPr>
        <p:spPr>
          <a:xfrm>
            <a:off x="502920" y="5779008"/>
            <a:ext cx="118872" cy="118872"/>
          </a:xfrm>
          <a:prstGeom prst="ellipse">
            <a:avLst/>
          </a:prstGeom>
          <a:solidFill>
            <a:srgbClr val="0072BC"/>
          </a:solidFill>
          <a:ln w="12700">
            <a:solidFill>
              <a:srgbClr val="0072BC"/>
            </a:solidFill>
            <a:prstDash val="solid"/>
          </a:ln>
        </p:spPr>
      </p:sp>
      <p:sp>
        <p:nvSpPr>
          <p:cNvPr id="27" name="Text 24"/>
          <p:cNvSpPr/>
          <p:nvPr/>
        </p:nvSpPr>
        <p:spPr>
          <a:xfrm>
            <a:off x="722376"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Retrieval by department, what was disposed, and how much space that freed.</a:t>
            </a:r>
            <a:endParaRPr lang="en-US" sz="1000" dirty="0"/>
          </a:p>
        </p:txBody>
      </p:sp>
      <p:sp>
        <p:nvSpPr>
          <p:cNvPr id="28" name="Shape 25"/>
          <p:cNvSpPr/>
          <p:nvPr/>
        </p:nvSpPr>
        <p:spPr>
          <a:xfrm>
            <a:off x="4270248" y="5779008"/>
            <a:ext cx="118872" cy="118872"/>
          </a:xfrm>
          <a:prstGeom prst="ellipse">
            <a:avLst/>
          </a:prstGeom>
          <a:solidFill>
            <a:srgbClr val="00A5A8"/>
          </a:solidFill>
          <a:ln w="12700">
            <a:solidFill>
              <a:srgbClr val="00A5A8"/>
            </a:solidFill>
            <a:prstDash val="solid"/>
          </a:ln>
        </p:spPr>
      </p:sp>
      <p:sp>
        <p:nvSpPr>
          <p:cNvPr id="29" name="Text 26"/>
          <p:cNvSpPr/>
          <p:nvPr/>
        </p:nvSpPr>
        <p:spPr>
          <a:xfrm>
            <a:off x="4489704"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The layout answers every indicator you asked for.</a:t>
            </a:r>
            <a:endParaRPr lang="en-US" sz="1000" dirty="0"/>
          </a:p>
        </p:txBody>
      </p:sp>
      <p:sp>
        <p:nvSpPr>
          <p:cNvPr id="30" name="Shape 27"/>
          <p:cNvSpPr/>
          <p:nvPr/>
        </p:nvSpPr>
        <p:spPr>
          <a:xfrm>
            <a:off x="8037576" y="5779008"/>
            <a:ext cx="118872" cy="118872"/>
          </a:xfrm>
          <a:prstGeom prst="ellipse">
            <a:avLst/>
          </a:prstGeom>
          <a:solidFill>
            <a:srgbClr val="5CA943"/>
          </a:solidFill>
          <a:ln w="12700">
            <a:solidFill>
              <a:srgbClr val="5CA943"/>
            </a:solidFill>
            <a:prstDash val="solid"/>
          </a:ln>
        </p:spPr>
      </p:sp>
      <p:sp>
        <p:nvSpPr>
          <p:cNvPr id="31" name="Text 28"/>
          <p:cNvSpPr/>
          <p:nvPr/>
        </p:nvSpPr>
        <p:spPr>
          <a:xfrm>
            <a:off x="8257032" y="5669280"/>
            <a:ext cx="3401568" cy="786384"/>
          </a:xfrm>
          <a:prstGeom prst="rect">
            <a:avLst/>
          </a:prstGeom>
          <a:noFill/>
          <a:ln/>
        </p:spPr>
        <p:txBody>
          <a:bodyPr wrap="square" lIns="0" tIns="0" rIns="0" bIns="0" rtlCol="0" anchor="t"/>
          <a:lstStyle/>
          <a:p>
            <a:pPr indent="0" marL="0">
              <a:lnSpc>
                <a:spcPts val="1250"/>
              </a:lnSpc>
              <a:buNone/>
            </a:pPr>
            <a:r>
              <a:rPr lang="en-US" sz="1000" dirty="0">
                <a:solidFill>
                  <a:srgbClr val="33475F"/>
                </a:solidFill>
                <a:latin typeface="Calibri" pitchFamily="34" charset="0"/>
                <a:ea typeface="Calibri" pitchFamily="34" charset="-122"/>
                <a:cs typeface="Calibri" pitchFamily="34" charset="-120"/>
              </a:rPr>
              <a:t>None of it is measured yet. That is what the questions slide is for.</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This one is about paper, and paper comes after Utilization.</a:t>
            </a:r>
            <a:endParaRPr lang="en-US" sz="2500" dirty="0"/>
          </a:p>
        </p:txBody>
      </p:sp>
      <p:sp>
        <p:nvSpPr>
          <p:cNvPr id="4" name="Shape 2"/>
          <p:cNvSpPr/>
          <p:nvPr/>
        </p:nvSpPr>
        <p:spPr>
          <a:xfrm>
            <a:off x="502920" y="1207008"/>
            <a:ext cx="5486400" cy="3200400"/>
          </a:xfrm>
          <a:prstGeom prst="roundRect">
            <a:avLst>
              <a:gd name="adj" fmla="val 2000"/>
            </a:avLst>
          </a:prstGeom>
          <a:solidFill>
            <a:srgbClr val="EAF4E4"/>
          </a:solidFill>
          <a:ln w="12700">
            <a:solidFill>
              <a:srgbClr val="CFE4C2"/>
            </a:solidFill>
            <a:prstDash val="solid"/>
          </a:ln>
        </p:spPr>
      </p:sp>
      <p:sp>
        <p:nvSpPr>
          <p:cNvPr id="5" name="Text 3"/>
          <p:cNvSpPr/>
          <p:nvPr/>
        </p:nvSpPr>
        <p:spPr>
          <a:xfrm>
            <a:off x="822960" y="1481328"/>
            <a:ext cx="4572000" cy="219456"/>
          </a:xfrm>
          <a:prstGeom prst="rect">
            <a:avLst/>
          </a:prstGeom>
          <a:noFill/>
          <a:ln/>
        </p:spPr>
        <p:txBody>
          <a:bodyPr wrap="square" lIns="0" tIns="0" rIns="0" bIns="0" rtlCol="0" anchor="ctr"/>
          <a:lstStyle/>
          <a:p>
            <a:pPr indent="0" marL="0">
              <a:buNone/>
            </a:pPr>
            <a:r>
              <a:rPr lang="en-US" sz="900" b="1" spc="100" kern="0" dirty="0">
                <a:solidFill>
                  <a:srgbClr val="3F7A2C"/>
                </a:solidFill>
                <a:latin typeface="Calibri" pitchFamily="34" charset="0"/>
                <a:ea typeface="Calibri" pitchFamily="34" charset="-122"/>
                <a:cs typeface="Calibri" pitchFamily="34" charset="-120"/>
              </a:rPr>
              <a:t>WHAT WORKS TODAY</a:t>
            </a:r>
            <a:endParaRPr lang="en-US" sz="900" dirty="0"/>
          </a:p>
        </p:txBody>
      </p:sp>
      <p:sp>
        <p:nvSpPr>
          <p:cNvPr id="6" name="Text 4"/>
          <p:cNvSpPr/>
          <p:nvPr/>
        </p:nvSpPr>
        <p:spPr>
          <a:xfrm>
            <a:off x="822960" y="1847088"/>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170432" y="1810512"/>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One figure here is real: how many declared records are marked as having a paper copy.</a:t>
            </a:r>
            <a:endParaRPr lang="en-US" sz="1150" dirty="0"/>
          </a:p>
        </p:txBody>
      </p:sp>
      <p:sp>
        <p:nvSpPr>
          <p:cNvPr id="8" name="Text 6"/>
          <p:cNvSpPr/>
          <p:nvPr/>
        </p:nvSpPr>
        <p:spPr>
          <a:xfrm>
            <a:off x="822960" y="2633472"/>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70432" y="2596896"/>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That is the bridge between this report and what RAC physically holds.</a:t>
            </a:r>
            <a:endParaRPr lang="en-US" sz="1150" dirty="0"/>
          </a:p>
        </p:txBody>
      </p:sp>
      <p:sp>
        <p:nvSpPr>
          <p:cNvPr id="10" name="Text 8"/>
          <p:cNvSpPr/>
          <p:nvPr/>
        </p:nvSpPr>
        <p:spPr>
          <a:xfrm>
            <a:off x="822960" y="3419856"/>
            <a:ext cx="274320" cy="274320"/>
          </a:xfrm>
          <a:prstGeom prst="rect">
            <a:avLst/>
          </a:prstGeom>
          <a:noFill/>
          <a:ln/>
        </p:spPr>
        <p:txBody>
          <a:bodyPr wrap="square" lIns="0" tIns="0" rIns="0" bIns="0" rtlCol="0" anchor="ctr"/>
          <a:lstStyle/>
          <a:p>
            <a:pPr indent="0" marL="0">
              <a:buNone/>
            </a:pPr>
            <a:r>
              <a:rPr lang="en-US" sz="1300" b="1" dirty="0">
                <a:solidFill>
                  <a:srgbClr val="5CA943"/>
                </a:solidFill>
                <a:latin typeface="Calibri" pitchFamily="34" charset="0"/>
                <a:ea typeface="Calibri" pitchFamily="34" charset="-122"/>
                <a:cs typeface="Calibri" pitchFamily="34" charset="-120"/>
              </a:rPr>
              <a:t>✓</a:t>
            </a:r>
            <a:endParaRPr lang="en-US" sz="1300" dirty="0"/>
          </a:p>
        </p:txBody>
      </p:sp>
      <p:sp>
        <p:nvSpPr>
          <p:cNvPr id="11" name="Text 9"/>
          <p:cNvSpPr/>
          <p:nvPr/>
        </p:nvSpPr>
        <p:spPr>
          <a:xfrm>
            <a:off x="1170432" y="3383280"/>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The layout answers every column and every indicator you drew.</a:t>
            </a:r>
            <a:endParaRPr lang="en-US" sz="1150" dirty="0"/>
          </a:p>
        </p:txBody>
      </p:sp>
      <p:sp>
        <p:nvSpPr>
          <p:cNvPr id="12" name="Shape 10"/>
          <p:cNvSpPr/>
          <p:nvPr/>
        </p:nvSpPr>
        <p:spPr>
          <a:xfrm>
            <a:off x="6199632" y="1207008"/>
            <a:ext cx="5486400" cy="3200400"/>
          </a:xfrm>
          <a:prstGeom prst="roundRect">
            <a:avLst>
              <a:gd name="adj" fmla="val 2000"/>
            </a:avLst>
          </a:prstGeom>
          <a:solidFill>
            <a:srgbClr val="E6EEF4"/>
          </a:solidFill>
          <a:ln w="12700">
            <a:solidFill>
              <a:srgbClr val="C6D6E2"/>
            </a:solidFill>
            <a:prstDash val="solid"/>
          </a:ln>
        </p:spPr>
      </p:sp>
      <p:sp>
        <p:nvSpPr>
          <p:cNvPr id="13" name="Text 11"/>
          <p:cNvSpPr/>
          <p:nvPr/>
        </p:nvSpPr>
        <p:spPr>
          <a:xfrm>
            <a:off x="6519672" y="1481328"/>
            <a:ext cx="4846320" cy="219456"/>
          </a:xfrm>
          <a:prstGeom prst="rect">
            <a:avLst/>
          </a:prstGeom>
          <a:noFill/>
          <a:ln/>
        </p:spPr>
        <p:txBody>
          <a:bodyPr wrap="square" lIns="0" tIns="0" rIns="0" bIns="0" rtlCol="0" anchor="ctr"/>
          <a:lstStyle/>
          <a:p>
            <a:pPr indent="0" marL="0">
              <a:buNone/>
            </a:pPr>
            <a:r>
              <a:rPr lang="en-US" sz="900" b="1" spc="100" kern="0" dirty="0">
                <a:solidFill>
                  <a:srgbClr val="3D6E8C"/>
                </a:solidFill>
                <a:latin typeface="Calibri" pitchFamily="34" charset="0"/>
                <a:ea typeface="Calibri" pitchFamily="34" charset="-122"/>
                <a:cs typeface="Calibri" pitchFamily="34" charset="-120"/>
              </a:rPr>
              <a:t>WHAT CANNOT WORK YET, AND WHY</a:t>
            </a:r>
            <a:endParaRPr lang="en-US" sz="900" dirty="0"/>
          </a:p>
        </p:txBody>
      </p:sp>
      <p:sp>
        <p:nvSpPr>
          <p:cNvPr id="14" name="Text 12"/>
          <p:cNvSpPr/>
          <p:nvPr/>
        </p:nvSpPr>
        <p:spPr>
          <a:xfrm>
            <a:off x="6519672" y="1847088"/>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6867144" y="1810512"/>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Boxes, folders, rooms, requests and retrievals live in the physical world.</a:t>
            </a:r>
            <a:endParaRPr lang="en-US" sz="1150" dirty="0"/>
          </a:p>
        </p:txBody>
      </p:sp>
      <p:sp>
        <p:nvSpPr>
          <p:cNvPr id="16" name="Text 14"/>
          <p:cNvSpPr/>
          <p:nvPr/>
        </p:nvSpPr>
        <p:spPr>
          <a:xfrm>
            <a:off x="6519672" y="2633472"/>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7" name="Text 15"/>
          <p:cNvSpPr/>
          <p:nvPr/>
        </p:nvSpPr>
        <p:spPr>
          <a:xfrm>
            <a:off x="6867144" y="2596896"/>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The systems that will track them are part of the Physical Records work, which comes after Utilization.</a:t>
            </a:r>
            <a:endParaRPr lang="en-US" sz="1150" dirty="0"/>
          </a:p>
        </p:txBody>
      </p:sp>
      <p:sp>
        <p:nvSpPr>
          <p:cNvPr id="18" name="Text 16"/>
          <p:cNvSpPr/>
          <p:nvPr/>
        </p:nvSpPr>
        <p:spPr>
          <a:xfrm>
            <a:off x="6519672" y="3419856"/>
            <a:ext cx="274320" cy="274320"/>
          </a:xfrm>
          <a:prstGeom prst="rect">
            <a:avLst/>
          </a:prstGeom>
          <a:noFill/>
          <a:ln/>
        </p:spPr>
        <p:txBody>
          <a:bodyPr wrap="square" lIns="0" tIns="0" rIns="0" bIns="0" rtlCol="0" anchor="ctr"/>
          <a:lstStyle/>
          <a:p>
            <a:pPr indent="0" marL="0">
              <a:buNone/>
            </a:pPr>
            <a:r>
              <a:rPr lang="en-US" sz="1200" b="1" dirty="0">
                <a:solidFill>
                  <a:srgbClr val="3D6E8C"/>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6867144" y="3383280"/>
            <a:ext cx="4480560" cy="713232"/>
          </a:xfrm>
          <a:prstGeom prst="rect">
            <a:avLst/>
          </a:prstGeom>
          <a:noFill/>
          <a:ln/>
        </p:spPr>
        <p:txBody>
          <a:bodyPr wrap="square" lIns="0" tIns="0" rIns="0" bIns="0" rtlCol="0" anchor="t"/>
          <a:lstStyle/>
          <a:p>
            <a:pPr indent="0" marL="0">
              <a:lnSpc>
                <a:spcPts val="1450"/>
              </a:lnSpc>
              <a:buNone/>
            </a:pPr>
            <a:r>
              <a:rPr lang="en-US" sz="1150" dirty="0">
                <a:solidFill>
                  <a:srgbClr val="10243E"/>
                </a:solidFill>
                <a:latin typeface="Calibri" pitchFamily="34" charset="0"/>
                <a:ea typeface="Calibri" pitchFamily="34" charset="-122"/>
                <a:cs typeface="Calibri" pitchFamily="34" charset="-120"/>
              </a:rPr>
              <a:t>Nothing we can reach today holds any of it, so every figure on this screen is invented.</a:t>
            </a:r>
            <a:endParaRPr lang="en-US" sz="1150" dirty="0"/>
          </a:p>
        </p:txBody>
      </p:sp>
      <p:sp>
        <p:nvSpPr>
          <p:cNvPr id="20" name="Shape 18"/>
          <p:cNvSpPr/>
          <p:nvPr/>
        </p:nvSpPr>
        <p:spPr>
          <a:xfrm>
            <a:off x="502920" y="4617720"/>
            <a:ext cx="11183112" cy="1417320"/>
          </a:xfrm>
          <a:prstGeom prst="roundRect">
            <a:avLst>
              <a:gd name="adj" fmla="val 4516"/>
            </a:avLst>
          </a:prstGeom>
          <a:solidFill>
            <a:srgbClr val="0E1F35"/>
          </a:solidFill>
          <a:ln w="12700">
            <a:solidFill>
              <a:srgbClr val="0E1F35"/>
            </a:solidFill>
            <a:prstDash val="solid"/>
          </a:ln>
        </p:spPr>
      </p:sp>
      <p:sp>
        <p:nvSpPr>
          <p:cNvPr id="21" name="Text 19"/>
          <p:cNvSpPr/>
          <p:nvPr/>
        </p:nvSpPr>
        <p:spPr>
          <a:xfrm>
            <a:off x="868680" y="4828032"/>
            <a:ext cx="3657600" cy="219456"/>
          </a:xfrm>
          <a:prstGeom prst="rect">
            <a:avLst/>
          </a:prstGeom>
          <a:noFill/>
          <a:ln/>
        </p:spPr>
        <p:txBody>
          <a:bodyPr wrap="square" lIns="0" tIns="0" rIns="0" bIns="0" rtlCol="0" anchor="ctr"/>
          <a:lstStyle/>
          <a:p>
            <a:pPr indent="0" marL="0">
              <a:buNone/>
            </a:pPr>
            <a:r>
              <a:rPr lang="en-US" sz="900" b="1" spc="100" kern="0" dirty="0">
                <a:solidFill>
                  <a:srgbClr val="00A5A8"/>
                </a:solidFill>
                <a:latin typeface="Calibri" pitchFamily="34" charset="0"/>
                <a:ea typeface="Calibri" pitchFamily="34" charset="-122"/>
                <a:cs typeface="Calibri" pitchFamily="34" charset="-120"/>
              </a:rPr>
              <a:t>WHAT WE PROPOSE</a:t>
            </a:r>
            <a:endParaRPr lang="en-US" sz="900" dirty="0"/>
          </a:p>
        </p:txBody>
      </p:sp>
      <p:sp>
        <p:nvSpPr>
          <p:cNvPr id="22" name="Text 20"/>
          <p:cNvSpPr/>
          <p:nvPr/>
        </p:nvSpPr>
        <p:spPr>
          <a:xfrm>
            <a:off x="868680" y="5084064"/>
            <a:ext cx="7589520" cy="786384"/>
          </a:xfrm>
          <a:prstGeom prst="rect">
            <a:avLst/>
          </a:prstGeom>
          <a:noFill/>
          <a:ln/>
        </p:spPr>
        <p:txBody>
          <a:bodyPr wrap="square" lIns="0" tIns="0" rIns="0" bIns="0" rtlCol="0" anchor="t"/>
          <a:lstStyle/>
          <a:p>
            <a:pPr indent="0" marL="0">
              <a:lnSpc>
                <a:spcPts val="1600"/>
              </a:lnSpc>
              <a:buNone/>
            </a:pPr>
            <a:r>
              <a:rPr lang="en-US" sz="1250" dirty="0">
                <a:solidFill>
                  <a:srgbClr val="FFFFFF"/>
                </a:solidFill>
                <a:latin typeface="Calibri" pitchFamily="34" charset="0"/>
                <a:ea typeface="Calibri" pitchFamily="34" charset="-122"/>
                <a:cs typeface="Calibri" pitchFamily="34" charset="-120"/>
              </a:rPr>
              <a:t>We propose treating this dashboard as a Physical Records deliverable rather than a Utilization one. Showing it now would mean showing you numbers we made up, and those have a way of being quoted back as real.</a:t>
            </a:r>
            <a:endParaRPr lang="en-US" sz="1250" dirty="0"/>
          </a:p>
        </p:txBody>
      </p:sp>
      <p:sp>
        <p:nvSpPr>
          <p:cNvPr id="23" name="Text 21"/>
          <p:cNvSpPr/>
          <p:nvPr/>
        </p:nvSpPr>
        <p:spPr>
          <a:xfrm>
            <a:off x="8778240" y="4864608"/>
            <a:ext cx="1371600" cy="658368"/>
          </a:xfrm>
          <a:prstGeom prst="rect">
            <a:avLst/>
          </a:prstGeom>
          <a:noFill/>
          <a:ln/>
        </p:spPr>
        <p:txBody>
          <a:bodyPr wrap="square" lIns="0" tIns="0" rIns="0" bIns="0" rtlCol="0" anchor="ctr"/>
          <a:lstStyle/>
          <a:p>
            <a:pPr algn="r" indent="0" marL="0">
              <a:buNone/>
            </a:pPr>
            <a:r>
              <a:rPr lang="en-US" sz="3800" b="1" dirty="0">
                <a:solidFill>
                  <a:srgbClr val="00A5A8"/>
                </a:solidFill>
                <a:latin typeface="Cambria" pitchFamily="34" charset="0"/>
                <a:ea typeface="Cambria" pitchFamily="34" charset="-122"/>
                <a:cs typeface="Cambria" pitchFamily="34" charset="-120"/>
              </a:rPr>
              <a:t>26</a:t>
            </a:r>
            <a:endParaRPr lang="en-US" sz="3800" dirty="0"/>
          </a:p>
        </p:txBody>
      </p:sp>
      <p:sp>
        <p:nvSpPr>
          <p:cNvPr id="24" name="Text 22"/>
          <p:cNvSpPr/>
          <p:nvPr/>
        </p:nvSpPr>
        <p:spPr>
          <a:xfrm>
            <a:off x="10241280" y="4974336"/>
            <a:ext cx="1371600" cy="548640"/>
          </a:xfrm>
          <a:prstGeom prst="rect">
            <a:avLst/>
          </a:prstGeom>
          <a:noFill/>
          <a:ln/>
        </p:spPr>
        <p:txBody>
          <a:bodyPr wrap="square" lIns="0" tIns="0" rIns="0" bIns="0" rtlCol="0" anchor="ctr"/>
          <a:lstStyle/>
          <a:p>
            <a:pPr indent="0" marL="0">
              <a:lnSpc>
                <a:spcPts val="1200"/>
              </a:lnSpc>
              <a:buNone/>
            </a:pPr>
            <a:r>
              <a:rPr lang="en-US" sz="950" dirty="0">
                <a:solidFill>
                  <a:srgbClr val="AFC4D8"/>
                </a:solidFill>
                <a:latin typeface="Calibri" pitchFamily="34" charset="0"/>
                <a:ea typeface="Calibri" pitchFamily="34" charset="-122"/>
                <a:cs typeface="Calibri" pitchFamily="34" charset="-120"/>
              </a:rPr>
              <a:t>items move to the</a:t>
            </a:r>
            <a:endParaRPr lang="en-US" sz="950" dirty="0"/>
          </a:p>
          <a:p>
            <a:pPr indent="0" marL="0">
              <a:lnSpc>
                <a:spcPts val="1200"/>
              </a:lnSpc>
              <a:buNone/>
            </a:pPr>
            <a:r>
              <a:rPr lang="en-US" sz="950" dirty="0">
                <a:solidFill>
                  <a:srgbClr val="AFC4D8"/>
                </a:solidFill>
                <a:latin typeface="Calibri" pitchFamily="34" charset="0"/>
                <a:ea typeface="Calibri" pitchFamily="34" charset="-122"/>
                <a:cs typeface="Calibri" pitchFamily="34" charset="-120"/>
              </a:rPr>
              <a:t>Physical Records release</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RECORDS AND ARCHIVE HOLDINGS</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we need from you</a:t>
            </a:r>
            <a:endParaRPr lang="en-US" sz="2500" dirty="0"/>
          </a:p>
        </p:txBody>
      </p:sp>
      <p:sp>
        <p:nvSpPr>
          <p:cNvPr id="4" name="Shape 2"/>
          <p:cNvSpPr/>
          <p:nvPr/>
        </p:nvSpPr>
        <p:spPr>
          <a:xfrm>
            <a:off x="502920" y="1280160"/>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812036"/>
            <a:ext cx="402336" cy="402336"/>
          </a:xfrm>
          <a:prstGeom prst="ellipse">
            <a:avLst/>
          </a:prstGeom>
          <a:solidFill>
            <a:srgbClr val="FBE6E4"/>
          </a:solidFill>
          <a:ln w="12700">
            <a:solidFill>
              <a:srgbClr val="FBE6E4"/>
            </a:solidFill>
            <a:prstDash val="solid"/>
          </a:ln>
        </p:spPr>
      </p:sp>
      <p:sp>
        <p:nvSpPr>
          <p:cNvPr id="6" name="Text 4"/>
          <p:cNvSpPr/>
          <p:nvPr/>
        </p:nvSpPr>
        <p:spPr>
          <a:xfrm>
            <a:off x="777240" y="1812036"/>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1371600" y="1408176"/>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Can we agree this dashboard follows the Physical Records release?</a:t>
            </a:r>
            <a:endParaRPr lang="en-US" sz="1350" dirty="0"/>
          </a:p>
        </p:txBody>
      </p:sp>
      <p:sp>
        <p:nvSpPr>
          <p:cNvPr id="8" name="Text 6"/>
          <p:cNvSpPr/>
          <p:nvPr/>
        </p:nvSpPr>
        <p:spPr>
          <a:xfrm>
            <a:off x="6217920" y="1399032"/>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Everything on it — boxes, folders, rooms, requests — is physical, and the systems that will hold that information come with the Physical Records work, after Utilization. Building it now means inventing all 26 figures.</a:t>
            </a:r>
            <a:endParaRPr lang="en-US" sz="860" dirty="0"/>
          </a:p>
        </p:txBody>
      </p:sp>
      <p:sp>
        <p:nvSpPr>
          <p:cNvPr id="9" name="Text 7"/>
          <p:cNvSpPr/>
          <p:nvPr/>
        </p:nvSpPr>
        <p:spPr>
          <a:xfrm>
            <a:off x="9098280" y="1399032"/>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Keep the layout as the agreed specification, sign it off today if you are happy with it, and build it when the physical side has real sources behind it.</a:t>
            </a:r>
            <a:endParaRPr lang="en-US" sz="860" dirty="0"/>
          </a:p>
        </p:txBody>
      </p:sp>
      <p:sp>
        <p:nvSpPr>
          <p:cNvPr id="10" name="Shape 8"/>
          <p:cNvSpPr/>
          <p:nvPr/>
        </p:nvSpPr>
        <p:spPr>
          <a:xfrm>
            <a:off x="502920" y="2855976"/>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777240" y="3387852"/>
            <a:ext cx="402336" cy="402336"/>
          </a:xfrm>
          <a:prstGeom prst="ellipse">
            <a:avLst/>
          </a:prstGeom>
          <a:solidFill>
            <a:srgbClr val="FBE6E4"/>
          </a:solidFill>
          <a:ln w="12700">
            <a:solidFill>
              <a:srgbClr val="FBE6E4"/>
            </a:solidFill>
            <a:prstDash val="solid"/>
          </a:ln>
        </p:spPr>
      </p:sp>
      <p:sp>
        <p:nvSpPr>
          <p:cNvPr id="12" name="Text 10"/>
          <p:cNvSpPr/>
          <p:nvPr/>
        </p:nvSpPr>
        <p:spPr>
          <a:xfrm>
            <a:off x="777240" y="3387852"/>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371600" y="2983992"/>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When someone asks RAC for a box, where does that go?</a:t>
            </a:r>
            <a:endParaRPr lang="en-US" sz="1350" dirty="0"/>
          </a:p>
        </p:txBody>
      </p:sp>
      <p:sp>
        <p:nvSpPr>
          <p:cNvPr id="14" name="Text 12"/>
          <p:cNvSpPr/>
          <p:nvPr/>
        </p:nvSpPr>
        <p:spPr>
          <a:xfrm>
            <a:off x="6217920" y="2974848"/>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Your slide 67 mentions eServe. Nothing in this work has ever reached it. Even after the Physical release we will need this answered.</a:t>
            </a:r>
            <a:endParaRPr lang="en-US" sz="860" dirty="0"/>
          </a:p>
        </p:txBody>
      </p:sp>
      <p:sp>
        <p:nvSpPr>
          <p:cNvPr id="15" name="Text 13"/>
          <p:cNvSpPr/>
          <p:nvPr/>
        </p:nvSpPr>
        <p:spPr>
          <a:xfrm>
            <a:off x="9098280" y="2974848"/>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Can we see what eServe holds, and who would we ask for access? Worth starting the conversation now so it is not the thing that delays the physical build later.</a:t>
            </a:r>
            <a:endParaRPr lang="en-US" sz="860" dirty="0"/>
          </a:p>
        </p:txBody>
      </p:sp>
      <p:sp>
        <p:nvSpPr>
          <p:cNvPr id="16" name="Shape 14"/>
          <p:cNvSpPr/>
          <p:nvPr/>
        </p:nvSpPr>
        <p:spPr>
          <a:xfrm>
            <a:off x="502920" y="4431792"/>
            <a:ext cx="11155680" cy="1466088"/>
          </a:xfrm>
          <a:prstGeom prst="roundRect">
            <a:avLst>
              <a:gd name="adj" fmla="val 3742"/>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777240" y="4963668"/>
            <a:ext cx="402336" cy="402336"/>
          </a:xfrm>
          <a:prstGeom prst="ellipse">
            <a:avLst/>
          </a:prstGeom>
          <a:solidFill>
            <a:srgbClr val="FBE6E4"/>
          </a:solidFill>
          <a:ln w="12700">
            <a:solidFill>
              <a:srgbClr val="FBE6E4"/>
            </a:solidFill>
            <a:prstDash val="solid"/>
          </a:ln>
        </p:spPr>
      </p:sp>
      <p:sp>
        <p:nvSpPr>
          <p:cNvPr id="18" name="Text 16"/>
          <p:cNvSpPr/>
          <p:nvPr/>
        </p:nvSpPr>
        <p:spPr>
          <a:xfrm>
            <a:off x="777240" y="4963668"/>
            <a:ext cx="402336" cy="402336"/>
          </a:xfrm>
          <a:prstGeom prst="rect">
            <a:avLst/>
          </a:prstGeom>
          <a:noFill/>
          <a:ln/>
        </p:spPr>
        <p:txBody>
          <a:bodyPr wrap="square" lIns="0" tIns="0" rIns="0" bIns="0" rtlCol="0" anchor="ctr"/>
          <a:lstStyle/>
          <a:p>
            <a:pPr algn="ctr" indent="0" marL="0">
              <a:buNone/>
            </a:pPr>
            <a:r>
              <a:rPr lang="en-US" sz="1400" b="1" dirty="0">
                <a:solidFill>
                  <a:srgbClr val="B3241C"/>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1371600" y="4559808"/>
            <a:ext cx="4663440" cy="1210056"/>
          </a:xfrm>
          <a:prstGeom prst="rect">
            <a:avLst/>
          </a:prstGeom>
          <a:noFill/>
          <a:ln/>
        </p:spPr>
        <p:txBody>
          <a:bodyPr wrap="square" lIns="0" tIns="0" rIns="0" bIns="0" rtlCol="0" anchor="ctr"/>
          <a:lstStyle/>
          <a:p>
            <a:pPr indent="0" marL="0">
              <a:lnSpc>
                <a:spcPts val="1700"/>
              </a:lnSpc>
              <a:buNone/>
            </a:pPr>
            <a:r>
              <a:rPr lang="en-US" sz="1350" b="1" dirty="0">
                <a:solidFill>
                  <a:srgbClr val="10243E"/>
                </a:solidFill>
                <a:latin typeface="Cambria" pitchFamily="34" charset="0"/>
                <a:ea typeface="Cambria" pitchFamily="34" charset="-122"/>
                <a:cs typeface="Cambria" pitchFamily="34" charset="-120"/>
              </a:rPr>
              <a:t>What does RAC actually keep today, and where?</a:t>
            </a:r>
            <a:endParaRPr lang="en-US" sz="1350" dirty="0"/>
          </a:p>
        </p:txBody>
      </p:sp>
      <p:sp>
        <p:nvSpPr>
          <p:cNvPr id="20" name="Text 18"/>
          <p:cNvSpPr/>
          <p:nvPr/>
        </p:nvSpPr>
        <p:spPr>
          <a:xfrm>
            <a:off x="6217920" y="4550664"/>
            <a:ext cx="2743200" cy="1228344"/>
          </a:xfrm>
          <a:prstGeom prst="rect">
            <a:avLst/>
          </a:prstGeom>
          <a:noFill/>
          <a:ln/>
        </p:spPr>
        <p:txBody>
          <a:bodyPr wrap="square" lIns="0" tIns="0" rIns="0" bIns="0" rtlCol="0" anchor="ctr"/>
          <a:lstStyle/>
          <a:p>
            <a:pPr indent="0" marL="0">
              <a:lnSpc>
                <a:spcPts val="1100"/>
              </a:lnSpc>
              <a:buNone/>
            </a:pPr>
            <a:r>
              <a:rPr lang="en-US" sz="860" dirty="0">
                <a:solidFill>
                  <a:srgbClr val="33475F"/>
                </a:solidFill>
                <a:latin typeface="Calibri" pitchFamily="34" charset="0"/>
                <a:ea typeface="Calibri" pitchFamily="34" charset="-122"/>
                <a:cs typeface="Calibri" pitchFamily="34" charset="-120"/>
              </a:rPr>
              <a:t>Boxes, folders, which room they are in, how full each room is. It may live in a spreadsheet, or on paper, or in somebody’s head.</a:t>
            </a:r>
            <a:endParaRPr lang="en-US" sz="860" dirty="0"/>
          </a:p>
        </p:txBody>
      </p:sp>
      <p:sp>
        <p:nvSpPr>
          <p:cNvPr id="21" name="Text 19"/>
          <p:cNvSpPr/>
          <p:nvPr/>
        </p:nvSpPr>
        <p:spPr>
          <a:xfrm>
            <a:off x="9098280" y="4550664"/>
            <a:ext cx="2423160" cy="1228344"/>
          </a:xfrm>
          <a:prstGeom prst="rect">
            <a:avLst/>
          </a:prstGeom>
          <a:noFill/>
          <a:ln/>
        </p:spPr>
        <p:txBody>
          <a:bodyPr wrap="square" lIns="0" tIns="0" rIns="0" bIns="0" rtlCol="0" anchor="ctr"/>
          <a:lstStyle/>
          <a:p>
            <a:pPr indent="0" marL="0">
              <a:lnSpc>
                <a:spcPts val="1100"/>
              </a:lnSpc>
              <a:buNone/>
            </a:pPr>
            <a:r>
              <a:rPr lang="en-US" sz="860" i="1" dirty="0">
                <a:solidFill>
                  <a:srgbClr val="005A96"/>
                </a:solidFill>
                <a:latin typeface="Calibri" pitchFamily="34" charset="0"/>
                <a:ea typeface="Calibri" pitchFamily="34" charset="-122"/>
                <a:cs typeface="Calibri" pitchFamily="34" charset="-120"/>
              </a:rPr>
              <a:t>Whatever the answer, it is the starting point for the physical work. A spreadsheet is a perfectly good answer.</a:t>
            </a:r>
            <a:endParaRPr lang="en-US" sz="860" dirty="0"/>
          </a:p>
        </p:txBody>
      </p:sp>
      <p:sp>
        <p:nvSpPr>
          <p:cNvPr id="22" name="Text 20"/>
          <p:cNvSpPr/>
          <p:nvPr/>
        </p:nvSpPr>
        <p:spPr>
          <a:xfrm>
            <a:off x="137160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THE QUESTION</a:t>
            </a:r>
            <a:endParaRPr lang="en-US" sz="750" dirty="0"/>
          </a:p>
        </p:txBody>
      </p:sp>
      <p:sp>
        <p:nvSpPr>
          <p:cNvPr id="23" name="Text 21"/>
          <p:cNvSpPr/>
          <p:nvPr/>
        </p:nvSpPr>
        <p:spPr>
          <a:xfrm>
            <a:off x="621792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WHY WE ARE STUCK</a:t>
            </a:r>
            <a:endParaRPr lang="en-US" sz="750" dirty="0"/>
          </a:p>
        </p:txBody>
      </p:sp>
      <p:sp>
        <p:nvSpPr>
          <p:cNvPr id="24" name="Text 22"/>
          <p:cNvSpPr/>
          <p:nvPr/>
        </p:nvSpPr>
        <p:spPr>
          <a:xfrm>
            <a:off x="9098280" y="1005840"/>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WOULD UNBLOCK IT</a:t>
            </a:r>
            <a:endParaRPr lang="en-US" sz="7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PULLING IT TOGETHER</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The three answers that unlock almost everything</a:t>
            </a:r>
            <a:endParaRPr lang="en-US" sz="2500" dirty="0"/>
          </a:p>
        </p:txBody>
      </p:sp>
      <p:sp>
        <p:nvSpPr>
          <p:cNvPr id="4" name="Shape 2"/>
          <p:cNvSpPr/>
          <p:nvPr/>
        </p:nvSpPr>
        <p:spPr>
          <a:xfrm>
            <a:off x="502920" y="1298448"/>
            <a:ext cx="11155680" cy="1481328"/>
          </a:xfrm>
          <a:prstGeom prst="roundRect">
            <a:avLst>
              <a:gd name="adj" fmla="val 4321"/>
            </a:avLst>
          </a:prstGeom>
          <a:solidFill>
            <a:srgbClr val="F4F7FA"/>
          </a:solidFill>
          <a:ln w="12700">
            <a:solidFill>
              <a:srgbClr val="DCE4EC"/>
            </a:solidFill>
            <a:prstDash val="solid"/>
          </a:ln>
        </p:spPr>
      </p:sp>
      <p:sp>
        <p:nvSpPr>
          <p:cNvPr id="5" name="Shape 3"/>
          <p:cNvSpPr/>
          <p:nvPr/>
        </p:nvSpPr>
        <p:spPr>
          <a:xfrm>
            <a:off x="822960" y="1801368"/>
            <a:ext cx="457200" cy="457200"/>
          </a:xfrm>
          <a:prstGeom prst="ellipse">
            <a:avLst/>
          </a:prstGeom>
          <a:solidFill>
            <a:srgbClr val="0072BC"/>
          </a:solidFill>
          <a:ln w="12700">
            <a:solidFill>
              <a:srgbClr val="0072BC"/>
            </a:solidFill>
            <a:prstDash val="solid"/>
          </a:ln>
        </p:spPr>
      </p:sp>
      <p:sp>
        <p:nvSpPr>
          <p:cNvPr id="6" name="Text 4"/>
          <p:cNvSpPr/>
          <p:nvPr/>
        </p:nvSpPr>
        <p:spPr>
          <a:xfrm>
            <a:off x="822960" y="1801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18</a:t>
            </a:r>
            <a:endParaRPr lang="en-US" sz="1400" dirty="0"/>
          </a:p>
        </p:txBody>
      </p:sp>
      <p:sp>
        <p:nvSpPr>
          <p:cNvPr id="7" name="Text 5"/>
          <p:cNvSpPr/>
          <p:nvPr/>
        </p:nvSpPr>
        <p:spPr>
          <a:xfrm>
            <a:off x="1463040" y="1481328"/>
            <a:ext cx="3657600" cy="384048"/>
          </a:xfrm>
          <a:prstGeom prst="rect">
            <a:avLst/>
          </a:prstGeom>
          <a:noFill/>
          <a:ln/>
        </p:spPr>
        <p:txBody>
          <a:bodyPr wrap="square" lIns="0" tIns="0" rIns="0" bIns="0" rtlCol="0" anchor="ctr"/>
          <a:lstStyle/>
          <a:p>
            <a:pPr indent="0" marL="0">
              <a:buNone/>
            </a:pPr>
            <a:r>
              <a:rPr lang="en-US" sz="1700" b="1" dirty="0">
                <a:solidFill>
                  <a:srgbClr val="10243E"/>
                </a:solidFill>
                <a:latin typeface="Cambria" pitchFamily="34" charset="0"/>
                <a:ea typeface="Cambria" pitchFamily="34" charset="-122"/>
                <a:cs typeface="Cambria" pitchFamily="34" charset="-120"/>
              </a:rPr>
              <a:t>Who is who</a:t>
            </a:r>
            <a:endParaRPr lang="en-US" sz="1700" dirty="0"/>
          </a:p>
        </p:txBody>
      </p:sp>
      <p:sp>
        <p:nvSpPr>
          <p:cNvPr id="8" name="Text 6"/>
          <p:cNvSpPr/>
          <p:nvPr/>
        </p:nvSpPr>
        <p:spPr>
          <a:xfrm>
            <a:off x="1463040" y="1901952"/>
            <a:ext cx="4206240" cy="731520"/>
          </a:xfrm>
          <a:prstGeom prst="rect">
            <a:avLst/>
          </a:prstGeom>
          <a:noFill/>
          <a:ln/>
        </p:spPr>
        <p:txBody>
          <a:bodyPr wrap="square" lIns="0" tIns="0" rIns="0" bIns="0" rtlCol="0" anchor="ctr"/>
          <a:lstStyle/>
          <a:p>
            <a:pPr indent="0" marL="0">
              <a:lnSpc>
                <a:spcPts val="1350"/>
              </a:lnSpc>
              <a:buNone/>
            </a:pPr>
            <a:r>
              <a:rPr lang="en-US" sz="1050" dirty="0">
                <a:solidFill>
                  <a:srgbClr val="33475F"/>
                </a:solidFill>
                <a:latin typeface="Calibri" pitchFamily="34" charset="0"/>
                <a:ea typeface="Calibri" pitchFamily="34" charset="-122"/>
                <a:cs typeface="Calibri" pitchFamily="34" charset="-120"/>
              </a:rPr>
              <a:t>A list that says, for each person, whether they are staff, a consultant or a contractor — and which department they sit in.</a:t>
            </a:r>
            <a:endParaRPr lang="en-US" sz="1050" dirty="0"/>
          </a:p>
        </p:txBody>
      </p:sp>
      <p:sp>
        <p:nvSpPr>
          <p:cNvPr id="9" name="Text 7"/>
          <p:cNvSpPr/>
          <p:nvPr/>
        </p:nvSpPr>
        <p:spPr>
          <a:xfrm>
            <a:off x="6080760" y="1517904"/>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IT UNBLOCKS</a:t>
            </a:r>
            <a:endParaRPr lang="en-US" sz="750" dirty="0"/>
          </a:p>
        </p:txBody>
      </p:sp>
      <p:sp>
        <p:nvSpPr>
          <p:cNvPr id="10" name="Text 8"/>
          <p:cNvSpPr/>
          <p:nvPr/>
        </p:nvSpPr>
        <p:spPr>
          <a:xfrm>
            <a:off x="6080760" y="1755648"/>
            <a:ext cx="5349240" cy="841248"/>
          </a:xfrm>
          <a:prstGeom prst="rect">
            <a:avLst/>
          </a:prstGeom>
          <a:noFill/>
          <a:ln/>
        </p:spPr>
        <p:txBody>
          <a:bodyPr wrap="square" lIns="0" tIns="0" rIns="0" bIns="0" rtlCol="0" anchor="ctr"/>
          <a:lstStyle/>
          <a:p>
            <a:pPr indent="0" marL="0">
              <a:lnSpc>
                <a:spcPts val="1400"/>
              </a:lnSpc>
              <a:buNone/>
            </a:pPr>
            <a:r>
              <a:rPr lang="en-US" sz="1100" dirty="0">
                <a:solidFill>
                  <a:srgbClr val="33475F"/>
                </a:solidFill>
                <a:latin typeface="Calibri" pitchFamily="34" charset="0"/>
                <a:ea typeface="Calibri" pitchFamily="34" charset="-122"/>
                <a:cs typeface="Calibri" pitchFamily="34" charset="-120"/>
              </a:rPr>
              <a:t>Unlocks every user split on Bank-wide and Department Insights, plus the internal / external visitor question.</a:t>
            </a:r>
            <a:endParaRPr lang="en-US" sz="1100" dirty="0"/>
          </a:p>
        </p:txBody>
      </p:sp>
      <p:sp>
        <p:nvSpPr>
          <p:cNvPr id="11" name="Shape 9"/>
          <p:cNvSpPr/>
          <p:nvPr/>
        </p:nvSpPr>
        <p:spPr>
          <a:xfrm>
            <a:off x="502920" y="2898648"/>
            <a:ext cx="11155680" cy="1481328"/>
          </a:xfrm>
          <a:prstGeom prst="roundRect">
            <a:avLst>
              <a:gd name="adj" fmla="val 4321"/>
            </a:avLst>
          </a:prstGeom>
          <a:solidFill>
            <a:srgbClr val="F4F7FA"/>
          </a:solidFill>
          <a:ln w="12700">
            <a:solidFill>
              <a:srgbClr val="DCE4EC"/>
            </a:solidFill>
            <a:prstDash val="solid"/>
          </a:ln>
        </p:spPr>
      </p:sp>
      <p:sp>
        <p:nvSpPr>
          <p:cNvPr id="12" name="Shape 10"/>
          <p:cNvSpPr/>
          <p:nvPr/>
        </p:nvSpPr>
        <p:spPr>
          <a:xfrm>
            <a:off x="822960" y="3401568"/>
            <a:ext cx="457200" cy="457200"/>
          </a:xfrm>
          <a:prstGeom prst="ellipse">
            <a:avLst/>
          </a:prstGeom>
          <a:solidFill>
            <a:srgbClr val="00A5A8"/>
          </a:solidFill>
          <a:ln w="12700">
            <a:solidFill>
              <a:srgbClr val="00A5A8"/>
            </a:solidFill>
            <a:prstDash val="solid"/>
          </a:ln>
        </p:spPr>
      </p:sp>
      <p:sp>
        <p:nvSpPr>
          <p:cNvPr id="13" name="Text 11"/>
          <p:cNvSpPr/>
          <p:nvPr/>
        </p:nvSpPr>
        <p:spPr>
          <a:xfrm>
            <a:off x="822960" y="3401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21</a:t>
            </a:r>
            <a:endParaRPr lang="en-US" sz="1400" dirty="0"/>
          </a:p>
        </p:txBody>
      </p:sp>
      <p:sp>
        <p:nvSpPr>
          <p:cNvPr id="14" name="Text 12"/>
          <p:cNvSpPr/>
          <p:nvPr/>
        </p:nvSpPr>
        <p:spPr>
          <a:xfrm>
            <a:off x="1463040" y="3081528"/>
            <a:ext cx="3657600" cy="384048"/>
          </a:xfrm>
          <a:prstGeom prst="rect">
            <a:avLst/>
          </a:prstGeom>
          <a:noFill/>
          <a:ln/>
        </p:spPr>
        <p:txBody>
          <a:bodyPr wrap="square" lIns="0" tIns="0" rIns="0" bIns="0" rtlCol="0" anchor="ctr"/>
          <a:lstStyle/>
          <a:p>
            <a:pPr indent="0" marL="0">
              <a:buNone/>
            </a:pPr>
            <a:r>
              <a:rPr lang="en-US" sz="1700" b="1" dirty="0">
                <a:solidFill>
                  <a:srgbClr val="10243E"/>
                </a:solidFill>
                <a:latin typeface="Cambria" pitchFamily="34" charset="0"/>
                <a:ea typeface="Cambria" pitchFamily="34" charset="-122"/>
                <a:cs typeface="Cambria" pitchFamily="34" charset="-120"/>
              </a:rPr>
              <a:t>Which site belongs to which project</a:t>
            </a:r>
            <a:endParaRPr lang="en-US" sz="1700" dirty="0"/>
          </a:p>
        </p:txBody>
      </p:sp>
      <p:sp>
        <p:nvSpPr>
          <p:cNvPr id="15" name="Text 13"/>
          <p:cNvSpPr/>
          <p:nvPr/>
        </p:nvSpPr>
        <p:spPr>
          <a:xfrm>
            <a:off x="1463040" y="3502152"/>
            <a:ext cx="4206240" cy="731520"/>
          </a:xfrm>
          <a:prstGeom prst="rect">
            <a:avLst/>
          </a:prstGeom>
          <a:noFill/>
          <a:ln/>
        </p:spPr>
        <p:txBody>
          <a:bodyPr wrap="square" lIns="0" tIns="0" rIns="0" bIns="0" rtlCol="0" anchor="ctr"/>
          <a:lstStyle/>
          <a:p>
            <a:pPr indent="0" marL="0">
              <a:lnSpc>
                <a:spcPts val="1350"/>
              </a:lnSpc>
              <a:buNone/>
            </a:pPr>
            <a:r>
              <a:rPr lang="en-US" sz="1050" dirty="0">
                <a:solidFill>
                  <a:srgbClr val="33475F"/>
                </a:solidFill>
                <a:latin typeface="Calibri" pitchFamily="34" charset="0"/>
                <a:ea typeface="Calibri" pitchFamily="34" charset="-122"/>
                <a:cs typeface="Calibri" pitchFamily="34" charset="-120"/>
              </a:rPr>
              <a:t>Anything that connects a SharePoint site to a project number. A spreadsheet is fine.</a:t>
            </a:r>
            <a:endParaRPr lang="en-US" sz="1050" dirty="0"/>
          </a:p>
        </p:txBody>
      </p:sp>
      <p:sp>
        <p:nvSpPr>
          <p:cNvPr id="16" name="Text 14"/>
          <p:cNvSpPr/>
          <p:nvPr/>
        </p:nvSpPr>
        <p:spPr>
          <a:xfrm>
            <a:off x="6080760" y="3118104"/>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IT UNBLOCKS</a:t>
            </a:r>
            <a:endParaRPr lang="en-US" sz="750" dirty="0"/>
          </a:p>
        </p:txBody>
      </p:sp>
      <p:sp>
        <p:nvSpPr>
          <p:cNvPr id="17" name="Text 15"/>
          <p:cNvSpPr/>
          <p:nvPr/>
        </p:nvSpPr>
        <p:spPr>
          <a:xfrm>
            <a:off x="6080760" y="3355848"/>
            <a:ext cx="5349240" cy="841248"/>
          </a:xfrm>
          <a:prstGeom prst="rect">
            <a:avLst/>
          </a:prstGeom>
          <a:noFill/>
          <a:ln/>
        </p:spPr>
        <p:txBody>
          <a:bodyPr wrap="square" lIns="0" tIns="0" rIns="0" bIns="0" rtlCol="0" anchor="ctr"/>
          <a:lstStyle/>
          <a:p>
            <a:pPr indent="0" marL="0">
              <a:lnSpc>
                <a:spcPts val="1400"/>
              </a:lnSpc>
              <a:buNone/>
            </a:pPr>
            <a:r>
              <a:rPr lang="en-US" sz="1100" dirty="0">
                <a:solidFill>
                  <a:srgbClr val="33475F"/>
                </a:solidFill>
                <a:latin typeface="Calibri" pitchFamily="34" charset="0"/>
                <a:ea typeface="Calibri" pitchFamily="34" charset="-122"/>
                <a:cs typeface="Calibri" pitchFamily="34" charset="-120"/>
              </a:rPr>
              <a:t>Turns the whole of Project Insights from a layout into a working dashboard.</a:t>
            </a:r>
            <a:endParaRPr lang="en-US" sz="1100" dirty="0"/>
          </a:p>
        </p:txBody>
      </p:sp>
      <p:sp>
        <p:nvSpPr>
          <p:cNvPr id="18" name="Shape 16"/>
          <p:cNvSpPr/>
          <p:nvPr/>
        </p:nvSpPr>
        <p:spPr>
          <a:xfrm>
            <a:off x="502920" y="4498848"/>
            <a:ext cx="11155680" cy="1481328"/>
          </a:xfrm>
          <a:prstGeom prst="roundRect">
            <a:avLst>
              <a:gd name="adj" fmla="val 4321"/>
            </a:avLst>
          </a:prstGeom>
          <a:solidFill>
            <a:srgbClr val="F4F7FA"/>
          </a:solidFill>
          <a:ln w="12700">
            <a:solidFill>
              <a:srgbClr val="DCE4EC"/>
            </a:solidFill>
            <a:prstDash val="solid"/>
          </a:ln>
        </p:spPr>
      </p:sp>
      <p:sp>
        <p:nvSpPr>
          <p:cNvPr id="19" name="Shape 17"/>
          <p:cNvSpPr/>
          <p:nvPr/>
        </p:nvSpPr>
        <p:spPr>
          <a:xfrm>
            <a:off x="822960" y="5001768"/>
            <a:ext cx="457200" cy="457200"/>
          </a:xfrm>
          <a:prstGeom prst="ellipse">
            <a:avLst/>
          </a:prstGeom>
          <a:solidFill>
            <a:srgbClr val="5CA943"/>
          </a:solidFill>
          <a:ln w="12700">
            <a:solidFill>
              <a:srgbClr val="5CA943"/>
            </a:solidFill>
            <a:prstDash val="solid"/>
          </a:ln>
        </p:spPr>
      </p:sp>
      <p:sp>
        <p:nvSpPr>
          <p:cNvPr id="20" name="Text 18"/>
          <p:cNvSpPr/>
          <p:nvPr/>
        </p:nvSpPr>
        <p:spPr>
          <a:xfrm>
            <a:off x="822960" y="50017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15</a:t>
            </a:r>
            <a:endParaRPr lang="en-US" sz="1400" dirty="0"/>
          </a:p>
        </p:txBody>
      </p:sp>
      <p:sp>
        <p:nvSpPr>
          <p:cNvPr id="21" name="Text 19"/>
          <p:cNvSpPr/>
          <p:nvPr/>
        </p:nvSpPr>
        <p:spPr>
          <a:xfrm>
            <a:off x="1463040" y="4681728"/>
            <a:ext cx="3657600" cy="384048"/>
          </a:xfrm>
          <a:prstGeom prst="rect">
            <a:avLst/>
          </a:prstGeom>
          <a:noFill/>
          <a:ln/>
        </p:spPr>
        <p:txBody>
          <a:bodyPr wrap="square" lIns="0" tIns="0" rIns="0" bIns="0" rtlCol="0" anchor="ctr"/>
          <a:lstStyle/>
          <a:p>
            <a:pPr indent="0" marL="0">
              <a:buNone/>
            </a:pPr>
            <a:r>
              <a:rPr lang="en-US" sz="1700" b="1" dirty="0">
                <a:solidFill>
                  <a:srgbClr val="10243E"/>
                </a:solidFill>
                <a:latin typeface="Cambria" pitchFamily="34" charset="0"/>
                <a:ea typeface="Cambria" pitchFamily="34" charset="-122"/>
                <a:cs typeface="Cambria" pitchFamily="34" charset="-120"/>
              </a:rPr>
              <a:t>Where a disposal is recorded</a:t>
            </a:r>
            <a:endParaRPr lang="en-US" sz="1700" dirty="0"/>
          </a:p>
        </p:txBody>
      </p:sp>
      <p:sp>
        <p:nvSpPr>
          <p:cNvPr id="22" name="Text 20"/>
          <p:cNvSpPr/>
          <p:nvPr/>
        </p:nvSpPr>
        <p:spPr>
          <a:xfrm>
            <a:off x="1463040" y="5102352"/>
            <a:ext cx="4206240" cy="731520"/>
          </a:xfrm>
          <a:prstGeom prst="rect">
            <a:avLst/>
          </a:prstGeom>
          <a:noFill/>
          <a:ln/>
        </p:spPr>
        <p:txBody>
          <a:bodyPr wrap="square" lIns="0" tIns="0" rIns="0" bIns="0" rtlCol="0" anchor="ctr"/>
          <a:lstStyle/>
          <a:p>
            <a:pPr indent="0" marL="0">
              <a:lnSpc>
                <a:spcPts val="1350"/>
              </a:lnSpc>
              <a:buNone/>
            </a:pPr>
            <a:r>
              <a:rPr lang="en-US" sz="1050" dirty="0">
                <a:solidFill>
                  <a:srgbClr val="33475F"/>
                </a:solidFill>
                <a:latin typeface="Calibri" pitchFamily="34" charset="0"/>
                <a:ea typeface="Calibri" pitchFamily="34" charset="-122"/>
                <a:cs typeface="Calibri" pitchFamily="34" charset="-120"/>
              </a:rPr>
              <a:t>Somewhere that says a record was actually disposed of, and who approved it.</a:t>
            </a:r>
            <a:endParaRPr lang="en-US" sz="1050" dirty="0"/>
          </a:p>
        </p:txBody>
      </p:sp>
      <p:sp>
        <p:nvSpPr>
          <p:cNvPr id="23" name="Text 21"/>
          <p:cNvSpPr/>
          <p:nvPr/>
        </p:nvSpPr>
        <p:spPr>
          <a:xfrm>
            <a:off x="6080760" y="4718304"/>
            <a:ext cx="2743200" cy="201168"/>
          </a:xfrm>
          <a:prstGeom prst="rect">
            <a:avLst/>
          </a:prstGeom>
          <a:noFill/>
          <a:ln/>
        </p:spPr>
        <p:txBody>
          <a:bodyPr wrap="square" lIns="0" tIns="0" rIns="0" bIns="0" rtlCol="0" anchor="ctr"/>
          <a:lstStyle/>
          <a:p>
            <a:pPr indent="0" marL="0">
              <a:buNone/>
            </a:pPr>
            <a:r>
              <a:rPr lang="en-US" sz="750" b="1" spc="90" kern="0" dirty="0">
                <a:solidFill>
                  <a:srgbClr val="6B7A8C"/>
                </a:solidFill>
                <a:latin typeface="Calibri" pitchFamily="34" charset="0"/>
                <a:ea typeface="Calibri" pitchFamily="34" charset="-122"/>
                <a:cs typeface="Calibri" pitchFamily="34" charset="-120"/>
              </a:rPr>
              <a:t>WHAT IT UNBLOCKS</a:t>
            </a:r>
            <a:endParaRPr lang="en-US" sz="750" dirty="0"/>
          </a:p>
        </p:txBody>
      </p:sp>
      <p:sp>
        <p:nvSpPr>
          <p:cNvPr id="24" name="Text 22"/>
          <p:cNvSpPr/>
          <p:nvPr/>
        </p:nvSpPr>
        <p:spPr>
          <a:xfrm>
            <a:off x="6080760" y="4956048"/>
            <a:ext cx="5349240" cy="841248"/>
          </a:xfrm>
          <a:prstGeom prst="rect">
            <a:avLst/>
          </a:prstGeom>
          <a:noFill/>
          <a:ln/>
        </p:spPr>
        <p:txBody>
          <a:bodyPr wrap="square" lIns="0" tIns="0" rIns="0" bIns="0" rtlCol="0" anchor="ctr"/>
          <a:lstStyle/>
          <a:p>
            <a:pPr indent="0" marL="0">
              <a:lnSpc>
                <a:spcPts val="1400"/>
              </a:lnSpc>
              <a:buNone/>
            </a:pPr>
            <a:r>
              <a:rPr lang="en-US" sz="1100" dirty="0">
                <a:solidFill>
                  <a:srgbClr val="33475F"/>
                </a:solidFill>
                <a:latin typeface="Calibri" pitchFamily="34" charset="0"/>
                <a:ea typeface="Calibri" pitchFamily="34" charset="-122"/>
                <a:cs typeface="Calibri" pitchFamily="34" charset="-120"/>
              </a:rPr>
              <a:t>Closes the largest single gap across Bank-wide, Department Insights and Retention &amp; Disposal.</a:t>
            </a:r>
            <a:endParaRPr lang="en-US" sz="1100" dirty="0"/>
          </a:p>
        </p:txBody>
      </p:sp>
      <p:sp>
        <p:nvSpPr>
          <p:cNvPr id="25" name="Text 23"/>
          <p:cNvSpPr/>
          <p:nvPr/>
        </p:nvSpPr>
        <p:spPr>
          <a:xfrm>
            <a:off x="502920" y="6172200"/>
            <a:ext cx="11155680" cy="320040"/>
          </a:xfrm>
          <a:prstGeom prst="rect">
            <a:avLst/>
          </a:prstGeom>
          <a:noFill/>
          <a:ln/>
        </p:spPr>
        <p:txBody>
          <a:bodyPr wrap="square" lIns="0" tIns="0" rIns="0" bIns="0" rtlCol="0" anchor="ctr"/>
          <a:lstStyle/>
          <a:p>
            <a:pPr indent="0" marL="0">
              <a:buNone/>
            </a:pPr>
            <a:r>
              <a:rPr lang="en-US" sz="1300" i="1" dirty="0">
                <a:solidFill>
                  <a:srgbClr val="005A96"/>
                </a:solidFill>
                <a:latin typeface="Cambria" pitchFamily="34" charset="0"/>
                <a:ea typeface="Cambria" pitchFamily="34" charset="-122"/>
                <a:cs typeface="Cambria" pitchFamily="34" charset="-120"/>
              </a:rPr>
              <a:t>The other 24 questions matter, but these three account for 54 of the 61 outstanding items between them.</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BEFORE WE FINISH</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Three decisions we would like from you today</a:t>
            </a:r>
            <a:endParaRPr lang="en-US" sz="2500" dirty="0"/>
          </a:p>
        </p:txBody>
      </p:sp>
      <p:sp>
        <p:nvSpPr>
          <p:cNvPr id="4" name="Shape 2"/>
          <p:cNvSpPr/>
          <p:nvPr/>
        </p:nvSpPr>
        <p:spPr>
          <a:xfrm>
            <a:off x="502920" y="1234440"/>
            <a:ext cx="11155680" cy="1572768"/>
          </a:xfrm>
          <a:prstGeom prst="roundRect">
            <a:avLst>
              <a:gd name="adj" fmla="val 4070"/>
            </a:avLst>
          </a:prstGeom>
          <a:solidFill>
            <a:srgbClr val="F4F7FA"/>
          </a:solidFill>
          <a:ln w="12700">
            <a:solidFill>
              <a:srgbClr val="DCE4EC"/>
            </a:solidFill>
            <a:prstDash val="solid"/>
          </a:ln>
        </p:spPr>
      </p:sp>
      <p:sp>
        <p:nvSpPr>
          <p:cNvPr id="5" name="Shape 3"/>
          <p:cNvSpPr/>
          <p:nvPr/>
        </p:nvSpPr>
        <p:spPr>
          <a:xfrm>
            <a:off x="822960" y="1783080"/>
            <a:ext cx="475488" cy="475488"/>
          </a:xfrm>
          <a:prstGeom prst="ellipse">
            <a:avLst/>
          </a:prstGeom>
          <a:solidFill>
            <a:srgbClr val="5CA943"/>
          </a:solidFill>
          <a:ln w="12700">
            <a:solidFill>
              <a:srgbClr val="5CA943"/>
            </a:solidFill>
            <a:prstDash val="solid"/>
          </a:ln>
        </p:spPr>
      </p:sp>
      <p:sp>
        <p:nvSpPr>
          <p:cNvPr id="6" name="Text 4"/>
          <p:cNvSpPr/>
          <p:nvPr/>
        </p:nvSpPr>
        <p:spPr>
          <a:xfrm>
            <a:off x="822960" y="178308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481328" y="1435608"/>
            <a:ext cx="4572000" cy="786384"/>
          </a:xfrm>
          <a:prstGeom prst="rect">
            <a:avLst/>
          </a:prstGeom>
          <a:noFill/>
          <a:ln/>
        </p:spPr>
        <p:txBody>
          <a:bodyPr wrap="square" lIns="0" tIns="0" rIns="0" bIns="0" rtlCol="0" anchor="t"/>
          <a:lstStyle/>
          <a:p>
            <a:pPr indent="0" marL="0">
              <a:lnSpc>
                <a:spcPts val="2000"/>
              </a:lnSpc>
              <a:buNone/>
            </a:pPr>
            <a:r>
              <a:rPr lang="en-US" sz="1600" b="1" dirty="0">
                <a:solidFill>
                  <a:srgbClr val="10243E"/>
                </a:solidFill>
                <a:latin typeface="Cambria" pitchFamily="34" charset="0"/>
                <a:ea typeface="Cambria" pitchFamily="34" charset="-122"/>
                <a:cs typeface="Cambria" pitchFamily="34" charset="-120"/>
              </a:rPr>
              <a:t>Accept the four dashboards that are ready</a:t>
            </a:r>
            <a:endParaRPr lang="en-US" sz="1600" dirty="0"/>
          </a:p>
        </p:txBody>
      </p:sp>
      <p:sp>
        <p:nvSpPr>
          <p:cNvPr id="8" name="Text 6"/>
          <p:cNvSpPr/>
          <p:nvPr/>
        </p:nvSpPr>
        <p:spPr>
          <a:xfrm>
            <a:off x="6263640" y="1435608"/>
            <a:ext cx="3657600" cy="1170432"/>
          </a:xfrm>
          <a:prstGeom prst="rect">
            <a:avLst/>
          </a:prstGeom>
          <a:noFill/>
          <a:ln/>
        </p:spPr>
        <p:txBody>
          <a:bodyPr wrap="square" lIns="0" tIns="0" rIns="0" bIns="0" rtlCol="0" anchor="t"/>
          <a:lstStyle/>
          <a:p>
            <a:pPr indent="0" marL="0">
              <a:lnSpc>
                <a:spcPts val="1300"/>
              </a:lnSpc>
              <a:buNone/>
            </a:pPr>
            <a:r>
              <a:rPr lang="en-US" sz="1020" dirty="0">
                <a:solidFill>
                  <a:srgbClr val="33475F"/>
                </a:solidFill>
                <a:latin typeface="Calibri" pitchFamily="34" charset="0"/>
                <a:ea typeface="Calibri" pitchFamily="34" charset="-122"/>
                <a:cs typeface="Calibri" pitchFamily="34" charset="-120"/>
              </a:rPr>
              <a:t>Bank-wide Oversight, Department Insights, Project Insights and the Institutional File Plan. They are built. Once the open questions are answered, they run on real data.</a:t>
            </a:r>
            <a:endParaRPr lang="en-US" sz="1020" dirty="0"/>
          </a:p>
        </p:txBody>
      </p:sp>
      <p:sp>
        <p:nvSpPr>
          <p:cNvPr id="9" name="Text 7"/>
          <p:cNvSpPr/>
          <p:nvPr/>
        </p:nvSpPr>
        <p:spPr>
          <a:xfrm>
            <a:off x="10058400" y="1435608"/>
            <a:ext cx="1481328" cy="1170432"/>
          </a:xfrm>
          <a:prstGeom prst="rect">
            <a:avLst/>
          </a:prstGeom>
          <a:noFill/>
          <a:ln/>
        </p:spPr>
        <p:txBody>
          <a:bodyPr wrap="square" lIns="0" tIns="0" rIns="0" bIns="0" rtlCol="0" anchor="t"/>
          <a:lstStyle/>
          <a:p>
            <a:pPr indent="0" marL="0">
              <a:lnSpc>
                <a:spcPts val="1300"/>
              </a:lnSpc>
              <a:buNone/>
            </a:pPr>
            <a:r>
              <a:rPr lang="en-US" sz="1000" b="1" dirty="0">
                <a:solidFill>
                  <a:srgbClr val="5CA943"/>
                </a:solidFill>
                <a:latin typeface="Calibri" pitchFamily="34" charset="0"/>
                <a:ea typeface="Calibri" pitchFamily="34" charset="-122"/>
                <a:cs typeface="Calibri" pitchFamily="34" charset="-120"/>
              </a:rPr>
              <a:t>What we need: a yes, and a name against each open question.</a:t>
            </a:r>
            <a:endParaRPr lang="en-US" sz="1000" dirty="0"/>
          </a:p>
        </p:txBody>
      </p:sp>
      <p:sp>
        <p:nvSpPr>
          <p:cNvPr id="10" name="Shape 8"/>
          <p:cNvSpPr/>
          <p:nvPr/>
        </p:nvSpPr>
        <p:spPr>
          <a:xfrm>
            <a:off x="502920" y="2916936"/>
            <a:ext cx="11155680" cy="1572768"/>
          </a:xfrm>
          <a:prstGeom prst="roundRect">
            <a:avLst>
              <a:gd name="adj" fmla="val 4070"/>
            </a:avLst>
          </a:prstGeom>
          <a:solidFill>
            <a:srgbClr val="F4F7FA"/>
          </a:solidFill>
          <a:ln w="12700">
            <a:solidFill>
              <a:srgbClr val="DCE4EC"/>
            </a:solidFill>
            <a:prstDash val="solid"/>
          </a:ln>
        </p:spPr>
      </p:sp>
      <p:sp>
        <p:nvSpPr>
          <p:cNvPr id="11" name="Shape 9"/>
          <p:cNvSpPr/>
          <p:nvPr/>
        </p:nvSpPr>
        <p:spPr>
          <a:xfrm>
            <a:off x="822960" y="3465576"/>
            <a:ext cx="475488" cy="475488"/>
          </a:xfrm>
          <a:prstGeom prst="ellipse">
            <a:avLst/>
          </a:prstGeom>
          <a:solidFill>
            <a:srgbClr val="3D6E8C"/>
          </a:solidFill>
          <a:ln w="12700">
            <a:solidFill>
              <a:srgbClr val="3D6E8C"/>
            </a:solidFill>
            <a:prstDash val="solid"/>
          </a:ln>
        </p:spPr>
      </p:sp>
      <p:sp>
        <p:nvSpPr>
          <p:cNvPr id="12" name="Text 10"/>
          <p:cNvSpPr/>
          <p:nvPr/>
        </p:nvSpPr>
        <p:spPr>
          <a:xfrm>
            <a:off x="822960" y="346557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1481328" y="3118104"/>
            <a:ext cx="4572000" cy="786384"/>
          </a:xfrm>
          <a:prstGeom prst="rect">
            <a:avLst/>
          </a:prstGeom>
          <a:noFill/>
          <a:ln/>
        </p:spPr>
        <p:txBody>
          <a:bodyPr wrap="square" lIns="0" tIns="0" rIns="0" bIns="0" rtlCol="0" anchor="t"/>
          <a:lstStyle/>
          <a:p>
            <a:pPr indent="0" marL="0">
              <a:lnSpc>
                <a:spcPts val="2000"/>
              </a:lnSpc>
              <a:buNone/>
            </a:pPr>
            <a:r>
              <a:rPr lang="en-US" sz="1600" b="1" dirty="0">
                <a:solidFill>
                  <a:srgbClr val="10243E"/>
                </a:solidFill>
                <a:latin typeface="Cambria" pitchFamily="34" charset="0"/>
                <a:ea typeface="Cambria" pitchFamily="34" charset="-122"/>
                <a:cs typeface="Cambria" pitchFamily="34" charset="-120"/>
              </a:rPr>
              <a:t>Agree the disposal half follows the Disposal release</a:t>
            </a:r>
            <a:endParaRPr lang="en-US" sz="1600" dirty="0"/>
          </a:p>
        </p:txBody>
      </p:sp>
      <p:sp>
        <p:nvSpPr>
          <p:cNvPr id="14" name="Text 12"/>
          <p:cNvSpPr/>
          <p:nvPr/>
        </p:nvSpPr>
        <p:spPr>
          <a:xfrm>
            <a:off x="6263640" y="3118104"/>
            <a:ext cx="3657600" cy="1170432"/>
          </a:xfrm>
          <a:prstGeom prst="rect">
            <a:avLst/>
          </a:prstGeom>
          <a:noFill/>
          <a:ln/>
        </p:spPr>
        <p:txBody>
          <a:bodyPr wrap="square" lIns="0" tIns="0" rIns="0" bIns="0" rtlCol="0" anchor="t"/>
          <a:lstStyle/>
          <a:p>
            <a:pPr indent="0" marL="0">
              <a:lnSpc>
                <a:spcPts val="1300"/>
              </a:lnSpc>
              <a:buNone/>
            </a:pPr>
            <a:r>
              <a:rPr lang="en-US" sz="1020" dirty="0">
                <a:solidFill>
                  <a:srgbClr val="33475F"/>
                </a:solidFill>
                <a:latin typeface="Calibri" pitchFamily="34" charset="0"/>
                <a:ea typeface="Calibri" pitchFamily="34" charset="-122"/>
                <a:cs typeface="Calibri" pitchFamily="34" charset="-120"/>
              </a:rPr>
              <a:t>Disposal is not built in EDRMS yet. There is no approval screen and no field to record an outcome, so 14 items across three dashboards cannot be measured however hard we look.</a:t>
            </a:r>
            <a:endParaRPr lang="en-US" sz="1020" dirty="0"/>
          </a:p>
        </p:txBody>
      </p:sp>
      <p:sp>
        <p:nvSpPr>
          <p:cNvPr id="15" name="Text 13"/>
          <p:cNvSpPr/>
          <p:nvPr/>
        </p:nvSpPr>
        <p:spPr>
          <a:xfrm>
            <a:off x="10058400" y="3118104"/>
            <a:ext cx="1481328" cy="1170432"/>
          </a:xfrm>
          <a:prstGeom prst="rect">
            <a:avLst/>
          </a:prstGeom>
          <a:noFill/>
          <a:ln/>
        </p:spPr>
        <p:txBody>
          <a:bodyPr wrap="square" lIns="0" tIns="0" rIns="0" bIns="0" rtlCol="0" anchor="t"/>
          <a:lstStyle/>
          <a:p>
            <a:pPr indent="0" marL="0">
              <a:lnSpc>
                <a:spcPts val="1300"/>
              </a:lnSpc>
              <a:buNone/>
            </a:pPr>
            <a:r>
              <a:rPr lang="en-US" sz="1000" b="1" dirty="0">
                <a:solidFill>
                  <a:srgbClr val="3D6E8C"/>
                </a:solidFill>
                <a:latin typeface="Calibri" pitchFamily="34" charset="0"/>
                <a:ea typeface="Calibri" pitchFamily="34" charset="-122"/>
                <a:cs typeface="Calibri" pitchFamily="34" charset="-120"/>
              </a:rPr>
              <a:t>What we need: agreement to sequence, not a date.</a:t>
            </a:r>
            <a:endParaRPr lang="en-US" sz="1000" dirty="0"/>
          </a:p>
        </p:txBody>
      </p:sp>
      <p:sp>
        <p:nvSpPr>
          <p:cNvPr id="16" name="Shape 14"/>
          <p:cNvSpPr/>
          <p:nvPr/>
        </p:nvSpPr>
        <p:spPr>
          <a:xfrm>
            <a:off x="502920" y="4599432"/>
            <a:ext cx="11155680" cy="1572768"/>
          </a:xfrm>
          <a:prstGeom prst="roundRect">
            <a:avLst>
              <a:gd name="adj" fmla="val 4070"/>
            </a:avLst>
          </a:prstGeom>
          <a:solidFill>
            <a:srgbClr val="F4F7FA"/>
          </a:solidFill>
          <a:ln w="12700">
            <a:solidFill>
              <a:srgbClr val="DCE4EC"/>
            </a:solidFill>
            <a:prstDash val="solid"/>
          </a:ln>
        </p:spPr>
      </p:sp>
      <p:sp>
        <p:nvSpPr>
          <p:cNvPr id="17" name="Shape 15"/>
          <p:cNvSpPr/>
          <p:nvPr/>
        </p:nvSpPr>
        <p:spPr>
          <a:xfrm>
            <a:off x="822960" y="5148072"/>
            <a:ext cx="475488" cy="475488"/>
          </a:xfrm>
          <a:prstGeom prst="ellipse">
            <a:avLst/>
          </a:prstGeom>
          <a:solidFill>
            <a:srgbClr val="005A96"/>
          </a:solidFill>
          <a:ln w="12700">
            <a:solidFill>
              <a:srgbClr val="005A96"/>
            </a:solidFill>
            <a:prstDash val="solid"/>
          </a:ln>
        </p:spPr>
      </p:sp>
      <p:sp>
        <p:nvSpPr>
          <p:cNvPr id="18" name="Text 16"/>
          <p:cNvSpPr/>
          <p:nvPr/>
        </p:nvSpPr>
        <p:spPr>
          <a:xfrm>
            <a:off x="822960" y="514807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1481328" y="4800600"/>
            <a:ext cx="4572000" cy="786384"/>
          </a:xfrm>
          <a:prstGeom prst="rect">
            <a:avLst/>
          </a:prstGeom>
          <a:noFill/>
          <a:ln/>
        </p:spPr>
        <p:txBody>
          <a:bodyPr wrap="square" lIns="0" tIns="0" rIns="0" bIns="0" rtlCol="0" anchor="t"/>
          <a:lstStyle/>
          <a:p>
            <a:pPr indent="0" marL="0">
              <a:lnSpc>
                <a:spcPts val="2000"/>
              </a:lnSpc>
              <a:buNone/>
            </a:pPr>
            <a:r>
              <a:rPr lang="en-US" sz="1600" b="1" dirty="0">
                <a:solidFill>
                  <a:srgbClr val="10243E"/>
                </a:solidFill>
                <a:latin typeface="Cambria" pitchFamily="34" charset="0"/>
                <a:ea typeface="Cambria" pitchFamily="34" charset="-122"/>
                <a:cs typeface="Cambria" pitchFamily="34" charset="-120"/>
              </a:rPr>
              <a:t>Agree Records &amp; Archive Holdings follows Physical Records</a:t>
            </a:r>
            <a:endParaRPr lang="en-US" sz="1600" dirty="0"/>
          </a:p>
        </p:txBody>
      </p:sp>
      <p:sp>
        <p:nvSpPr>
          <p:cNvPr id="20" name="Text 18"/>
          <p:cNvSpPr/>
          <p:nvPr/>
        </p:nvSpPr>
        <p:spPr>
          <a:xfrm>
            <a:off x="6263640" y="4800600"/>
            <a:ext cx="3657600" cy="1170432"/>
          </a:xfrm>
          <a:prstGeom prst="rect">
            <a:avLst/>
          </a:prstGeom>
          <a:noFill/>
          <a:ln/>
        </p:spPr>
        <p:txBody>
          <a:bodyPr wrap="square" lIns="0" tIns="0" rIns="0" bIns="0" rtlCol="0" anchor="t"/>
          <a:lstStyle/>
          <a:p>
            <a:pPr indent="0" marL="0">
              <a:lnSpc>
                <a:spcPts val="1300"/>
              </a:lnSpc>
              <a:buNone/>
            </a:pPr>
            <a:r>
              <a:rPr lang="en-US" sz="1020" dirty="0">
                <a:solidFill>
                  <a:srgbClr val="33475F"/>
                </a:solidFill>
                <a:latin typeface="Calibri" pitchFamily="34" charset="0"/>
                <a:ea typeface="Calibri" pitchFamily="34" charset="-122"/>
                <a:cs typeface="Calibri" pitchFamily="34" charset="-120"/>
              </a:rPr>
              <a:t>Everything on it is paper: boxes, folders, rooms, retrievals. Those sources arrive with the physical work, after Utilization. Building it now would mean showing you 26 invented figures.</a:t>
            </a:r>
            <a:endParaRPr lang="en-US" sz="1020" dirty="0"/>
          </a:p>
        </p:txBody>
      </p:sp>
      <p:sp>
        <p:nvSpPr>
          <p:cNvPr id="21" name="Text 19"/>
          <p:cNvSpPr/>
          <p:nvPr/>
        </p:nvSpPr>
        <p:spPr>
          <a:xfrm>
            <a:off x="10058400" y="4800600"/>
            <a:ext cx="1481328" cy="1170432"/>
          </a:xfrm>
          <a:prstGeom prst="rect">
            <a:avLst/>
          </a:prstGeom>
          <a:noFill/>
          <a:ln/>
        </p:spPr>
        <p:txBody>
          <a:bodyPr wrap="square" lIns="0" tIns="0" rIns="0" bIns="0" rtlCol="0" anchor="t"/>
          <a:lstStyle/>
          <a:p>
            <a:pPr indent="0" marL="0">
              <a:lnSpc>
                <a:spcPts val="1300"/>
              </a:lnSpc>
              <a:buNone/>
            </a:pPr>
            <a:r>
              <a:rPr lang="en-US" sz="1000" b="1" dirty="0">
                <a:solidFill>
                  <a:srgbClr val="005A96"/>
                </a:solidFill>
                <a:latin typeface="Calibri" pitchFamily="34" charset="0"/>
                <a:ea typeface="Calibri" pitchFamily="34" charset="-122"/>
                <a:cs typeface="Calibri" pitchFamily="34" charset="-120"/>
              </a:rPr>
              <a:t>What we need: sign off the layout today, build it later.</a:t>
            </a:r>
            <a:endParaRPr lang="en-US" sz="1000" dirty="0"/>
          </a:p>
        </p:txBody>
      </p:sp>
      <p:sp>
        <p:nvSpPr>
          <p:cNvPr id="22" name="Text 20"/>
          <p:cNvSpPr/>
          <p:nvPr/>
        </p:nvSpPr>
        <p:spPr>
          <a:xfrm>
            <a:off x="502920" y="6263640"/>
            <a:ext cx="11155680" cy="320040"/>
          </a:xfrm>
          <a:prstGeom prst="rect">
            <a:avLst/>
          </a:prstGeom>
          <a:noFill/>
          <a:ln/>
        </p:spPr>
        <p:txBody>
          <a:bodyPr wrap="square" lIns="0" tIns="0" rIns="0" bIns="0" rtlCol="0" anchor="ctr"/>
          <a:lstStyle/>
          <a:p>
            <a:pPr indent="0" marL="0">
              <a:buNone/>
            </a:pPr>
            <a:r>
              <a:rPr lang="en-US" sz="1400" i="1" dirty="0">
                <a:solidFill>
                  <a:srgbClr val="005A96"/>
                </a:solidFill>
                <a:latin typeface="Cambria" pitchFamily="34" charset="0"/>
                <a:ea typeface="Cambria" pitchFamily="34" charset="-122"/>
                <a:cs typeface="Cambria" pitchFamily="34" charset="-120"/>
              </a:rPr>
              <a:t>None of the three asks you for a date. All three ask you to agree an order.</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8229600" cy="237744"/>
          </a:xfrm>
          <a:prstGeom prst="rect">
            <a:avLst/>
          </a:prstGeom>
          <a:noFill/>
          <a:ln/>
        </p:spPr>
        <p:txBody>
          <a:bodyPr wrap="square" lIns="0" tIns="0" rIns="0" bIns="0" rtlCol="0" anchor="ctr"/>
          <a:lstStyle/>
          <a:p>
            <a:pPr indent="0" marL="0">
              <a:buNone/>
            </a:pPr>
            <a:r>
              <a:rPr lang="en-US" sz="1050" b="1" spc="140" kern="0" dirty="0">
                <a:solidFill>
                  <a:srgbClr val="0072BC"/>
                </a:solidFill>
                <a:latin typeface="Calibri" pitchFamily="34" charset="0"/>
                <a:ea typeface="Calibri" pitchFamily="34" charset="-122"/>
                <a:cs typeface="Calibri" pitchFamily="34" charset="-120"/>
              </a:rPr>
              <a:t>AFTER TODAY</a:t>
            </a:r>
            <a:endParaRPr lang="en-US" sz="1050" dirty="0"/>
          </a:p>
        </p:txBody>
      </p:sp>
      <p:sp>
        <p:nvSpPr>
          <p:cNvPr id="3" name="Text 1"/>
          <p:cNvSpPr/>
          <p:nvPr/>
        </p:nvSpPr>
        <p:spPr>
          <a:xfrm>
            <a:off x="502920" y="512064"/>
            <a:ext cx="10058400" cy="457200"/>
          </a:xfrm>
          <a:prstGeom prst="rect">
            <a:avLst/>
          </a:prstGeom>
          <a:noFill/>
          <a:ln/>
        </p:spPr>
        <p:txBody>
          <a:bodyPr wrap="square" lIns="0" tIns="0" rIns="0" bIns="0" rtlCol="0" anchor="ctr"/>
          <a:lstStyle/>
          <a:p>
            <a:pPr indent="0" marL="0">
              <a:buNone/>
            </a:pPr>
            <a:r>
              <a:rPr lang="en-US" sz="2500" b="1" dirty="0">
                <a:solidFill>
                  <a:srgbClr val="10243E"/>
                </a:solidFill>
                <a:latin typeface="Cambria" pitchFamily="34" charset="0"/>
                <a:ea typeface="Cambria" pitchFamily="34" charset="-122"/>
                <a:cs typeface="Cambria" pitchFamily="34" charset="-120"/>
              </a:rPr>
              <a:t>What happens next</a:t>
            </a:r>
            <a:endParaRPr lang="en-US" sz="2500" dirty="0"/>
          </a:p>
        </p:txBody>
      </p:sp>
      <p:sp>
        <p:nvSpPr>
          <p:cNvPr id="4" name="Shape 2"/>
          <p:cNvSpPr/>
          <p:nvPr/>
        </p:nvSpPr>
        <p:spPr>
          <a:xfrm>
            <a:off x="502920" y="1371600"/>
            <a:ext cx="2670048" cy="3931920"/>
          </a:xfrm>
          <a:prstGeom prst="roundRect">
            <a:avLst>
              <a:gd name="adj" fmla="val 239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5" name="Shape 3"/>
          <p:cNvSpPr/>
          <p:nvPr/>
        </p:nvSpPr>
        <p:spPr>
          <a:xfrm>
            <a:off x="777240" y="1664208"/>
            <a:ext cx="475488" cy="475488"/>
          </a:xfrm>
          <a:prstGeom prst="ellipse">
            <a:avLst/>
          </a:prstGeom>
          <a:solidFill>
            <a:srgbClr val="0E1F35"/>
          </a:solidFill>
          <a:ln w="12700">
            <a:solidFill>
              <a:srgbClr val="0E1F35"/>
            </a:solidFill>
            <a:prstDash val="solid"/>
          </a:ln>
        </p:spPr>
      </p:sp>
      <p:sp>
        <p:nvSpPr>
          <p:cNvPr id="6" name="Text 4"/>
          <p:cNvSpPr/>
          <p:nvPr/>
        </p:nvSpPr>
        <p:spPr>
          <a:xfrm>
            <a:off x="777240"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777240" y="2331720"/>
            <a:ext cx="2148840" cy="777240"/>
          </a:xfrm>
          <a:prstGeom prst="rect">
            <a:avLst/>
          </a:prstGeom>
          <a:noFill/>
          <a:ln/>
        </p:spPr>
        <p:txBody>
          <a:bodyPr wrap="square" lIns="0" tIns="0" rIns="0" bIns="0" rtlCol="0" anchor="ctr"/>
          <a:lstStyle/>
          <a:p>
            <a:pPr indent="0" marL="0">
              <a:lnSpc>
                <a:spcPts val="1900"/>
              </a:lnSpc>
              <a:buNone/>
            </a:pPr>
            <a:r>
              <a:rPr lang="en-US" sz="1500" b="1" dirty="0">
                <a:solidFill>
                  <a:srgbClr val="10243E"/>
                </a:solidFill>
                <a:latin typeface="Cambria" pitchFamily="34" charset="0"/>
                <a:ea typeface="Cambria" pitchFamily="34" charset="-122"/>
                <a:cs typeface="Cambria" pitchFamily="34" charset="-120"/>
              </a:rPr>
              <a:t>You point us at the sources</a:t>
            </a:r>
            <a:endParaRPr lang="en-US" sz="1500" dirty="0"/>
          </a:p>
        </p:txBody>
      </p:sp>
      <p:sp>
        <p:nvSpPr>
          <p:cNvPr id="8" name="Text 6"/>
          <p:cNvSpPr/>
          <p:nvPr/>
        </p:nvSpPr>
        <p:spPr>
          <a:xfrm>
            <a:off x="777240" y="3154680"/>
            <a:ext cx="2148840" cy="1463040"/>
          </a:xfrm>
          <a:prstGeom prst="rect">
            <a:avLst/>
          </a:prstGeom>
          <a:noFill/>
          <a:ln/>
        </p:spPr>
        <p:txBody>
          <a:bodyPr wrap="square" lIns="0" tIns="0" rIns="0" bIns="0" rtlCol="0" anchor="ctr"/>
          <a:lstStyle/>
          <a:p>
            <a:pPr indent="0" marL="0">
              <a:lnSpc>
                <a:spcPts val="1400"/>
              </a:lnSpc>
              <a:buNone/>
            </a:pPr>
            <a:r>
              <a:rPr lang="en-US" sz="1050" dirty="0">
                <a:solidFill>
                  <a:srgbClr val="33475F"/>
                </a:solidFill>
                <a:latin typeface="Calibri" pitchFamily="34" charset="0"/>
                <a:ea typeface="Calibri" pitchFamily="34" charset="-122"/>
                <a:cs typeface="Calibri" pitchFamily="34" charset="-120"/>
              </a:rPr>
              <a:t>Even a name — a system, a team, a person who keeps the spreadsheet. We do the chasing from there.</a:t>
            </a:r>
            <a:endParaRPr lang="en-US" sz="1050" dirty="0"/>
          </a:p>
        </p:txBody>
      </p:sp>
      <p:sp>
        <p:nvSpPr>
          <p:cNvPr id="9" name="Text 7"/>
          <p:cNvSpPr/>
          <p:nvPr/>
        </p:nvSpPr>
        <p:spPr>
          <a:xfrm>
            <a:off x="777240" y="4800600"/>
            <a:ext cx="2148840" cy="237744"/>
          </a:xfrm>
          <a:prstGeom prst="rect">
            <a:avLst/>
          </a:prstGeom>
          <a:noFill/>
          <a:ln/>
        </p:spPr>
        <p:txBody>
          <a:bodyPr wrap="square" lIns="0" tIns="0" rIns="0" bIns="0" rtlCol="0" anchor="ctr"/>
          <a:lstStyle/>
          <a:p>
            <a:pPr indent="0" marL="0">
              <a:buNone/>
            </a:pPr>
            <a:r>
              <a:rPr lang="en-US" sz="850" b="1" spc="80" kern="0" dirty="0">
                <a:solidFill>
                  <a:srgbClr val="0072BC"/>
                </a:solidFill>
                <a:latin typeface="Calibri" pitchFamily="34" charset="0"/>
                <a:ea typeface="Calibri" pitchFamily="34" charset="-122"/>
                <a:cs typeface="Calibri" pitchFamily="34" charset="-120"/>
              </a:rPr>
              <a:t>THIS WEEK</a:t>
            </a:r>
            <a:endParaRPr lang="en-US" sz="850" dirty="0"/>
          </a:p>
        </p:txBody>
      </p:sp>
      <p:sp>
        <p:nvSpPr>
          <p:cNvPr id="10" name="Shape 8"/>
          <p:cNvSpPr/>
          <p:nvPr/>
        </p:nvSpPr>
        <p:spPr>
          <a:xfrm>
            <a:off x="3374136" y="1371600"/>
            <a:ext cx="2670048" cy="3931920"/>
          </a:xfrm>
          <a:prstGeom prst="roundRect">
            <a:avLst>
              <a:gd name="adj" fmla="val 239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1" name="Shape 9"/>
          <p:cNvSpPr/>
          <p:nvPr/>
        </p:nvSpPr>
        <p:spPr>
          <a:xfrm>
            <a:off x="3648456" y="1664208"/>
            <a:ext cx="475488" cy="475488"/>
          </a:xfrm>
          <a:prstGeom prst="ellipse">
            <a:avLst/>
          </a:prstGeom>
          <a:solidFill>
            <a:srgbClr val="0E1F35"/>
          </a:solidFill>
          <a:ln w="12700">
            <a:solidFill>
              <a:srgbClr val="0E1F35"/>
            </a:solidFill>
            <a:prstDash val="solid"/>
          </a:ln>
        </p:spPr>
      </p:sp>
      <p:sp>
        <p:nvSpPr>
          <p:cNvPr id="12" name="Text 10"/>
          <p:cNvSpPr/>
          <p:nvPr/>
        </p:nvSpPr>
        <p:spPr>
          <a:xfrm>
            <a:off x="3648456"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3648456" y="2331720"/>
            <a:ext cx="2148840" cy="777240"/>
          </a:xfrm>
          <a:prstGeom prst="rect">
            <a:avLst/>
          </a:prstGeom>
          <a:noFill/>
          <a:ln/>
        </p:spPr>
        <p:txBody>
          <a:bodyPr wrap="square" lIns="0" tIns="0" rIns="0" bIns="0" rtlCol="0" anchor="ctr"/>
          <a:lstStyle/>
          <a:p>
            <a:pPr indent="0" marL="0">
              <a:lnSpc>
                <a:spcPts val="1900"/>
              </a:lnSpc>
              <a:buNone/>
            </a:pPr>
            <a:r>
              <a:rPr lang="en-US" sz="1500" b="1" dirty="0">
                <a:solidFill>
                  <a:srgbClr val="10243E"/>
                </a:solidFill>
                <a:latin typeface="Cambria" pitchFamily="34" charset="0"/>
                <a:ea typeface="Cambria" pitchFamily="34" charset="-122"/>
                <a:cs typeface="Cambria" pitchFamily="34" charset="-120"/>
              </a:rPr>
              <a:t>We confirm what is really there</a:t>
            </a:r>
            <a:endParaRPr lang="en-US" sz="1500" dirty="0"/>
          </a:p>
        </p:txBody>
      </p:sp>
      <p:sp>
        <p:nvSpPr>
          <p:cNvPr id="14" name="Text 12"/>
          <p:cNvSpPr/>
          <p:nvPr/>
        </p:nvSpPr>
        <p:spPr>
          <a:xfrm>
            <a:off x="3648456" y="3154680"/>
            <a:ext cx="2148840" cy="1463040"/>
          </a:xfrm>
          <a:prstGeom prst="rect">
            <a:avLst/>
          </a:prstGeom>
          <a:noFill/>
          <a:ln/>
        </p:spPr>
        <p:txBody>
          <a:bodyPr wrap="square" lIns="0" tIns="0" rIns="0" bIns="0" rtlCol="0" anchor="ctr"/>
          <a:lstStyle/>
          <a:p>
            <a:pPr indent="0" marL="0">
              <a:lnSpc>
                <a:spcPts val="1400"/>
              </a:lnSpc>
              <a:buNone/>
            </a:pPr>
            <a:r>
              <a:rPr lang="en-US" sz="1050" dirty="0">
                <a:solidFill>
                  <a:srgbClr val="33475F"/>
                </a:solidFill>
                <a:latin typeface="Calibri" pitchFamily="34" charset="0"/>
                <a:ea typeface="Calibri" pitchFamily="34" charset="-122"/>
                <a:cs typeface="Calibri" pitchFamily="34" charset="-120"/>
              </a:rPr>
              <a:t>We check each source ourselves rather than assuming. Every claim in the checklist has been tested this way.</a:t>
            </a:r>
            <a:endParaRPr lang="en-US" sz="1050" dirty="0"/>
          </a:p>
        </p:txBody>
      </p:sp>
      <p:sp>
        <p:nvSpPr>
          <p:cNvPr id="15" name="Text 13"/>
          <p:cNvSpPr/>
          <p:nvPr/>
        </p:nvSpPr>
        <p:spPr>
          <a:xfrm>
            <a:off x="3648456" y="4800600"/>
            <a:ext cx="2148840" cy="237744"/>
          </a:xfrm>
          <a:prstGeom prst="rect">
            <a:avLst/>
          </a:prstGeom>
          <a:noFill/>
          <a:ln/>
        </p:spPr>
        <p:txBody>
          <a:bodyPr wrap="square" lIns="0" tIns="0" rIns="0" bIns="0" rtlCol="0" anchor="ctr"/>
          <a:lstStyle/>
          <a:p>
            <a:pPr indent="0" marL="0">
              <a:buNone/>
            </a:pPr>
            <a:r>
              <a:rPr lang="en-US" sz="850" b="1" spc="80" kern="0" dirty="0">
                <a:solidFill>
                  <a:srgbClr val="0072BC"/>
                </a:solidFill>
                <a:latin typeface="Calibri" pitchFamily="34" charset="0"/>
                <a:ea typeface="Calibri" pitchFamily="34" charset="-122"/>
                <a:cs typeface="Calibri" pitchFamily="34" charset="-120"/>
              </a:rPr>
              <a:t>1–2 WEEKS</a:t>
            </a:r>
            <a:endParaRPr lang="en-US" sz="850" dirty="0"/>
          </a:p>
        </p:txBody>
      </p:sp>
      <p:sp>
        <p:nvSpPr>
          <p:cNvPr id="16" name="Shape 14"/>
          <p:cNvSpPr/>
          <p:nvPr/>
        </p:nvSpPr>
        <p:spPr>
          <a:xfrm>
            <a:off x="6245352" y="1371600"/>
            <a:ext cx="2670048" cy="3931920"/>
          </a:xfrm>
          <a:prstGeom prst="roundRect">
            <a:avLst>
              <a:gd name="adj" fmla="val 239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17" name="Shape 15"/>
          <p:cNvSpPr/>
          <p:nvPr/>
        </p:nvSpPr>
        <p:spPr>
          <a:xfrm>
            <a:off x="6519672" y="1664208"/>
            <a:ext cx="475488" cy="475488"/>
          </a:xfrm>
          <a:prstGeom prst="ellipse">
            <a:avLst/>
          </a:prstGeom>
          <a:solidFill>
            <a:srgbClr val="0E1F35"/>
          </a:solidFill>
          <a:ln w="12700">
            <a:solidFill>
              <a:srgbClr val="0E1F35"/>
            </a:solidFill>
            <a:prstDash val="solid"/>
          </a:ln>
        </p:spPr>
      </p:sp>
      <p:sp>
        <p:nvSpPr>
          <p:cNvPr id="18" name="Text 16"/>
          <p:cNvSpPr/>
          <p:nvPr/>
        </p:nvSpPr>
        <p:spPr>
          <a:xfrm>
            <a:off x="6519672"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6519672" y="2331720"/>
            <a:ext cx="2148840" cy="777240"/>
          </a:xfrm>
          <a:prstGeom prst="rect">
            <a:avLst/>
          </a:prstGeom>
          <a:noFill/>
          <a:ln/>
        </p:spPr>
        <p:txBody>
          <a:bodyPr wrap="square" lIns="0" tIns="0" rIns="0" bIns="0" rtlCol="0" anchor="ctr"/>
          <a:lstStyle/>
          <a:p>
            <a:pPr indent="0" marL="0">
              <a:lnSpc>
                <a:spcPts val="1900"/>
              </a:lnSpc>
              <a:buNone/>
            </a:pPr>
            <a:r>
              <a:rPr lang="en-US" sz="1500" b="1" dirty="0">
                <a:solidFill>
                  <a:srgbClr val="10243E"/>
                </a:solidFill>
                <a:latin typeface="Cambria" pitchFamily="34" charset="0"/>
                <a:ea typeface="Cambria" pitchFamily="34" charset="-122"/>
                <a:cs typeface="Cambria" pitchFamily="34" charset="-120"/>
              </a:rPr>
              <a:t>We swap placeholders for real data</a:t>
            </a:r>
            <a:endParaRPr lang="en-US" sz="1500" dirty="0"/>
          </a:p>
        </p:txBody>
      </p:sp>
      <p:sp>
        <p:nvSpPr>
          <p:cNvPr id="20" name="Text 18"/>
          <p:cNvSpPr/>
          <p:nvPr/>
        </p:nvSpPr>
        <p:spPr>
          <a:xfrm>
            <a:off x="6519672" y="3154680"/>
            <a:ext cx="2148840" cy="1463040"/>
          </a:xfrm>
          <a:prstGeom prst="rect">
            <a:avLst/>
          </a:prstGeom>
          <a:noFill/>
          <a:ln/>
        </p:spPr>
        <p:txBody>
          <a:bodyPr wrap="square" lIns="0" tIns="0" rIns="0" bIns="0" rtlCol="0" anchor="ctr"/>
          <a:lstStyle/>
          <a:p>
            <a:pPr indent="0" marL="0">
              <a:lnSpc>
                <a:spcPts val="1400"/>
              </a:lnSpc>
              <a:buNone/>
            </a:pPr>
            <a:r>
              <a:rPr lang="en-US" sz="1050" dirty="0">
                <a:solidFill>
                  <a:srgbClr val="33475F"/>
                </a:solidFill>
                <a:latin typeface="Calibri" pitchFamily="34" charset="0"/>
                <a:ea typeface="Calibri" pitchFamily="34" charset="-122"/>
                <a:cs typeface="Calibri" pitchFamily="34" charset="-120"/>
              </a:rPr>
              <a:t>The screens do not change. The invented numbers become measured ones, and the amber items turn green.</a:t>
            </a:r>
            <a:endParaRPr lang="en-US" sz="1050" dirty="0"/>
          </a:p>
        </p:txBody>
      </p:sp>
      <p:sp>
        <p:nvSpPr>
          <p:cNvPr id="21" name="Text 19"/>
          <p:cNvSpPr/>
          <p:nvPr/>
        </p:nvSpPr>
        <p:spPr>
          <a:xfrm>
            <a:off x="6519672" y="4800600"/>
            <a:ext cx="2148840" cy="237744"/>
          </a:xfrm>
          <a:prstGeom prst="rect">
            <a:avLst/>
          </a:prstGeom>
          <a:noFill/>
          <a:ln/>
        </p:spPr>
        <p:txBody>
          <a:bodyPr wrap="square" lIns="0" tIns="0" rIns="0" bIns="0" rtlCol="0" anchor="ctr"/>
          <a:lstStyle/>
          <a:p>
            <a:pPr indent="0" marL="0">
              <a:buNone/>
            </a:pPr>
            <a:r>
              <a:rPr lang="en-US" sz="850" b="1" spc="80" kern="0" dirty="0">
                <a:solidFill>
                  <a:srgbClr val="0072BC"/>
                </a:solidFill>
                <a:latin typeface="Calibri" pitchFamily="34" charset="0"/>
                <a:ea typeface="Calibri" pitchFamily="34" charset="-122"/>
                <a:cs typeface="Calibri" pitchFamily="34" charset="-120"/>
              </a:rPr>
              <a:t>ONGOING</a:t>
            </a:r>
            <a:endParaRPr lang="en-US" sz="850" dirty="0"/>
          </a:p>
        </p:txBody>
      </p:sp>
      <p:sp>
        <p:nvSpPr>
          <p:cNvPr id="22" name="Shape 20"/>
          <p:cNvSpPr/>
          <p:nvPr/>
        </p:nvSpPr>
        <p:spPr>
          <a:xfrm>
            <a:off x="9116568" y="1371600"/>
            <a:ext cx="2670048" cy="3931920"/>
          </a:xfrm>
          <a:prstGeom prst="roundRect">
            <a:avLst>
              <a:gd name="adj" fmla="val 2397"/>
            </a:avLst>
          </a:prstGeom>
          <a:solidFill>
            <a:srgbClr val="FFFFFF"/>
          </a:solidFill>
          <a:ln w="12700">
            <a:solidFill>
              <a:srgbClr val="DCE4EC"/>
            </a:solidFill>
            <a:prstDash val="solid"/>
          </a:ln>
          <a:effectLst>
            <a:outerShdw sx="100000" sy="100000" kx="0" ky="0" algn="bl" rotWithShape="0" blurRad="177800" dist="25400" dir="5400000">
              <a:srgbClr val="8FA3B8">
                <a:alpha val="35000"/>
              </a:srgbClr>
            </a:outerShdw>
          </a:effectLst>
        </p:spPr>
      </p:sp>
      <p:sp>
        <p:nvSpPr>
          <p:cNvPr id="23" name="Shape 21"/>
          <p:cNvSpPr/>
          <p:nvPr/>
        </p:nvSpPr>
        <p:spPr>
          <a:xfrm>
            <a:off x="9390888" y="1664208"/>
            <a:ext cx="475488" cy="475488"/>
          </a:xfrm>
          <a:prstGeom prst="ellipse">
            <a:avLst/>
          </a:prstGeom>
          <a:solidFill>
            <a:srgbClr val="0E1F35"/>
          </a:solidFill>
          <a:ln w="12700">
            <a:solidFill>
              <a:srgbClr val="0E1F35"/>
            </a:solidFill>
            <a:prstDash val="solid"/>
          </a:ln>
        </p:spPr>
      </p:sp>
      <p:sp>
        <p:nvSpPr>
          <p:cNvPr id="24" name="Text 22"/>
          <p:cNvSpPr/>
          <p:nvPr/>
        </p:nvSpPr>
        <p:spPr>
          <a:xfrm>
            <a:off x="9390888"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p:nvPr/>
        </p:nvSpPr>
        <p:spPr>
          <a:xfrm>
            <a:off x="9390888" y="2331720"/>
            <a:ext cx="2148840" cy="777240"/>
          </a:xfrm>
          <a:prstGeom prst="rect">
            <a:avLst/>
          </a:prstGeom>
          <a:noFill/>
          <a:ln/>
        </p:spPr>
        <p:txBody>
          <a:bodyPr wrap="square" lIns="0" tIns="0" rIns="0" bIns="0" rtlCol="0" anchor="ctr"/>
          <a:lstStyle/>
          <a:p>
            <a:pPr indent="0" marL="0">
              <a:lnSpc>
                <a:spcPts val="1900"/>
              </a:lnSpc>
              <a:buNone/>
            </a:pPr>
            <a:r>
              <a:rPr lang="en-US" sz="1500" b="1" dirty="0">
                <a:solidFill>
                  <a:srgbClr val="10243E"/>
                </a:solidFill>
                <a:latin typeface="Cambria" pitchFamily="34" charset="0"/>
                <a:ea typeface="Cambria" pitchFamily="34" charset="-122"/>
                <a:cs typeface="Cambria" pitchFamily="34" charset="-120"/>
              </a:rPr>
              <a:t>The later releases pick up the rest</a:t>
            </a:r>
            <a:endParaRPr lang="en-US" sz="1500" dirty="0"/>
          </a:p>
        </p:txBody>
      </p:sp>
      <p:sp>
        <p:nvSpPr>
          <p:cNvPr id="26" name="Text 24"/>
          <p:cNvSpPr/>
          <p:nvPr/>
        </p:nvSpPr>
        <p:spPr>
          <a:xfrm>
            <a:off x="9390888" y="3154680"/>
            <a:ext cx="2148840" cy="1463040"/>
          </a:xfrm>
          <a:prstGeom prst="rect">
            <a:avLst/>
          </a:prstGeom>
          <a:noFill/>
          <a:ln/>
        </p:spPr>
        <p:txBody>
          <a:bodyPr wrap="square" lIns="0" tIns="0" rIns="0" bIns="0" rtlCol="0" anchor="ctr"/>
          <a:lstStyle/>
          <a:p>
            <a:pPr indent="0" marL="0">
              <a:lnSpc>
                <a:spcPts val="1400"/>
              </a:lnSpc>
              <a:buNone/>
            </a:pPr>
            <a:r>
              <a:rPr lang="en-US" sz="1050" dirty="0">
                <a:solidFill>
                  <a:srgbClr val="33475F"/>
                </a:solidFill>
                <a:latin typeface="Calibri" pitchFamily="34" charset="0"/>
                <a:ea typeface="Calibri" pitchFamily="34" charset="-122"/>
                <a:cs typeface="Calibri" pitchFamily="34" charset="-120"/>
              </a:rPr>
              <a:t>The disposal screens switch on when Disposal ships. Records &amp; Archive Holdings is built with the physical work. Both layouts are already agreed by then.</a:t>
            </a:r>
            <a:endParaRPr lang="en-US" sz="1050" dirty="0"/>
          </a:p>
        </p:txBody>
      </p:sp>
      <p:sp>
        <p:nvSpPr>
          <p:cNvPr id="27" name="Text 25"/>
          <p:cNvSpPr/>
          <p:nvPr/>
        </p:nvSpPr>
        <p:spPr>
          <a:xfrm>
            <a:off x="9390888" y="4800600"/>
            <a:ext cx="2148840" cy="237744"/>
          </a:xfrm>
          <a:prstGeom prst="rect">
            <a:avLst/>
          </a:prstGeom>
          <a:noFill/>
          <a:ln/>
        </p:spPr>
        <p:txBody>
          <a:bodyPr wrap="square" lIns="0" tIns="0" rIns="0" bIns="0" rtlCol="0" anchor="ctr"/>
          <a:lstStyle/>
          <a:p>
            <a:pPr indent="0" marL="0">
              <a:buNone/>
            </a:pPr>
            <a:r>
              <a:rPr lang="en-US" sz="850" b="1" spc="80" kern="0" dirty="0">
                <a:solidFill>
                  <a:srgbClr val="0072BC"/>
                </a:solidFill>
                <a:latin typeface="Calibri" pitchFamily="34" charset="0"/>
                <a:ea typeface="Calibri" pitchFamily="34" charset="-122"/>
                <a:cs typeface="Calibri" pitchFamily="34" charset="-120"/>
              </a:rPr>
              <a:t>PER RELEASE</a:t>
            </a:r>
            <a:endParaRPr lang="en-US" sz="850" dirty="0"/>
          </a:p>
        </p:txBody>
      </p:sp>
      <p:sp>
        <p:nvSpPr>
          <p:cNvPr id="28" name="Text 26"/>
          <p:cNvSpPr/>
          <p:nvPr/>
        </p:nvSpPr>
        <p:spPr>
          <a:xfrm>
            <a:off x="502920" y="5669280"/>
            <a:ext cx="11155680" cy="320040"/>
          </a:xfrm>
          <a:prstGeom prst="rect">
            <a:avLst/>
          </a:prstGeom>
          <a:noFill/>
          <a:ln/>
        </p:spPr>
        <p:txBody>
          <a:bodyPr wrap="square" lIns="0" tIns="0" rIns="0" bIns="0" rtlCol="0" anchor="ctr"/>
          <a:lstStyle/>
          <a:p>
            <a:pPr indent="0" marL="0">
              <a:buNone/>
            </a:pPr>
            <a:r>
              <a:rPr lang="en-US" sz="1200" dirty="0">
                <a:solidFill>
                  <a:srgbClr val="33475F"/>
                </a:solidFill>
                <a:latin typeface="Calibri" pitchFamily="34" charset="0"/>
                <a:ea typeface="Calibri" pitchFamily="34" charset="-122"/>
                <a:cs typeface="Calibri" pitchFamily="34" charset="-120"/>
              </a:rPr>
              <a:t>The prototype is live and will stay live. Open it any time, click anything, and tell us what is wrong with it.</a:t>
            </a:r>
            <a:endParaRPr lang="en-US" sz="1200" dirty="0"/>
          </a:p>
        </p:txBody>
      </p:sp>
      <p:sp>
        <p:nvSpPr>
          <p:cNvPr id="29" name="Text 27"/>
          <p:cNvSpPr/>
          <p:nvPr/>
        </p:nvSpPr>
        <p:spPr>
          <a:xfrm>
            <a:off x="502920" y="5989320"/>
            <a:ext cx="11155680" cy="320040"/>
          </a:xfrm>
          <a:prstGeom prst="rect">
            <a:avLst/>
          </a:prstGeom>
          <a:noFill/>
          <a:ln/>
        </p:spPr>
        <p:txBody>
          <a:bodyPr wrap="square" lIns="0" tIns="0" rIns="0" bIns="0" rtlCol="0" anchor="ctr"/>
          <a:lstStyle/>
          <a:p>
            <a:pPr indent="0" marL="0">
              <a:buNone/>
            </a:pPr>
            <a:r>
              <a:rPr lang="en-US" sz="1300" b="1" dirty="0">
                <a:solidFill>
                  <a:srgbClr val="0072BC"/>
                </a:solidFill>
                <a:latin typeface="Calibri" pitchFamily="34" charset="0"/>
                <a:ea typeface="Calibri" pitchFamily="34" charset="-122"/>
                <a:cs typeface="Calibri" pitchFamily="34" charset="-120"/>
              </a:rPr>
              <a:t>perezfiles01-droid.github.io/Jim</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E1F35"/>
        </a:solidFill>
      </p:bgPr>
    </p:bg>
    <p:spTree>
      <p:nvGrpSpPr>
        <p:cNvPr id="1" name=""/>
        <p:cNvGrpSpPr/>
        <p:nvPr/>
      </p:nvGrpSpPr>
      <p:grpSpPr>
        <a:xfrm>
          <a:off x="0" y="0"/>
          <a:ext cx="0" cy="0"/>
          <a:chOff x="0" y="0"/>
          <a:chExt cx="0" cy="0"/>
        </a:xfrm>
      </p:grpSpPr>
      <p:sp>
        <p:nvSpPr>
          <p:cNvPr id="2" name="Shape 0"/>
          <p:cNvSpPr/>
          <p:nvPr/>
        </p:nvSpPr>
        <p:spPr>
          <a:xfrm>
            <a:off x="0" y="0"/>
            <a:ext cx="12191695" cy="50292"/>
          </a:xfrm>
          <a:prstGeom prst="rect">
            <a:avLst/>
          </a:prstGeom>
          <a:solidFill>
            <a:srgbClr val="5CA943"/>
          </a:solidFill>
          <a:ln w="12700">
            <a:solidFill>
              <a:srgbClr val="5CA943"/>
            </a:solidFill>
            <a:prstDash val="solid"/>
          </a:ln>
        </p:spPr>
      </p:sp>
      <p:sp>
        <p:nvSpPr>
          <p:cNvPr id="3" name="Text 1"/>
          <p:cNvSpPr/>
          <p:nvPr/>
        </p:nvSpPr>
        <p:spPr>
          <a:xfrm>
            <a:off x="822960" y="2377440"/>
            <a:ext cx="8229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Over to you</a:t>
            </a:r>
            <a:endParaRPr lang="en-US" sz="4400" dirty="0"/>
          </a:p>
        </p:txBody>
      </p:sp>
      <p:sp>
        <p:nvSpPr>
          <p:cNvPr id="4" name="Text 2"/>
          <p:cNvSpPr/>
          <p:nvPr/>
        </p:nvSpPr>
        <p:spPr>
          <a:xfrm>
            <a:off x="822960" y="3429000"/>
            <a:ext cx="8961120" cy="1005840"/>
          </a:xfrm>
          <a:prstGeom prst="rect">
            <a:avLst/>
          </a:prstGeom>
          <a:noFill/>
          <a:ln/>
        </p:spPr>
        <p:txBody>
          <a:bodyPr wrap="square" lIns="0" tIns="0" rIns="0" bIns="0" rtlCol="0" anchor="ctr"/>
          <a:lstStyle/>
          <a:p>
            <a:pPr indent="0" marL="0">
              <a:lnSpc>
                <a:spcPts val="2400"/>
              </a:lnSpc>
              <a:buNone/>
            </a:pPr>
            <a:r>
              <a:rPr lang="en-US" sz="1700" dirty="0">
                <a:solidFill>
                  <a:srgbClr val="AFC4D8"/>
                </a:solidFill>
                <a:latin typeface="Calibri" pitchFamily="34" charset="0"/>
                <a:ea typeface="Calibri" pitchFamily="34" charset="-122"/>
                <a:cs typeface="Calibri" pitchFamily="34" charset="-120"/>
              </a:rPr>
              <a:t>Which of the red items matters most to you — and which could we drop without anyone missing it?</a:t>
            </a:r>
            <a:endParaRPr lang="en-US" sz="1700" dirty="0"/>
          </a:p>
        </p:txBody>
      </p:sp>
      <p:sp>
        <p:nvSpPr>
          <p:cNvPr id="5" name="Text 3"/>
          <p:cNvSpPr/>
          <p:nvPr/>
        </p:nvSpPr>
        <p:spPr>
          <a:xfrm>
            <a:off x="822960" y="4434840"/>
            <a:ext cx="8961120" cy="365760"/>
          </a:xfrm>
          <a:prstGeom prst="rect">
            <a:avLst/>
          </a:prstGeom>
          <a:noFill/>
          <a:ln/>
        </p:spPr>
        <p:txBody>
          <a:bodyPr wrap="square" lIns="0" tIns="0" rIns="0" bIns="0" rtlCol="0" anchor="ctr"/>
          <a:lstStyle/>
          <a:p>
            <a:pPr indent="0" marL="0">
              <a:buNone/>
            </a:pPr>
            <a:r>
              <a:rPr lang="en-US" sz="1400" i="1" dirty="0">
                <a:solidFill>
                  <a:srgbClr val="00A5A8"/>
                </a:solidFill>
                <a:latin typeface="Cambria" pitchFamily="34" charset="0"/>
                <a:ea typeface="Cambria" pitchFamily="34" charset="-122"/>
                <a:cs typeface="Cambria" pitchFamily="34" charset="-120"/>
              </a:rPr>
              <a:t>Both answers are useful. The second one is often more useful.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EDRMS Utilization Report — Workshop</dc:title>
  <dc:subject>PptxGenJS Presentation</dc:subject>
  <dc:creator>ADB EDRMS Utilization Report</dc:creator>
  <cp:lastModifiedBy>ADB EDRMS Utilization Report</cp:lastModifiedBy>
  <cp:revision>1</cp:revision>
  <dcterms:created xsi:type="dcterms:W3CDTF">2026-08-22T06:06:25Z</dcterms:created>
  <dcterms:modified xsi:type="dcterms:W3CDTF">2026-08-22T06:06:25Z</dcterms:modified>
</cp:coreProperties>
</file>