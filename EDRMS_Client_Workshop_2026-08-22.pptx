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Built</c:v>
                </c:pt>
              </c:strCache>
            </c:strRef>
          </c:tx>
          <c:spPr>
            <a:solidFill>
              <a:srgbClr val="5CA943"/>
            </a:solidFill>
            <a:effectLst/>
          </c:spPr>
          <c:invertIfNegative val="0"/>
          <c:dLbls>
            <c:numFmt formatCode="#,##0" sourceLinked="0"/>
            <c:txPr>
              <a:bodyPr/>
              <a:lstStyle/>
              <a:p>
                <a:pPr>
                  <a:defRPr b="1"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Bank-wide Oversight</c:v>
                  </c:pt>
                  <c:pt idx="1">
                    <c:v>Department Insights</c:v>
                  </c:pt>
                  <c:pt idx="2">
                    <c:v>Project Insights</c:v>
                  </c:pt>
                  <c:pt idx="3">
                    <c:v>Institutional File Plan</c:v>
                  </c:pt>
                  <c:pt idx="4">
                    <c:v>Retention &amp; Disposal</c:v>
                  </c:pt>
                  <c:pt idx="5">
                    <c:v>Records &amp; Archive Holdings</c:v>
                  </c:pt>
                </c:lvl>
              </c:multiLvlStrCache>
            </c:multiLvlStrRef>
          </c:cat>
          <c:val>
            <c:numRef>
              <c:f>Sheet1!$B$2:$B$7</c:f>
              <c:numCache>
                <c:formatCode>General</c:formatCode>
                <c:ptCount val="6"/>
                <c:pt idx="0">
                  <c:v>44</c:v>
                </c:pt>
                <c:pt idx="1">
                  <c:v>59</c:v>
                </c:pt>
                <c:pt idx="2">
                  <c:v>21</c:v>
                </c:pt>
                <c:pt idx="3">
                  <c:v>22</c:v>
                </c:pt>
                <c:pt idx="4">
                  <c:v>18</c:v>
                </c:pt>
                <c:pt idx="5">
                  <c:v>24</c:v>
                </c:pt>
              </c:numCache>
            </c:numRef>
          </c:val>
        </c:ser>
        <c:ser>
          <c:idx val="1"/>
          <c:order val="1"/>
          <c:tx>
            <c:strRef>
              <c:f>Sheet1!$C$1</c:f>
              <c:strCache>
                <c:ptCount val="1"/>
                <c:pt idx="0">
                  <c:v>Needs you</c:v>
                </c:pt>
              </c:strCache>
            </c:strRef>
          </c:tx>
          <c:spPr>
            <a:solidFill>
              <a:srgbClr val="B3241C"/>
            </a:solidFill>
            <a:effectLst/>
          </c:spPr>
          <c:invertIfNegative val="0"/>
          <c:dLbls>
            <c:numFmt formatCode="#,##0" sourceLinked="0"/>
            <c:txPr>
              <a:bodyPr/>
              <a:lstStyle/>
              <a:p>
                <a:pPr>
                  <a:defRPr b="1"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Bank-wide Oversight</c:v>
                  </c:pt>
                  <c:pt idx="1">
                    <c:v>Department Insights</c:v>
                  </c:pt>
                  <c:pt idx="2">
                    <c:v>Project Insights</c:v>
                  </c:pt>
                  <c:pt idx="3">
                    <c:v>Institutional File Plan</c:v>
                  </c:pt>
                  <c:pt idx="4">
                    <c:v>Retention &amp; Disposal</c:v>
                  </c:pt>
                  <c:pt idx="5">
                    <c:v>Records &amp; Archive Holdings</c:v>
                  </c:pt>
                </c:lvl>
              </c:multiLvlStrCache>
            </c:multiLvlStrRef>
          </c:cat>
          <c:val>
            <c:numRef>
              <c:f>Sheet1!$C$2:$C$7</c:f>
              <c:numCache>
                <c:formatCode>General</c:formatCode>
                <c:ptCount val="6"/>
                <c:pt idx="0">
                  <c:v>21</c:v>
                </c:pt>
                <c:pt idx="1">
                  <c:v>25</c:v>
                </c:pt>
                <c:pt idx="2">
                  <c:v>0</c:v>
                </c:pt>
                <c:pt idx="3">
                  <c:v>4</c:v>
                </c:pt>
                <c:pt idx="4">
                  <c:v>9</c:v>
                </c:pt>
                <c:pt idx="5">
                  <c:v>2</c:v>
                </c:pt>
              </c:numCache>
            </c:numRef>
          </c:val>
        </c:ser>
        <c:dLbls>
          <c:numFmt formatCode="#,##0" sourceLinked="0"/>
          <c:txPr>
            <a:bodyPr/>
            <a:lstStyle/>
            <a:p>
              <a:pPr>
                <a:defRPr b="1" i="0" strike="noStrike" sz="1000" u="none">
                  <a:solidFill>
                    <a:srgbClr val="FFFFFF"/>
                  </a:solidFill>
                  <a:latin typeface="Calibri"/>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33475F"/>
                </a:solidFill>
                <a:latin typeface="Calibri"/>
              </a:defRPr>
            </a:pPr>
            <a:endParaRPr lang="en-US"/>
          </a:p>
        </c:txPr>
        <c:crossAx val="2094734552"/>
        <c:crosses val="autoZero"/>
        <c:auto val="1"/>
        <c:lblAlgn val="ctr"/>
        <c:noMultiLvlLbl val="1"/>
      </c:catAx>
      <c:valAx>
        <c:axId val="2094734552"/>
        <c:scaling>
          <c:orientation val="minMax"/>
          <c:max val="90"/>
        </c:scaling>
        <c:delete val="0"/>
        <c:axPos val="b"/>
        <c:majorGridlines>
          <c:spPr>
            <a:ln w="12700" cap="flat">
              <a:solidFill>
                <a:srgbClr val="EDF1F5"/>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6B7A8C"/>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saying what this session is for: we built a working prototype from your slides, we want to walk it with you, and we have 27 questions where we are stuck without you.
Set expectations: nothing here is final. This is exactly the point where changing things is cheap.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a full minute on the amber category. It is the one that causes trouble later — a screen that looks finished but is running on invented numbers. Say plainly: if you see a number today, assume it is illustrative unless the checklist says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one sentence per view, no more. The point of this slide is that they can see the whole shape before you dive in, and can tell you now if a view is missing or misnamed.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let them read the chart as a report card on the team. Frame it the other way round: the 61 red items are almost all one of three missing sources, and they are the only people who can point us at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Ask whether this is still the right question for this view before showing any screen — if the question is wrong, everything after it is wrong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ten headline figures
On the checklist: 10 items, 10 built, 0 needing them.
Talking points:
- Every figure the client drew on slide 34 is on this one strip.
- The two grey tiles are doors, not numbers: they open the other dashboards.
- Two labels changed. I will explain why on the questions slide.
Nothing red on this screen. Say so out loud; it builds credit for the screens where there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Sites, department by department
On the checklist: 10 items, 10 built, 0 needing them.
Talking points:
- Click any figure on the strip above and the table underneath changes.
- Every department name opens that department’s own dashboard.
- The four indicators on the right are sites created, deleted, archived and gone quiet.
Nothing red on this screen. Say so out loud; it builds credit for the screens where there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Project sites, sovereign and nonsovereign
On the checklist: 3 items, 3 built, 0 needing them.
Talking points:
- The client asked for these as two separate lists. Both are here.
- Any project row opens Project Insights for that project.
- The bottom row is the facility total, because their own slide ends the list with “Etc.”
Nothing red on this screen. Say so out loud; it builds credit for the screens where there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Users
On the checklist: 10 items, 4 built, 6 needing them.
Talking points:
- We can see who has actually used EDRMS. We cannot see who they are.
- Six of the ten things asked for here need something from you.
- This is the biggest single gap in the whole report.
Do not solve the red items here — say "we come back to this in three slides" and keep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Documents
On the checklist: 6 items, 2 built, 4 needing them.
Talking points:
- Document counts and storage size are solid and come from real data.
- What is missing is history: we can show today, not the trend.
- “Per division” appears again here. It appears on six screens in total.
Do not solve the red items here — say "we come back to this in three slides" and keep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Records declared
On the checklist: 6 items, 4 built, 2 needing them.
Talking points:
- This is the number the whole programme is judged on.
- The declaration rate compares records declared against documents held.
- Departments with zero declarations are flagged so they can be chased.
Do not solve the red items here — say "we come back to this in three slides" and keep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Physical counterparts
On the checklist: 5 items, 3 built, 2 needing them.
Talking points:
- A physical counterpart is a declared record that also exists on paper.
- This is the bridge between this report and what RAC holds in its rooms.
- What we cannot show is whether the paper actually reached RAC.
Do not solve the red items here — say "we come back to this in three slides" and keep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Records due for disposal
On the checklist: 11 items, 4 built, 7 needing them.
Talking points:
- We can show what is due, and when. That part is solid.
- We cannot show what happened next, because nothing records an outcome.
- Seven of the eleven items here are waiting on that one gap.
Do not solve the red items here — say "we come back to this in three slides" and keep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Trends and comparisons
On the checklist: 4 items, 4 built, 0 needing them.
Talking points:
- The curve is cumulative, so the last point is the running total to date.
- You can set any date range and the two figures beneath update.
- The comparison panel above ranks departments on three named ratios.
Nothing red on this screen. Say so out loud; it builds credit for the screens where there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question in the left column out loud, then stop talking. Do not fill the silence with the middle column unless they ask why.
What a good answer sounds like: a system name, a person's name, or "it's in a spreadsheet". Any of those three is a win. "We'll look into it" is not — get a name against it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question in the left column out loud, then stop talking. Do not fill the silence with the middle column unless they ask why.
What a good answer sounds like: a system name, a person's name, or "it's in a spreadsheet". Any of those three is a win. "We'll look into it" is not — get a name against it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Ask whether this is still the right question for this view before showing any screen — if the question is wrong, everything after it is wrong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department profile
On the checklist: 11 items, 9 built, 2 needing them.
Talking points:
- Pick a department at the top and every figure on the screen follows it.
- The same seven headline figures as bank-wide, narrowed to one unit.
- Two things are missing from the profile: the naming convention and the go-live date.
Do not solve the red items here — say "we come back to this in three slides" and keep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Users and activity
On the checklist: 8 items, 4 built, 4 needing them.
Talking points:
- Used in the last 180 days, gone quiet, never touched it — all three are here.
- The same user-type gap as bank-wide appears again.
- Training completion is asked for here too.
Do not solve the red items here — say "we come back to this in three slides" and keep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department’s sites
On the checklist: 11 items, 11 built, 0 needing them.
Talking points:
- Every site the department owns, with its owner named.
- All six columns the client drew are present.
- This screen is complete — nothing red on it.
Nothing red on this screen. Say so out loud; it builds credit for the screens where there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Site visitors
On the checklist: 14 items, 10 built, 4 needing them.
Talking points:
- Page views and unique pages, per site, with quick date windows.
- You can also pick any month and year.
- What we cannot yet do is separate ADB people from outsiders.
Do not solve the red items here — say "we come back to this in three slides" and keep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Documents
On the checklist: 7 items, 6 built, 1 needing them.
Talking points:
- Counts and storage size, per site.
- Solid and sourced, apart from one item.
- Same “how many people are creating documents” question as bank-wide.
Do not solve the red items here — say "we come back to this in three slides" and keep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Records declaration
On the checklist: 8 items, 6 built, 2 needing them.
Talking points:
- Records declared, people declaring, and total declared size.
- Sites that have declared nothing in 180 days are flagged.
- Only the two per-division items are missing.
Do not solve the red items here — say "we come back to this in three slides" and keep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Physical counterparts
On the checklist: 5 items, 3 built, 2 needing them.
Talking points:
- Which sites hold records with a paper copy, and what share that is.
- Same handover gap as bank-wide.
- Note items 60 and 61 sit under this heading in the workbook.
Do not solve the red items here — say "we come back to this in three slides" and keep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Disposal
On the checklist: 12 items, 6 built, 6 needing them.
Talking points:
- Due within three, six and twelve months, all three windows.
- Next due date and whether there is paper alongside.
- Six of the twelve items wait on the same disposal-outcome gap.
Do not solve the red items here — say "we come back to this in three slides" and keep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Library usage
On the checklist: 8 items, 4 built, 4 needing them.
Talking points:
- The client drew this as six screens, one per file plan category.
- We have the library table. We cannot yet group libraries by category.
- That is the same file plan gap we will see on the next dashboard.
Do not solve the red items here — say "we come back to this in three slides" and keep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question in the left column out loud, then stop talking. Do not fill the silence with the middle column unless they ask why.
What a good answer sounds like: a system name, a person's name, or "it's in a spreadsheet". Any of those three is a win. "We'll look into it" is not — get a name against it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question in the left column out loud, then stop talking. Do not fill the silence with the middle column unless they ask why.
What a good answer sounds like: a system name, a person's name, or "it's in a spreadsheet". Any of those three is a win. "We'll look into it" is not — get a name against it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Ask whether this is still the right question for this view before showing any screen — if the question is wrong, everything after it is wrong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list
On the checklist: 3 items, 3 built, 0 needing them.
Talking points:
- Sovereign and nonsovereign, switched with the picker.
- Click any project to open its profile below.
- The totals reconcile: named projects sit inside the facility total, which sits inside bank-wide.
Nothing red on this screen. Say so out loud; it builds credit for the screens where there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profile and its seven figures
On the checklist: 15 items, 15 built, 0 needing them.
Talking points:
- All eight profile fields the client drew, in their order.
- All seven figures are clickable and open a table site by site.
- The site rows always add back up to the project total.
Nothing red on this screen. Say so out loud; it builds credit for the screens where there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charts
On the checklist: 3 items, 3 built, 0 needing them.
Talking points:
- User mix uses the client’s own three-way split.
- The curve is cumulative, so it ends at the project’s declared total.
- The bottom chart shows why one site declares everything and another almost nothing.
Nothing red on this screen. Say so out loud; it builds credit for the screens where there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question in the left column out loud, then stop talking. Do not fill the silence with the middle column unless they ask why.
What a good answer sounds like: a system name, a person's name, or "it's in a spreadsheet". Any of those three is a win. "We'll look into it" is not — get a name against it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Ask whether this is still the right question for this view before showing any screen — if the question is wrong, everything after it is wrong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categories
On the checklist: 11 items, 11 built, 0 needing them.
Talking points:
- Five categories and a total, with the client’s own column names.
- The total row is checked against the bank-wide figures automatically.
- The department column is assigned, not measured. That is the gap on this dashboard.
Nothing red on this screen. Say so out loud; it builds credit for the screens where there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Inside one category
On the checklist: 8 items, 6 built, 2 needing them.
Talking points:
- The client drew five screens. We built one screen with a category picker.
- Five figures at the top, then every top-level term underneath.
- Most used and least used terms are charted below the table.
Do not solve the red items here — say "we come back to this in three slides" and keep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Unused terms
On the checklist: 2 items, 2 built, 0 needing them.
Talking points:
- Terms nobody is using, with when they were last touched and why they are flagged.
- This is the list you would work from when tidying the file plan.
- The figures are illustrative until we can measure real usage.
Nothing red on this screen. Say so out loud; it builds credit for the screens where there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Libraries created outside convention
On the checklist: 1 items, 1 built, 0 needing them.
Talking points:
- Libraries that do not follow the standard pattern.
- To make this real we need the convention itself.
- Same question as on Department Insights.
Nothing red on this screen. Say so out loud; it builds credit for the screens where there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Requests waiting for a decision
On the checklist: 4 items, 2 built, 2 needing them.
Talking points:
- New library, new term, and both kinds of deletion, in one place.
- Requestor, status and date submitted on every row.
- The last two rows are the gaps that govern this whole dashboard.
Do not solve the red items here — say "we come back to this in three slides" and keep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question in the left column out loud, then stop talking. Do not fill the silence with the middle column unless they ask why.
What a good answer sounds like: a system name, a person's name, or "it's in a spreadsheet". Any of those three is a win. "We'll look into it" is not — get a name against it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Ask whether this is still the right question for this view before showing any screen — if the question is wrong, everything after it is wrong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Permanent against temporary
On the checklist: 12 items, 6 built, 6 needing them.
Talking points:
- Six figures: sites, libraries and records, split permanent and temporary.
- This is the closest match of the six to something we already had built.
- The summary table the client drew on slide 44 was taken off. That needs your view.
Do not solve the red items here — say "we come back to this in three slides" and keep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Permanent retention
On the checklist: 6 items, 5 built, 1 needing them.
Talking points:
- Everything that must be kept indefinitely, department by department.
- All five columns the client asked for are here.
- One column is missing: the file plan term.
Do not solve the red items here — say "we come back to this in three slides" and keep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Temporary retention
On the checklist: 8 items, 6 built, 2 needing them.
Talking points:
- Same shape, for records with an end date.
- The retention filter lets you look at just the seven-year records, or just the ten-year.
- What we cannot show is anything that has already been disposed of.
Do not solve the red items here — say "we come back to this in three slides" and keep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Retention labels
On the checklist: 1 items, 1 built, 0 needing them.
Talking points:
- Every declared record grouped by the label actually applied to it.
- This comes from real data — it is one of the most solid panels in the report.
- It is also a good check: labels nobody expected will show up here.
Nothing red on this screen. Say so out loud; it builds credit for the screens where there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question in the left column out loud, then stop talking. Do not fill the silence with the middle column unless they ask why.
What a good answer sounds like: a system name, a person's name, or "it's in a spreadsheet". Any of those three is a win. "We'll look into it" is not — get a name against it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Ask whether this is still the right question for this view before showing any screen — if the question is wrong, everything after it is wrong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can and cannot see
On the checklist: 2 items, 2 built, 0 needing them.
Talking points:
- One figure here is real: the count of records with a paper counterpart.
- Everything else on this dashboard is a placeholder.
- This is the dashboard with the least data behind it, and the most to discuss.
Nothing red on this screen. Say so out loud; it builds credit for the screens where there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Storage
On the checklist: 11 items, 11 built, 0 needing them.
Talking points:
- All seven columns from your slide 68, with your own wording.
- Three locations: Archives Room, Records Center, Offsite Storage.
- Below it, storage activity by department and how full each room is.
Nothing red on this screen. Say so out loud; it builds credit for the screens where there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Retrieval
On the checklist: 7 items, 7 built, 0 needing them.
Talking points:
- All seven columns from your slide 69.
- Status uses your own three words: Loan, Return to owner, For Disposal.
- Everything on this table is invented, because we cannot reach the request system.
Nothing red on this screen. Say so out loud; it builds credit for the screens where there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disposal and capacity
On the checklist: 6 items, 4 built, 2 needing them.
Talking points:
- Retrieval by department, what was disposed, and how much space that freed.
- The layout answers every indicator you asked for.
- None of it is measured yet. That is what the questions slide is for.
Do not solve the red items here — say "we come back to this in three slides" and keep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question in the left column out loud, then stop talking. Do not fill the silence with the middle column unless they ask why.
What a good answer sounds like: a system name, a person's name, or "it's in a spreadsheet". Any of those three is a win. "We'll look into it" is not — get a name against it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room is running short on time, this is the slide to land. Everything else can go to email; these three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naming who owes what, out loud, before people leave the room. A question with a name against it gets answered; a question on a slide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dropping question genuinely. A requirement nobody actually wants is worth more to lose than a requirement we cannot source is worth to keep.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F35"/>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5CA943"/>
          </a:solidFill>
          <a:ln w="12700">
            <a:solidFill>
              <a:srgbClr val="5CA943"/>
            </a:solidFill>
            <a:prstDash val="solid"/>
          </a:ln>
        </p:spPr>
      </p:sp>
      <p:sp>
        <p:nvSpPr>
          <p:cNvPr id="3" name="Text 1"/>
          <p:cNvSpPr/>
          <p:nvPr/>
        </p:nvSpPr>
        <p:spPr>
          <a:xfrm>
            <a:off x="822960" y="1965960"/>
            <a:ext cx="10515600" cy="8229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EDRMS Utilization Report</a:t>
            </a:r>
            <a:endParaRPr lang="en-US" sz="4600" dirty="0"/>
          </a:p>
        </p:txBody>
      </p:sp>
      <p:sp>
        <p:nvSpPr>
          <p:cNvPr id="4" name="Text 2"/>
          <p:cNvSpPr/>
          <p:nvPr/>
        </p:nvSpPr>
        <p:spPr>
          <a:xfrm>
            <a:off x="822960" y="2852928"/>
            <a:ext cx="9509760" cy="868680"/>
          </a:xfrm>
          <a:prstGeom prst="rect">
            <a:avLst/>
          </a:prstGeom>
          <a:noFill/>
          <a:ln/>
        </p:spPr>
        <p:txBody>
          <a:bodyPr wrap="square" lIns="0" tIns="0" rIns="0" bIns="0" rtlCol="0" anchor="ctr"/>
          <a:lstStyle/>
          <a:p>
            <a:pPr indent="0" marL="0">
              <a:lnSpc>
                <a:spcPts val="2400"/>
              </a:lnSpc>
              <a:buNone/>
            </a:pPr>
            <a:r>
              <a:rPr lang="en-US" sz="1700" dirty="0">
                <a:solidFill>
                  <a:srgbClr val="AFC4D8"/>
                </a:solidFill>
                <a:latin typeface="Calibri" pitchFamily="34" charset="0"/>
                <a:ea typeface="Calibri" pitchFamily="34" charset="-122"/>
                <a:cs typeface="Calibri" pitchFamily="34" charset="-120"/>
              </a:rPr>
              <a:t>Walking through the working prototype, screen by screen — and what we still need from you</a:t>
            </a:r>
            <a:endParaRPr lang="en-US" sz="1700" dirty="0"/>
          </a:p>
        </p:txBody>
      </p:sp>
      <p:sp>
        <p:nvSpPr>
          <p:cNvPr id="5" name="Text 3"/>
          <p:cNvSpPr/>
          <p:nvPr/>
        </p:nvSpPr>
        <p:spPr>
          <a:xfrm>
            <a:off x="822960" y="4114800"/>
            <a:ext cx="2286000" cy="621792"/>
          </a:xfrm>
          <a:prstGeom prst="rect">
            <a:avLst/>
          </a:prstGeom>
          <a:noFill/>
          <a:ln/>
        </p:spPr>
        <p:txBody>
          <a:bodyPr wrap="square" lIns="0" tIns="0" rIns="0" bIns="0" rtlCol="0" anchor="ctr"/>
          <a:lstStyle/>
          <a:p>
            <a:pPr indent="0" marL="0">
              <a:buNone/>
            </a:pPr>
            <a:r>
              <a:rPr lang="en-US" sz="4000" b="1" dirty="0">
                <a:solidFill>
                  <a:srgbClr val="00A5A8"/>
                </a:solidFill>
                <a:latin typeface="Cambria" pitchFamily="34" charset="0"/>
                <a:ea typeface="Cambria" pitchFamily="34" charset="-122"/>
                <a:cs typeface="Cambria" pitchFamily="34" charset="-120"/>
              </a:rPr>
              <a:t>6</a:t>
            </a:r>
            <a:endParaRPr lang="en-US" sz="4000" dirty="0"/>
          </a:p>
        </p:txBody>
      </p:sp>
      <p:sp>
        <p:nvSpPr>
          <p:cNvPr id="6" name="Text 4"/>
          <p:cNvSpPr/>
          <p:nvPr/>
        </p:nvSpPr>
        <p:spPr>
          <a:xfrm>
            <a:off x="822960" y="4754880"/>
            <a:ext cx="2286000" cy="274320"/>
          </a:xfrm>
          <a:prstGeom prst="rect">
            <a:avLst/>
          </a:prstGeom>
          <a:noFill/>
          <a:ln/>
        </p:spPr>
        <p:txBody>
          <a:bodyPr wrap="square" lIns="0" tIns="0" rIns="0" bIns="0" rtlCol="0" anchor="ctr"/>
          <a:lstStyle/>
          <a:p>
            <a:pPr indent="0" marL="0">
              <a:buNone/>
            </a:pPr>
            <a:r>
              <a:rPr lang="en-US" sz="1200" dirty="0">
                <a:solidFill>
                  <a:srgbClr val="AFC4D8"/>
                </a:solidFill>
                <a:latin typeface="Calibri" pitchFamily="34" charset="0"/>
                <a:ea typeface="Calibri" pitchFamily="34" charset="-122"/>
                <a:cs typeface="Calibri" pitchFamily="34" charset="-120"/>
              </a:rPr>
              <a:t>key views</a:t>
            </a:r>
            <a:endParaRPr lang="en-US" sz="1200" dirty="0"/>
          </a:p>
        </p:txBody>
      </p:sp>
      <p:sp>
        <p:nvSpPr>
          <p:cNvPr id="7" name="Text 5"/>
          <p:cNvSpPr/>
          <p:nvPr/>
        </p:nvSpPr>
        <p:spPr>
          <a:xfrm>
            <a:off x="3429000" y="4114800"/>
            <a:ext cx="2286000" cy="621792"/>
          </a:xfrm>
          <a:prstGeom prst="rect">
            <a:avLst/>
          </a:prstGeom>
          <a:noFill/>
          <a:ln/>
        </p:spPr>
        <p:txBody>
          <a:bodyPr wrap="square" lIns="0" tIns="0" rIns="0" bIns="0" rtlCol="0" anchor="ctr"/>
          <a:lstStyle/>
          <a:p>
            <a:pPr indent="0" marL="0">
              <a:buNone/>
            </a:pPr>
            <a:r>
              <a:rPr lang="en-US" sz="4000" b="1" dirty="0">
                <a:solidFill>
                  <a:srgbClr val="00A5A8"/>
                </a:solidFill>
                <a:latin typeface="Cambria" pitchFamily="34" charset="0"/>
                <a:ea typeface="Cambria" pitchFamily="34" charset="-122"/>
                <a:cs typeface="Cambria" pitchFamily="34" charset="-120"/>
              </a:rPr>
              <a:t>249</a:t>
            </a:r>
            <a:endParaRPr lang="en-US" sz="4000" dirty="0"/>
          </a:p>
        </p:txBody>
      </p:sp>
      <p:sp>
        <p:nvSpPr>
          <p:cNvPr id="8" name="Text 6"/>
          <p:cNvSpPr/>
          <p:nvPr/>
        </p:nvSpPr>
        <p:spPr>
          <a:xfrm>
            <a:off x="3429000" y="4754880"/>
            <a:ext cx="2286000" cy="274320"/>
          </a:xfrm>
          <a:prstGeom prst="rect">
            <a:avLst/>
          </a:prstGeom>
          <a:noFill/>
          <a:ln/>
        </p:spPr>
        <p:txBody>
          <a:bodyPr wrap="square" lIns="0" tIns="0" rIns="0" bIns="0" rtlCol="0" anchor="ctr"/>
          <a:lstStyle/>
          <a:p>
            <a:pPr indent="0" marL="0">
              <a:buNone/>
            </a:pPr>
            <a:r>
              <a:rPr lang="en-US" sz="1200" dirty="0">
                <a:solidFill>
                  <a:srgbClr val="AFC4D8"/>
                </a:solidFill>
                <a:latin typeface="Calibri" pitchFamily="34" charset="0"/>
                <a:ea typeface="Calibri" pitchFamily="34" charset="-122"/>
                <a:cs typeface="Calibri" pitchFamily="34" charset="-120"/>
              </a:rPr>
              <a:t>things you asked for</a:t>
            </a:r>
            <a:endParaRPr lang="en-US" sz="1200" dirty="0"/>
          </a:p>
        </p:txBody>
      </p:sp>
      <p:sp>
        <p:nvSpPr>
          <p:cNvPr id="9" name="Text 7"/>
          <p:cNvSpPr/>
          <p:nvPr/>
        </p:nvSpPr>
        <p:spPr>
          <a:xfrm>
            <a:off x="6035040" y="4114800"/>
            <a:ext cx="2286000" cy="621792"/>
          </a:xfrm>
          <a:prstGeom prst="rect">
            <a:avLst/>
          </a:prstGeom>
          <a:noFill/>
          <a:ln/>
        </p:spPr>
        <p:txBody>
          <a:bodyPr wrap="square" lIns="0" tIns="0" rIns="0" bIns="0" rtlCol="0" anchor="ctr"/>
          <a:lstStyle/>
          <a:p>
            <a:pPr indent="0" marL="0">
              <a:buNone/>
            </a:pPr>
            <a:r>
              <a:rPr lang="en-US" sz="4000" b="1" dirty="0">
                <a:solidFill>
                  <a:srgbClr val="00A5A8"/>
                </a:solidFill>
                <a:latin typeface="Cambria" pitchFamily="34" charset="0"/>
                <a:ea typeface="Cambria" pitchFamily="34" charset="-122"/>
                <a:cs typeface="Cambria" pitchFamily="34" charset="-120"/>
              </a:rPr>
              <a:t>188</a:t>
            </a:r>
            <a:endParaRPr lang="en-US" sz="4000" dirty="0"/>
          </a:p>
        </p:txBody>
      </p:sp>
      <p:sp>
        <p:nvSpPr>
          <p:cNvPr id="10" name="Text 8"/>
          <p:cNvSpPr/>
          <p:nvPr/>
        </p:nvSpPr>
        <p:spPr>
          <a:xfrm>
            <a:off x="6035040" y="4754880"/>
            <a:ext cx="2286000" cy="274320"/>
          </a:xfrm>
          <a:prstGeom prst="rect">
            <a:avLst/>
          </a:prstGeom>
          <a:noFill/>
          <a:ln/>
        </p:spPr>
        <p:txBody>
          <a:bodyPr wrap="square" lIns="0" tIns="0" rIns="0" bIns="0" rtlCol="0" anchor="ctr"/>
          <a:lstStyle/>
          <a:p>
            <a:pPr indent="0" marL="0">
              <a:buNone/>
            </a:pPr>
            <a:r>
              <a:rPr lang="en-US" sz="1200" dirty="0">
                <a:solidFill>
                  <a:srgbClr val="AFC4D8"/>
                </a:solidFill>
                <a:latin typeface="Calibri" pitchFamily="34" charset="0"/>
                <a:ea typeface="Calibri" pitchFamily="34" charset="-122"/>
                <a:cs typeface="Calibri" pitchFamily="34" charset="-120"/>
              </a:rPr>
              <a:t>built so far</a:t>
            </a:r>
            <a:endParaRPr lang="en-US" sz="1200" dirty="0"/>
          </a:p>
        </p:txBody>
      </p:sp>
      <p:sp>
        <p:nvSpPr>
          <p:cNvPr id="11" name="Text 9"/>
          <p:cNvSpPr/>
          <p:nvPr/>
        </p:nvSpPr>
        <p:spPr>
          <a:xfrm>
            <a:off x="8641080" y="4114800"/>
            <a:ext cx="2286000" cy="621792"/>
          </a:xfrm>
          <a:prstGeom prst="rect">
            <a:avLst/>
          </a:prstGeom>
          <a:noFill/>
          <a:ln/>
        </p:spPr>
        <p:txBody>
          <a:bodyPr wrap="square" lIns="0" tIns="0" rIns="0" bIns="0" rtlCol="0" anchor="ctr"/>
          <a:lstStyle/>
          <a:p>
            <a:pPr indent="0" marL="0">
              <a:buNone/>
            </a:pPr>
            <a:r>
              <a:rPr lang="en-US" sz="4000" b="1" dirty="0">
                <a:solidFill>
                  <a:srgbClr val="00A5A8"/>
                </a:solidFill>
                <a:latin typeface="Cambria" pitchFamily="34" charset="0"/>
                <a:ea typeface="Cambria" pitchFamily="34" charset="-122"/>
                <a:cs typeface="Cambria" pitchFamily="34" charset="-120"/>
              </a:rPr>
              <a:t>27</a:t>
            </a:r>
            <a:endParaRPr lang="en-US" sz="4000" dirty="0"/>
          </a:p>
        </p:txBody>
      </p:sp>
      <p:sp>
        <p:nvSpPr>
          <p:cNvPr id="12" name="Text 10"/>
          <p:cNvSpPr/>
          <p:nvPr/>
        </p:nvSpPr>
        <p:spPr>
          <a:xfrm>
            <a:off x="8641080" y="4754880"/>
            <a:ext cx="2286000" cy="274320"/>
          </a:xfrm>
          <a:prstGeom prst="rect">
            <a:avLst/>
          </a:prstGeom>
          <a:noFill/>
          <a:ln/>
        </p:spPr>
        <p:txBody>
          <a:bodyPr wrap="square" lIns="0" tIns="0" rIns="0" bIns="0" rtlCol="0" anchor="ctr"/>
          <a:lstStyle/>
          <a:p>
            <a:pPr indent="0" marL="0">
              <a:buNone/>
            </a:pPr>
            <a:r>
              <a:rPr lang="en-US" sz="1200" dirty="0">
                <a:solidFill>
                  <a:srgbClr val="AFC4D8"/>
                </a:solidFill>
                <a:latin typeface="Calibri" pitchFamily="34" charset="0"/>
                <a:ea typeface="Calibri" pitchFamily="34" charset="-122"/>
                <a:cs typeface="Calibri" pitchFamily="34" charset="-120"/>
              </a:rPr>
              <a:t>questions for today</a:t>
            </a:r>
            <a:endParaRPr lang="en-US" sz="1200" dirty="0"/>
          </a:p>
        </p:txBody>
      </p:sp>
      <p:sp>
        <p:nvSpPr>
          <p:cNvPr id="13" name="Text 11"/>
          <p:cNvSpPr/>
          <p:nvPr/>
        </p:nvSpPr>
        <p:spPr>
          <a:xfrm>
            <a:off x="822960" y="5943600"/>
            <a:ext cx="10515600" cy="274320"/>
          </a:xfrm>
          <a:prstGeom prst="rect">
            <a:avLst/>
          </a:prstGeom>
          <a:noFill/>
          <a:ln/>
        </p:spPr>
        <p:txBody>
          <a:bodyPr wrap="square" lIns="0" tIns="0" rIns="0" bIns="0" rtlCol="0" anchor="ctr"/>
          <a:lstStyle/>
          <a:p>
            <a:pPr indent="0" marL="0">
              <a:buNone/>
            </a:pPr>
            <a:r>
              <a:rPr lang="en-US" sz="1200" dirty="0">
                <a:solidFill>
                  <a:srgbClr val="7E97B0"/>
                </a:solidFill>
                <a:latin typeface="Calibri" pitchFamily="34" charset="0"/>
                <a:ea typeface="Calibri" pitchFamily="34" charset="-122"/>
                <a:cs typeface="Calibri" pitchFamily="34" charset="-120"/>
              </a:rPr>
              <a:t>Client workshop  ·  22 August 2026  ·  Prototype, not final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BEFORE WE START</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How to read every slide from here on</a:t>
            </a:r>
            <a:endParaRPr lang="en-US" sz="2500" dirty="0"/>
          </a:p>
        </p:txBody>
      </p:sp>
      <p:sp>
        <p:nvSpPr>
          <p:cNvPr id="4" name="Shape 2"/>
          <p:cNvSpPr/>
          <p:nvPr/>
        </p:nvSpPr>
        <p:spPr>
          <a:xfrm>
            <a:off x="502920" y="1325880"/>
            <a:ext cx="5943600" cy="3200400"/>
          </a:xfrm>
          <a:prstGeom prst="roundRect">
            <a:avLst>
              <a:gd name="adj" fmla="val 2286"/>
            </a:avLst>
          </a:prstGeom>
          <a:solidFill>
            <a:srgbClr val="F4F7FA"/>
          </a:solidFill>
          <a:ln w="12700">
            <a:solidFill>
              <a:srgbClr val="DCE4EC"/>
            </a:solidFill>
            <a:prstDash val="solid"/>
          </a:ln>
        </p:spPr>
      </p:sp>
      <p:sp>
        <p:nvSpPr>
          <p:cNvPr id="5" name="Text 3"/>
          <p:cNvSpPr/>
          <p:nvPr/>
        </p:nvSpPr>
        <p:spPr>
          <a:xfrm>
            <a:off x="868680" y="1600200"/>
            <a:ext cx="2743200" cy="228600"/>
          </a:xfrm>
          <a:prstGeom prst="rect">
            <a:avLst/>
          </a:prstGeom>
          <a:noFill/>
          <a:ln/>
        </p:spPr>
        <p:txBody>
          <a:bodyPr wrap="square" lIns="0" tIns="0" rIns="0" bIns="0" rtlCol="0" anchor="ctr"/>
          <a:lstStyle/>
          <a:p>
            <a:pPr indent="0" marL="0">
              <a:buNone/>
            </a:pPr>
            <a:r>
              <a:rPr lang="en-US" sz="1000" b="1" spc="120" kern="0" dirty="0">
                <a:solidFill>
                  <a:srgbClr val="0072BC"/>
                </a:solidFill>
                <a:latin typeface="Calibri" pitchFamily="34" charset="0"/>
                <a:ea typeface="Calibri" pitchFamily="34" charset="-122"/>
                <a:cs typeface="Calibri" pitchFamily="34" charset="-120"/>
              </a:rPr>
              <a:t>LEFT SIDE</a:t>
            </a:r>
            <a:endParaRPr lang="en-US" sz="1000" dirty="0"/>
          </a:p>
        </p:txBody>
      </p:sp>
      <p:sp>
        <p:nvSpPr>
          <p:cNvPr id="6" name="Text 4"/>
          <p:cNvSpPr/>
          <p:nvPr/>
        </p:nvSpPr>
        <p:spPr>
          <a:xfrm>
            <a:off x="868680" y="1856232"/>
            <a:ext cx="5212080" cy="365760"/>
          </a:xfrm>
          <a:prstGeom prst="rect">
            <a:avLst/>
          </a:prstGeom>
          <a:noFill/>
          <a:ln/>
        </p:spPr>
        <p:txBody>
          <a:bodyPr wrap="square" lIns="0" tIns="0" rIns="0" bIns="0" rtlCol="0" anchor="ctr"/>
          <a:lstStyle/>
          <a:p>
            <a:pPr indent="0" marL="0">
              <a:buNone/>
            </a:pPr>
            <a:r>
              <a:rPr lang="en-US" sz="1900" b="1" dirty="0">
                <a:solidFill>
                  <a:srgbClr val="10243E"/>
                </a:solidFill>
                <a:latin typeface="Cambria" pitchFamily="34" charset="0"/>
                <a:ea typeface="Cambria" pitchFamily="34" charset="-122"/>
                <a:cs typeface="Cambria" pitchFamily="34" charset="-120"/>
              </a:rPr>
              <a:t>The actual screen</a:t>
            </a:r>
            <a:endParaRPr lang="en-US" sz="1900" dirty="0"/>
          </a:p>
        </p:txBody>
      </p:sp>
      <p:sp>
        <p:nvSpPr>
          <p:cNvPr id="7" name="Text 5"/>
          <p:cNvSpPr/>
          <p:nvPr/>
        </p:nvSpPr>
        <p:spPr>
          <a:xfrm>
            <a:off x="868680" y="2286000"/>
            <a:ext cx="5212080" cy="914400"/>
          </a:xfrm>
          <a:prstGeom prst="rect">
            <a:avLst/>
          </a:prstGeom>
          <a:noFill/>
          <a:ln/>
        </p:spPr>
        <p:txBody>
          <a:bodyPr wrap="square" lIns="0" tIns="0" rIns="0" bIns="0" rtlCol="0" anchor="ctr"/>
          <a:lstStyle/>
          <a:p>
            <a:pPr indent="0" marL="0">
              <a:lnSpc>
                <a:spcPts val="1700"/>
              </a:lnSpc>
              <a:buNone/>
            </a:pPr>
            <a:r>
              <a:rPr lang="en-US" sz="1250" dirty="0">
                <a:solidFill>
                  <a:srgbClr val="33475F"/>
                </a:solidFill>
                <a:latin typeface="Calibri" pitchFamily="34" charset="0"/>
                <a:ea typeface="Calibri" pitchFamily="34" charset="-122"/>
                <a:cs typeface="Calibri" pitchFamily="34" charset="-120"/>
              </a:rPr>
              <a:t>A real screenshot of the working prototype. Everything you see is clickable in the live version — we can open it at any point if you want to poke at something.</a:t>
            </a:r>
            <a:endParaRPr lang="en-US" sz="1250" dirty="0"/>
          </a:p>
        </p:txBody>
      </p:sp>
      <p:sp>
        <p:nvSpPr>
          <p:cNvPr id="8" name="Text 6"/>
          <p:cNvSpPr/>
          <p:nvPr/>
        </p:nvSpPr>
        <p:spPr>
          <a:xfrm>
            <a:off x="868680" y="3291840"/>
            <a:ext cx="2743200" cy="228600"/>
          </a:xfrm>
          <a:prstGeom prst="rect">
            <a:avLst/>
          </a:prstGeom>
          <a:noFill/>
          <a:ln/>
        </p:spPr>
        <p:txBody>
          <a:bodyPr wrap="square" lIns="0" tIns="0" rIns="0" bIns="0" rtlCol="0" anchor="ctr"/>
          <a:lstStyle/>
          <a:p>
            <a:pPr indent="0" marL="0">
              <a:buNone/>
            </a:pPr>
            <a:r>
              <a:rPr lang="en-US" sz="1000" b="1" spc="120" kern="0" dirty="0">
                <a:solidFill>
                  <a:srgbClr val="0072BC"/>
                </a:solidFill>
                <a:latin typeface="Calibri" pitchFamily="34" charset="0"/>
                <a:ea typeface="Calibri" pitchFamily="34" charset="-122"/>
                <a:cs typeface="Calibri" pitchFamily="34" charset="-120"/>
              </a:rPr>
              <a:t>RIGHT SIDE</a:t>
            </a:r>
            <a:endParaRPr lang="en-US" sz="1000" dirty="0"/>
          </a:p>
        </p:txBody>
      </p:sp>
      <p:sp>
        <p:nvSpPr>
          <p:cNvPr id="9" name="Text 7"/>
          <p:cNvSpPr/>
          <p:nvPr/>
        </p:nvSpPr>
        <p:spPr>
          <a:xfrm>
            <a:off x="868680" y="3547872"/>
            <a:ext cx="5212080" cy="365760"/>
          </a:xfrm>
          <a:prstGeom prst="rect">
            <a:avLst/>
          </a:prstGeom>
          <a:noFill/>
          <a:ln/>
        </p:spPr>
        <p:txBody>
          <a:bodyPr wrap="square" lIns="0" tIns="0" rIns="0" bIns="0" rtlCol="0" anchor="ctr"/>
          <a:lstStyle/>
          <a:p>
            <a:pPr indent="0" marL="0">
              <a:buNone/>
            </a:pPr>
            <a:r>
              <a:rPr lang="en-US" sz="1900" b="1" dirty="0">
                <a:solidFill>
                  <a:srgbClr val="10243E"/>
                </a:solidFill>
                <a:latin typeface="Cambria" pitchFamily="34" charset="0"/>
                <a:ea typeface="Cambria" pitchFamily="34" charset="-122"/>
                <a:cs typeface="Cambria" pitchFamily="34" charset="-120"/>
              </a:rPr>
              <a:t>Your checklist for that screen</a:t>
            </a:r>
            <a:endParaRPr lang="en-US" sz="1900" dirty="0"/>
          </a:p>
        </p:txBody>
      </p:sp>
      <p:sp>
        <p:nvSpPr>
          <p:cNvPr id="10" name="Text 8"/>
          <p:cNvSpPr/>
          <p:nvPr/>
        </p:nvSpPr>
        <p:spPr>
          <a:xfrm>
            <a:off x="868680" y="3977640"/>
            <a:ext cx="5212080" cy="457200"/>
          </a:xfrm>
          <a:prstGeom prst="rect">
            <a:avLst/>
          </a:prstGeom>
          <a:noFill/>
          <a:ln/>
        </p:spPr>
        <p:txBody>
          <a:bodyPr wrap="square" lIns="0" tIns="0" rIns="0" bIns="0" rtlCol="0" anchor="ctr"/>
          <a:lstStyle/>
          <a:p>
            <a:pPr indent="0" marL="0">
              <a:lnSpc>
                <a:spcPts val="1700"/>
              </a:lnSpc>
              <a:buNone/>
            </a:pPr>
            <a:r>
              <a:rPr lang="en-US" sz="1250" dirty="0">
                <a:solidFill>
                  <a:srgbClr val="33475F"/>
                </a:solidFill>
                <a:latin typeface="Calibri" pitchFamily="34" charset="0"/>
                <a:ea typeface="Calibri" pitchFamily="34" charset="-122"/>
                <a:cs typeface="Calibri" pitchFamily="34" charset="-120"/>
              </a:rPr>
              <a:t>Every item you asked for on that screen, and whether it is there. Nothing has been left off the list.</a:t>
            </a:r>
            <a:endParaRPr lang="en-US" sz="1250" dirty="0"/>
          </a:p>
        </p:txBody>
      </p:sp>
      <p:sp>
        <p:nvSpPr>
          <p:cNvPr id="11" name="Shape 9"/>
          <p:cNvSpPr/>
          <p:nvPr/>
        </p:nvSpPr>
        <p:spPr>
          <a:xfrm>
            <a:off x="6720840" y="1325880"/>
            <a:ext cx="4937760" cy="1024128"/>
          </a:xfrm>
          <a:prstGeom prst="roundRect">
            <a:avLst>
              <a:gd name="adj" fmla="val 5357"/>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12" name="Shape 10"/>
          <p:cNvSpPr/>
          <p:nvPr/>
        </p:nvSpPr>
        <p:spPr>
          <a:xfrm>
            <a:off x="6949440" y="1545336"/>
            <a:ext cx="1188720" cy="237744"/>
          </a:xfrm>
          <a:prstGeom prst="roundRect">
            <a:avLst>
              <a:gd name="adj" fmla="val 46154"/>
            </a:avLst>
          </a:prstGeom>
          <a:solidFill>
            <a:srgbClr val="EAF4E4"/>
          </a:solidFill>
          <a:ln w="12700">
            <a:solidFill>
              <a:srgbClr val="EAF4E4"/>
            </a:solidFill>
            <a:prstDash val="solid"/>
          </a:ln>
        </p:spPr>
      </p:sp>
      <p:sp>
        <p:nvSpPr>
          <p:cNvPr id="13" name="Text 11"/>
          <p:cNvSpPr/>
          <p:nvPr/>
        </p:nvSpPr>
        <p:spPr>
          <a:xfrm>
            <a:off x="6949440" y="1545336"/>
            <a:ext cx="1188720" cy="237744"/>
          </a:xfrm>
          <a:prstGeom prst="rect">
            <a:avLst/>
          </a:prstGeom>
          <a:noFill/>
          <a:ln/>
        </p:spPr>
        <p:txBody>
          <a:bodyPr wrap="square" lIns="0" tIns="0" rIns="0" bIns="0" rtlCol="0" anchor="ctr"/>
          <a:lstStyle/>
          <a:p>
            <a:pPr algn="ctr" indent="0" marL="0">
              <a:buNone/>
            </a:pPr>
            <a:r>
              <a:rPr lang="en-US" sz="800" b="1" dirty="0">
                <a:solidFill>
                  <a:srgbClr val="5CA943"/>
                </a:solidFill>
                <a:latin typeface="Calibri" pitchFamily="34" charset="0"/>
                <a:ea typeface="Calibri" pitchFamily="34" charset="-122"/>
                <a:cs typeface="Calibri" pitchFamily="34" charset="-120"/>
              </a:rPr>
              <a:t>BUILT</a:t>
            </a:r>
            <a:endParaRPr lang="en-US" sz="800" dirty="0"/>
          </a:p>
        </p:txBody>
      </p:sp>
      <p:sp>
        <p:nvSpPr>
          <p:cNvPr id="14" name="Text 12"/>
          <p:cNvSpPr/>
          <p:nvPr/>
        </p:nvSpPr>
        <p:spPr>
          <a:xfrm>
            <a:off x="8275320" y="1472184"/>
            <a:ext cx="3200400" cy="777240"/>
          </a:xfrm>
          <a:prstGeom prst="rect">
            <a:avLst/>
          </a:prstGeom>
          <a:noFill/>
          <a:ln/>
        </p:spPr>
        <p:txBody>
          <a:bodyPr wrap="square" lIns="0" tIns="0" rIns="0" bIns="0" rtlCol="0" anchor="ctr"/>
          <a:lstStyle/>
          <a:p>
            <a:pPr indent="0" marL="0">
              <a:lnSpc>
                <a:spcPts val="1400"/>
              </a:lnSpc>
              <a:buNone/>
            </a:pPr>
            <a:r>
              <a:rPr lang="en-US" sz="1050" dirty="0">
                <a:solidFill>
                  <a:srgbClr val="33475F"/>
                </a:solidFill>
                <a:latin typeface="Calibri" pitchFamily="34" charset="0"/>
                <a:ea typeface="Calibri" pitchFamily="34" charset="-122"/>
                <a:cs typeface="Calibri" pitchFamily="34" charset="-120"/>
              </a:rPr>
              <a:t>On the screen and running on real data. Nothing needed from you.</a:t>
            </a:r>
            <a:endParaRPr lang="en-US" sz="1050" dirty="0"/>
          </a:p>
        </p:txBody>
      </p:sp>
      <p:sp>
        <p:nvSpPr>
          <p:cNvPr id="15" name="Shape 13"/>
          <p:cNvSpPr/>
          <p:nvPr/>
        </p:nvSpPr>
        <p:spPr>
          <a:xfrm>
            <a:off x="6720840" y="2459736"/>
            <a:ext cx="4937760" cy="1024128"/>
          </a:xfrm>
          <a:prstGeom prst="roundRect">
            <a:avLst>
              <a:gd name="adj" fmla="val 5357"/>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16" name="Shape 14"/>
          <p:cNvSpPr/>
          <p:nvPr/>
        </p:nvSpPr>
        <p:spPr>
          <a:xfrm>
            <a:off x="6949440" y="2679192"/>
            <a:ext cx="1188720" cy="237744"/>
          </a:xfrm>
          <a:prstGeom prst="roundRect">
            <a:avLst>
              <a:gd name="adj" fmla="val 46154"/>
            </a:avLst>
          </a:prstGeom>
          <a:solidFill>
            <a:srgbClr val="FDF1DE"/>
          </a:solidFill>
          <a:ln w="12700">
            <a:solidFill>
              <a:srgbClr val="FDF1DE"/>
            </a:solidFill>
            <a:prstDash val="solid"/>
          </a:ln>
        </p:spPr>
      </p:sp>
      <p:sp>
        <p:nvSpPr>
          <p:cNvPr id="17" name="Text 15"/>
          <p:cNvSpPr/>
          <p:nvPr/>
        </p:nvSpPr>
        <p:spPr>
          <a:xfrm>
            <a:off x="6949440" y="2679192"/>
            <a:ext cx="1188720" cy="237744"/>
          </a:xfrm>
          <a:prstGeom prst="rect">
            <a:avLst/>
          </a:prstGeom>
          <a:noFill/>
          <a:ln/>
        </p:spPr>
        <p:txBody>
          <a:bodyPr wrap="square" lIns="0" tIns="0" rIns="0" bIns="0" rtlCol="0" anchor="ctr"/>
          <a:lstStyle/>
          <a:p>
            <a:pPr algn="ctr" indent="0" marL="0">
              <a:buNone/>
            </a:pPr>
            <a:r>
              <a:rPr lang="en-US" sz="800" b="1" dirty="0">
                <a:solidFill>
                  <a:srgbClr val="C77B18"/>
                </a:solidFill>
                <a:latin typeface="Calibri" pitchFamily="34" charset="0"/>
                <a:ea typeface="Calibri" pitchFamily="34" charset="-122"/>
                <a:cs typeface="Calibri" pitchFamily="34" charset="-120"/>
              </a:rPr>
              <a:t>PLACEHOLDER</a:t>
            </a:r>
            <a:endParaRPr lang="en-US" sz="800" dirty="0"/>
          </a:p>
        </p:txBody>
      </p:sp>
      <p:sp>
        <p:nvSpPr>
          <p:cNvPr id="18" name="Text 16"/>
          <p:cNvSpPr/>
          <p:nvPr/>
        </p:nvSpPr>
        <p:spPr>
          <a:xfrm>
            <a:off x="8275320" y="2606040"/>
            <a:ext cx="3200400" cy="777240"/>
          </a:xfrm>
          <a:prstGeom prst="rect">
            <a:avLst/>
          </a:prstGeom>
          <a:noFill/>
          <a:ln/>
        </p:spPr>
        <p:txBody>
          <a:bodyPr wrap="square" lIns="0" tIns="0" rIns="0" bIns="0" rtlCol="0" anchor="ctr"/>
          <a:lstStyle/>
          <a:p>
            <a:pPr indent="0" marL="0">
              <a:lnSpc>
                <a:spcPts val="1400"/>
              </a:lnSpc>
              <a:buNone/>
            </a:pPr>
            <a:r>
              <a:rPr lang="en-US" sz="1050" dirty="0">
                <a:solidFill>
                  <a:srgbClr val="33475F"/>
                </a:solidFill>
                <a:latin typeface="Calibri" pitchFamily="34" charset="0"/>
                <a:ea typeface="Calibri" pitchFamily="34" charset="-122"/>
                <a:cs typeface="Calibri" pitchFamily="34" charset="-120"/>
              </a:rPr>
              <a:t>The screen is built and correct, but the numbers on it are made up, because we have no source yet. It will look real. It is not.</a:t>
            </a:r>
            <a:endParaRPr lang="en-US" sz="1050" dirty="0"/>
          </a:p>
        </p:txBody>
      </p:sp>
      <p:sp>
        <p:nvSpPr>
          <p:cNvPr id="19" name="Shape 17"/>
          <p:cNvSpPr/>
          <p:nvPr/>
        </p:nvSpPr>
        <p:spPr>
          <a:xfrm>
            <a:off x="6720840" y="3593592"/>
            <a:ext cx="4937760" cy="1024128"/>
          </a:xfrm>
          <a:prstGeom prst="roundRect">
            <a:avLst>
              <a:gd name="adj" fmla="val 5357"/>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20" name="Shape 18"/>
          <p:cNvSpPr/>
          <p:nvPr/>
        </p:nvSpPr>
        <p:spPr>
          <a:xfrm>
            <a:off x="6949440" y="3813048"/>
            <a:ext cx="1188720" cy="237744"/>
          </a:xfrm>
          <a:prstGeom prst="roundRect">
            <a:avLst>
              <a:gd name="adj" fmla="val 46154"/>
            </a:avLst>
          </a:prstGeom>
          <a:solidFill>
            <a:srgbClr val="FBE6E4"/>
          </a:solidFill>
          <a:ln w="12700">
            <a:solidFill>
              <a:srgbClr val="FBE6E4"/>
            </a:solidFill>
            <a:prstDash val="solid"/>
          </a:ln>
        </p:spPr>
      </p:sp>
      <p:sp>
        <p:nvSpPr>
          <p:cNvPr id="21" name="Text 19"/>
          <p:cNvSpPr/>
          <p:nvPr/>
        </p:nvSpPr>
        <p:spPr>
          <a:xfrm>
            <a:off x="6949440" y="3813048"/>
            <a:ext cx="1188720" cy="237744"/>
          </a:xfrm>
          <a:prstGeom prst="rect">
            <a:avLst/>
          </a:prstGeom>
          <a:noFill/>
          <a:ln/>
        </p:spPr>
        <p:txBody>
          <a:bodyPr wrap="square" lIns="0" tIns="0" rIns="0" bIns="0" rtlCol="0" anchor="ctr"/>
          <a:lstStyle/>
          <a:p>
            <a:pPr algn="ctr" indent="0" marL="0">
              <a:buNone/>
            </a:pPr>
            <a:r>
              <a:rPr lang="en-US" sz="800" b="1" dirty="0">
                <a:solidFill>
                  <a:srgbClr val="B3241C"/>
                </a:solidFill>
                <a:latin typeface="Calibri" pitchFamily="34" charset="0"/>
                <a:ea typeface="Calibri" pitchFamily="34" charset="-122"/>
                <a:cs typeface="Calibri" pitchFamily="34" charset="-120"/>
              </a:rPr>
              <a:t>NEEDS YOU</a:t>
            </a:r>
            <a:endParaRPr lang="en-US" sz="800" dirty="0"/>
          </a:p>
        </p:txBody>
      </p:sp>
      <p:sp>
        <p:nvSpPr>
          <p:cNvPr id="22" name="Text 20"/>
          <p:cNvSpPr/>
          <p:nvPr/>
        </p:nvSpPr>
        <p:spPr>
          <a:xfrm>
            <a:off x="8275320" y="3739896"/>
            <a:ext cx="3200400" cy="777240"/>
          </a:xfrm>
          <a:prstGeom prst="rect">
            <a:avLst/>
          </a:prstGeom>
          <a:noFill/>
          <a:ln/>
        </p:spPr>
        <p:txBody>
          <a:bodyPr wrap="square" lIns="0" tIns="0" rIns="0" bIns="0" rtlCol="0" anchor="ctr"/>
          <a:lstStyle/>
          <a:p>
            <a:pPr indent="0" marL="0">
              <a:lnSpc>
                <a:spcPts val="1400"/>
              </a:lnSpc>
              <a:buNone/>
            </a:pPr>
            <a:r>
              <a:rPr lang="en-US" sz="1050" dirty="0">
                <a:solidFill>
                  <a:srgbClr val="33475F"/>
                </a:solidFill>
                <a:latin typeface="Calibri" pitchFamily="34" charset="0"/>
                <a:ea typeface="Calibri" pitchFamily="34" charset="-122"/>
                <a:cs typeface="Calibri" pitchFamily="34" charset="-120"/>
              </a:rPr>
              <a:t>Not built. We are stuck until you answer a question. These are what today is really for.</a:t>
            </a:r>
            <a:endParaRPr lang="en-US" sz="1050" dirty="0"/>
          </a:p>
        </p:txBody>
      </p:sp>
      <p:sp>
        <p:nvSpPr>
          <p:cNvPr id="23" name="Text 21"/>
          <p:cNvSpPr/>
          <p:nvPr/>
        </p:nvSpPr>
        <p:spPr>
          <a:xfrm>
            <a:off x="502920" y="5074920"/>
            <a:ext cx="11155680" cy="365760"/>
          </a:xfrm>
          <a:prstGeom prst="rect">
            <a:avLst/>
          </a:prstGeom>
          <a:noFill/>
          <a:ln/>
        </p:spPr>
        <p:txBody>
          <a:bodyPr wrap="square" lIns="0" tIns="0" rIns="0" bIns="0" rtlCol="0" anchor="ctr"/>
          <a:lstStyle/>
          <a:p>
            <a:pPr indent="0" marL="0">
              <a:buNone/>
            </a:pPr>
            <a:r>
              <a:rPr lang="en-US" sz="1500" i="1" dirty="0">
                <a:solidFill>
                  <a:srgbClr val="005A96"/>
                </a:solidFill>
                <a:latin typeface="Cambria" pitchFamily="34" charset="0"/>
                <a:ea typeface="Cambria" pitchFamily="34" charset="-122"/>
                <a:cs typeface="Cambria" pitchFamily="34" charset="-120"/>
              </a:rPr>
              <a:t>Please stop me the moment something does not look right. That is far more useful to us today than politeness at the end.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THE SHAPE OF THE REPORT</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Six views, each answering one question</a:t>
            </a:r>
            <a:endParaRPr lang="en-US" sz="2500" dirty="0"/>
          </a:p>
        </p:txBody>
      </p:sp>
      <p:sp>
        <p:nvSpPr>
          <p:cNvPr id="4" name="Shape 2"/>
          <p:cNvSpPr/>
          <p:nvPr/>
        </p:nvSpPr>
        <p:spPr>
          <a:xfrm>
            <a:off x="502920" y="1371600"/>
            <a:ext cx="3520440" cy="2011680"/>
          </a:xfrm>
          <a:prstGeom prst="roundRect">
            <a:avLst>
              <a:gd name="adj" fmla="val 3182"/>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5" name="Shape 3"/>
          <p:cNvSpPr/>
          <p:nvPr/>
        </p:nvSpPr>
        <p:spPr>
          <a:xfrm>
            <a:off x="758952" y="1627632"/>
            <a:ext cx="420624" cy="420624"/>
          </a:xfrm>
          <a:prstGeom prst="ellipse">
            <a:avLst/>
          </a:prstGeom>
          <a:solidFill>
            <a:srgbClr val="0E1F35"/>
          </a:solidFill>
          <a:ln w="12700">
            <a:solidFill>
              <a:srgbClr val="0E1F35"/>
            </a:solidFill>
            <a:prstDash val="solid"/>
          </a:ln>
        </p:spPr>
      </p:sp>
      <p:sp>
        <p:nvSpPr>
          <p:cNvPr id="6" name="Text 4"/>
          <p:cNvSpPr/>
          <p:nvPr/>
        </p:nvSpPr>
        <p:spPr>
          <a:xfrm>
            <a:off x="758952" y="162763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p:nvPr/>
        </p:nvSpPr>
        <p:spPr>
          <a:xfrm>
            <a:off x="1289304" y="1609344"/>
            <a:ext cx="2514600" cy="457200"/>
          </a:xfrm>
          <a:prstGeom prst="rect">
            <a:avLst/>
          </a:prstGeom>
          <a:noFill/>
          <a:ln/>
        </p:spPr>
        <p:txBody>
          <a:bodyPr wrap="square" lIns="0" tIns="0" rIns="0" bIns="0" rtlCol="0" anchor="ctr"/>
          <a:lstStyle/>
          <a:p>
            <a:pPr indent="0" marL="0">
              <a:buNone/>
            </a:pPr>
            <a:r>
              <a:rPr lang="en-US" sz="1450" b="1" dirty="0">
                <a:solidFill>
                  <a:srgbClr val="10243E"/>
                </a:solidFill>
                <a:latin typeface="Cambria" pitchFamily="34" charset="0"/>
                <a:ea typeface="Cambria" pitchFamily="34" charset="-122"/>
                <a:cs typeface="Cambria" pitchFamily="34" charset="-120"/>
              </a:rPr>
              <a:t>Bank-wide Oversight</a:t>
            </a:r>
            <a:endParaRPr lang="en-US" sz="1450" dirty="0"/>
          </a:p>
        </p:txBody>
      </p:sp>
      <p:sp>
        <p:nvSpPr>
          <p:cNvPr id="8" name="Text 6"/>
          <p:cNvSpPr/>
          <p:nvPr/>
        </p:nvSpPr>
        <p:spPr>
          <a:xfrm>
            <a:off x="758952" y="2176272"/>
            <a:ext cx="3017520" cy="658368"/>
          </a:xfrm>
          <a:prstGeom prst="rect">
            <a:avLst/>
          </a:prstGeom>
          <a:noFill/>
          <a:ln/>
        </p:spPr>
        <p:txBody>
          <a:bodyPr wrap="square" lIns="0" tIns="0" rIns="0" bIns="0" rtlCol="0" anchor="ctr"/>
          <a:lstStyle/>
          <a:p>
            <a:pPr indent="0" marL="0">
              <a:lnSpc>
                <a:spcPts val="1450"/>
              </a:lnSpc>
              <a:buNone/>
            </a:pPr>
            <a:r>
              <a:rPr lang="en-US" sz="1100" dirty="0">
                <a:solidFill>
                  <a:srgbClr val="33475F"/>
                </a:solidFill>
                <a:latin typeface="Calibri" pitchFamily="34" charset="0"/>
                <a:ea typeface="Calibri" pitchFamily="34" charset="-122"/>
                <a:cs typeface="Calibri" pitchFamily="34" charset="-120"/>
              </a:rPr>
              <a:t>How is EDRMS being used across the whole bank?</a:t>
            </a:r>
            <a:endParaRPr lang="en-US" sz="1100" dirty="0"/>
          </a:p>
        </p:txBody>
      </p:sp>
      <p:sp>
        <p:nvSpPr>
          <p:cNvPr id="9" name="Text 7"/>
          <p:cNvSpPr/>
          <p:nvPr/>
        </p:nvSpPr>
        <p:spPr>
          <a:xfrm>
            <a:off x="758952" y="2907792"/>
            <a:ext cx="1828800" cy="256032"/>
          </a:xfrm>
          <a:prstGeom prst="rect">
            <a:avLst/>
          </a:prstGeom>
          <a:noFill/>
          <a:ln/>
        </p:spPr>
        <p:txBody>
          <a:bodyPr wrap="square" lIns="0" tIns="0" rIns="0" bIns="0" rtlCol="0" anchor="ctr"/>
          <a:lstStyle/>
          <a:p>
            <a:pPr indent="0" marL="0">
              <a:buNone/>
            </a:pPr>
            <a:r>
              <a:rPr lang="en-US" sz="1050" b="1" dirty="0">
                <a:solidFill>
                  <a:srgbClr val="0072BC"/>
                </a:solidFill>
                <a:latin typeface="Calibri" pitchFamily="34" charset="0"/>
                <a:ea typeface="Calibri" pitchFamily="34" charset="-122"/>
                <a:cs typeface="Calibri" pitchFamily="34" charset="-120"/>
              </a:rPr>
              <a:t>44 of 65 built</a:t>
            </a:r>
            <a:endParaRPr lang="en-US" sz="1050" dirty="0"/>
          </a:p>
        </p:txBody>
      </p:sp>
      <p:sp>
        <p:nvSpPr>
          <p:cNvPr id="10" name="Shape 8"/>
          <p:cNvSpPr/>
          <p:nvPr/>
        </p:nvSpPr>
        <p:spPr>
          <a:xfrm>
            <a:off x="758952" y="3182112"/>
            <a:ext cx="3017520" cy="68580"/>
          </a:xfrm>
          <a:prstGeom prst="rect">
            <a:avLst/>
          </a:prstGeom>
          <a:solidFill>
            <a:srgbClr val="E4EBF2"/>
          </a:solidFill>
          <a:ln w="12700">
            <a:solidFill>
              <a:srgbClr val="E4EBF2"/>
            </a:solidFill>
            <a:prstDash val="solid"/>
          </a:ln>
        </p:spPr>
      </p:sp>
      <p:sp>
        <p:nvSpPr>
          <p:cNvPr id="11" name="Shape 9"/>
          <p:cNvSpPr/>
          <p:nvPr/>
        </p:nvSpPr>
        <p:spPr>
          <a:xfrm>
            <a:off x="758952" y="3182112"/>
            <a:ext cx="2042629" cy="68580"/>
          </a:xfrm>
          <a:prstGeom prst="rect">
            <a:avLst/>
          </a:prstGeom>
          <a:solidFill>
            <a:srgbClr val="5CA943"/>
          </a:solidFill>
          <a:ln w="12700">
            <a:solidFill>
              <a:srgbClr val="5CA943"/>
            </a:solidFill>
            <a:prstDash val="solid"/>
          </a:ln>
        </p:spPr>
      </p:sp>
      <p:sp>
        <p:nvSpPr>
          <p:cNvPr id="12" name="Shape 10"/>
          <p:cNvSpPr/>
          <p:nvPr/>
        </p:nvSpPr>
        <p:spPr>
          <a:xfrm>
            <a:off x="4297680" y="1371600"/>
            <a:ext cx="3520440" cy="2011680"/>
          </a:xfrm>
          <a:prstGeom prst="roundRect">
            <a:avLst>
              <a:gd name="adj" fmla="val 3182"/>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13" name="Shape 11"/>
          <p:cNvSpPr/>
          <p:nvPr/>
        </p:nvSpPr>
        <p:spPr>
          <a:xfrm>
            <a:off x="4553712" y="1627632"/>
            <a:ext cx="420624" cy="420624"/>
          </a:xfrm>
          <a:prstGeom prst="ellipse">
            <a:avLst/>
          </a:prstGeom>
          <a:solidFill>
            <a:srgbClr val="0E1F35"/>
          </a:solidFill>
          <a:ln w="12700">
            <a:solidFill>
              <a:srgbClr val="0E1F35"/>
            </a:solidFill>
            <a:prstDash val="solid"/>
          </a:ln>
        </p:spPr>
      </p:sp>
      <p:sp>
        <p:nvSpPr>
          <p:cNvPr id="14" name="Text 12"/>
          <p:cNvSpPr/>
          <p:nvPr/>
        </p:nvSpPr>
        <p:spPr>
          <a:xfrm>
            <a:off x="4553712" y="162763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5" name="Text 13"/>
          <p:cNvSpPr/>
          <p:nvPr/>
        </p:nvSpPr>
        <p:spPr>
          <a:xfrm>
            <a:off x="5084064" y="1609344"/>
            <a:ext cx="2514600" cy="457200"/>
          </a:xfrm>
          <a:prstGeom prst="rect">
            <a:avLst/>
          </a:prstGeom>
          <a:noFill/>
          <a:ln/>
        </p:spPr>
        <p:txBody>
          <a:bodyPr wrap="square" lIns="0" tIns="0" rIns="0" bIns="0" rtlCol="0" anchor="ctr"/>
          <a:lstStyle/>
          <a:p>
            <a:pPr indent="0" marL="0">
              <a:buNone/>
            </a:pPr>
            <a:r>
              <a:rPr lang="en-US" sz="1450" b="1" dirty="0">
                <a:solidFill>
                  <a:srgbClr val="10243E"/>
                </a:solidFill>
                <a:latin typeface="Cambria" pitchFamily="34" charset="0"/>
                <a:ea typeface="Cambria" pitchFamily="34" charset="-122"/>
                <a:cs typeface="Cambria" pitchFamily="34" charset="-120"/>
              </a:rPr>
              <a:t>Department Insights</a:t>
            </a:r>
            <a:endParaRPr lang="en-US" sz="1450" dirty="0"/>
          </a:p>
        </p:txBody>
      </p:sp>
      <p:sp>
        <p:nvSpPr>
          <p:cNvPr id="16" name="Text 14"/>
          <p:cNvSpPr/>
          <p:nvPr/>
        </p:nvSpPr>
        <p:spPr>
          <a:xfrm>
            <a:off x="4553712" y="2176272"/>
            <a:ext cx="3017520" cy="658368"/>
          </a:xfrm>
          <a:prstGeom prst="rect">
            <a:avLst/>
          </a:prstGeom>
          <a:noFill/>
          <a:ln/>
        </p:spPr>
        <p:txBody>
          <a:bodyPr wrap="square" lIns="0" tIns="0" rIns="0" bIns="0" rtlCol="0" anchor="ctr"/>
          <a:lstStyle/>
          <a:p>
            <a:pPr indent="0" marL="0">
              <a:lnSpc>
                <a:spcPts val="1450"/>
              </a:lnSpc>
              <a:buNone/>
            </a:pPr>
            <a:r>
              <a:rPr lang="en-US" sz="1100" dirty="0">
                <a:solidFill>
                  <a:srgbClr val="33475F"/>
                </a:solidFill>
                <a:latin typeface="Calibri" pitchFamily="34" charset="0"/>
                <a:ea typeface="Calibri" pitchFamily="34" charset="-122"/>
                <a:cs typeface="Calibri" pitchFamily="34" charset="-120"/>
              </a:rPr>
              <a:t>How is one department using EDRMS?</a:t>
            </a:r>
            <a:endParaRPr lang="en-US" sz="1100" dirty="0"/>
          </a:p>
        </p:txBody>
      </p:sp>
      <p:sp>
        <p:nvSpPr>
          <p:cNvPr id="17" name="Text 15"/>
          <p:cNvSpPr/>
          <p:nvPr/>
        </p:nvSpPr>
        <p:spPr>
          <a:xfrm>
            <a:off x="4553712" y="2907792"/>
            <a:ext cx="1828800" cy="256032"/>
          </a:xfrm>
          <a:prstGeom prst="rect">
            <a:avLst/>
          </a:prstGeom>
          <a:noFill/>
          <a:ln/>
        </p:spPr>
        <p:txBody>
          <a:bodyPr wrap="square" lIns="0" tIns="0" rIns="0" bIns="0" rtlCol="0" anchor="ctr"/>
          <a:lstStyle/>
          <a:p>
            <a:pPr indent="0" marL="0">
              <a:buNone/>
            </a:pPr>
            <a:r>
              <a:rPr lang="en-US" sz="1050" b="1" dirty="0">
                <a:solidFill>
                  <a:srgbClr val="0072BC"/>
                </a:solidFill>
                <a:latin typeface="Calibri" pitchFamily="34" charset="0"/>
                <a:ea typeface="Calibri" pitchFamily="34" charset="-122"/>
                <a:cs typeface="Calibri" pitchFamily="34" charset="-120"/>
              </a:rPr>
              <a:t>59 of 84 built</a:t>
            </a:r>
            <a:endParaRPr lang="en-US" sz="1050" dirty="0"/>
          </a:p>
        </p:txBody>
      </p:sp>
      <p:sp>
        <p:nvSpPr>
          <p:cNvPr id="18" name="Shape 16"/>
          <p:cNvSpPr/>
          <p:nvPr/>
        </p:nvSpPr>
        <p:spPr>
          <a:xfrm>
            <a:off x="4553712" y="3182112"/>
            <a:ext cx="3017520" cy="68580"/>
          </a:xfrm>
          <a:prstGeom prst="rect">
            <a:avLst/>
          </a:prstGeom>
          <a:solidFill>
            <a:srgbClr val="E4EBF2"/>
          </a:solidFill>
          <a:ln w="12700">
            <a:solidFill>
              <a:srgbClr val="E4EBF2"/>
            </a:solidFill>
            <a:prstDash val="solid"/>
          </a:ln>
        </p:spPr>
      </p:sp>
      <p:sp>
        <p:nvSpPr>
          <p:cNvPr id="19" name="Shape 17"/>
          <p:cNvSpPr/>
          <p:nvPr/>
        </p:nvSpPr>
        <p:spPr>
          <a:xfrm>
            <a:off x="4553712" y="3182112"/>
            <a:ext cx="2119449" cy="68580"/>
          </a:xfrm>
          <a:prstGeom prst="rect">
            <a:avLst/>
          </a:prstGeom>
          <a:solidFill>
            <a:srgbClr val="5CA943"/>
          </a:solidFill>
          <a:ln w="12700">
            <a:solidFill>
              <a:srgbClr val="5CA943"/>
            </a:solidFill>
            <a:prstDash val="solid"/>
          </a:ln>
        </p:spPr>
      </p:sp>
      <p:sp>
        <p:nvSpPr>
          <p:cNvPr id="20" name="Shape 18"/>
          <p:cNvSpPr/>
          <p:nvPr/>
        </p:nvSpPr>
        <p:spPr>
          <a:xfrm>
            <a:off x="8092440" y="1371600"/>
            <a:ext cx="3520440" cy="2011680"/>
          </a:xfrm>
          <a:prstGeom prst="roundRect">
            <a:avLst>
              <a:gd name="adj" fmla="val 3182"/>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21" name="Shape 19"/>
          <p:cNvSpPr/>
          <p:nvPr/>
        </p:nvSpPr>
        <p:spPr>
          <a:xfrm>
            <a:off x="8348472" y="1627632"/>
            <a:ext cx="420624" cy="420624"/>
          </a:xfrm>
          <a:prstGeom prst="ellipse">
            <a:avLst/>
          </a:prstGeom>
          <a:solidFill>
            <a:srgbClr val="0E1F35"/>
          </a:solidFill>
          <a:ln w="12700">
            <a:solidFill>
              <a:srgbClr val="0E1F35"/>
            </a:solidFill>
            <a:prstDash val="solid"/>
          </a:ln>
        </p:spPr>
      </p:sp>
      <p:sp>
        <p:nvSpPr>
          <p:cNvPr id="22" name="Text 20"/>
          <p:cNvSpPr/>
          <p:nvPr/>
        </p:nvSpPr>
        <p:spPr>
          <a:xfrm>
            <a:off x="8348472" y="162763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23" name="Text 21"/>
          <p:cNvSpPr/>
          <p:nvPr/>
        </p:nvSpPr>
        <p:spPr>
          <a:xfrm>
            <a:off x="8878824" y="1609344"/>
            <a:ext cx="2514600" cy="457200"/>
          </a:xfrm>
          <a:prstGeom prst="rect">
            <a:avLst/>
          </a:prstGeom>
          <a:noFill/>
          <a:ln/>
        </p:spPr>
        <p:txBody>
          <a:bodyPr wrap="square" lIns="0" tIns="0" rIns="0" bIns="0" rtlCol="0" anchor="ctr"/>
          <a:lstStyle/>
          <a:p>
            <a:pPr indent="0" marL="0">
              <a:buNone/>
            </a:pPr>
            <a:r>
              <a:rPr lang="en-US" sz="1450" b="1" dirty="0">
                <a:solidFill>
                  <a:srgbClr val="10243E"/>
                </a:solidFill>
                <a:latin typeface="Cambria" pitchFamily="34" charset="0"/>
                <a:ea typeface="Cambria" pitchFamily="34" charset="-122"/>
                <a:cs typeface="Cambria" pitchFamily="34" charset="-120"/>
              </a:rPr>
              <a:t>Project Insights</a:t>
            </a:r>
            <a:endParaRPr lang="en-US" sz="1450" dirty="0"/>
          </a:p>
        </p:txBody>
      </p:sp>
      <p:sp>
        <p:nvSpPr>
          <p:cNvPr id="24" name="Text 22"/>
          <p:cNvSpPr/>
          <p:nvPr/>
        </p:nvSpPr>
        <p:spPr>
          <a:xfrm>
            <a:off x="8348472" y="2176272"/>
            <a:ext cx="3017520" cy="658368"/>
          </a:xfrm>
          <a:prstGeom prst="rect">
            <a:avLst/>
          </a:prstGeom>
          <a:noFill/>
          <a:ln/>
        </p:spPr>
        <p:txBody>
          <a:bodyPr wrap="square" lIns="0" tIns="0" rIns="0" bIns="0" rtlCol="0" anchor="ctr"/>
          <a:lstStyle/>
          <a:p>
            <a:pPr indent="0" marL="0">
              <a:lnSpc>
                <a:spcPts val="1450"/>
              </a:lnSpc>
              <a:buNone/>
            </a:pPr>
            <a:r>
              <a:rPr lang="en-US" sz="1100" dirty="0">
                <a:solidFill>
                  <a:srgbClr val="33475F"/>
                </a:solidFill>
                <a:latin typeface="Calibri" pitchFamily="34" charset="0"/>
                <a:ea typeface="Calibri" pitchFamily="34" charset="-122"/>
                <a:cs typeface="Calibri" pitchFamily="34" charset="-120"/>
              </a:rPr>
              <a:t>Are project sites being kept up to recordkeeping standards?</a:t>
            </a:r>
            <a:endParaRPr lang="en-US" sz="1100" dirty="0"/>
          </a:p>
        </p:txBody>
      </p:sp>
      <p:sp>
        <p:nvSpPr>
          <p:cNvPr id="25" name="Text 23"/>
          <p:cNvSpPr/>
          <p:nvPr/>
        </p:nvSpPr>
        <p:spPr>
          <a:xfrm>
            <a:off x="8348472" y="2907792"/>
            <a:ext cx="1828800" cy="256032"/>
          </a:xfrm>
          <a:prstGeom prst="rect">
            <a:avLst/>
          </a:prstGeom>
          <a:noFill/>
          <a:ln/>
        </p:spPr>
        <p:txBody>
          <a:bodyPr wrap="square" lIns="0" tIns="0" rIns="0" bIns="0" rtlCol="0" anchor="ctr"/>
          <a:lstStyle/>
          <a:p>
            <a:pPr indent="0" marL="0">
              <a:buNone/>
            </a:pPr>
            <a:r>
              <a:rPr lang="en-US" sz="1050" b="1" dirty="0">
                <a:solidFill>
                  <a:srgbClr val="0072BC"/>
                </a:solidFill>
                <a:latin typeface="Calibri" pitchFamily="34" charset="0"/>
                <a:ea typeface="Calibri" pitchFamily="34" charset="-122"/>
                <a:cs typeface="Calibri" pitchFamily="34" charset="-120"/>
              </a:rPr>
              <a:t>21 of 21 built</a:t>
            </a:r>
            <a:endParaRPr lang="en-US" sz="1050" dirty="0"/>
          </a:p>
        </p:txBody>
      </p:sp>
      <p:sp>
        <p:nvSpPr>
          <p:cNvPr id="26" name="Shape 24"/>
          <p:cNvSpPr/>
          <p:nvPr/>
        </p:nvSpPr>
        <p:spPr>
          <a:xfrm>
            <a:off x="8348472" y="3182112"/>
            <a:ext cx="3017520" cy="68580"/>
          </a:xfrm>
          <a:prstGeom prst="rect">
            <a:avLst/>
          </a:prstGeom>
          <a:solidFill>
            <a:srgbClr val="E4EBF2"/>
          </a:solidFill>
          <a:ln w="12700">
            <a:solidFill>
              <a:srgbClr val="E4EBF2"/>
            </a:solidFill>
            <a:prstDash val="solid"/>
          </a:ln>
        </p:spPr>
      </p:sp>
      <p:sp>
        <p:nvSpPr>
          <p:cNvPr id="27" name="Shape 25"/>
          <p:cNvSpPr/>
          <p:nvPr/>
        </p:nvSpPr>
        <p:spPr>
          <a:xfrm>
            <a:off x="8348472" y="3182112"/>
            <a:ext cx="3017520" cy="68580"/>
          </a:xfrm>
          <a:prstGeom prst="rect">
            <a:avLst/>
          </a:prstGeom>
          <a:solidFill>
            <a:srgbClr val="5CA943"/>
          </a:solidFill>
          <a:ln w="12700">
            <a:solidFill>
              <a:srgbClr val="5CA943"/>
            </a:solidFill>
            <a:prstDash val="solid"/>
          </a:ln>
        </p:spPr>
      </p:sp>
      <p:sp>
        <p:nvSpPr>
          <p:cNvPr id="28" name="Shape 26"/>
          <p:cNvSpPr/>
          <p:nvPr/>
        </p:nvSpPr>
        <p:spPr>
          <a:xfrm>
            <a:off x="502920" y="3657600"/>
            <a:ext cx="3520440" cy="2011680"/>
          </a:xfrm>
          <a:prstGeom prst="roundRect">
            <a:avLst>
              <a:gd name="adj" fmla="val 3182"/>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29" name="Shape 27"/>
          <p:cNvSpPr/>
          <p:nvPr/>
        </p:nvSpPr>
        <p:spPr>
          <a:xfrm>
            <a:off x="758952" y="3913632"/>
            <a:ext cx="420624" cy="420624"/>
          </a:xfrm>
          <a:prstGeom prst="ellipse">
            <a:avLst/>
          </a:prstGeom>
          <a:solidFill>
            <a:srgbClr val="0E1F35"/>
          </a:solidFill>
          <a:ln w="12700">
            <a:solidFill>
              <a:srgbClr val="0E1F35"/>
            </a:solidFill>
            <a:prstDash val="solid"/>
          </a:ln>
        </p:spPr>
      </p:sp>
      <p:sp>
        <p:nvSpPr>
          <p:cNvPr id="30" name="Text 28"/>
          <p:cNvSpPr/>
          <p:nvPr/>
        </p:nvSpPr>
        <p:spPr>
          <a:xfrm>
            <a:off x="758952" y="391363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31" name="Text 29"/>
          <p:cNvSpPr/>
          <p:nvPr/>
        </p:nvSpPr>
        <p:spPr>
          <a:xfrm>
            <a:off x="1289304" y="3895344"/>
            <a:ext cx="2514600" cy="457200"/>
          </a:xfrm>
          <a:prstGeom prst="rect">
            <a:avLst/>
          </a:prstGeom>
          <a:noFill/>
          <a:ln/>
        </p:spPr>
        <p:txBody>
          <a:bodyPr wrap="square" lIns="0" tIns="0" rIns="0" bIns="0" rtlCol="0" anchor="ctr"/>
          <a:lstStyle/>
          <a:p>
            <a:pPr indent="0" marL="0">
              <a:buNone/>
            </a:pPr>
            <a:r>
              <a:rPr lang="en-US" sz="1450" b="1" dirty="0">
                <a:solidFill>
                  <a:srgbClr val="10243E"/>
                </a:solidFill>
                <a:latin typeface="Cambria" pitchFamily="34" charset="0"/>
                <a:ea typeface="Cambria" pitchFamily="34" charset="-122"/>
                <a:cs typeface="Cambria" pitchFamily="34" charset="-120"/>
              </a:rPr>
              <a:t>Institutional File Plan</a:t>
            </a:r>
            <a:endParaRPr lang="en-US" sz="1450" dirty="0"/>
          </a:p>
        </p:txBody>
      </p:sp>
      <p:sp>
        <p:nvSpPr>
          <p:cNvPr id="32" name="Text 30"/>
          <p:cNvSpPr/>
          <p:nvPr/>
        </p:nvSpPr>
        <p:spPr>
          <a:xfrm>
            <a:off x="758952" y="4462272"/>
            <a:ext cx="3017520" cy="658368"/>
          </a:xfrm>
          <a:prstGeom prst="rect">
            <a:avLst/>
          </a:prstGeom>
          <a:noFill/>
          <a:ln/>
        </p:spPr>
        <p:txBody>
          <a:bodyPr wrap="square" lIns="0" tIns="0" rIns="0" bIns="0" rtlCol="0" anchor="ctr"/>
          <a:lstStyle/>
          <a:p>
            <a:pPr indent="0" marL="0">
              <a:lnSpc>
                <a:spcPts val="1450"/>
              </a:lnSpc>
              <a:buNone/>
            </a:pPr>
            <a:r>
              <a:rPr lang="en-US" sz="1100" dirty="0">
                <a:solidFill>
                  <a:srgbClr val="33475F"/>
                </a:solidFill>
                <a:latin typeface="Calibri" pitchFamily="34" charset="0"/>
                <a:ea typeface="Calibri" pitchFamily="34" charset="-122"/>
                <a:cs typeface="Calibri" pitchFamily="34" charset="-120"/>
              </a:rPr>
              <a:t>Is the file plan actually being used?</a:t>
            </a:r>
            <a:endParaRPr lang="en-US" sz="1100" dirty="0"/>
          </a:p>
        </p:txBody>
      </p:sp>
      <p:sp>
        <p:nvSpPr>
          <p:cNvPr id="33" name="Text 31"/>
          <p:cNvSpPr/>
          <p:nvPr/>
        </p:nvSpPr>
        <p:spPr>
          <a:xfrm>
            <a:off x="758952" y="5193792"/>
            <a:ext cx="1828800" cy="256032"/>
          </a:xfrm>
          <a:prstGeom prst="rect">
            <a:avLst/>
          </a:prstGeom>
          <a:noFill/>
          <a:ln/>
        </p:spPr>
        <p:txBody>
          <a:bodyPr wrap="square" lIns="0" tIns="0" rIns="0" bIns="0" rtlCol="0" anchor="ctr"/>
          <a:lstStyle/>
          <a:p>
            <a:pPr indent="0" marL="0">
              <a:buNone/>
            </a:pPr>
            <a:r>
              <a:rPr lang="en-US" sz="1050" b="1" dirty="0">
                <a:solidFill>
                  <a:srgbClr val="0072BC"/>
                </a:solidFill>
                <a:latin typeface="Calibri" pitchFamily="34" charset="0"/>
                <a:ea typeface="Calibri" pitchFamily="34" charset="-122"/>
                <a:cs typeface="Calibri" pitchFamily="34" charset="-120"/>
              </a:rPr>
              <a:t>22 of 26 built</a:t>
            </a:r>
            <a:endParaRPr lang="en-US" sz="1050" dirty="0"/>
          </a:p>
        </p:txBody>
      </p:sp>
      <p:sp>
        <p:nvSpPr>
          <p:cNvPr id="34" name="Shape 32"/>
          <p:cNvSpPr/>
          <p:nvPr/>
        </p:nvSpPr>
        <p:spPr>
          <a:xfrm>
            <a:off x="758952" y="5468112"/>
            <a:ext cx="3017520" cy="68580"/>
          </a:xfrm>
          <a:prstGeom prst="rect">
            <a:avLst/>
          </a:prstGeom>
          <a:solidFill>
            <a:srgbClr val="E4EBF2"/>
          </a:solidFill>
          <a:ln w="12700">
            <a:solidFill>
              <a:srgbClr val="E4EBF2"/>
            </a:solidFill>
            <a:prstDash val="solid"/>
          </a:ln>
        </p:spPr>
      </p:sp>
      <p:sp>
        <p:nvSpPr>
          <p:cNvPr id="35" name="Shape 33"/>
          <p:cNvSpPr/>
          <p:nvPr/>
        </p:nvSpPr>
        <p:spPr>
          <a:xfrm>
            <a:off x="758952" y="5468112"/>
            <a:ext cx="2553286" cy="68580"/>
          </a:xfrm>
          <a:prstGeom prst="rect">
            <a:avLst/>
          </a:prstGeom>
          <a:solidFill>
            <a:srgbClr val="5CA943"/>
          </a:solidFill>
          <a:ln w="12700">
            <a:solidFill>
              <a:srgbClr val="5CA943"/>
            </a:solidFill>
            <a:prstDash val="solid"/>
          </a:ln>
        </p:spPr>
      </p:sp>
      <p:sp>
        <p:nvSpPr>
          <p:cNvPr id="36" name="Shape 34"/>
          <p:cNvSpPr/>
          <p:nvPr/>
        </p:nvSpPr>
        <p:spPr>
          <a:xfrm>
            <a:off x="4297680" y="3657600"/>
            <a:ext cx="3520440" cy="2011680"/>
          </a:xfrm>
          <a:prstGeom prst="roundRect">
            <a:avLst>
              <a:gd name="adj" fmla="val 3182"/>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37" name="Shape 35"/>
          <p:cNvSpPr/>
          <p:nvPr/>
        </p:nvSpPr>
        <p:spPr>
          <a:xfrm>
            <a:off x="4553712" y="3913632"/>
            <a:ext cx="420624" cy="420624"/>
          </a:xfrm>
          <a:prstGeom prst="ellipse">
            <a:avLst/>
          </a:prstGeom>
          <a:solidFill>
            <a:srgbClr val="0E1F35"/>
          </a:solidFill>
          <a:ln w="12700">
            <a:solidFill>
              <a:srgbClr val="0E1F35"/>
            </a:solidFill>
            <a:prstDash val="solid"/>
          </a:ln>
        </p:spPr>
      </p:sp>
      <p:sp>
        <p:nvSpPr>
          <p:cNvPr id="38" name="Text 36"/>
          <p:cNvSpPr/>
          <p:nvPr/>
        </p:nvSpPr>
        <p:spPr>
          <a:xfrm>
            <a:off x="4553712" y="391363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39" name="Text 37"/>
          <p:cNvSpPr/>
          <p:nvPr/>
        </p:nvSpPr>
        <p:spPr>
          <a:xfrm>
            <a:off x="5084064" y="3895344"/>
            <a:ext cx="2514600" cy="457200"/>
          </a:xfrm>
          <a:prstGeom prst="rect">
            <a:avLst/>
          </a:prstGeom>
          <a:noFill/>
          <a:ln/>
        </p:spPr>
        <p:txBody>
          <a:bodyPr wrap="square" lIns="0" tIns="0" rIns="0" bIns="0" rtlCol="0" anchor="ctr"/>
          <a:lstStyle/>
          <a:p>
            <a:pPr indent="0" marL="0">
              <a:buNone/>
            </a:pPr>
            <a:r>
              <a:rPr lang="en-US" sz="1450" b="1" dirty="0">
                <a:solidFill>
                  <a:srgbClr val="10243E"/>
                </a:solidFill>
                <a:latin typeface="Cambria" pitchFamily="34" charset="0"/>
                <a:ea typeface="Cambria" pitchFamily="34" charset="-122"/>
                <a:cs typeface="Cambria" pitchFamily="34" charset="-120"/>
              </a:rPr>
              <a:t>Retention and Disposal</a:t>
            </a:r>
            <a:endParaRPr lang="en-US" sz="1450" dirty="0"/>
          </a:p>
        </p:txBody>
      </p:sp>
      <p:sp>
        <p:nvSpPr>
          <p:cNvPr id="40" name="Text 38"/>
          <p:cNvSpPr/>
          <p:nvPr/>
        </p:nvSpPr>
        <p:spPr>
          <a:xfrm>
            <a:off x="4553712" y="4462272"/>
            <a:ext cx="3017520" cy="658368"/>
          </a:xfrm>
          <a:prstGeom prst="rect">
            <a:avLst/>
          </a:prstGeom>
          <a:noFill/>
          <a:ln/>
        </p:spPr>
        <p:txBody>
          <a:bodyPr wrap="square" lIns="0" tIns="0" rIns="0" bIns="0" rtlCol="0" anchor="ctr"/>
          <a:lstStyle/>
          <a:p>
            <a:pPr indent="0" marL="0">
              <a:lnSpc>
                <a:spcPts val="1450"/>
              </a:lnSpc>
              <a:buNone/>
            </a:pPr>
            <a:r>
              <a:rPr lang="en-US" sz="1100" dirty="0">
                <a:solidFill>
                  <a:srgbClr val="33475F"/>
                </a:solidFill>
                <a:latin typeface="Calibri" pitchFamily="34" charset="0"/>
                <a:ea typeface="Calibri" pitchFamily="34" charset="-122"/>
                <a:cs typeface="Calibri" pitchFamily="34" charset="-120"/>
              </a:rPr>
              <a:t>What must be kept forever, and what is coming up for disposal?</a:t>
            </a:r>
            <a:endParaRPr lang="en-US" sz="1100" dirty="0"/>
          </a:p>
        </p:txBody>
      </p:sp>
      <p:sp>
        <p:nvSpPr>
          <p:cNvPr id="41" name="Text 39"/>
          <p:cNvSpPr/>
          <p:nvPr/>
        </p:nvSpPr>
        <p:spPr>
          <a:xfrm>
            <a:off x="4553712" y="5193792"/>
            <a:ext cx="1828800" cy="256032"/>
          </a:xfrm>
          <a:prstGeom prst="rect">
            <a:avLst/>
          </a:prstGeom>
          <a:noFill/>
          <a:ln/>
        </p:spPr>
        <p:txBody>
          <a:bodyPr wrap="square" lIns="0" tIns="0" rIns="0" bIns="0" rtlCol="0" anchor="ctr"/>
          <a:lstStyle/>
          <a:p>
            <a:pPr indent="0" marL="0">
              <a:buNone/>
            </a:pPr>
            <a:r>
              <a:rPr lang="en-US" sz="1050" b="1" dirty="0">
                <a:solidFill>
                  <a:srgbClr val="0072BC"/>
                </a:solidFill>
                <a:latin typeface="Calibri" pitchFamily="34" charset="0"/>
                <a:ea typeface="Calibri" pitchFamily="34" charset="-122"/>
                <a:cs typeface="Calibri" pitchFamily="34" charset="-120"/>
              </a:rPr>
              <a:t>18 of 27 built</a:t>
            </a:r>
            <a:endParaRPr lang="en-US" sz="1050" dirty="0"/>
          </a:p>
        </p:txBody>
      </p:sp>
      <p:sp>
        <p:nvSpPr>
          <p:cNvPr id="42" name="Shape 40"/>
          <p:cNvSpPr/>
          <p:nvPr/>
        </p:nvSpPr>
        <p:spPr>
          <a:xfrm>
            <a:off x="4553712" y="5468112"/>
            <a:ext cx="3017520" cy="68580"/>
          </a:xfrm>
          <a:prstGeom prst="rect">
            <a:avLst/>
          </a:prstGeom>
          <a:solidFill>
            <a:srgbClr val="E4EBF2"/>
          </a:solidFill>
          <a:ln w="12700">
            <a:solidFill>
              <a:srgbClr val="E4EBF2"/>
            </a:solidFill>
            <a:prstDash val="solid"/>
          </a:ln>
        </p:spPr>
      </p:sp>
      <p:sp>
        <p:nvSpPr>
          <p:cNvPr id="43" name="Shape 41"/>
          <p:cNvSpPr/>
          <p:nvPr/>
        </p:nvSpPr>
        <p:spPr>
          <a:xfrm>
            <a:off x="4553712" y="5468112"/>
            <a:ext cx="2011680" cy="68580"/>
          </a:xfrm>
          <a:prstGeom prst="rect">
            <a:avLst/>
          </a:prstGeom>
          <a:solidFill>
            <a:srgbClr val="5CA943"/>
          </a:solidFill>
          <a:ln w="12700">
            <a:solidFill>
              <a:srgbClr val="5CA943"/>
            </a:solidFill>
            <a:prstDash val="solid"/>
          </a:ln>
        </p:spPr>
      </p:sp>
      <p:sp>
        <p:nvSpPr>
          <p:cNvPr id="44" name="Shape 42"/>
          <p:cNvSpPr/>
          <p:nvPr/>
        </p:nvSpPr>
        <p:spPr>
          <a:xfrm>
            <a:off x="8092440" y="3657600"/>
            <a:ext cx="3520440" cy="2011680"/>
          </a:xfrm>
          <a:prstGeom prst="roundRect">
            <a:avLst>
              <a:gd name="adj" fmla="val 3182"/>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45" name="Shape 43"/>
          <p:cNvSpPr/>
          <p:nvPr/>
        </p:nvSpPr>
        <p:spPr>
          <a:xfrm>
            <a:off x="8348472" y="3913632"/>
            <a:ext cx="420624" cy="420624"/>
          </a:xfrm>
          <a:prstGeom prst="ellipse">
            <a:avLst/>
          </a:prstGeom>
          <a:solidFill>
            <a:srgbClr val="0E1F35"/>
          </a:solidFill>
          <a:ln w="12700">
            <a:solidFill>
              <a:srgbClr val="0E1F35"/>
            </a:solidFill>
            <a:prstDash val="solid"/>
          </a:ln>
        </p:spPr>
      </p:sp>
      <p:sp>
        <p:nvSpPr>
          <p:cNvPr id="46" name="Text 44"/>
          <p:cNvSpPr/>
          <p:nvPr/>
        </p:nvSpPr>
        <p:spPr>
          <a:xfrm>
            <a:off x="8348472" y="391363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6</a:t>
            </a:r>
            <a:endParaRPr lang="en-US" sz="1500" dirty="0"/>
          </a:p>
        </p:txBody>
      </p:sp>
      <p:sp>
        <p:nvSpPr>
          <p:cNvPr id="47" name="Text 45"/>
          <p:cNvSpPr/>
          <p:nvPr/>
        </p:nvSpPr>
        <p:spPr>
          <a:xfrm>
            <a:off x="8878824" y="3895344"/>
            <a:ext cx="2514600" cy="457200"/>
          </a:xfrm>
          <a:prstGeom prst="rect">
            <a:avLst/>
          </a:prstGeom>
          <a:noFill/>
          <a:ln/>
        </p:spPr>
        <p:txBody>
          <a:bodyPr wrap="square" lIns="0" tIns="0" rIns="0" bIns="0" rtlCol="0" anchor="ctr"/>
          <a:lstStyle/>
          <a:p>
            <a:pPr indent="0" marL="0">
              <a:buNone/>
            </a:pPr>
            <a:r>
              <a:rPr lang="en-US" sz="1450" b="1" dirty="0">
                <a:solidFill>
                  <a:srgbClr val="10243E"/>
                </a:solidFill>
                <a:latin typeface="Cambria" pitchFamily="34" charset="0"/>
                <a:ea typeface="Cambria" pitchFamily="34" charset="-122"/>
                <a:cs typeface="Cambria" pitchFamily="34" charset="-120"/>
              </a:rPr>
              <a:t>Records and Archive Holdings</a:t>
            </a:r>
            <a:endParaRPr lang="en-US" sz="1450" dirty="0"/>
          </a:p>
        </p:txBody>
      </p:sp>
      <p:sp>
        <p:nvSpPr>
          <p:cNvPr id="48" name="Text 46"/>
          <p:cNvSpPr/>
          <p:nvPr/>
        </p:nvSpPr>
        <p:spPr>
          <a:xfrm>
            <a:off x="8348472" y="4462272"/>
            <a:ext cx="3017520" cy="658368"/>
          </a:xfrm>
          <a:prstGeom prst="rect">
            <a:avLst/>
          </a:prstGeom>
          <a:noFill/>
          <a:ln/>
        </p:spPr>
        <p:txBody>
          <a:bodyPr wrap="square" lIns="0" tIns="0" rIns="0" bIns="0" rtlCol="0" anchor="ctr"/>
          <a:lstStyle/>
          <a:p>
            <a:pPr indent="0" marL="0">
              <a:lnSpc>
                <a:spcPts val="1450"/>
              </a:lnSpc>
              <a:buNone/>
            </a:pPr>
            <a:r>
              <a:rPr lang="en-US" sz="1100" dirty="0">
                <a:solidFill>
                  <a:srgbClr val="33475F"/>
                </a:solidFill>
                <a:latin typeface="Calibri" pitchFamily="34" charset="0"/>
                <a:ea typeface="Calibri" pitchFamily="34" charset="-122"/>
                <a:cs typeface="Calibri" pitchFamily="34" charset="-120"/>
              </a:rPr>
              <a:t>What is in the physical archive, and what is moving in and out?</a:t>
            </a:r>
            <a:endParaRPr lang="en-US" sz="1100" dirty="0"/>
          </a:p>
        </p:txBody>
      </p:sp>
      <p:sp>
        <p:nvSpPr>
          <p:cNvPr id="49" name="Text 47"/>
          <p:cNvSpPr/>
          <p:nvPr/>
        </p:nvSpPr>
        <p:spPr>
          <a:xfrm>
            <a:off x="8348472" y="5193792"/>
            <a:ext cx="1828800" cy="256032"/>
          </a:xfrm>
          <a:prstGeom prst="rect">
            <a:avLst/>
          </a:prstGeom>
          <a:noFill/>
          <a:ln/>
        </p:spPr>
        <p:txBody>
          <a:bodyPr wrap="square" lIns="0" tIns="0" rIns="0" bIns="0" rtlCol="0" anchor="ctr"/>
          <a:lstStyle/>
          <a:p>
            <a:pPr indent="0" marL="0">
              <a:buNone/>
            </a:pPr>
            <a:r>
              <a:rPr lang="en-US" sz="1050" b="1" dirty="0">
                <a:solidFill>
                  <a:srgbClr val="0072BC"/>
                </a:solidFill>
                <a:latin typeface="Calibri" pitchFamily="34" charset="0"/>
                <a:ea typeface="Calibri" pitchFamily="34" charset="-122"/>
                <a:cs typeface="Calibri" pitchFamily="34" charset="-120"/>
              </a:rPr>
              <a:t>24 of 26 built</a:t>
            </a:r>
            <a:endParaRPr lang="en-US" sz="1050" dirty="0"/>
          </a:p>
        </p:txBody>
      </p:sp>
      <p:sp>
        <p:nvSpPr>
          <p:cNvPr id="50" name="Shape 48"/>
          <p:cNvSpPr/>
          <p:nvPr/>
        </p:nvSpPr>
        <p:spPr>
          <a:xfrm>
            <a:off x="8348472" y="5468112"/>
            <a:ext cx="3017520" cy="68580"/>
          </a:xfrm>
          <a:prstGeom prst="rect">
            <a:avLst/>
          </a:prstGeom>
          <a:solidFill>
            <a:srgbClr val="E4EBF2"/>
          </a:solidFill>
          <a:ln w="12700">
            <a:solidFill>
              <a:srgbClr val="E4EBF2"/>
            </a:solidFill>
            <a:prstDash val="solid"/>
          </a:ln>
        </p:spPr>
      </p:sp>
      <p:sp>
        <p:nvSpPr>
          <p:cNvPr id="51" name="Shape 49"/>
          <p:cNvSpPr/>
          <p:nvPr/>
        </p:nvSpPr>
        <p:spPr>
          <a:xfrm>
            <a:off x="8348472" y="5468112"/>
            <a:ext cx="2785403" cy="68580"/>
          </a:xfrm>
          <a:prstGeom prst="rect">
            <a:avLst/>
          </a:prstGeom>
          <a:solidFill>
            <a:srgbClr val="5CA943"/>
          </a:solidFill>
          <a:ln w="12700">
            <a:solidFill>
              <a:srgbClr val="5CA943"/>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WHERE WE ARE</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188 of the 249 things you asked for are built</a:t>
            </a:r>
            <a:endParaRPr lang="en-US" sz="2500" dirty="0"/>
          </a:p>
        </p:txBody>
      </p:sp>
      <p:graphicFrame>
        <p:nvGraphicFramePr>
          <p:cNvPr id="4" name="Chart 0" descr=""/>
          <p:cNvGraphicFramePr/>
          <p:nvPr/>
        </p:nvGraphicFramePr>
        <p:xfrm>
          <a:off x="502920" y="1371600"/>
          <a:ext cx="7406640" cy="46634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092440" y="1737360"/>
            <a:ext cx="3566160" cy="1371600"/>
          </a:xfrm>
          <a:prstGeom prst="roundRect">
            <a:avLst>
              <a:gd name="adj" fmla="val 4667"/>
            </a:avLst>
          </a:prstGeom>
          <a:solidFill>
            <a:srgbClr val="F4F7FA"/>
          </a:solidFill>
          <a:ln w="12700">
            <a:solidFill>
              <a:srgbClr val="DCE4EC"/>
            </a:solidFill>
            <a:prstDash val="solid"/>
          </a:ln>
        </p:spPr>
      </p:sp>
      <p:sp>
        <p:nvSpPr>
          <p:cNvPr id="6" name="Text 3"/>
          <p:cNvSpPr/>
          <p:nvPr/>
        </p:nvSpPr>
        <p:spPr>
          <a:xfrm>
            <a:off x="8366760" y="1920240"/>
            <a:ext cx="3017520" cy="566928"/>
          </a:xfrm>
          <a:prstGeom prst="rect">
            <a:avLst/>
          </a:prstGeom>
          <a:noFill/>
          <a:ln/>
        </p:spPr>
        <p:txBody>
          <a:bodyPr wrap="square" lIns="0" tIns="0" rIns="0" bIns="0" rtlCol="0" anchor="ctr"/>
          <a:lstStyle/>
          <a:p>
            <a:pPr indent="0" marL="0">
              <a:buNone/>
            </a:pPr>
            <a:r>
              <a:rPr lang="en-US" sz="3400" b="1" dirty="0">
                <a:solidFill>
                  <a:srgbClr val="5CA943"/>
                </a:solidFill>
                <a:latin typeface="Cambria" pitchFamily="34" charset="0"/>
                <a:ea typeface="Cambria" pitchFamily="34" charset="-122"/>
                <a:cs typeface="Cambria" pitchFamily="34" charset="-120"/>
              </a:rPr>
              <a:t>76%</a:t>
            </a:r>
            <a:endParaRPr lang="en-US" sz="3400" dirty="0"/>
          </a:p>
        </p:txBody>
      </p:sp>
      <p:sp>
        <p:nvSpPr>
          <p:cNvPr id="7" name="Text 4"/>
          <p:cNvSpPr/>
          <p:nvPr/>
        </p:nvSpPr>
        <p:spPr>
          <a:xfrm>
            <a:off x="8366760" y="2487168"/>
            <a:ext cx="3017520" cy="237744"/>
          </a:xfrm>
          <a:prstGeom prst="rect">
            <a:avLst/>
          </a:prstGeom>
          <a:noFill/>
          <a:ln/>
        </p:spPr>
        <p:txBody>
          <a:bodyPr wrap="square" lIns="0" tIns="0" rIns="0" bIns="0" rtlCol="0" anchor="ctr"/>
          <a:lstStyle/>
          <a:p>
            <a:pPr indent="0" marL="0">
              <a:buNone/>
            </a:pPr>
            <a:r>
              <a:rPr lang="en-US" sz="1150" b="1" dirty="0">
                <a:solidFill>
                  <a:srgbClr val="10243E"/>
                </a:solidFill>
                <a:latin typeface="Calibri" pitchFamily="34" charset="0"/>
                <a:ea typeface="Calibri" pitchFamily="34" charset="-122"/>
                <a:cs typeface="Calibri" pitchFamily="34" charset="-120"/>
              </a:rPr>
              <a:t>Built</a:t>
            </a:r>
            <a:endParaRPr lang="en-US" sz="1150" dirty="0"/>
          </a:p>
        </p:txBody>
      </p:sp>
      <p:sp>
        <p:nvSpPr>
          <p:cNvPr id="8" name="Text 5"/>
          <p:cNvSpPr/>
          <p:nvPr/>
        </p:nvSpPr>
        <p:spPr>
          <a:xfrm>
            <a:off x="8366760" y="2706624"/>
            <a:ext cx="3108960" cy="310896"/>
          </a:xfrm>
          <a:prstGeom prst="rect">
            <a:avLst/>
          </a:prstGeom>
          <a:noFill/>
          <a:ln/>
        </p:spPr>
        <p:txBody>
          <a:bodyPr wrap="square" lIns="0" tIns="0" rIns="0" bIns="0" rtlCol="0" anchor="ctr"/>
          <a:lstStyle/>
          <a:p>
            <a:pPr indent="0" marL="0">
              <a:lnSpc>
                <a:spcPts val="1200"/>
              </a:lnSpc>
              <a:buNone/>
            </a:pPr>
            <a:r>
              <a:rPr lang="en-US" sz="950" dirty="0">
                <a:solidFill>
                  <a:srgbClr val="6B7A8C"/>
                </a:solidFill>
                <a:latin typeface="Calibri" pitchFamily="34" charset="0"/>
                <a:ea typeface="Calibri" pitchFamily="34" charset="-122"/>
                <a:cs typeface="Calibri" pitchFamily="34" charset="-120"/>
              </a:rPr>
              <a:t>Working in the prototype today</a:t>
            </a:r>
            <a:endParaRPr lang="en-US" sz="950" dirty="0"/>
          </a:p>
        </p:txBody>
      </p:sp>
      <p:sp>
        <p:nvSpPr>
          <p:cNvPr id="9" name="Shape 6"/>
          <p:cNvSpPr/>
          <p:nvPr/>
        </p:nvSpPr>
        <p:spPr>
          <a:xfrm>
            <a:off x="8092440" y="3246120"/>
            <a:ext cx="3566160" cy="1371600"/>
          </a:xfrm>
          <a:prstGeom prst="roundRect">
            <a:avLst>
              <a:gd name="adj" fmla="val 4667"/>
            </a:avLst>
          </a:prstGeom>
          <a:solidFill>
            <a:srgbClr val="F4F7FA"/>
          </a:solidFill>
          <a:ln w="12700">
            <a:solidFill>
              <a:srgbClr val="DCE4EC"/>
            </a:solidFill>
            <a:prstDash val="solid"/>
          </a:ln>
        </p:spPr>
      </p:sp>
      <p:sp>
        <p:nvSpPr>
          <p:cNvPr id="10" name="Text 7"/>
          <p:cNvSpPr/>
          <p:nvPr/>
        </p:nvSpPr>
        <p:spPr>
          <a:xfrm>
            <a:off x="8366760" y="3429000"/>
            <a:ext cx="3017520" cy="566928"/>
          </a:xfrm>
          <a:prstGeom prst="rect">
            <a:avLst/>
          </a:prstGeom>
          <a:noFill/>
          <a:ln/>
        </p:spPr>
        <p:txBody>
          <a:bodyPr wrap="square" lIns="0" tIns="0" rIns="0" bIns="0" rtlCol="0" anchor="ctr"/>
          <a:lstStyle/>
          <a:p>
            <a:pPr indent="0" marL="0">
              <a:buNone/>
            </a:pPr>
            <a:r>
              <a:rPr lang="en-US" sz="3400" b="1" dirty="0">
                <a:solidFill>
                  <a:srgbClr val="B3241C"/>
                </a:solidFill>
                <a:latin typeface="Cambria" pitchFamily="34" charset="0"/>
                <a:ea typeface="Cambria" pitchFamily="34" charset="-122"/>
                <a:cs typeface="Cambria" pitchFamily="34" charset="-120"/>
              </a:rPr>
              <a:t>61</a:t>
            </a:r>
            <a:endParaRPr lang="en-US" sz="3400" dirty="0"/>
          </a:p>
        </p:txBody>
      </p:sp>
      <p:sp>
        <p:nvSpPr>
          <p:cNvPr id="11" name="Text 8"/>
          <p:cNvSpPr/>
          <p:nvPr/>
        </p:nvSpPr>
        <p:spPr>
          <a:xfrm>
            <a:off x="8366760" y="3995928"/>
            <a:ext cx="3017520" cy="237744"/>
          </a:xfrm>
          <a:prstGeom prst="rect">
            <a:avLst/>
          </a:prstGeom>
          <a:noFill/>
          <a:ln/>
        </p:spPr>
        <p:txBody>
          <a:bodyPr wrap="square" lIns="0" tIns="0" rIns="0" bIns="0" rtlCol="0" anchor="ctr"/>
          <a:lstStyle/>
          <a:p>
            <a:pPr indent="0" marL="0">
              <a:buNone/>
            </a:pPr>
            <a:r>
              <a:rPr lang="en-US" sz="1150" b="1" dirty="0">
                <a:solidFill>
                  <a:srgbClr val="10243E"/>
                </a:solidFill>
                <a:latin typeface="Calibri" pitchFamily="34" charset="0"/>
                <a:ea typeface="Calibri" pitchFamily="34" charset="-122"/>
                <a:cs typeface="Calibri" pitchFamily="34" charset="-120"/>
              </a:rPr>
              <a:t>Waiting on you</a:t>
            </a:r>
            <a:endParaRPr lang="en-US" sz="1150" dirty="0"/>
          </a:p>
        </p:txBody>
      </p:sp>
      <p:sp>
        <p:nvSpPr>
          <p:cNvPr id="12" name="Text 9"/>
          <p:cNvSpPr/>
          <p:nvPr/>
        </p:nvSpPr>
        <p:spPr>
          <a:xfrm>
            <a:off x="8366760" y="4215384"/>
            <a:ext cx="3108960" cy="310896"/>
          </a:xfrm>
          <a:prstGeom prst="rect">
            <a:avLst/>
          </a:prstGeom>
          <a:noFill/>
          <a:ln/>
        </p:spPr>
        <p:txBody>
          <a:bodyPr wrap="square" lIns="0" tIns="0" rIns="0" bIns="0" rtlCol="0" anchor="ctr"/>
          <a:lstStyle/>
          <a:p>
            <a:pPr indent="0" marL="0">
              <a:lnSpc>
                <a:spcPts val="1200"/>
              </a:lnSpc>
              <a:buNone/>
            </a:pPr>
            <a:r>
              <a:rPr lang="en-US" sz="950" dirty="0">
                <a:solidFill>
                  <a:srgbClr val="6B7A8C"/>
                </a:solidFill>
                <a:latin typeface="Calibri" pitchFamily="34" charset="0"/>
                <a:ea typeface="Calibri" pitchFamily="34" charset="-122"/>
                <a:cs typeface="Calibri" pitchFamily="34" charset="-120"/>
              </a:rPr>
              <a:t>Grouped into 27 questions</a:t>
            </a:r>
            <a:endParaRPr lang="en-US" sz="950" dirty="0"/>
          </a:p>
        </p:txBody>
      </p:sp>
      <p:sp>
        <p:nvSpPr>
          <p:cNvPr id="13" name="Shape 10"/>
          <p:cNvSpPr/>
          <p:nvPr/>
        </p:nvSpPr>
        <p:spPr>
          <a:xfrm>
            <a:off x="8092440" y="4754880"/>
            <a:ext cx="3566160" cy="1371600"/>
          </a:xfrm>
          <a:prstGeom prst="roundRect">
            <a:avLst>
              <a:gd name="adj" fmla="val 4667"/>
            </a:avLst>
          </a:prstGeom>
          <a:solidFill>
            <a:srgbClr val="F4F7FA"/>
          </a:solidFill>
          <a:ln w="12700">
            <a:solidFill>
              <a:srgbClr val="DCE4EC"/>
            </a:solidFill>
            <a:prstDash val="solid"/>
          </a:ln>
        </p:spPr>
      </p:sp>
      <p:sp>
        <p:nvSpPr>
          <p:cNvPr id="14" name="Text 11"/>
          <p:cNvSpPr/>
          <p:nvPr/>
        </p:nvSpPr>
        <p:spPr>
          <a:xfrm>
            <a:off x="8366760" y="4937760"/>
            <a:ext cx="3017520" cy="566928"/>
          </a:xfrm>
          <a:prstGeom prst="rect">
            <a:avLst/>
          </a:prstGeom>
          <a:noFill/>
          <a:ln/>
        </p:spPr>
        <p:txBody>
          <a:bodyPr wrap="square" lIns="0" tIns="0" rIns="0" bIns="0" rtlCol="0" anchor="ctr"/>
          <a:lstStyle/>
          <a:p>
            <a:pPr indent="0" marL="0">
              <a:buNone/>
            </a:pPr>
            <a:r>
              <a:rPr lang="en-US" sz="3400" b="1" dirty="0">
                <a:solidFill>
                  <a:srgbClr val="0072BC"/>
                </a:solidFill>
                <a:latin typeface="Cambria" pitchFamily="34" charset="0"/>
                <a:ea typeface="Cambria" pitchFamily="34" charset="-122"/>
                <a:cs typeface="Cambria" pitchFamily="34" charset="-120"/>
              </a:rPr>
              <a:t>3</a:t>
            </a:r>
            <a:endParaRPr lang="en-US" sz="3400" dirty="0"/>
          </a:p>
        </p:txBody>
      </p:sp>
      <p:sp>
        <p:nvSpPr>
          <p:cNvPr id="15" name="Text 12"/>
          <p:cNvSpPr/>
          <p:nvPr/>
        </p:nvSpPr>
        <p:spPr>
          <a:xfrm>
            <a:off x="8366760" y="5504688"/>
            <a:ext cx="3017520" cy="237744"/>
          </a:xfrm>
          <a:prstGeom prst="rect">
            <a:avLst/>
          </a:prstGeom>
          <a:noFill/>
          <a:ln/>
        </p:spPr>
        <p:txBody>
          <a:bodyPr wrap="square" lIns="0" tIns="0" rIns="0" bIns="0" rtlCol="0" anchor="ctr"/>
          <a:lstStyle/>
          <a:p>
            <a:pPr indent="0" marL="0">
              <a:buNone/>
            </a:pPr>
            <a:r>
              <a:rPr lang="en-US" sz="1150" b="1" dirty="0">
                <a:solidFill>
                  <a:srgbClr val="10243E"/>
                </a:solidFill>
                <a:latin typeface="Calibri" pitchFamily="34" charset="0"/>
                <a:ea typeface="Calibri" pitchFamily="34" charset="-122"/>
                <a:cs typeface="Calibri" pitchFamily="34" charset="-120"/>
              </a:rPr>
              <a:t>Root causes</a:t>
            </a:r>
            <a:endParaRPr lang="en-US" sz="1150" dirty="0"/>
          </a:p>
        </p:txBody>
      </p:sp>
      <p:sp>
        <p:nvSpPr>
          <p:cNvPr id="16" name="Text 13"/>
          <p:cNvSpPr/>
          <p:nvPr/>
        </p:nvSpPr>
        <p:spPr>
          <a:xfrm>
            <a:off x="8366760" y="5724144"/>
            <a:ext cx="3108960" cy="310896"/>
          </a:xfrm>
          <a:prstGeom prst="rect">
            <a:avLst/>
          </a:prstGeom>
          <a:noFill/>
          <a:ln/>
        </p:spPr>
        <p:txBody>
          <a:bodyPr wrap="square" lIns="0" tIns="0" rIns="0" bIns="0" rtlCol="0" anchor="ctr"/>
          <a:lstStyle/>
          <a:p>
            <a:pPr indent="0" marL="0">
              <a:lnSpc>
                <a:spcPts val="1200"/>
              </a:lnSpc>
              <a:buNone/>
            </a:pPr>
            <a:r>
              <a:rPr lang="en-US" sz="950" dirty="0">
                <a:solidFill>
                  <a:srgbClr val="6B7A8C"/>
                </a:solidFill>
                <a:latin typeface="Calibri" pitchFamily="34" charset="0"/>
                <a:ea typeface="Calibri" pitchFamily="34" charset="-122"/>
                <a:cs typeface="Calibri" pitchFamily="34" charset="-120"/>
              </a:rPr>
              <a:t>Answer these and most of the red clears</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F35"/>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5A8"/>
          </a:solidFill>
          <a:ln w="12700">
            <a:solidFill>
              <a:srgbClr val="00A5A8"/>
            </a:solidFill>
            <a:prstDash val="solid"/>
          </a:ln>
        </p:spPr>
      </p:sp>
      <p:sp>
        <p:nvSpPr>
          <p:cNvPr id="3" name="Text 1"/>
          <p:cNvSpPr/>
          <p:nvPr/>
        </p:nvSpPr>
        <p:spPr>
          <a:xfrm>
            <a:off x="822960" y="2103120"/>
            <a:ext cx="5486400" cy="274320"/>
          </a:xfrm>
          <a:prstGeom prst="rect">
            <a:avLst/>
          </a:prstGeom>
          <a:noFill/>
          <a:ln/>
        </p:spPr>
        <p:txBody>
          <a:bodyPr wrap="square" lIns="0" tIns="0" rIns="0" bIns="0" rtlCol="0" anchor="ctr"/>
          <a:lstStyle/>
          <a:p>
            <a:pPr indent="0" marL="0">
              <a:buNone/>
            </a:pPr>
            <a:r>
              <a:rPr lang="en-US" sz="1150" b="1" spc="160" kern="0" dirty="0">
                <a:solidFill>
                  <a:srgbClr val="00A5A8"/>
                </a:solidFill>
                <a:latin typeface="Calibri" pitchFamily="34" charset="0"/>
                <a:ea typeface="Calibri" pitchFamily="34" charset="-122"/>
                <a:cs typeface="Calibri" pitchFamily="34" charset="-120"/>
              </a:rPr>
              <a:t>VIEW 1 OF 6</a:t>
            </a:r>
            <a:endParaRPr lang="en-US" sz="1150" dirty="0"/>
          </a:p>
        </p:txBody>
      </p:sp>
      <p:sp>
        <p:nvSpPr>
          <p:cNvPr id="4" name="Text 2"/>
          <p:cNvSpPr/>
          <p:nvPr/>
        </p:nvSpPr>
        <p:spPr>
          <a:xfrm>
            <a:off x="822960" y="2468880"/>
            <a:ext cx="7680960"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Bank-wide Oversight</a:t>
            </a:r>
            <a:endParaRPr lang="en-US" sz="4000" dirty="0"/>
          </a:p>
        </p:txBody>
      </p:sp>
      <p:sp>
        <p:nvSpPr>
          <p:cNvPr id="5" name="Text 3"/>
          <p:cNvSpPr/>
          <p:nvPr/>
        </p:nvSpPr>
        <p:spPr>
          <a:xfrm>
            <a:off x="822960" y="3520440"/>
            <a:ext cx="7498080" cy="914400"/>
          </a:xfrm>
          <a:prstGeom prst="rect">
            <a:avLst/>
          </a:prstGeom>
          <a:noFill/>
          <a:ln/>
        </p:spPr>
        <p:txBody>
          <a:bodyPr wrap="square" lIns="0" tIns="0" rIns="0" bIns="0" rtlCol="0" anchor="ctr"/>
          <a:lstStyle/>
          <a:p>
            <a:pPr indent="0" marL="0">
              <a:lnSpc>
                <a:spcPts val="2400"/>
              </a:lnSpc>
              <a:buNone/>
            </a:pPr>
            <a:r>
              <a:rPr lang="en-US" sz="1700" dirty="0">
                <a:solidFill>
                  <a:srgbClr val="AFC4D8"/>
                </a:solidFill>
                <a:latin typeface="Calibri" pitchFamily="34" charset="0"/>
                <a:ea typeface="Calibri" pitchFamily="34" charset="-122"/>
                <a:cs typeface="Calibri" pitchFamily="34" charset="-120"/>
              </a:rPr>
              <a:t>How is EDRMS being used across the whole bank?</a:t>
            </a:r>
            <a:endParaRPr lang="en-US" sz="1700" dirty="0"/>
          </a:p>
        </p:txBody>
      </p:sp>
      <p:sp>
        <p:nvSpPr>
          <p:cNvPr id="6" name="Shape 4"/>
          <p:cNvSpPr/>
          <p:nvPr/>
        </p:nvSpPr>
        <p:spPr>
          <a:xfrm>
            <a:off x="8961120" y="2286000"/>
            <a:ext cx="2606040" cy="2103120"/>
          </a:xfrm>
          <a:prstGeom prst="roundRect">
            <a:avLst>
              <a:gd name="adj" fmla="val 3478"/>
            </a:avLst>
          </a:prstGeom>
          <a:solidFill>
            <a:srgbClr val="16304F"/>
          </a:solidFill>
          <a:ln w="12700">
            <a:solidFill>
              <a:srgbClr val="27476C"/>
            </a:solidFill>
            <a:prstDash val="solid"/>
          </a:ln>
        </p:spPr>
      </p:sp>
      <p:sp>
        <p:nvSpPr>
          <p:cNvPr id="7" name="Text 5"/>
          <p:cNvSpPr/>
          <p:nvPr/>
        </p:nvSpPr>
        <p:spPr>
          <a:xfrm>
            <a:off x="8961120" y="2514600"/>
            <a:ext cx="2606040" cy="777240"/>
          </a:xfrm>
          <a:prstGeom prst="rect">
            <a:avLst/>
          </a:prstGeom>
          <a:noFill/>
          <a:ln/>
        </p:spPr>
        <p:txBody>
          <a:bodyPr wrap="square" lIns="0" tIns="0" rIns="0" bIns="0" rtlCol="0" anchor="ctr"/>
          <a:lstStyle/>
          <a:p>
            <a:pPr algn="ctr" indent="0" marL="0">
              <a:buNone/>
            </a:pPr>
            <a:r>
              <a:rPr lang="en-US" sz="4600" b="1" dirty="0">
                <a:solidFill>
                  <a:srgbClr val="5CA943"/>
                </a:solidFill>
                <a:latin typeface="Cambria" pitchFamily="34" charset="0"/>
                <a:ea typeface="Cambria" pitchFamily="34" charset="-122"/>
                <a:cs typeface="Cambria" pitchFamily="34" charset="-120"/>
              </a:rPr>
              <a:t>44</a:t>
            </a:r>
            <a:endParaRPr lang="en-US" sz="4600" dirty="0"/>
          </a:p>
        </p:txBody>
      </p:sp>
      <p:sp>
        <p:nvSpPr>
          <p:cNvPr id="8" name="Text 6"/>
          <p:cNvSpPr/>
          <p:nvPr/>
        </p:nvSpPr>
        <p:spPr>
          <a:xfrm>
            <a:off x="8961120" y="3291840"/>
            <a:ext cx="2606040" cy="274320"/>
          </a:xfrm>
          <a:prstGeom prst="rect">
            <a:avLst/>
          </a:prstGeom>
          <a:noFill/>
          <a:ln/>
        </p:spPr>
        <p:txBody>
          <a:bodyPr wrap="square" lIns="0" tIns="0" rIns="0" bIns="0" rtlCol="0" anchor="ctr"/>
          <a:lstStyle/>
          <a:p>
            <a:pPr algn="ctr" indent="0" marL="0">
              <a:buNone/>
            </a:pPr>
            <a:r>
              <a:rPr lang="en-US" sz="1250" dirty="0">
                <a:solidFill>
                  <a:srgbClr val="AFC4D8"/>
                </a:solidFill>
                <a:latin typeface="Calibri" pitchFamily="34" charset="0"/>
                <a:ea typeface="Calibri" pitchFamily="34" charset="-122"/>
                <a:cs typeface="Calibri" pitchFamily="34" charset="-120"/>
              </a:rPr>
              <a:t>of 65 built</a:t>
            </a:r>
            <a:endParaRPr lang="en-US" sz="1250" dirty="0"/>
          </a:p>
        </p:txBody>
      </p:sp>
      <p:sp>
        <p:nvSpPr>
          <p:cNvPr id="9" name="Text 7"/>
          <p:cNvSpPr/>
          <p:nvPr/>
        </p:nvSpPr>
        <p:spPr>
          <a:xfrm>
            <a:off x="9052560" y="3703320"/>
            <a:ext cx="2423160" cy="502920"/>
          </a:xfrm>
          <a:prstGeom prst="rect">
            <a:avLst/>
          </a:prstGeom>
          <a:noFill/>
          <a:ln/>
        </p:spPr>
        <p:txBody>
          <a:bodyPr wrap="square" lIns="0" tIns="0" rIns="0" bIns="0" rtlCol="0" anchor="ctr"/>
          <a:lstStyle/>
          <a:p>
            <a:pPr algn="ctr" indent="0" marL="0">
              <a:lnSpc>
                <a:spcPts val="1400"/>
              </a:lnSpc>
              <a:buNone/>
            </a:pPr>
            <a:r>
              <a:rPr lang="en-US" sz="1150" b="1" dirty="0">
                <a:solidFill>
                  <a:srgbClr val="E88A82"/>
                </a:solidFill>
                <a:latin typeface="Calibri" pitchFamily="34" charset="0"/>
                <a:ea typeface="Calibri" pitchFamily="34" charset="-122"/>
                <a:cs typeface="Calibri" pitchFamily="34" charset="-120"/>
              </a:rPr>
              <a:t>21 need your input</a:t>
            </a:r>
            <a:endParaRPr lang="en-US" sz="1150" dirty="0"/>
          </a:p>
        </p:txBody>
      </p:sp>
      <p:sp>
        <p:nvSpPr>
          <p:cNvPr id="10" name="Text 8"/>
          <p:cNvSpPr/>
          <p:nvPr/>
        </p:nvSpPr>
        <p:spPr>
          <a:xfrm>
            <a:off x="822960" y="4937760"/>
            <a:ext cx="7315200" cy="274320"/>
          </a:xfrm>
          <a:prstGeom prst="rect">
            <a:avLst/>
          </a:prstGeom>
          <a:noFill/>
          <a:ln/>
        </p:spPr>
        <p:txBody>
          <a:bodyPr wrap="square" lIns="0" tIns="0" rIns="0" bIns="0" rtlCol="0" anchor="ctr"/>
          <a:lstStyle/>
          <a:p>
            <a:pPr indent="0" marL="0">
              <a:buNone/>
            </a:pPr>
            <a:r>
              <a:rPr lang="en-US" sz="1200" dirty="0">
                <a:solidFill>
                  <a:srgbClr val="7E97B0"/>
                </a:solidFill>
                <a:latin typeface="Calibri" pitchFamily="34" charset="0"/>
                <a:ea typeface="Calibri" pitchFamily="34" charset="-122"/>
                <a:cs typeface="Calibri" pitchFamily="34" charset="-120"/>
              </a:rPr>
              <a:t>9 screens to walk through</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BANK-WIDE OVERSIGHT</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The ten headline figures</a:t>
            </a:r>
            <a:endParaRPr lang="en-US" sz="2500" dirty="0"/>
          </a:p>
        </p:txBody>
      </p:sp>
      <p:sp>
        <p:nvSpPr>
          <p:cNvPr id="4" name="Shape 2"/>
          <p:cNvSpPr/>
          <p:nvPr/>
        </p:nvSpPr>
        <p:spPr>
          <a:xfrm>
            <a:off x="470916" y="1737175"/>
            <a:ext cx="7178040" cy="3041739"/>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bw-01.png">    </p:cNvPr>
          <p:cNvPicPr>
            <a:picLocks noChangeAspect="1"/>
          </p:cNvPicPr>
          <p:nvPr/>
        </p:nvPicPr>
        <p:blipFill>
          <a:blip r:embed="rId1"/>
          <a:stretch>
            <a:fillRect/>
          </a:stretch>
        </p:blipFill>
        <p:spPr>
          <a:xfrm>
            <a:off x="502920" y="1769179"/>
            <a:ext cx="7114032" cy="2977731"/>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4622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active EDRMS SharePoint sites for Department, RM, office</a:t>
            </a:r>
            <a:endParaRPr lang="en-US" sz="880" dirty="0"/>
          </a:p>
        </p:txBody>
      </p:sp>
      <p:sp>
        <p:nvSpPr>
          <p:cNvPr id="11" name="Shape 8"/>
          <p:cNvSpPr/>
          <p:nvPr/>
        </p:nvSpPr>
        <p:spPr>
          <a:xfrm>
            <a:off x="8019288" y="2227072"/>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2270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1813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EDRMS users</a:t>
            </a:r>
            <a:endParaRPr lang="en-US" sz="880" dirty="0"/>
          </a:p>
        </p:txBody>
      </p:sp>
      <p:sp>
        <p:nvSpPr>
          <p:cNvPr id="14" name="Shape 11"/>
          <p:cNvSpPr/>
          <p:nvPr/>
        </p:nvSpPr>
        <p:spPr>
          <a:xfrm>
            <a:off x="8019288" y="2549652"/>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5496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5039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documents in EDRMS</a:t>
            </a:r>
            <a:endParaRPr lang="en-US" sz="880" dirty="0"/>
          </a:p>
        </p:txBody>
      </p:sp>
      <p:sp>
        <p:nvSpPr>
          <p:cNvPr id="17" name="Shape 14"/>
          <p:cNvSpPr/>
          <p:nvPr/>
        </p:nvSpPr>
        <p:spPr>
          <a:xfrm>
            <a:off x="8019288" y="2872232"/>
            <a:ext cx="731520" cy="169164"/>
          </a:xfrm>
          <a:prstGeom prst="roundRect">
            <a:avLst>
              <a:gd name="adj" fmla="val 48649"/>
            </a:avLst>
          </a:prstGeom>
          <a:solidFill>
            <a:srgbClr val="EAF4E4"/>
          </a:solidFill>
          <a:ln w="12700">
            <a:solidFill>
              <a:srgbClr val="EAF4E4"/>
            </a:solidFill>
            <a:prstDash val="solid"/>
          </a:ln>
        </p:spPr>
      </p:sp>
      <p:sp>
        <p:nvSpPr>
          <p:cNvPr id="18" name="Text 15"/>
          <p:cNvSpPr/>
          <p:nvPr/>
        </p:nvSpPr>
        <p:spPr>
          <a:xfrm>
            <a:off x="8019288" y="287223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9" name="Text 16"/>
          <p:cNvSpPr/>
          <p:nvPr/>
        </p:nvSpPr>
        <p:spPr>
          <a:xfrm>
            <a:off x="8842248" y="282651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records declared in EDRMS</a:t>
            </a:r>
            <a:endParaRPr lang="en-US" sz="880" dirty="0"/>
          </a:p>
        </p:txBody>
      </p:sp>
      <p:sp>
        <p:nvSpPr>
          <p:cNvPr id="20" name="Shape 17"/>
          <p:cNvSpPr/>
          <p:nvPr/>
        </p:nvSpPr>
        <p:spPr>
          <a:xfrm>
            <a:off x="8019288" y="3194812"/>
            <a:ext cx="731520" cy="169164"/>
          </a:xfrm>
          <a:prstGeom prst="roundRect">
            <a:avLst>
              <a:gd name="adj" fmla="val 48649"/>
            </a:avLst>
          </a:prstGeom>
          <a:solidFill>
            <a:srgbClr val="EAF4E4"/>
          </a:solidFill>
          <a:ln w="12700">
            <a:solidFill>
              <a:srgbClr val="EAF4E4"/>
            </a:solidFill>
            <a:prstDash val="solid"/>
          </a:ln>
        </p:spPr>
      </p:sp>
      <p:sp>
        <p:nvSpPr>
          <p:cNvPr id="21" name="Text 18"/>
          <p:cNvSpPr/>
          <p:nvPr/>
        </p:nvSpPr>
        <p:spPr>
          <a:xfrm>
            <a:off x="8019288" y="319481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2" name="Text 19"/>
          <p:cNvSpPr/>
          <p:nvPr/>
        </p:nvSpPr>
        <p:spPr>
          <a:xfrm>
            <a:off x="8842248" y="314909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physical counterparts identified</a:t>
            </a:r>
            <a:endParaRPr lang="en-US" sz="880" dirty="0"/>
          </a:p>
        </p:txBody>
      </p:sp>
      <p:sp>
        <p:nvSpPr>
          <p:cNvPr id="23" name="Shape 20"/>
          <p:cNvSpPr/>
          <p:nvPr/>
        </p:nvSpPr>
        <p:spPr>
          <a:xfrm>
            <a:off x="8019288" y="3517392"/>
            <a:ext cx="731520" cy="169164"/>
          </a:xfrm>
          <a:prstGeom prst="roundRect">
            <a:avLst>
              <a:gd name="adj" fmla="val 48649"/>
            </a:avLst>
          </a:prstGeom>
          <a:solidFill>
            <a:srgbClr val="EAF4E4"/>
          </a:solidFill>
          <a:ln w="12700">
            <a:solidFill>
              <a:srgbClr val="EAF4E4"/>
            </a:solidFill>
            <a:prstDash val="solid"/>
          </a:ln>
        </p:spPr>
      </p:sp>
      <p:sp>
        <p:nvSpPr>
          <p:cNvPr id="24" name="Text 21"/>
          <p:cNvSpPr/>
          <p:nvPr/>
        </p:nvSpPr>
        <p:spPr>
          <a:xfrm>
            <a:off x="8019288" y="35173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5" name="Text 22"/>
          <p:cNvSpPr/>
          <p:nvPr/>
        </p:nvSpPr>
        <p:spPr>
          <a:xfrm>
            <a:off x="8842248" y="34716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records due for disposal</a:t>
            </a:r>
            <a:endParaRPr lang="en-US" sz="880" dirty="0"/>
          </a:p>
        </p:txBody>
      </p:sp>
      <p:sp>
        <p:nvSpPr>
          <p:cNvPr id="26" name="Shape 23"/>
          <p:cNvSpPr/>
          <p:nvPr/>
        </p:nvSpPr>
        <p:spPr>
          <a:xfrm>
            <a:off x="8019288" y="3839972"/>
            <a:ext cx="731520" cy="169164"/>
          </a:xfrm>
          <a:prstGeom prst="roundRect">
            <a:avLst>
              <a:gd name="adj" fmla="val 48649"/>
            </a:avLst>
          </a:prstGeom>
          <a:solidFill>
            <a:srgbClr val="EAF4E4"/>
          </a:solidFill>
          <a:ln w="12700">
            <a:solidFill>
              <a:srgbClr val="EAF4E4"/>
            </a:solidFill>
            <a:prstDash val="solid"/>
          </a:ln>
        </p:spPr>
      </p:sp>
      <p:sp>
        <p:nvSpPr>
          <p:cNvPr id="27" name="Text 24"/>
          <p:cNvSpPr/>
          <p:nvPr/>
        </p:nvSpPr>
        <p:spPr>
          <a:xfrm>
            <a:off x="8019288" y="38399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8" name="Text 25"/>
          <p:cNvSpPr/>
          <p:nvPr/>
        </p:nvSpPr>
        <p:spPr>
          <a:xfrm>
            <a:off x="8842248" y="37942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Retention and disposal insights (navigation tile)</a:t>
            </a:r>
            <a:endParaRPr lang="en-US" sz="880" dirty="0"/>
          </a:p>
        </p:txBody>
      </p:sp>
      <p:sp>
        <p:nvSpPr>
          <p:cNvPr id="29" name="Shape 26"/>
          <p:cNvSpPr/>
          <p:nvPr/>
        </p:nvSpPr>
        <p:spPr>
          <a:xfrm>
            <a:off x="8019288" y="4162552"/>
            <a:ext cx="731520" cy="169164"/>
          </a:xfrm>
          <a:prstGeom prst="roundRect">
            <a:avLst>
              <a:gd name="adj" fmla="val 48649"/>
            </a:avLst>
          </a:prstGeom>
          <a:solidFill>
            <a:srgbClr val="EAF4E4"/>
          </a:solidFill>
          <a:ln w="12700">
            <a:solidFill>
              <a:srgbClr val="EAF4E4"/>
            </a:solidFill>
            <a:prstDash val="solid"/>
          </a:ln>
        </p:spPr>
      </p:sp>
      <p:sp>
        <p:nvSpPr>
          <p:cNvPr id="30" name="Text 27"/>
          <p:cNvSpPr/>
          <p:nvPr/>
        </p:nvSpPr>
        <p:spPr>
          <a:xfrm>
            <a:off x="8019288" y="41625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31" name="Text 28"/>
          <p:cNvSpPr/>
          <p:nvPr/>
        </p:nvSpPr>
        <p:spPr>
          <a:xfrm>
            <a:off x="8842248" y="41168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Institutional File Plan insights (navigation tile)</a:t>
            </a:r>
            <a:endParaRPr lang="en-US" sz="880" dirty="0"/>
          </a:p>
        </p:txBody>
      </p:sp>
      <p:sp>
        <p:nvSpPr>
          <p:cNvPr id="32" name="Shape 29"/>
          <p:cNvSpPr/>
          <p:nvPr/>
        </p:nvSpPr>
        <p:spPr>
          <a:xfrm>
            <a:off x="8019288" y="4485132"/>
            <a:ext cx="731520" cy="169164"/>
          </a:xfrm>
          <a:prstGeom prst="roundRect">
            <a:avLst>
              <a:gd name="adj" fmla="val 48649"/>
            </a:avLst>
          </a:prstGeom>
          <a:solidFill>
            <a:srgbClr val="EAF4E4"/>
          </a:solidFill>
          <a:ln w="12700">
            <a:solidFill>
              <a:srgbClr val="EAF4E4"/>
            </a:solidFill>
            <a:prstDash val="solid"/>
          </a:ln>
        </p:spPr>
      </p:sp>
      <p:sp>
        <p:nvSpPr>
          <p:cNvPr id="33" name="Text 30"/>
          <p:cNvSpPr/>
          <p:nvPr/>
        </p:nvSpPr>
        <p:spPr>
          <a:xfrm>
            <a:off x="8019288" y="448513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34" name="Text 31"/>
          <p:cNvSpPr/>
          <p:nvPr/>
        </p:nvSpPr>
        <p:spPr>
          <a:xfrm>
            <a:off x="8842248" y="4439412"/>
            <a:ext cx="2633472" cy="4622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active EDRMS SharePoint sites for Sovereign projects</a:t>
            </a:r>
            <a:endParaRPr lang="en-US" sz="880" dirty="0"/>
          </a:p>
        </p:txBody>
      </p:sp>
      <p:sp>
        <p:nvSpPr>
          <p:cNvPr id="35" name="Shape 32"/>
          <p:cNvSpPr/>
          <p:nvPr/>
        </p:nvSpPr>
        <p:spPr>
          <a:xfrm>
            <a:off x="8019288" y="4947412"/>
            <a:ext cx="731520" cy="169164"/>
          </a:xfrm>
          <a:prstGeom prst="roundRect">
            <a:avLst>
              <a:gd name="adj" fmla="val 48649"/>
            </a:avLst>
          </a:prstGeom>
          <a:solidFill>
            <a:srgbClr val="EAF4E4"/>
          </a:solidFill>
          <a:ln w="12700">
            <a:solidFill>
              <a:srgbClr val="EAF4E4"/>
            </a:solidFill>
            <a:prstDash val="solid"/>
          </a:ln>
        </p:spPr>
      </p:sp>
      <p:sp>
        <p:nvSpPr>
          <p:cNvPr id="36" name="Text 33"/>
          <p:cNvSpPr/>
          <p:nvPr/>
        </p:nvSpPr>
        <p:spPr>
          <a:xfrm>
            <a:off x="8019288" y="494741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37" name="Text 34"/>
          <p:cNvSpPr/>
          <p:nvPr/>
        </p:nvSpPr>
        <p:spPr>
          <a:xfrm>
            <a:off x="8842248" y="4901692"/>
            <a:ext cx="2633472" cy="4622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active EDRMS SharePoint sites for Nonsovereign projects</a:t>
            </a:r>
            <a:endParaRPr lang="en-US" sz="880" dirty="0"/>
          </a:p>
        </p:txBody>
      </p:sp>
      <p:sp>
        <p:nvSpPr>
          <p:cNvPr id="38" name="Shape 35"/>
          <p:cNvSpPr/>
          <p:nvPr/>
        </p:nvSpPr>
        <p:spPr>
          <a:xfrm>
            <a:off x="502920" y="5779008"/>
            <a:ext cx="118872" cy="118872"/>
          </a:xfrm>
          <a:prstGeom prst="ellipse">
            <a:avLst/>
          </a:prstGeom>
          <a:solidFill>
            <a:srgbClr val="0072BC"/>
          </a:solidFill>
          <a:ln w="12700">
            <a:solidFill>
              <a:srgbClr val="0072BC"/>
            </a:solidFill>
            <a:prstDash val="solid"/>
          </a:ln>
        </p:spPr>
      </p:sp>
      <p:sp>
        <p:nvSpPr>
          <p:cNvPr id="39" name="Text 36"/>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Every figure the client drew on slide 34 is on this one strip.</a:t>
            </a:r>
            <a:endParaRPr lang="en-US" sz="1000" dirty="0"/>
          </a:p>
        </p:txBody>
      </p:sp>
      <p:sp>
        <p:nvSpPr>
          <p:cNvPr id="40" name="Shape 37"/>
          <p:cNvSpPr/>
          <p:nvPr/>
        </p:nvSpPr>
        <p:spPr>
          <a:xfrm>
            <a:off x="4270248" y="5779008"/>
            <a:ext cx="118872" cy="118872"/>
          </a:xfrm>
          <a:prstGeom prst="ellipse">
            <a:avLst/>
          </a:prstGeom>
          <a:solidFill>
            <a:srgbClr val="00A5A8"/>
          </a:solidFill>
          <a:ln w="12700">
            <a:solidFill>
              <a:srgbClr val="00A5A8"/>
            </a:solidFill>
            <a:prstDash val="solid"/>
          </a:ln>
        </p:spPr>
      </p:sp>
      <p:sp>
        <p:nvSpPr>
          <p:cNvPr id="41" name="Text 38"/>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two grey tiles are doors, not numbers: they open the other dashboards.</a:t>
            </a:r>
            <a:endParaRPr lang="en-US" sz="1000" dirty="0"/>
          </a:p>
        </p:txBody>
      </p:sp>
      <p:sp>
        <p:nvSpPr>
          <p:cNvPr id="42" name="Shape 39"/>
          <p:cNvSpPr/>
          <p:nvPr/>
        </p:nvSpPr>
        <p:spPr>
          <a:xfrm>
            <a:off x="8037576" y="5779008"/>
            <a:ext cx="118872" cy="118872"/>
          </a:xfrm>
          <a:prstGeom prst="ellipse">
            <a:avLst/>
          </a:prstGeom>
          <a:solidFill>
            <a:srgbClr val="5CA943"/>
          </a:solidFill>
          <a:ln w="12700">
            <a:solidFill>
              <a:srgbClr val="5CA943"/>
            </a:solidFill>
            <a:prstDash val="solid"/>
          </a:ln>
        </p:spPr>
      </p:sp>
      <p:sp>
        <p:nvSpPr>
          <p:cNvPr id="43" name="Text 40"/>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Two labels changed. I will explain why on the questions slide.</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BANK-WIDE OVERSIGHT</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Sites, department by department</a:t>
            </a:r>
            <a:endParaRPr lang="en-US" sz="2500" dirty="0"/>
          </a:p>
        </p:txBody>
      </p:sp>
      <p:sp>
        <p:nvSpPr>
          <p:cNvPr id="4" name="Shape 2"/>
          <p:cNvSpPr/>
          <p:nvPr/>
        </p:nvSpPr>
        <p:spPr>
          <a:xfrm>
            <a:off x="470916" y="1156716"/>
            <a:ext cx="7178040" cy="3636268"/>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bw-drill-sites.png">    </p:cNvPr>
          <p:cNvPicPr>
            <a:picLocks noChangeAspect="1"/>
          </p:cNvPicPr>
          <p:nvPr/>
        </p:nvPicPr>
        <p:blipFill>
          <a:blip r:embed="rId1"/>
          <a:stretch>
            <a:fillRect/>
          </a:stretch>
        </p:blipFill>
        <p:spPr>
          <a:xfrm>
            <a:off x="502920" y="1188720"/>
            <a:ext cx="7114032" cy="3572260"/>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Department / office / RM</a:t>
            </a:r>
            <a:endParaRPr lang="en-US" sz="880" dirty="0"/>
          </a:p>
        </p:txBody>
      </p:sp>
      <p:sp>
        <p:nvSpPr>
          <p:cNvPr id="11" name="Shape 8"/>
          <p:cNvSpPr/>
          <p:nvPr/>
        </p:nvSpPr>
        <p:spPr>
          <a:xfrm>
            <a:off x="8019288" y="2087372"/>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EDRMS SharePoint sites</a:t>
            </a:r>
            <a:endParaRPr lang="en-US" sz="880" dirty="0"/>
          </a:p>
        </p:txBody>
      </p:sp>
      <p:sp>
        <p:nvSpPr>
          <p:cNvPr id="14" name="Shape 11"/>
          <p:cNvSpPr/>
          <p:nvPr/>
        </p:nvSpPr>
        <p:spPr>
          <a:xfrm>
            <a:off x="8019288" y="2409952"/>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4099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3642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documents</a:t>
            </a:r>
            <a:endParaRPr lang="en-US" sz="880" dirty="0"/>
          </a:p>
        </p:txBody>
      </p:sp>
      <p:sp>
        <p:nvSpPr>
          <p:cNvPr id="17" name="Shape 14"/>
          <p:cNvSpPr/>
          <p:nvPr/>
        </p:nvSpPr>
        <p:spPr>
          <a:xfrm>
            <a:off x="8019288" y="2732532"/>
            <a:ext cx="731520" cy="169164"/>
          </a:xfrm>
          <a:prstGeom prst="roundRect">
            <a:avLst>
              <a:gd name="adj" fmla="val 48649"/>
            </a:avLst>
          </a:prstGeom>
          <a:solidFill>
            <a:srgbClr val="EAF4E4"/>
          </a:solidFill>
          <a:ln w="12700">
            <a:solidFill>
              <a:srgbClr val="EAF4E4"/>
            </a:solidFill>
            <a:prstDash val="solid"/>
          </a:ln>
        </p:spPr>
      </p:sp>
      <p:sp>
        <p:nvSpPr>
          <p:cNvPr id="18" name="Text 15"/>
          <p:cNvSpPr/>
          <p:nvPr/>
        </p:nvSpPr>
        <p:spPr>
          <a:xfrm>
            <a:off x="8019288" y="273253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9" name="Text 16"/>
          <p:cNvSpPr/>
          <p:nvPr/>
        </p:nvSpPr>
        <p:spPr>
          <a:xfrm>
            <a:off x="8842248" y="268681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records declared</a:t>
            </a:r>
            <a:endParaRPr lang="en-US" sz="880" dirty="0"/>
          </a:p>
        </p:txBody>
      </p:sp>
      <p:sp>
        <p:nvSpPr>
          <p:cNvPr id="20" name="Shape 17"/>
          <p:cNvSpPr/>
          <p:nvPr/>
        </p:nvSpPr>
        <p:spPr>
          <a:xfrm>
            <a:off x="8019288" y="3055112"/>
            <a:ext cx="731520" cy="169164"/>
          </a:xfrm>
          <a:prstGeom prst="roundRect">
            <a:avLst>
              <a:gd name="adj" fmla="val 48649"/>
            </a:avLst>
          </a:prstGeom>
          <a:solidFill>
            <a:srgbClr val="EAF4E4"/>
          </a:solidFill>
          <a:ln w="12700">
            <a:solidFill>
              <a:srgbClr val="EAF4E4"/>
            </a:solidFill>
            <a:prstDash val="solid"/>
          </a:ln>
        </p:spPr>
      </p:sp>
      <p:sp>
        <p:nvSpPr>
          <p:cNvPr id="21" name="Text 18"/>
          <p:cNvSpPr/>
          <p:nvPr/>
        </p:nvSpPr>
        <p:spPr>
          <a:xfrm>
            <a:off x="8019288" y="305511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2" name="Text 19"/>
          <p:cNvSpPr/>
          <p:nvPr/>
        </p:nvSpPr>
        <p:spPr>
          <a:xfrm>
            <a:off x="8842248" y="300939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physical counterparts</a:t>
            </a:r>
            <a:endParaRPr lang="en-US" sz="880" dirty="0"/>
          </a:p>
        </p:txBody>
      </p:sp>
      <p:sp>
        <p:nvSpPr>
          <p:cNvPr id="23" name="Shape 20"/>
          <p:cNvSpPr/>
          <p:nvPr/>
        </p:nvSpPr>
        <p:spPr>
          <a:xfrm>
            <a:off x="8019288" y="3377692"/>
            <a:ext cx="731520" cy="169164"/>
          </a:xfrm>
          <a:prstGeom prst="roundRect">
            <a:avLst>
              <a:gd name="adj" fmla="val 48649"/>
            </a:avLst>
          </a:prstGeom>
          <a:solidFill>
            <a:srgbClr val="EAF4E4"/>
          </a:solidFill>
          <a:ln w="12700">
            <a:solidFill>
              <a:srgbClr val="EAF4E4"/>
            </a:solidFill>
            <a:prstDash val="solid"/>
          </a:ln>
        </p:spPr>
      </p:sp>
      <p:sp>
        <p:nvSpPr>
          <p:cNvPr id="24" name="Text 21"/>
          <p:cNvSpPr/>
          <p:nvPr/>
        </p:nvSpPr>
        <p:spPr>
          <a:xfrm>
            <a:off x="8019288" y="33776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5" name="Text 22"/>
          <p:cNvSpPr/>
          <p:nvPr/>
        </p:nvSpPr>
        <p:spPr>
          <a:xfrm>
            <a:off x="8842248" y="33319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Each name clickable into that unit's dashboard</a:t>
            </a:r>
            <a:endParaRPr lang="en-US" sz="880" dirty="0"/>
          </a:p>
        </p:txBody>
      </p:sp>
      <p:sp>
        <p:nvSpPr>
          <p:cNvPr id="26" name="Shape 23"/>
          <p:cNvSpPr/>
          <p:nvPr/>
        </p:nvSpPr>
        <p:spPr>
          <a:xfrm>
            <a:off x="8019288" y="3700272"/>
            <a:ext cx="731520" cy="169164"/>
          </a:xfrm>
          <a:prstGeom prst="roundRect">
            <a:avLst>
              <a:gd name="adj" fmla="val 48649"/>
            </a:avLst>
          </a:prstGeom>
          <a:solidFill>
            <a:srgbClr val="EAF4E4"/>
          </a:solidFill>
          <a:ln w="12700">
            <a:solidFill>
              <a:srgbClr val="EAF4E4"/>
            </a:solidFill>
            <a:prstDash val="solid"/>
          </a:ln>
        </p:spPr>
      </p:sp>
      <p:sp>
        <p:nvSpPr>
          <p:cNvPr id="27" name="Text 24"/>
          <p:cNvSpPr/>
          <p:nvPr/>
        </p:nvSpPr>
        <p:spPr>
          <a:xfrm>
            <a:off x="8019288" y="37002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8" name="Text 25"/>
          <p:cNvSpPr/>
          <p:nvPr/>
        </p:nvSpPr>
        <p:spPr>
          <a:xfrm>
            <a:off x="8842248" y="36545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Indicator: no. of sites created</a:t>
            </a:r>
            <a:endParaRPr lang="en-US" sz="880" dirty="0"/>
          </a:p>
        </p:txBody>
      </p:sp>
      <p:sp>
        <p:nvSpPr>
          <p:cNvPr id="29" name="Shape 26"/>
          <p:cNvSpPr/>
          <p:nvPr/>
        </p:nvSpPr>
        <p:spPr>
          <a:xfrm>
            <a:off x="8019288" y="4022852"/>
            <a:ext cx="731520" cy="169164"/>
          </a:xfrm>
          <a:prstGeom prst="roundRect">
            <a:avLst>
              <a:gd name="adj" fmla="val 48649"/>
            </a:avLst>
          </a:prstGeom>
          <a:solidFill>
            <a:srgbClr val="EAF4E4"/>
          </a:solidFill>
          <a:ln w="12700">
            <a:solidFill>
              <a:srgbClr val="EAF4E4"/>
            </a:solidFill>
            <a:prstDash val="solid"/>
          </a:ln>
        </p:spPr>
      </p:sp>
      <p:sp>
        <p:nvSpPr>
          <p:cNvPr id="30" name="Text 27"/>
          <p:cNvSpPr/>
          <p:nvPr/>
        </p:nvSpPr>
        <p:spPr>
          <a:xfrm>
            <a:off x="8019288" y="40228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31" name="Text 28"/>
          <p:cNvSpPr/>
          <p:nvPr/>
        </p:nvSpPr>
        <p:spPr>
          <a:xfrm>
            <a:off x="8842248" y="39771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Indicator: no. of sites deleted</a:t>
            </a:r>
            <a:endParaRPr lang="en-US" sz="880" dirty="0"/>
          </a:p>
        </p:txBody>
      </p:sp>
      <p:sp>
        <p:nvSpPr>
          <p:cNvPr id="32" name="Shape 29"/>
          <p:cNvSpPr/>
          <p:nvPr/>
        </p:nvSpPr>
        <p:spPr>
          <a:xfrm>
            <a:off x="8019288" y="4345432"/>
            <a:ext cx="731520" cy="169164"/>
          </a:xfrm>
          <a:prstGeom prst="roundRect">
            <a:avLst>
              <a:gd name="adj" fmla="val 48649"/>
            </a:avLst>
          </a:prstGeom>
          <a:solidFill>
            <a:srgbClr val="EAF4E4"/>
          </a:solidFill>
          <a:ln w="12700">
            <a:solidFill>
              <a:srgbClr val="EAF4E4"/>
            </a:solidFill>
            <a:prstDash val="solid"/>
          </a:ln>
        </p:spPr>
      </p:sp>
      <p:sp>
        <p:nvSpPr>
          <p:cNvPr id="33" name="Text 30"/>
          <p:cNvSpPr/>
          <p:nvPr/>
        </p:nvSpPr>
        <p:spPr>
          <a:xfrm>
            <a:off x="8019288" y="434543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34" name="Text 31"/>
          <p:cNvSpPr/>
          <p:nvPr/>
        </p:nvSpPr>
        <p:spPr>
          <a:xfrm>
            <a:off x="8842248" y="429971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Indicator: no. of sites archived</a:t>
            </a:r>
            <a:endParaRPr lang="en-US" sz="880" dirty="0"/>
          </a:p>
        </p:txBody>
      </p:sp>
      <p:sp>
        <p:nvSpPr>
          <p:cNvPr id="35" name="Shape 32"/>
          <p:cNvSpPr/>
          <p:nvPr/>
        </p:nvSpPr>
        <p:spPr>
          <a:xfrm>
            <a:off x="8019288" y="4668012"/>
            <a:ext cx="731520" cy="169164"/>
          </a:xfrm>
          <a:prstGeom prst="roundRect">
            <a:avLst>
              <a:gd name="adj" fmla="val 48649"/>
            </a:avLst>
          </a:prstGeom>
          <a:solidFill>
            <a:srgbClr val="EAF4E4"/>
          </a:solidFill>
          <a:ln w="12700">
            <a:solidFill>
              <a:srgbClr val="EAF4E4"/>
            </a:solidFill>
            <a:prstDash val="solid"/>
          </a:ln>
        </p:spPr>
      </p:sp>
      <p:sp>
        <p:nvSpPr>
          <p:cNvPr id="36" name="Text 33"/>
          <p:cNvSpPr/>
          <p:nvPr/>
        </p:nvSpPr>
        <p:spPr>
          <a:xfrm>
            <a:off x="8019288" y="466801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37" name="Text 34"/>
          <p:cNvSpPr/>
          <p:nvPr/>
        </p:nvSpPr>
        <p:spPr>
          <a:xfrm>
            <a:off x="8842248" y="462229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Indicator: inactive site for 90 days</a:t>
            </a:r>
            <a:endParaRPr lang="en-US" sz="880" dirty="0"/>
          </a:p>
        </p:txBody>
      </p:sp>
      <p:sp>
        <p:nvSpPr>
          <p:cNvPr id="38" name="Shape 35"/>
          <p:cNvSpPr/>
          <p:nvPr/>
        </p:nvSpPr>
        <p:spPr>
          <a:xfrm>
            <a:off x="502920" y="5779008"/>
            <a:ext cx="118872" cy="118872"/>
          </a:xfrm>
          <a:prstGeom prst="ellipse">
            <a:avLst/>
          </a:prstGeom>
          <a:solidFill>
            <a:srgbClr val="0072BC"/>
          </a:solidFill>
          <a:ln w="12700">
            <a:solidFill>
              <a:srgbClr val="0072BC"/>
            </a:solidFill>
            <a:prstDash val="solid"/>
          </a:ln>
        </p:spPr>
      </p:sp>
      <p:sp>
        <p:nvSpPr>
          <p:cNvPr id="39" name="Text 36"/>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Click any figure on the strip above and the table underneath changes.</a:t>
            </a:r>
            <a:endParaRPr lang="en-US" sz="1000" dirty="0"/>
          </a:p>
        </p:txBody>
      </p:sp>
      <p:sp>
        <p:nvSpPr>
          <p:cNvPr id="40" name="Shape 37"/>
          <p:cNvSpPr/>
          <p:nvPr/>
        </p:nvSpPr>
        <p:spPr>
          <a:xfrm>
            <a:off x="4270248" y="5779008"/>
            <a:ext cx="118872" cy="118872"/>
          </a:xfrm>
          <a:prstGeom prst="ellipse">
            <a:avLst/>
          </a:prstGeom>
          <a:solidFill>
            <a:srgbClr val="00A5A8"/>
          </a:solidFill>
          <a:ln w="12700">
            <a:solidFill>
              <a:srgbClr val="00A5A8"/>
            </a:solidFill>
            <a:prstDash val="solid"/>
          </a:ln>
        </p:spPr>
      </p:sp>
      <p:sp>
        <p:nvSpPr>
          <p:cNvPr id="41" name="Text 38"/>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Every department name opens that department’s own dashboard.</a:t>
            </a:r>
            <a:endParaRPr lang="en-US" sz="1000" dirty="0"/>
          </a:p>
        </p:txBody>
      </p:sp>
      <p:sp>
        <p:nvSpPr>
          <p:cNvPr id="42" name="Shape 39"/>
          <p:cNvSpPr/>
          <p:nvPr/>
        </p:nvSpPr>
        <p:spPr>
          <a:xfrm>
            <a:off x="8037576" y="5779008"/>
            <a:ext cx="118872" cy="118872"/>
          </a:xfrm>
          <a:prstGeom prst="ellipse">
            <a:avLst/>
          </a:prstGeom>
          <a:solidFill>
            <a:srgbClr val="5CA943"/>
          </a:solidFill>
          <a:ln w="12700">
            <a:solidFill>
              <a:srgbClr val="5CA943"/>
            </a:solidFill>
            <a:prstDash val="solid"/>
          </a:ln>
        </p:spPr>
      </p:sp>
      <p:sp>
        <p:nvSpPr>
          <p:cNvPr id="43" name="Text 40"/>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four indicators on the right are sites created, deleted, archived and gone quiet.</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BANK-WIDE OVERSIGHT</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Project sites, sovereign and nonsovereign</a:t>
            </a:r>
            <a:endParaRPr lang="en-US" sz="2500" dirty="0"/>
          </a:p>
        </p:txBody>
      </p:sp>
      <p:sp>
        <p:nvSpPr>
          <p:cNvPr id="4" name="Shape 2"/>
          <p:cNvSpPr/>
          <p:nvPr/>
        </p:nvSpPr>
        <p:spPr>
          <a:xfrm>
            <a:off x="470916" y="2050531"/>
            <a:ext cx="7178040" cy="2289684"/>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bw-drill-sov.png">    </p:cNvPr>
          <p:cNvPicPr>
            <a:picLocks noChangeAspect="1"/>
          </p:cNvPicPr>
          <p:nvPr/>
        </p:nvPicPr>
        <p:blipFill>
          <a:blip r:embed="rId1"/>
          <a:stretch>
            <a:fillRect/>
          </a:stretch>
        </p:blipFill>
        <p:spPr>
          <a:xfrm>
            <a:off x="502920" y="2082535"/>
            <a:ext cx="7114032" cy="2225676"/>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Sovereign project site list, all columns</a:t>
            </a:r>
            <a:endParaRPr lang="en-US" sz="880" dirty="0"/>
          </a:p>
        </p:txBody>
      </p:sp>
      <p:sp>
        <p:nvSpPr>
          <p:cNvPr id="11" name="Shape 8"/>
          <p:cNvSpPr/>
          <p:nvPr/>
        </p:nvSpPr>
        <p:spPr>
          <a:xfrm>
            <a:off x="8019288" y="2087372"/>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Nonsovereign project site list, all columns</a:t>
            </a:r>
            <a:endParaRPr lang="en-US" sz="880" dirty="0"/>
          </a:p>
        </p:txBody>
      </p:sp>
      <p:sp>
        <p:nvSpPr>
          <p:cNvPr id="14" name="Shape 11"/>
          <p:cNvSpPr/>
          <p:nvPr/>
        </p:nvSpPr>
        <p:spPr>
          <a:xfrm>
            <a:off x="8019288" y="2409952"/>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4099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3642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Project rows clickable into Project Insights</a:t>
            </a:r>
            <a:endParaRPr lang="en-US" sz="880" dirty="0"/>
          </a:p>
        </p:txBody>
      </p:sp>
      <p:sp>
        <p:nvSpPr>
          <p:cNvPr id="17" name="Shape 14"/>
          <p:cNvSpPr/>
          <p:nvPr/>
        </p:nvSpPr>
        <p:spPr>
          <a:xfrm>
            <a:off x="502920" y="5779008"/>
            <a:ext cx="118872" cy="118872"/>
          </a:xfrm>
          <a:prstGeom prst="ellipse">
            <a:avLst/>
          </a:prstGeom>
          <a:solidFill>
            <a:srgbClr val="0072BC"/>
          </a:solidFill>
          <a:ln w="12700">
            <a:solidFill>
              <a:srgbClr val="0072BC"/>
            </a:solidFill>
            <a:prstDash val="solid"/>
          </a:ln>
        </p:spPr>
      </p:sp>
      <p:sp>
        <p:nvSpPr>
          <p:cNvPr id="18" name="Text 15"/>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client asked for these as two separate lists. Both are here.</a:t>
            </a:r>
            <a:endParaRPr lang="en-US" sz="1000" dirty="0"/>
          </a:p>
        </p:txBody>
      </p:sp>
      <p:sp>
        <p:nvSpPr>
          <p:cNvPr id="19" name="Shape 16"/>
          <p:cNvSpPr/>
          <p:nvPr/>
        </p:nvSpPr>
        <p:spPr>
          <a:xfrm>
            <a:off x="4270248" y="5779008"/>
            <a:ext cx="118872" cy="118872"/>
          </a:xfrm>
          <a:prstGeom prst="ellipse">
            <a:avLst/>
          </a:prstGeom>
          <a:solidFill>
            <a:srgbClr val="00A5A8"/>
          </a:solidFill>
          <a:ln w="12700">
            <a:solidFill>
              <a:srgbClr val="00A5A8"/>
            </a:solidFill>
            <a:prstDash val="solid"/>
          </a:ln>
        </p:spPr>
      </p:sp>
      <p:sp>
        <p:nvSpPr>
          <p:cNvPr id="20" name="Text 17"/>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Any project row opens Project Insights for that project.</a:t>
            </a:r>
            <a:endParaRPr lang="en-US" sz="1000" dirty="0"/>
          </a:p>
        </p:txBody>
      </p:sp>
      <p:sp>
        <p:nvSpPr>
          <p:cNvPr id="21" name="Shape 18"/>
          <p:cNvSpPr/>
          <p:nvPr/>
        </p:nvSpPr>
        <p:spPr>
          <a:xfrm>
            <a:off x="8037576" y="5779008"/>
            <a:ext cx="118872" cy="118872"/>
          </a:xfrm>
          <a:prstGeom prst="ellipse">
            <a:avLst/>
          </a:prstGeom>
          <a:solidFill>
            <a:srgbClr val="5CA943"/>
          </a:solidFill>
          <a:ln w="12700">
            <a:solidFill>
              <a:srgbClr val="5CA943"/>
            </a:solidFill>
            <a:prstDash val="solid"/>
          </a:ln>
        </p:spPr>
      </p:sp>
      <p:sp>
        <p:nvSpPr>
          <p:cNvPr id="22" name="Text 19"/>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bottom row is the facility total, because their own slide ends the list with “Etc.”</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BANK-WIDE OVERSIGHT</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Users</a:t>
            </a:r>
            <a:endParaRPr lang="en-US" sz="2500" dirty="0"/>
          </a:p>
        </p:txBody>
      </p:sp>
      <p:sp>
        <p:nvSpPr>
          <p:cNvPr id="4" name="Shape 2"/>
          <p:cNvSpPr/>
          <p:nvPr/>
        </p:nvSpPr>
        <p:spPr>
          <a:xfrm>
            <a:off x="470916" y="1817631"/>
            <a:ext cx="7178040" cy="2848643"/>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bw-drill-users.png">    </p:cNvPr>
          <p:cNvPicPr>
            <a:picLocks noChangeAspect="1"/>
          </p:cNvPicPr>
          <p:nvPr/>
        </p:nvPicPr>
        <p:blipFill>
          <a:blip r:embed="rId1"/>
          <a:stretch>
            <a:fillRect/>
          </a:stretch>
        </p:blipFill>
        <p:spPr>
          <a:xfrm>
            <a:off x="502920" y="1849635"/>
            <a:ext cx="7114032" cy="2784635"/>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users, count</a:t>
            </a:r>
            <a:endParaRPr lang="en-US" sz="880" dirty="0"/>
          </a:p>
        </p:txBody>
      </p:sp>
      <p:sp>
        <p:nvSpPr>
          <p:cNvPr id="11" name="Shape 8"/>
          <p:cNvSpPr/>
          <p:nvPr/>
        </p:nvSpPr>
        <p:spPr>
          <a:xfrm>
            <a:off x="8019288" y="2087372"/>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Indicator: % of active users</a:t>
            </a:r>
            <a:endParaRPr lang="en-US" sz="880" dirty="0"/>
          </a:p>
        </p:txBody>
      </p:sp>
      <p:sp>
        <p:nvSpPr>
          <p:cNvPr id="14" name="Shape 11"/>
          <p:cNvSpPr/>
          <p:nvPr/>
        </p:nvSpPr>
        <p:spPr>
          <a:xfrm>
            <a:off x="8019288" y="2409952"/>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4099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3642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Indicator: never accessed EDRMS</a:t>
            </a:r>
            <a:endParaRPr lang="en-US" sz="880" dirty="0"/>
          </a:p>
        </p:txBody>
      </p:sp>
      <p:sp>
        <p:nvSpPr>
          <p:cNvPr id="17" name="Shape 14"/>
          <p:cNvSpPr/>
          <p:nvPr/>
        </p:nvSpPr>
        <p:spPr>
          <a:xfrm>
            <a:off x="8019288" y="2732532"/>
            <a:ext cx="731520" cy="169164"/>
          </a:xfrm>
          <a:prstGeom prst="roundRect">
            <a:avLst>
              <a:gd name="adj" fmla="val 48649"/>
            </a:avLst>
          </a:prstGeom>
          <a:solidFill>
            <a:srgbClr val="EAF4E4"/>
          </a:solidFill>
          <a:ln w="12700">
            <a:solidFill>
              <a:srgbClr val="EAF4E4"/>
            </a:solidFill>
            <a:prstDash val="solid"/>
          </a:ln>
        </p:spPr>
      </p:sp>
      <p:sp>
        <p:nvSpPr>
          <p:cNvPr id="18" name="Text 15"/>
          <p:cNvSpPr/>
          <p:nvPr/>
        </p:nvSpPr>
        <p:spPr>
          <a:xfrm>
            <a:off x="8019288" y="273253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9" name="Text 16"/>
          <p:cNvSpPr/>
          <p:nvPr/>
        </p:nvSpPr>
        <p:spPr>
          <a:xfrm>
            <a:off x="8842248" y="268681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Indicator: not accessed in 90 days</a:t>
            </a:r>
            <a:endParaRPr lang="en-US" sz="880" dirty="0"/>
          </a:p>
        </p:txBody>
      </p:sp>
      <p:sp>
        <p:nvSpPr>
          <p:cNvPr id="20" name="Shape 17"/>
          <p:cNvSpPr/>
          <p:nvPr/>
        </p:nvSpPr>
        <p:spPr>
          <a:xfrm>
            <a:off x="8019288" y="3055112"/>
            <a:ext cx="731520" cy="169164"/>
          </a:xfrm>
          <a:prstGeom prst="roundRect">
            <a:avLst>
              <a:gd name="adj" fmla="val 48649"/>
            </a:avLst>
          </a:prstGeom>
          <a:solidFill>
            <a:srgbClr val="FBE6E4"/>
          </a:solidFill>
          <a:ln w="12700">
            <a:solidFill>
              <a:srgbClr val="FBE6E4"/>
            </a:solidFill>
            <a:prstDash val="solid"/>
          </a:ln>
        </p:spPr>
      </p:sp>
      <p:sp>
        <p:nvSpPr>
          <p:cNvPr id="21" name="Text 18"/>
          <p:cNvSpPr/>
          <p:nvPr/>
        </p:nvSpPr>
        <p:spPr>
          <a:xfrm>
            <a:off x="8019288" y="305511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22" name="Text 19"/>
          <p:cNvSpPr/>
          <p:nvPr/>
        </p:nvSpPr>
        <p:spPr>
          <a:xfrm>
            <a:off x="8842248" y="300939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Total number of users (staff)</a:t>
            </a:r>
            <a:endParaRPr lang="en-US" sz="880" dirty="0"/>
          </a:p>
        </p:txBody>
      </p:sp>
      <p:sp>
        <p:nvSpPr>
          <p:cNvPr id="23" name="Shape 20"/>
          <p:cNvSpPr/>
          <p:nvPr/>
        </p:nvSpPr>
        <p:spPr>
          <a:xfrm>
            <a:off x="8019288" y="3377692"/>
            <a:ext cx="731520" cy="169164"/>
          </a:xfrm>
          <a:prstGeom prst="roundRect">
            <a:avLst>
              <a:gd name="adj" fmla="val 48649"/>
            </a:avLst>
          </a:prstGeom>
          <a:solidFill>
            <a:srgbClr val="FBE6E4"/>
          </a:solidFill>
          <a:ln w="12700">
            <a:solidFill>
              <a:srgbClr val="FBE6E4"/>
            </a:solidFill>
            <a:prstDash val="solid"/>
          </a:ln>
        </p:spPr>
      </p:sp>
      <p:sp>
        <p:nvSpPr>
          <p:cNvPr id="24" name="Text 21"/>
          <p:cNvSpPr/>
          <p:nvPr/>
        </p:nvSpPr>
        <p:spPr>
          <a:xfrm>
            <a:off x="8019288" y="337769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25" name="Text 22"/>
          <p:cNvSpPr/>
          <p:nvPr/>
        </p:nvSpPr>
        <p:spPr>
          <a:xfrm>
            <a:off x="8842248" y="333197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Total number of users (Contractors)</a:t>
            </a:r>
            <a:endParaRPr lang="en-US" sz="880" dirty="0"/>
          </a:p>
        </p:txBody>
      </p:sp>
      <p:sp>
        <p:nvSpPr>
          <p:cNvPr id="26" name="Shape 23"/>
          <p:cNvSpPr/>
          <p:nvPr/>
        </p:nvSpPr>
        <p:spPr>
          <a:xfrm>
            <a:off x="8019288" y="3700272"/>
            <a:ext cx="731520" cy="169164"/>
          </a:xfrm>
          <a:prstGeom prst="roundRect">
            <a:avLst>
              <a:gd name="adj" fmla="val 48649"/>
            </a:avLst>
          </a:prstGeom>
          <a:solidFill>
            <a:srgbClr val="FBE6E4"/>
          </a:solidFill>
          <a:ln w="12700">
            <a:solidFill>
              <a:srgbClr val="FBE6E4"/>
            </a:solidFill>
            <a:prstDash val="solid"/>
          </a:ln>
        </p:spPr>
      </p:sp>
      <p:sp>
        <p:nvSpPr>
          <p:cNvPr id="27" name="Text 24"/>
          <p:cNvSpPr/>
          <p:nvPr/>
        </p:nvSpPr>
        <p:spPr>
          <a:xfrm>
            <a:off x="8019288" y="370027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28" name="Text 25"/>
          <p:cNvSpPr/>
          <p:nvPr/>
        </p:nvSpPr>
        <p:spPr>
          <a:xfrm>
            <a:off x="8842248" y="365455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Total number of users (Consultants)</a:t>
            </a:r>
            <a:endParaRPr lang="en-US" sz="880" dirty="0"/>
          </a:p>
        </p:txBody>
      </p:sp>
      <p:sp>
        <p:nvSpPr>
          <p:cNvPr id="29" name="Shape 26"/>
          <p:cNvSpPr/>
          <p:nvPr/>
        </p:nvSpPr>
        <p:spPr>
          <a:xfrm>
            <a:off x="8019288" y="4022852"/>
            <a:ext cx="731520" cy="169164"/>
          </a:xfrm>
          <a:prstGeom prst="roundRect">
            <a:avLst>
              <a:gd name="adj" fmla="val 48649"/>
            </a:avLst>
          </a:prstGeom>
          <a:solidFill>
            <a:srgbClr val="FBE6E4"/>
          </a:solidFill>
          <a:ln w="12700">
            <a:solidFill>
              <a:srgbClr val="FBE6E4"/>
            </a:solidFill>
            <a:prstDash val="solid"/>
          </a:ln>
        </p:spPr>
      </p:sp>
      <p:sp>
        <p:nvSpPr>
          <p:cNvPr id="30" name="Text 27"/>
          <p:cNvSpPr/>
          <p:nvPr/>
        </p:nvSpPr>
        <p:spPr>
          <a:xfrm>
            <a:off x="8019288" y="402285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31" name="Text 28"/>
          <p:cNvSpPr/>
          <p:nvPr/>
        </p:nvSpPr>
        <p:spPr>
          <a:xfrm>
            <a:off x="8842248" y="397713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Completion of training</a:t>
            </a:r>
            <a:endParaRPr lang="en-US" sz="880" dirty="0"/>
          </a:p>
        </p:txBody>
      </p:sp>
      <p:sp>
        <p:nvSpPr>
          <p:cNvPr id="32" name="Shape 29"/>
          <p:cNvSpPr/>
          <p:nvPr/>
        </p:nvSpPr>
        <p:spPr>
          <a:xfrm>
            <a:off x="8019288" y="4345432"/>
            <a:ext cx="731520" cy="169164"/>
          </a:xfrm>
          <a:prstGeom prst="roundRect">
            <a:avLst>
              <a:gd name="adj" fmla="val 48649"/>
            </a:avLst>
          </a:prstGeom>
          <a:solidFill>
            <a:srgbClr val="FBE6E4"/>
          </a:solidFill>
          <a:ln w="12700">
            <a:solidFill>
              <a:srgbClr val="FBE6E4"/>
            </a:solidFill>
            <a:prstDash val="solid"/>
          </a:ln>
        </p:spPr>
      </p:sp>
      <p:sp>
        <p:nvSpPr>
          <p:cNvPr id="33" name="Text 30"/>
          <p:cNvSpPr/>
          <p:nvPr/>
        </p:nvSpPr>
        <p:spPr>
          <a:xfrm>
            <a:off x="8019288" y="434543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34" name="Text 31"/>
          <p:cNvSpPr/>
          <p:nvPr/>
        </p:nvSpPr>
        <p:spPr>
          <a:xfrm>
            <a:off x="8842248" y="429971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Onboarded since go-live</a:t>
            </a:r>
            <a:endParaRPr lang="en-US" sz="880" dirty="0"/>
          </a:p>
        </p:txBody>
      </p:sp>
      <p:sp>
        <p:nvSpPr>
          <p:cNvPr id="35" name="Shape 32"/>
          <p:cNvSpPr/>
          <p:nvPr/>
        </p:nvSpPr>
        <p:spPr>
          <a:xfrm>
            <a:off x="8019288" y="4668012"/>
            <a:ext cx="731520" cy="169164"/>
          </a:xfrm>
          <a:prstGeom prst="roundRect">
            <a:avLst>
              <a:gd name="adj" fmla="val 48649"/>
            </a:avLst>
          </a:prstGeom>
          <a:solidFill>
            <a:srgbClr val="FBE6E4"/>
          </a:solidFill>
          <a:ln w="12700">
            <a:solidFill>
              <a:srgbClr val="FBE6E4"/>
            </a:solidFill>
            <a:prstDash val="solid"/>
          </a:ln>
        </p:spPr>
      </p:sp>
      <p:sp>
        <p:nvSpPr>
          <p:cNvPr id="36" name="Text 33"/>
          <p:cNvSpPr/>
          <p:nvPr/>
        </p:nvSpPr>
        <p:spPr>
          <a:xfrm>
            <a:off x="8019288" y="466801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37" name="Text 34"/>
          <p:cNvSpPr/>
          <p:nvPr/>
        </p:nvSpPr>
        <p:spPr>
          <a:xfrm>
            <a:off x="8842248" y="462229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User to department mapping</a:t>
            </a:r>
            <a:endParaRPr lang="en-US" sz="880" dirty="0"/>
          </a:p>
        </p:txBody>
      </p:sp>
      <p:sp>
        <p:nvSpPr>
          <p:cNvPr id="38" name="Shape 35"/>
          <p:cNvSpPr/>
          <p:nvPr/>
        </p:nvSpPr>
        <p:spPr>
          <a:xfrm>
            <a:off x="502920" y="5779008"/>
            <a:ext cx="118872" cy="118872"/>
          </a:xfrm>
          <a:prstGeom prst="ellipse">
            <a:avLst/>
          </a:prstGeom>
          <a:solidFill>
            <a:srgbClr val="0072BC"/>
          </a:solidFill>
          <a:ln w="12700">
            <a:solidFill>
              <a:srgbClr val="0072BC"/>
            </a:solidFill>
            <a:prstDash val="solid"/>
          </a:ln>
        </p:spPr>
      </p:sp>
      <p:sp>
        <p:nvSpPr>
          <p:cNvPr id="39" name="Text 36"/>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We can see who has actually used EDRMS. We cannot see who they are.</a:t>
            </a:r>
            <a:endParaRPr lang="en-US" sz="1000" dirty="0"/>
          </a:p>
        </p:txBody>
      </p:sp>
      <p:sp>
        <p:nvSpPr>
          <p:cNvPr id="40" name="Shape 37"/>
          <p:cNvSpPr/>
          <p:nvPr/>
        </p:nvSpPr>
        <p:spPr>
          <a:xfrm>
            <a:off x="4270248" y="5779008"/>
            <a:ext cx="118872" cy="118872"/>
          </a:xfrm>
          <a:prstGeom prst="ellipse">
            <a:avLst/>
          </a:prstGeom>
          <a:solidFill>
            <a:srgbClr val="00A5A8"/>
          </a:solidFill>
          <a:ln w="12700">
            <a:solidFill>
              <a:srgbClr val="00A5A8"/>
            </a:solidFill>
            <a:prstDash val="solid"/>
          </a:ln>
        </p:spPr>
      </p:sp>
      <p:sp>
        <p:nvSpPr>
          <p:cNvPr id="41" name="Text 38"/>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Six of the ten things asked for here need something from you.</a:t>
            </a:r>
            <a:endParaRPr lang="en-US" sz="1000" dirty="0"/>
          </a:p>
        </p:txBody>
      </p:sp>
      <p:sp>
        <p:nvSpPr>
          <p:cNvPr id="42" name="Shape 39"/>
          <p:cNvSpPr/>
          <p:nvPr/>
        </p:nvSpPr>
        <p:spPr>
          <a:xfrm>
            <a:off x="8037576" y="5779008"/>
            <a:ext cx="118872" cy="118872"/>
          </a:xfrm>
          <a:prstGeom prst="ellipse">
            <a:avLst/>
          </a:prstGeom>
          <a:solidFill>
            <a:srgbClr val="5CA943"/>
          </a:solidFill>
          <a:ln w="12700">
            <a:solidFill>
              <a:srgbClr val="5CA943"/>
            </a:solidFill>
            <a:prstDash val="solid"/>
          </a:ln>
        </p:spPr>
      </p:sp>
      <p:sp>
        <p:nvSpPr>
          <p:cNvPr id="43" name="Text 40"/>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This is the biggest single gap in the whole report.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BANK-WIDE OVERSIGHT</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Documents</a:t>
            </a:r>
            <a:endParaRPr lang="en-US" sz="2500" dirty="0"/>
          </a:p>
        </p:txBody>
      </p:sp>
      <p:sp>
        <p:nvSpPr>
          <p:cNvPr id="4" name="Shape 2"/>
          <p:cNvSpPr/>
          <p:nvPr/>
        </p:nvSpPr>
        <p:spPr>
          <a:xfrm>
            <a:off x="470916" y="1785872"/>
            <a:ext cx="7178040" cy="2924865"/>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bw-drill-docs.png">    </p:cNvPr>
          <p:cNvPicPr>
            <a:picLocks noChangeAspect="1"/>
          </p:cNvPicPr>
          <p:nvPr/>
        </p:nvPicPr>
        <p:blipFill>
          <a:blip r:embed="rId1"/>
          <a:stretch>
            <a:fillRect/>
          </a:stretch>
        </p:blipFill>
        <p:spPr>
          <a:xfrm>
            <a:off x="502920" y="1817876"/>
            <a:ext cx="7114032" cy="2860857"/>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documents created / uploaded</a:t>
            </a:r>
            <a:endParaRPr lang="en-US" sz="880" dirty="0"/>
          </a:p>
        </p:txBody>
      </p:sp>
      <p:sp>
        <p:nvSpPr>
          <p:cNvPr id="11" name="Shape 8"/>
          <p:cNvSpPr/>
          <p:nvPr/>
        </p:nvSpPr>
        <p:spPr>
          <a:xfrm>
            <a:off x="8019288" y="2087372"/>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Documents size (in GB)</a:t>
            </a:r>
            <a:endParaRPr lang="en-US" sz="880" dirty="0"/>
          </a:p>
        </p:txBody>
      </p:sp>
      <p:sp>
        <p:nvSpPr>
          <p:cNvPr id="14" name="Shape 11"/>
          <p:cNvSpPr/>
          <p:nvPr/>
        </p:nvSpPr>
        <p:spPr>
          <a:xfrm>
            <a:off x="8019288" y="2409952"/>
            <a:ext cx="731520" cy="169164"/>
          </a:xfrm>
          <a:prstGeom prst="roundRect">
            <a:avLst>
              <a:gd name="adj" fmla="val 48649"/>
            </a:avLst>
          </a:prstGeom>
          <a:solidFill>
            <a:srgbClr val="FBE6E4"/>
          </a:solidFill>
          <a:ln w="12700">
            <a:solidFill>
              <a:srgbClr val="FBE6E4"/>
            </a:solidFill>
            <a:prstDash val="solid"/>
          </a:ln>
        </p:spPr>
      </p:sp>
      <p:sp>
        <p:nvSpPr>
          <p:cNvPr id="15" name="Text 12"/>
          <p:cNvSpPr/>
          <p:nvPr/>
        </p:nvSpPr>
        <p:spPr>
          <a:xfrm>
            <a:off x="8019288" y="240995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16" name="Text 13"/>
          <p:cNvSpPr/>
          <p:nvPr/>
        </p:nvSpPr>
        <p:spPr>
          <a:xfrm>
            <a:off x="8842248" y="236423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Number of users creating documents</a:t>
            </a:r>
            <a:endParaRPr lang="en-US" sz="880" dirty="0"/>
          </a:p>
        </p:txBody>
      </p:sp>
      <p:sp>
        <p:nvSpPr>
          <p:cNvPr id="17" name="Shape 14"/>
          <p:cNvSpPr/>
          <p:nvPr/>
        </p:nvSpPr>
        <p:spPr>
          <a:xfrm>
            <a:off x="8019288" y="2732532"/>
            <a:ext cx="731520" cy="169164"/>
          </a:xfrm>
          <a:prstGeom prst="roundRect">
            <a:avLst>
              <a:gd name="adj" fmla="val 48649"/>
            </a:avLst>
          </a:prstGeom>
          <a:solidFill>
            <a:srgbClr val="FBE6E4"/>
          </a:solidFill>
          <a:ln w="12700">
            <a:solidFill>
              <a:srgbClr val="FBE6E4"/>
            </a:solidFill>
            <a:prstDash val="solid"/>
          </a:ln>
        </p:spPr>
      </p:sp>
      <p:sp>
        <p:nvSpPr>
          <p:cNvPr id="18" name="Text 15"/>
          <p:cNvSpPr/>
          <p:nvPr/>
        </p:nvSpPr>
        <p:spPr>
          <a:xfrm>
            <a:off x="8019288" y="273253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19" name="Text 16"/>
          <p:cNvSpPr/>
          <p:nvPr/>
        </p:nvSpPr>
        <p:spPr>
          <a:xfrm>
            <a:off x="8842248" y="268681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Indicator: new documents month on month</a:t>
            </a:r>
            <a:endParaRPr lang="en-US" sz="880" dirty="0"/>
          </a:p>
        </p:txBody>
      </p:sp>
      <p:sp>
        <p:nvSpPr>
          <p:cNvPr id="20" name="Shape 17"/>
          <p:cNvSpPr/>
          <p:nvPr/>
        </p:nvSpPr>
        <p:spPr>
          <a:xfrm>
            <a:off x="8019288" y="3055112"/>
            <a:ext cx="731520" cy="169164"/>
          </a:xfrm>
          <a:prstGeom prst="roundRect">
            <a:avLst>
              <a:gd name="adj" fmla="val 48649"/>
            </a:avLst>
          </a:prstGeom>
          <a:solidFill>
            <a:srgbClr val="FBE6E4"/>
          </a:solidFill>
          <a:ln w="12700">
            <a:solidFill>
              <a:srgbClr val="FBE6E4"/>
            </a:solidFill>
            <a:prstDash val="solid"/>
          </a:ln>
        </p:spPr>
      </p:sp>
      <p:sp>
        <p:nvSpPr>
          <p:cNvPr id="21" name="Text 18"/>
          <p:cNvSpPr/>
          <p:nvPr/>
        </p:nvSpPr>
        <p:spPr>
          <a:xfrm>
            <a:off x="8019288" y="305511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22" name="Text 19"/>
          <p:cNvSpPr/>
          <p:nvPr/>
        </p:nvSpPr>
        <p:spPr>
          <a:xfrm>
            <a:off x="8842248" y="300939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Indicator: average monthly storage growth</a:t>
            </a:r>
            <a:endParaRPr lang="en-US" sz="880" dirty="0"/>
          </a:p>
        </p:txBody>
      </p:sp>
      <p:sp>
        <p:nvSpPr>
          <p:cNvPr id="23" name="Shape 20"/>
          <p:cNvSpPr/>
          <p:nvPr/>
        </p:nvSpPr>
        <p:spPr>
          <a:xfrm>
            <a:off x="8019288" y="3377692"/>
            <a:ext cx="731520" cy="169164"/>
          </a:xfrm>
          <a:prstGeom prst="roundRect">
            <a:avLst>
              <a:gd name="adj" fmla="val 48649"/>
            </a:avLst>
          </a:prstGeom>
          <a:solidFill>
            <a:srgbClr val="FBE6E4"/>
          </a:solidFill>
          <a:ln w="12700">
            <a:solidFill>
              <a:srgbClr val="FBE6E4"/>
            </a:solidFill>
            <a:prstDash val="solid"/>
          </a:ln>
        </p:spPr>
      </p:sp>
      <p:sp>
        <p:nvSpPr>
          <p:cNvPr id="24" name="Text 21"/>
          <p:cNvSpPr/>
          <p:nvPr/>
        </p:nvSpPr>
        <p:spPr>
          <a:xfrm>
            <a:off x="8019288" y="337769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25" name="Text 22"/>
          <p:cNvSpPr/>
          <p:nvPr/>
        </p:nvSpPr>
        <p:spPr>
          <a:xfrm>
            <a:off x="8842248" y="333197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Per division breakdown</a:t>
            </a:r>
            <a:endParaRPr lang="en-US" sz="880" dirty="0"/>
          </a:p>
        </p:txBody>
      </p:sp>
      <p:sp>
        <p:nvSpPr>
          <p:cNvPr id="26" name="Shape 23"/>
          <p:cNvSpPr/>
          <p:nvPr/>
        </p:nvSpPr>
        <p:spPr>
          <a:xfrm>
            <a:off x="502920" y="5779008"/>
            <a:ext cx="118872" cy="118872"/>
          </a:xfrm>
          <a:prstGeom prst="ellipse">
            <a:avLst/>
          </a:prstGeom>
          <a:solidFill>
            <a:srgbClr val="0072BC"/>
          </a:solidFill>
          <a:ln w="12700">
            <a:solidFill>
              <a:srgbClr val="0072BC"/>
            </a:solidFill>
            <a:prstDash val="solid"/>
          </a:ln>
        </p:spPr>
      </p:sp>
      <p:sp>
        <p:nvSpPr>
          <p:cNvPr id="27" name="Text 24"/>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Document counts and storage size are solid and come from real data.</a:t>
            </a:r>
            <a:endParaRPr lang="en-US" sz="1000" dirty="0"/>
          </a:p>
        </p:txBody>
      </p:sp>
      <p:sp>
        <p:nvSpPr>
          <p:cNvPr id="28" name="Shape 25"/>
          <p:cNvSpPr/>
          <p:nvPr/>
        </p:nvSpPr>
        <p:spPr>
          <a:xfrm>
            <a:off x="4270248" y="5779008"/>
            <a:ext cx="118872" cy="118872"/>
          </a:xfrm>
          <a:prstGeom prst="ellipse">
            <a:avLst/>
          </a:prstGeom>
          <a:solidFill>
            <a:srgbClr val="00A5A8"/>
          </a:solidFill>
          <a:ln w="12700">
            <a:solidFill>
              <a:srgbClr val="00A5A8"/>
            </a:solidFill>
            <a:prstDash val="solid"/>
          </a:ln>
        </p:spPr>
      </p:sp>
      <p:sp>
        <p:nvSpPr>
          <p:cNvPr id="29" name="Text 26"/>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What is missing is history: we can show today, not the trend.</a:t>
            </a:r>
            <a:endParaRPr lang="en-US" sz="1000" dirty="0"/>
          </a:p>
        </p:txBody>
      </p:sp>
      <p:sp>
        <p:nvSpPr>
          <p:cNvPr id="30" name="Shape 27"/>
          <p:cNvSpPr/>
          <p:nvPr/>
        </p:nvSpPr>
        <p:spPr>
          <a:xfrm>
            <a:off x="8037576" y="5779008"/>
            <a:ext cx="118872" cy="118872"/>
          </a:xfrm>
          <a:prstGeom prst="ellipse">
            <a:avLst/>
          </a:prstGeom>
          <a:solidFill>
            <a:srgbClr val="5CA943"/>
          </a:solidFill>
          <a:ln w="12700">
            <a:solidFill>
              <a:srgbClr val="5CA943"/>
            </a:solidFill>
            <a:prstDash val="solid"/>
          </a:ln>
        </p:spPr>
      </p:sp>
      <p:sp>
        <p:nvSpPr>
          <p:cNvPr id="31" name="Text 28"/>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“Per division” appears again here. It appears on six screens in total.</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BANK-WIDE OVERSIGHT</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Records declared</a:t>
            </a:r>
            <a:endParaRPr lang="en-US" sz="2500" dirty="0"/>
          </a:p>
        </p:txBody>
      </p:sp>
      <p:sp>
        <p:nvSpPr>
          <p:cNvPr id="4" name="Shape 2"/>
          <p:cNvSpPr/>
          <p:nvPr/>
        </p:nvSpPr>
        <p:spPr>
          <a:xfrm>
            <a:off x="470916" y="1787989"/>
            <a:ext cx="7178040" cy="2919784"/>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bw-drill-rec.png">    </p:cNvPr>
          <p:cNvPicPr>
            <a:picLocks noChangeAspect="1"/>
          </p:cNvPicPr>
          <p:nvPr/>
        </p:nvPicPr>
        <p:blipFill>
          <a:blip r:embed="rId1"/>
          <a:stretch>
            <a:fillRect/>
          </a:stretch>
        </p:blipFill>
        <p:spPr>
          <a:xfrm>
            <a:off x="502920" y="1819993"/>
            <a:ext cx="7114032" cy="2855776"/>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records declared</a:t>
            </a:r>
            <a:endParaRPr lang="en-US" sz="880" dirty="0"/>
          </a:p>
        </p:txBody>
      </p:sp>
      <p:sp>
        <p:nvSpPr>
          <p:cNvPr id="11" name="Shape 8"/>
          <p:cNvSpPr/>
          <p:nvPr/>
        </p:nvSpPr>
        <p:spPr>
          <a:xfrm>
            <a:off x="8019288" y="2087372"/>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users declaring records</a:t>
            </a:r>
            <a:endParaRPr lang="en-US" sz="880" dirty="0"/>
          </a:p>
        </p:txBody>
      </p:sp>
      <p:sp>
        <p:nvSpPr>
          <p:cNvPr id="14" name="Shape 11"/>
          <p:cNvSpPr/>
          <p:nvPr/>
        </p:nvSpPr>
        <p:spPr>
          <a:xfrm>
            <a:off x="8019288" y="2409952"/>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4099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3642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Indicator: zero record declarations</a:t>
            </a:r>
            <a:endParaRPr lang="en-US" sz="880" dirty="0"/>
          </a:p>
        </p:txBody>
      </p:sp>
      <p:sp>
        <p:nvSpPr>
          <p:cNvPr id="17" name="Shape 14"/>
          <p:cNvSpPr/>
          <p:nvPr/>
        </p:nvSpPr>
        <p:spPr>
          <a:xfrm>
            <a:off x="8019288" y="2732532"/>
            <a:ext cx="731520" cy="169164"/>
          </a:xfrm>
          <a:prstGeom prst="roundRect">
            <a:avLst>
              <a:gd name="adj" fmla="val 48649"/>
            </a:avLst>
          </a:prstGeom>
          <a:solidFill>
            <a:srgbClr val="EAF4E4"/>
          </a:solidFill>
          <a:ln w="12700">
            <a:solidFill>
              <a:srgbClr val="EAF4E4"/>
            </a:solidFill>
            <a:prstDash val="solid"/>
          </a:ln>
        </p:spPr>
      </p:sp>
      <p:sp>
        <p:nvSpPr>
          <p:cNvPr id="18" name="Text 15"/>
          <p:cNvSpPr/>
          <p:nvPr/>
        </p:nvSpPr>
        <p:spPr>
          <a:xfrm>
            <a:off x="8019288" y="273253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9" name="Text 16"/>
          <p:cNvSpPr/>
          <p:nvPr/>
        </p:nvSpPr>
        <p:spPr>
          <a:xfrm>
            <a:off x="8842248" y="268681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Indicator: declaration rate against documents</a:t>
            </a:r>
            <a:endParaRPr lang="en-US" sz="880" dirty="0"/>
          </a:p>
        </p:txBody>
      </p:sp>
      <p:sp>
        <p:nvSpPr>
          <p:cNvPr id="20" name="Shape 17"/>
          <p:cNvSpPr/>
          <p:nvPr/>
        </p:nvSpPr>
        <p:spPr>
          <a:xfrm>
            <a:off x="8019288" y="3055112"/>
            <a:ext cx="731520" cy="169164"/>
          </a:xfrm>
          <a:prstGeom prst="roundRect">
            <a:avLst>
              <a:gd name="adj" fmla="val 48649"/>
            </a:avLst>
          </a:prstGeom>
          <a:solidFill>
            <a:srgbClr val="FBE6E4"/>
          </a:solidFill>
          <a:ln w="12700">
            <a:solidFill>
              <a:srgbClr val="FBE6E4"/>
            </a:solidFill>
            <a:prstDash val="solid"/>
          </a:ln>
        </p:spPr>
      </p:sp>
      <p:sp>
        <p:nvSpPr>
          <p:cNvPr id="21" name="Text 18"/>
          <p:cNvSpPr/>
          <p:nvPr/>
        </p:nvSpPr>
        <p:spPr>
          <a:xfrm>
            <a:off x="8019288" y="305511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22" name="Text 19"/>
          <p:cNvSpPr/>
          <p:nvPr/>
        </p:nvSpPr>
        <p:spPr>
          <a:xfrm>
            <a:off x="8842248" y="300939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Number of records declared per division</a:t>
            </a:r>
            <a:endParaRPr lang="en-US" sz="880" dirty="0"/>
          </a:p>
        </p:txBody>
      </p:sp>
      <p:sp>
        <p:nvSpPr>
          <p:cNvPr id="23" name="Shape 20"/>
          <p:cNvSpPr/>
          <p:nvPr/>
        </p:nvSpPr>
        <p:spPr>
          <a:xfrm>
            <a:off x="8019288" y="3377692"/>
            <a:ext cx="731520" cy="169164"/>
          </a:xfrm>
          <a:prstGeom prst="roundRect">
            <a:avLst>
              <a:gd name="adj" fmla="val 48649"/>
            </a:avLst>
          </a:prstGeom>
          <a:solidFill>
            <a:srgbClr val="FBE6E4"/>
          </a:solidFill>
          <a:ln w="12700">
            <a:solidFill>
              <a:srgbClr val="FBE6E4"/>
            </a:solidFill>
            <a:prstDash val="solid"/>
          </a:ln>
        </p:spPr>
      </p:sp>
      <p:sp>
        <p:nvSpPr>
          <p:cNvPr id="24" name="Text 21"/>
          <p:cNvSpPr/>
          <p:nvPr/>
        </p:nvSpPr>
        <p:spPr>
          <a:xfrm>
            <a:off x="8019288" y="337769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25" name="Text 22"/>
          <p:cNvSpPr/>
          <p:nvPr/>
        </p:nvSpPr>
        <p:spPr>
          <a:xfrm>
            <a:off x="8842248" y="333197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Number of users declaring records per division</a:t>
            </a:r>
            <a:endParaRPr lang="en-US" sz="880" dirty="0"/>
          </a:p>
        </p:txBody>
      </p:sp>
      <p:sp>
        <p:nvSpPr>
          <p:cNvPr id="26" name="Shape 23"/>
          <p:cNvSpPr/>
          <p:nvPr/>
        </p:nvSpPr>
        <p:spPr>
          <a:xfrm>
            <a:off x="502920" y="5779008"/>
            <a:ext cx="118872" cy="118872"/>
          </a:xfrm>
          <a:prstGeom prst="ellipse">
            <a:avLst/>
          </a:prstGeom>
          <a:solidFill>
            <a:srgbClr val="0072BC"/>
          </a:solidFill>
          <a:ln w="12700">
            <a:solidFill>
              <a:srgbClr val="0072BC"/>
            </a:solidFill>
            <a:prstDash val="solid"/>
          </a:ln>
        </p:spPr>
      </p:sp>
      <p:sp>
        <p:nvSpPr>
          <p:cNvPr id="27" name="Text 24"/>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This is the number the whole programme is judged on.</a:t>
            </a:r>
            <a:endParaRPr lang="en-US" sz="1000" dirty="0"/>
          </a:p>
        </p:txBody>
      </p:sp>
      <p:sp>
        <p:nvSpPr>
          <p:cNvPr id="28" name="Shape 25"/>
          <p:cNvSpPr/>
          <p:nvPr/>
        </p:nvSpPr>
        <p:spPr>
          <a:xfrm>
            <a:off x="4270248" y="5779008"/>
            <a:ext cx="118872" cy="118872"/>
          </a:xfrm>
          <a:prstGeom prst="ellipse">
            <a:avLst/>
          </a:prstGeom>
          <a:solidFill>
            <a:srgbClr val="00A5A8"/>
          </a:solidFill>
          <a:ln w="12700">
            <a:solidFill>
              <a:srgbClr val="00A5A8"/>
            </a:solidFill>
            <a:prstDash val="solid"/>
          </a:ln>
        </p:spPr>
      </p:sp>
      <p:sp>
        <p:nvSpPr>
          <p:cNvPr id="29" name="Text 26"/>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declaration rate compares records declared against documents held.</a:t>
            </a:r>
            <a:endParaRPr lang="en-US" sz="1000" dirty="0"/>
          </a:p>
        </p:txBody>
      </p:sp>
      <p:sp>
        <p:nvSpPr>
          <p:cNvPr id="30" name="Shape 27"/>
          <p:cNvSpPr/>
          <p:nvPr/>
        </p:nvSpPr>
        <p:spPr>
          <a:xfrm>
            <a:off x="8037576" y="5779008"/>
            <a:ext cx="118872" cy="118872"/>
          </a:xfrm>
          <a:prstGeom prst="ellipse">
            <a:avLst/>
          </a:prstGeom>
          <a:solidFill>
            <a:srgbClr val="5CA943"/>
          </a:solidFill>
          <a:ln w="12700">
            <a:solidFill>
              <a:srgbClr val="5CA943"/>
            </a:solidFill>
            <a:prstDash val="solid"/>
          </a:ln>
        </p:spPr>
      </p:sp>
      <p:sp>
        <p:nvSpPr>
          <p:cNvPr id="31" name="Text 28"/>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Departments with zero declarations are flagged so they can be chased.</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BANK-WIDE OVERSIGHT</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Physical counterparts</a:t>
            </a:r>
            <a:endParaRPr lang="en-US" sz="2500" dirty="0"/>
          </a:p>
        </p:txBody>
      </p:sp>
      <p:sp>
        <p:nvSpPr>
          <p:cNvPr id="4" name="Shape 2"/>
          <p:cNvSpPr/>
          <p:nvPr/>
        </p:nvSpPr>
        <p:spPr>
          <a:xfrm>
            <a:off x="470916" y="1785872"/>
            <a:ext cx="7178040" cy="2924865"/>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bw-drill-phys.png">    </p:cNvPr>
          <p:cNvPicPr>
            <a:picLocks noChangeAspect="1"/>
          </p:cNvPicPr>
          <p:nvPr/>
        </p:nvPicPr>
        <p:blipFill>
          <a:blip r:embed="rId1"/>
          <a:stretch>
            <a:fillRect/>
          </a:stretch>
        </p:blipFill>
        <p:spPr>
          <a:xfrm>
            <a:off x="502920" y="1817876"/>
            <a:ext cx="7114032" cy="2860857"/>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physical records declared</a:t>
            </a:r>
            <a:endParaRPr lang="en-US" sz="880" dirty="0"/>
          </a:p>
        </p:txBody>
      </p:sp>
      <p:sp>
        <p:nvSpPr>
          <p:cNvPr id="11" name="Shape 8"/>
          <p:cNvSpPr/>
          <p:nvPr/>
        </p:nvSpPr>
        <p:spPr>
          <a:xfrm>
            <a:off x="8019288" y="2087372"/>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users declaring records</a:t>
            </a:r>
            <a:endParaRPr lang="en-US" sz="880" dirty="0"/>
          </a:p>
        </p:txBody>
      </p:sp>
      <p:sp>
        <p:nvSpPr>
          <p:cNvPr id="14" name="Shape 11"/>
          <p:cNvSpPr/>
          <p:nvPr/>
        </p:nvSpPr>
        <p:spPr>
          <a:xfrm>
            <a:off x="8019288" y="2409952"/>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4099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3642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Share of records with a counterpart</a:t>
            </a:r>
            <a:endParaRPr lang="en-US" sz="880" dirty="0"/>
          </a:p>
        </p:txBody>
      </p:sp>
      <p:sp>
        <p:nvSpPr>
          <p:cNvPr id="17" name="Shape 14"/>
          <p:cNvSpPr/>
          <p:nvPr/>
        </p:nvSpPr>
        <p:spPr>
          <a:xfrm>
            <a:off x="8019288" y="2732532"/>
            <a:ext cx="731520" cy="169164"/>
          </a:xfrm>
          <a:prstGeom prst="roundRect">
            <a:avLst>
              <a:gd name="adj" fmla="val 48649"/>
            </a:avLst>
          </a:prstGeom>
          <a:solidFill>
            <a:srgbClr val="FBE6E4"/>
          </a:solidFill>
          <a:ln w="12700">
            <a:solidFill>
              <a:srgbClr val="FBE6E4"/>
            </a:solidFill>
            <a:prstDash val="solid"/>
          </a:ln>
        </p:spPr>
      </p:sp>
      <p:sp>
        <p:nvSpPr>
          <p:cNvPr id="18" name="Text 15"/>
          <p:cNvSpPr/>
          <p:nvPr/>
        </p:nvSpPr>
        <p:spPr>
          <a:xfrm>
            <a:off x="8019288" y="273253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19" name="Text 16"/>
          <p:cNvSpPr/>
          <p:nvPr/>
        </p:nvSpPr>
        <p:spPr>
          <a:xfrm>
            <a:off x="8842248" y="268681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Per division, two columns</a:t>
            </a:r>
            <a:endParaRPr lang="en-US" sz="880" dirty="0"/>
          </a:p>
        </p:txBody>
      </p:sp>
      <p:sp>
        <p:nvSpPr>
          <p:cNvPr id="20" name="Shape 17"/>
          <p:cNvSpPr/>
          <p:nvPr/>
        </p:nvSpPr>
        <p:spPr>
          <a:xfrm>
            <a:off x="8019288" y="3055112"/>
            <a:ext cx="731520" cy="169164"/>
          </a:xfrm>
          <a:prstGeom prst="roundRect">
            <a:avLst>
              <a:gd name="adj" fmla="val 48649"/>
            </a:avLst>
          </a:prstGeom>
          <a:solidFill>
            <a:srgbClr val="FBE6E4"/>
          </a:solidFill>
          <a:ln w="12700">
            <a:solidFill>
              <a:srgbClr val="FBE6E4"/>
            </a:solidFill>
            <a:prstDash val="solid"/>
          </a:ln>
        </p:spPr>
      </p:sp>
      <p:sp>
        <p:nvSpPr>
          <p:cNvPr id="21" name="Text 18"/>
          <p:cNvSpPr/>
          <p:nvPr/>
        </p:nvSpPr>
        <p:spPr>
          <a:xfrm>
            <a:off x="8019288" y="305511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22" name="Text 19"/>
          <p:cNvSpPr/>
          <p:nvPr/>
        </p:nvSpPr>
        <p:spPr>
          <a:xfrm>
            <a:off x="8842248" y="3009392"/>
            <a:ext cx="2633472" cy="4622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Indicator: physical counterpart completion rate (turned over to RAC)</a:t>
            </a:r>
            <a:endParaRPr lang="en-US" sz="880" dirty="0"/>
          </a:p>
        </p:txBody>
      </p:sp>
      <p:sp>
        <p:nvSpPr>
          <p:cNvPr id="23" name="Shape 20"/>
          <p:cNvSpPr/>
          <p:nvPr/>
        </p:nvSpPr>
        <p:spPr>
          <a:xfrm>
            <a:off x="502920" y="5779008"/>
            <a:ext cx="118872" cy="118872"/>
          </a:xfrm>
          <a:prstGeom prst="ellipse">
            <a:avLst/>
          </a:prstGeom>
          <a:solidFill>
            <a:srgbClr val="0072BC"/>
          </a:solidFill>
          <a:ln w="12700">
            <a:solidFill>
              <a:srgbClr val="0072BC"/>
            </a:solidFill>
            <a:prstDash val="solid"/>
          </a:ln>
        </p:spPr>
      </p:sp>
      <p:sp>
        <p:nvSpPr>
          <p:cNvPr id="24" name="Text 21"/>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A physical counterpart is a declared record that also exists on paper.</a:t>
            </a:r>
            <a:endParaRPr lang="en-US" sz="1000" dirty="0"/>
          </a:p>
        </p:txBody>
      </p:sp>
      <p:sp>
        <p:nvSpPr>
          <p:cNvPr id="25" name="Shape 22"/>
          <p:cNvSpPr/>
          <p:nvPr/>
        </p:nvSpPr>
        <p:spPr>
          <a:xfrm>
            <a:off x="4270248" y="5779008"/>
            <a:ext cx="118872" cy="118872"/>
          </a:xfrm>
          <a:prstGeom prst="ellipse">
            <a:avLst/>
          </a:prstGeom>
          <a:solidFill>
            <a:srgbClr val="00A5A8"/>
          </a:solidFill>
          <a:ln w="12700">
            <a:solidFill>
              <a:srgbClr val="00A5A8"/>
            </a:solidFill>
            <a:prstDash val="solid"/>
          </a:ln>
        </p:spPr>
      </p:sp>
      <p:sp>
        <p:nvSpPr>
          <p:cNvPr id="26" name="Text 23"/>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This is the bridge between this report and what RAC holds in its rooms.</a:t>
            </a:r>
            <a:endParaRPr lang="en-US" sz="1000" dirty="0"/>
          </a:p>
        </p:txBody>
      </p:sp>
      <p:sp>
        <p:nvSpPr>
          <p:cNvPr id="27" name="Shape 24"/>
          <p:cNvSpPr/>
          <p:nvPr/>
        </p:nvSpPr>
        <p:spPr>
          <a:xfrm>
            <a:off x="8037576" y="5779008"/>
            <a:ext cx="118872" cy="118872"/>
          </a:xfrm>
          <a:prstGeom prst="ellipse">
            <a:avLst/>
          </a:prstGeom>
          <a:solidFill>
            <a:srgbClr val="5CA943"/>
          </a:solidFill>
          <a:ln w="12700">
            <a:solidFill>
              <a:srgbClr val="5CA943"/>
            </a:solidFill>
            <a:prstDash val="solid"/>
          </a:ln>
        </p:spPr>
      </p:sp>
      <p:sp>
        <p:nvSpPr>
          <p:cNvPr id="28" name="Text 25"/>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What we cannot show is whether the paper actually reached RAC.</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BANK-WIDE OVERSIGHT</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Records due for disposal</a:t>
            </a:r>
            <a:endParaRPr lang="en-US" sz="2500" dirty="0"/>
          </a:p>
        </p:txBody>
      </p:sp>
      <p:sp>
        <p:nvSpPr>
          <p:cNvPr id="4" name="Shape 2"/>
          <p:cNvSpPr/>
          <p:nvPr/>
        </p:nvSpPr>
        <p:spPr>
          <a:xfrm>
            <a:off x="470916" y="1762582"/>
            <a:ext cx="7178040" cy="2980761"/>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bw-drill-disp.png">    </p:cNvPr>
          <p:cNvPicPr>
            <a:picLocks noChangeAspect="1"/>
          </p:cNvPicPr>
          <p:nvPr/>
        </p:nvPicPr>
        <p:blipFill>
          <a:blip r:embed="rId1"/>
          <a:stretch>
            <a:fillRect/>
          </a:stretch>
        </p:blipFill>
        <p:spPr>
          <a:xfrm>
            <a:off x="502920" y="1794586"/>
            <a:ext cx="7114032" cy="2916753"/>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records due for disposal</a:t>
            </a:r>
            <a:endParaRPr lang="en-US" sz="880" dirty="0"/>
          </a:p>
        </p:txBody>
      </p:sp>
      <p:sp>
        <p:nvSpPr>
          <p:cNvPr id="11" name="Shape 8"/>
          <p:cNvSpPr/>
          <p:nvPr/>
        </p:nvSpPr>
        <p:spPr>
          <a:xfrm>
            <a:off x="8019288" y="2087372"/>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Next due date for disposal</a:t>
            </a:r>
            <a:endParaRPr lang="en-US" sz="880" dirty="0"/>
          </a:p>
        </p:txBody>
      </p:sp>
      <p:sp>
        <p:nvSpPr>
          <p:cNvPr id="14" name="Shape 11"/>
          <p:cNvSpPr/>
          <p:nvPr/>
        </p:nvSpPr>
        <p:spPr>
          <a:xfrm>
            <a:off x="8019288" y="2409952"/>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4099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3642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With physical counterpart?</a:t>
            </a:r>
            <a:endParaRPr lang="en-US" sz="880" dirty="0"/>
          </a:p>
        </p:txBody>
      </p:sp>
      <p:sp>
        <p:nvSpPr>
          <p:cNvPr id="17" name="Shape 14"/>
          <p:cNvSpPr/>
          <p:nvPr/>
        </p:nvSpPr>
        <p:spPr>
          <a:xfrm>
            <a:off x="8019288" y="2732532"/>
            <a:ext cx="731520" cy="169164"/>
          </a:xfrm>
          <a:prstGeom prst="roundRect">
            <a:avLst>
              <a:gd name="adj" fmla="val 48649"/>
            </a:avLst>
          </a:prstGeom>
          <a:solidFill>
            <a:srgbClr val="EAF4E4"/>
          </a:solidFill>
          <a:ln w="12700">
            <a:solidFill>
              <a:srgbClr val="EAF4E4"/>
            </a:solidFill>
            <a:prstDash val="solid"/>
          </a:ln>
        </p:spPr>
      </p:sp>
      <p:sp>
        <p:nvSpPr>
          <p:cNvPr id="18" name="Text 15"/>
          <p:cNvSpPr/>
          <p:nvPr/>
        </p:nvSpPr>
        <p:spPr>
          <a:xfrm>
            <a:off x="8019288" y="273253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9" name="Text 16"/>
          <p:cNvSpPr/>
          <p:nvPr/>
        </p:nvSpPr>
        <p:spPr>
          <a:xfrm>
            <a:off x="8842248" y="268681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Indicator: upcoming next quarter</a:t>
            </a:r>
            <a:endParaRPr lang="en-US" sz="880" dirty="0"/>
          </a:p>
        </p:txBody>
      </p:sp>
      <p:sp>
        <p:nvSpPr>
          <p:cNvPr id="20" name="Shape 17"/>
          <p:cNvSpPr/>
          <p:nvPr/>
        </p:nvSpPr>
        <p:spPr>
          <a:xfrm>
            <a:off x="8019288" y="3055112"/>
            <a:ext cx="731520" cy="169164"/>
          </a:xfrm>
          <a:prstGeom prst="roundRect">
            <a:avLst>
              <a:gd name="adj" fmla="val 48649"/>
            </a:avLst>
          </a:prstGeom>
          <a:solidFill>
            <a:srgbClr val="FBE6E4"/>
          </a:solidFill>
          <a:ln w="12700">
            <a:solidFill>
              <a:srgbClr val="FBE6E4"/>
            </a:solidFill>
            <a:prstDash val="solid"/>
          </a:ln>
        </p:spPr>
      </p:sp>
      <p:sp>
        <p:nvSpPr>
          <p:cNvPr id="21" name="Text 18"/>
          <p:cNvSpPr/>
          <p:nvPr/>
        </p:nvSpPr>
        <p:spPr>
          <a:xfrm>
            <a:off x="8019288" y="305511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22" name="Text 19"/>
          <p:cNvSpPr/>
          <p:nvPr/>
        </p:nvSpPr>
        <p:spPr>
          <a:xfrm>
            <a:off x="8842248" y="300939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Disposal approver</a:t>
            </a:r>
            <a:endParaRPr lang="en-US" sz="880" dirty="0"/>
          </a:p>
        </p:txBody>
      </p:sp>
      <p:sp>
        <p:nvSpPr>
          <p:cNvPr id="23" name="Shape 20"/>
          <p:cNvSpPr/>
          <p:nvPr/>
        </p:nvSpPr>
        <p:spPr>
          <a:xfrm>
            <a:off x="8019288" y="3377692"/>
            <a:ext cx="731520" cy="169164"/>
          </a:xfrm>
          <a:prstGeom prst="roundRect">
            <a:avLst>
              <a:gd name="adj" fmla="val 48649"/>
            </a:avLst>
          </a:prstGeom>
          <a:solidFill>
            <a:srgbClr val="FBE6E4"/>
          </a:solidFill>
          <a:ln w="12700">
            <a:solidFill>
              <a:srgbClr val="FBE6E4"/>
            </a:solidFill>
            <a:prstDash val="solid"/>
          </a:ln>
        </p:spPr>
      </p:sp>
      <p:sp>
        <p:nvSpPr>
          <p:cNvPr id="24" name="Text 21"/>
          <p:cNvSpPr/>
          <p:nvPr/>
        </p:nvSpPr>
        <p:spPr>
          <a:xfrm>
            <a:off x="8019288" y="337769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25" name="Text 22"/>
          <p:cNvSpPr/>
          <p:nvPr/>
        </p:nvSpPr>
        <p:spPr>
          <a:xfrm>
            <a:off x="8842248" y="333197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Status (Approved)</a:t>
            </a:r>
            <a:endParaRPr lang="en-US" sz="880" dirty="0"/>
          </a:p>
        </p:txBody>
      </p:sp>
      <p:sp>
        <p:nvSpPr>
          <p:cNvPr id="26" name="Shape 23"/>
          <p:cNvSpPr/>
          <p:nvPr/>
        </p:nvSpPr>
        <p:spPr>
          <a:xfrm>
            <a:off x="8019288" y="3700272"/>
            <a:ext cx="731520" cy="169164"/>
          </a:xfrm>
          <a:prstGeom prst="roundRect">
            <a:avLst>
              <a:gd name="adj" fmla="val 48649"/>
            </a:avLst>
          </a:prstGeom>
          <a:solidFill>
            <a:srgbClr val="FBE6E4"/>
          </a:solidFill>
          <a:ln w="12700">
            <a:solidFill>
              <a:srgbClr val="FBE6E4"/>
            </a:solidFill>
            <a:prstDash val="solid"/>
          </a:ln>
        </p:spPr>
      </p:sp>
      <p:sp>
        <p:nvSpPr>
          <p:cNvPr id="27" name="Text 24"/>
          <p:cNvSpPr/>
          <p:nvPr/>
        </p:nvSpPr>
        <p:spPr>
          <a:xfrm>
            <a:off x="8019288" y="370027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28" name="Text 25"/>
          <p:cNvSpPr/>
          <p:nvPr/>
        </p:nvSpPr>
        <p:spPr>
          <a:xfrm>
            <a:off x="8842248" y="365455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Status (Declined)</a:t>
            </a:r>
            <a:endParaRPr lang="en-US" sz="880" dirty="0"/>
          </a:p>
        </p:txBody>
      </p:sp>
      <p:sp>
        <p:nvSpPr>
          <p:cNvPr id="29" name="Shape 26"/>
          <p:cNvSpPr/>
          <p:nvPr/>
        </p:nvSpPr>
        <p:spPr>
          <a:xfrm>
            <a:off x="8019288" y="4022852"/>
            <a:ext cx="731520" cy="169164"/>
          </a:xfrm>
          <a:prstGeom prst="roundRect">
            <a:avLst>
              <a:gd name="adj" fmla="val 48649"/>
            </a:avLst>
          </a:prstGeom>
          <a:solidFill>
            <a:srgbClr val="FBE6E4"/>
          </a:solidFill>
          <a:ln w="12700">
            <a:solidFill>
              <a:srgbClr val="FBE6E4"/>
            </a:solidFill>
            <a:prstDash val="solid"/>
          </a:ln>
        </p:spPr>
      </p:sp>
      <p:sp>
        <p:nvSpPr>
          <p:cNvPr id="30" name="Text 27"/>
          <p:cNvSpPr/>
          <p:nvPr/>
        </p:nvSpPr>
        <p:spPr>
          <a:xfrm>
            <a:off x="8019288" y="402285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31" name="Text 28"/>
          <p:cNvSpPr/>
          <p:nvPr/>
        </p:nvSpPr>
        <p:spPr>
          <a:xfrm>
            <a:off x="8842248" y="397713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Status (Extended)</a:t>
            </a:r>
            <a:endParaRPr lang="en-US" sz="880" dirty="0"/>
          </a:p>
        </p:txBody>
      </p:sp>
      <p:sp>
        <p:nvSpPr>
          <p:cNvPr id="32" name="Shape 29"/>
          <p:cNvSpPr/>
          <p:nvPr/>
        </p:nvSpPr>
        <p:spPr>
          <a:xfrm>
            <a:off x="8019288" y="4345432"/>
            <a:ext cx="731520" cy="169164"/>
          </a:xfrm>
          <a:prstGeom prst="roundRect">
            <a:avLst>
              <a:gd name="adj" fmla="val 48649"/>
            </a:avLst>
          </a:prstGeom>
          <a:solidFill>
            <a:srgbClr val="FBE6E4"/>
          </a:solidFill>
          <a:ln w="12700">
            <a:solidFill>
              <a:srgbClr val="FBE6E4"/>
            </a:solidFill>
            <a:prstDash val="solid"/>
          </a:ln>
        </p:spPr>
      </p:sp>
      <p:sp>
        <p:nvSpPr>
          <p:cNvPr id="33" name="Text 30"/>
          <p:cNvSpPr/>
          <p:nvPr/>
        </p:nvSpPr>
        <p:spPr>
          <a:xfrm>
            <a:off x="8019288" y="434543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34" name="Text 31"/>
          <p:cNvSpPr/>
          <p:nvPr/>
        </p:nvSpPr>
        <p:spPr>
          <a:xfrm>
            <a:off x="8842248" y="429971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Indicator: records disposed month on month</a:t>
            </a:r>
            <a:endParaRPr lang="en-US" sz="880" dirty="0"/>
          </a:p>
        </p:txBody>
      </p:sp>
      <p:sp>
        <p:nvSpPr>
          <p:cNvPr id="35" name="Shape 32"/>
          <p:cNvSpPr/>
          <p:nvPr/>
        </p:nvSpPr>
        <p:spPr>
          <a:xfrm>
            <a:off x="8019288" y="4668012"/>
            <a:ext cx="731520" cy="169164"/>
          </a:xfrm>
          <a:prstGeom prst="roundRect">
            <a:avLst>
              <a:gd name="adj" fmla="val 48649"/>
            </a:avLst>
          </a:prstGeom>
          <a:solidFill>
            <a:srgbClr val="FBE6E4"/>
          </a:solidFill>
          <a:ln w="12700">
            <a:solidFill>
              <a:srgbClr val="FBE6E4"/>
            </a:solidFill>
            <a:prstDash val="solid"/>
          </a:ln>
        </p:spPr>
      </p:sp>
      <p:sp>
        <p:nvSpPr>
          <p:cNvPr id="36" name="Text 33"/>
          <p:cNvSpPr/>
          <p:nvPr/>
        </p:nvSpPr>
        <p:spPr>
          <a:xfrm>
            <a:off x="8019288" y="466801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37" name="Text 34"/>
          <p:cNvSpPr/>
          <p:nvPr/>
        </p:nvSpPr>
        <p:spPr>
          <a:xfrm>
            <a:off x="8842248" y="462229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Indicator: overdue actions, pending approvals</a:t>
            </a:r>
            <a:endParaRPr lang="en-US" sz="880" dirty="0"/>
          </a:p>
        </p:txBody>
      </p:sp>
      <p:sp>
        <p:nvSpPr>
          <p:cNvPr id="38" name="Shape 35"/>
          <p:cNvSpPr/>
          <p:nvPr/>
        </p:nvSpPr>
        <p:spPr>
          <a:xfrm>
            <a:off x="8019288" y="4990592"/>
            <a:ext cx="731520" cy="169164"/>
          </a:xfrm>
          <a:prstGeom prst="roundRect">
            <a:avLst>
              <a:gd name="adj" fmla="val 48649"/>
            </a:avLst>
          </a:prstGeom>
          <a:solidFill>
            <a:srgbClr val="FBE6E4"/>
          </a:solidFill>
          <a:ln w="12700">
            <a:solidFill>
              <a:srgbClr val="FBE6E4"/>
            </a:solidFill>
            <a:prstDash val="solid"/>
          </a:ln>
        </p:spPr>
      </p:sp>
      <p:sp>
        <p:nvSpPr>
          <p:cNvPr id="39" name="Text 36"/>
          <p:cNvSpPr/>
          <p:nvPr/>
        </p:nvSpPr>
        <p:spPr>
          <a:xfrm>
            <a:off x="8019288" y="499059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40" name="Text 37"/>
          <p:cNvSpPr/>
          <p:nvPr/>
        </p:nvSpPr>
        <p:spPr>
          <a:xfrm>
            <a:off x="8842248" y="494487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Indicator: disposal completion rate</a:t>
            </a:r>
            <a:endParaRPr lang="en-US" sz="880" dirty="0"/>
          </a:p>
        </p:txBody>
      </p:sp>
      <p:sp>
        <p:nvSpPr>
          <p:cNvPr id="41" name="Shape 38"/>
          <p:cNvSpPr/>
          <p:nvPr/>
        </p:nvSpPr>
        <p:spPr>
          <a:xfrm>
            <a:off x="502920" y="5779008"/>
            <a:ext cx="118872" cy="118872"/>
          </a:xfrm>
          <a:prstGeom prst="ellipse">
            <a:avLst/>
          </a:prstGeom>
          <a:solidFill>
            <a:srgbClr val="0072BC"/>
          </a:solidFill>
          <a:ln w="12700">
            <a:solidFill>
              <a:srgbClr val="0072BC"/>
            </a:solidFill>
            <a:prstDash val="solid"/>
          </a:ln>
        </p:spPr>
      </p:sp>
      <p:sp>
        <p:nvSpPr>
          <p:cNvPr id="42" name="Text 39"/>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We can show what is due, and when. That part is solid.</a:t>
            </a:r>
            <a:endParaRPr lang="en-US" sz="1000" dirty="0"/>
          </a:p>
        </p:txBody>
      </p:sp>
      <p:sp>
        <p:nvSpPr>
          <p:cNvPr id="43" name="Shape 40"/>
          <p:cNvSpPr/>
          <p:nvPr/>
        </p:nvSpPr>
        <p:spPr>
          <a:xfrm>
            <a:off x="4270248" y="5779008"/>
            <a:ext cx="118872" cy="118872"/>
          </a:xfrm>
          <a:prstGeom prst="ellipse">
            <a:avLst/>
          </a:prstGeom>
          <a:solidFill>
            <a:srgbClr val="00A5A8"/>
          </a:solidFill>
          <a:ln w="12700">
            <a:solidFill>
              <a:srgbClr val="00A5A8"/>
            </a:solidFill>
            <a:prstDash val="solid"/>
          </a:ln>
        </p:spPr>
      </p:sp>
      <p:sp>
        <p:nvSpPr>
          <p:cNvPr id="44" name="Text 41"/>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We cannot show what happened next, because nothing records an outcome.</a:t>
            </a:r>
            <a:endParaRPr lang="en-US" sz="1000" dirty="0"/>
          </a:p>
        </p:txBody>
      </p:sp>
      <p:sp>
        <p:nvSpPr>
          <p:cNvPr id="45" name="Shape 42"/>
          <p:cNvSpPr/>
          <p:nvPr/>
        </p:nvSpPr>
        <p:spPr>
          <a:xfrm>
            <a:off x="8037576" y="5779008"/>
            <a:ext cx="118872" cy="118872"/>
          </a:xfrm>
          <a:prstGeom prst="ellipse">
            <a:avLst/>
          </a:prstGeom>
          <a:solidFill>
            <a:srgbClr val="5CA943"/>
          </a:solidFill>
          <a:ln w="12700">
            <a:solidFill>
              <a:srgbClr val="5CA943"/>
            </a:solidFill>
            <a:prstDash val="solid"/>
          </a:ln>
        </p:spPr>
      </p:sp>
      <p:sp>
        <p:nvSpPr>
          <p:cNvPr id="46" name="Text 43"/>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Seven of the eleven items here are waiting on that one gap.</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BANK-WIDE OVERSIGHT</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Trends and comparisons</a:t>
            </a:r>
            <a:endParaRPr lang="en-US" sz="2500" dirty="0"/>
          </a:p>
        </p:txBody>
      </p:sp>
      <p:sp>
        <p:nvSpPr>
          <p:cNvPr id="4" name="Shape 2"/>
          <p:cNvSpPr/>
          <p:nvPr/>
        </p:nvSpPr>
        <p:spPr>
          <a:xfrm>
            <a:off x="470916" y="1156716"/>
            <a:ext cx="7178040" cy="3087472"/>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bw-04.png">    </p:cNvPr>
          <p:cNvPicPr>
            <a:picLocks noChangeAspect="1"/>
          </p:cNvPicPr>
          <p:nvPr/>
        </p:nvPicPr>
        <p:blipFill>
          <a:blip r:embed="rId1"/>
          <a:stretch>
            <a:fillRect/>
          </a:stretch>
        </p:blipFill>
        <p:spPr>
          <a:xfrm>
            <a:off x="502920" y="1188720"/>
            <a:ext cx="7114032" cy="3023464"/>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Comparison, three named ratios</a:t>
            </a:r>
            <a:endParaRPr lang="en-US" sz="880" dirty="0"/>
          </a:p>
        </p:txBody>
      </p:sp>
      <p:sp>
        <p:nvSpPr>
          <p:cNvPr id="11" name="Shape 8"/>
          <p:cNvSpPr/>
          <p:nvPr/>
        </p:nvSpPr>
        <p:spPr>
          <a:xfrm>
            <a:off x="8019288" y="2087372"/>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Bank-wide records declaration trend, cumulative</a:t>
            </a:r>
            <a:endParaRPr lang="en-US" sz="880" dirty="0"/>
          </a:p>
        </p:txBody>
      </p:sp>
      <p:sp>
        <p:nvSpPr>
          <p:cNvPr id="14" name="Shape 11"/>
          <p:cNvSpPr/>
          <p:nvPr/>
        </p:nvSpPr>
        <p:spPr>
          <a:xfrm>
            <a:off x="8019288" y="2409952"/>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4099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3642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Records declared in range</a:t>
            </a:r>
            <a:endParaRPr lang="en-US" sz="880" dirty="0"/>
          </a:p>
        </p:txBody>
      </p:sp>
      <p:sp>
        <p:nvSpPr>
          <p:cNvPr id="17" name="Shape 14"/>
          <p:cNvSpPr/>
          <p:nvPr/>
        </p:nvSpPr>
        <p:spPr>
          <a:xfrm>
            <a:off x="8019288" y="2732532"/>
            <a:ext cx="731520" cy="169164"/>
          </a:xfrm>
          <a:prstGeom prst="roundRect">
            <a:avLst>
              <a:gd name="adj" fmla="val 48649"/>
            </a:avLst>
          </a:prstGeom>
          <a:solidFill>
            <a:srgbClr val="EAF4E4"/>
          </a:solidFill>
          <a:ln w="12700">
            <a:solidFill>
              <a:srgbClr val="EAF4E4"/>
            </a:solidFill>
            <a:prstDash val="solid"/>
          </a:ln>
        </p:spPr>
      </p:sp>
      <p:sp>
        <p:nvSpPr>
          <p:cNvPr id="18" name="Text 15"/>
          <p:cNvSpPr/>
          <p:nvPr/>
        </p:nvSpPr>
        <p:spPr>
          <a:xfrm>
            <a:off x="8019288" y="273253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9" name="Text 16"/>
          <p:cNvSpPr/>
          <p:nvPr/>
        </p:nvSpPr>
        <p:spPr>
          <a:xfrm>
            <a:off x="8842248" y="268681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Monthly average in range</a:t>
            </a:r>
            <a:endParaRPr lang="en-US" sz="880" dirty="0"/>
          </a:p>
        </p:txBody>
      </p:sp>
      <p:sp>
        <p:nvSpPr>
          <p:cNvPr id="20" name="Shape 17"/>
          <p:cNvSpPr/>
          <p:nvPr/>
        </p:nvSpPr>
        <p:spPr>
          <a:xfrm>
            <a:off x="502920" y="5779008"/>
            <a:ext cx="118872" cy="118872"/>
          </a:xfrm>
          <a:prstGeom prst="ellipse">
            <a:avLst/>
          </a:prstGeom>
          <a:solidFill>
            <a:srgbClr val="0072BC"/>
          </a:solidFill>
          <a:ln w="12700">
            <a:solidFill>
              <a:srgbClr val="0072BC"/>
            </a:solidFill>
            <a:prstDash val="solid"/>
          </a:ln>
        </p:spPr>
      </p:sp>
      <p:sp>
        <p:nvSpPr>
          <p:cNvPr id="21" name="Text 18"/>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curve is cumulative, so the last point is the running total to date.</a:t>
            </a:r>
            <a:endParaRPr lang="en-US" sz="1000" dirty="0"/>
          </a:p>
        </p:txBody>
      </p:sp>
      <p:sp>
        <p:nvSpPr>
          <p:cNvPr id="22" name="Shape 19"/>
          <p:cNvSpPr/>
          <p:nvPr/>
        </p:nvSpPr>
        <p:spPr>
          <a:xfrm>
            <a:off x="4270248" y="5779008"/>
            <a:ext cx="118872" cy="118872"/>
          </a:xfrm>
          <a:prstGeom prst="ellipse">
            <a:avLst/>
          </a:prstGeom>
          <a:solidFill>
            <a:srgbClr val="00A5A8"/>
          </a:solidFill>
          <a:ln w="12700">
            <a:solidFill>
              <a:srgbClr val="00A5A8"/>
            </a:solidFill>
            <a:prstDash val="solid"/>
          </a:ln>
        </p:spPr>
      </p:sp>
      <p:sp>
        <p:nvSpPr>
          <p:cNvPr id="23" name="Text 20"/>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You can set any date range and the two figures beneath update.</a:t>
            </a:r>
            <a:endParaRPr lang="en-US" sz="1000" dirty="0"/>
          </a:p>
        </p:txBody>
      </p:sp>
      <p:sp>
        <p:nvSpPr>
          <p:cNvPr id="24" name="Shape 21"/>
          <p:cNvSpPr/>
          <p:nvPr/>
        </p:nvSpPr>
        <p:spPr>
          <a:xfrm>
            <a:off x="8037576" y="5779008"/>
            <a:ext cx="118872" cy="118872"/>
          </a:xfrm>
          <a:prstGeom prst="ellipse">
            <a:avLst/>
          </a:prstGeom>
          <a:solidFill>
            <a:srgbClr val="5CA943"/>
          </a:solidFill>
          <a:ln w="12700">
            <a:solidFill>
              <a:srgbClr val="5CA943"/>
            </a:solidFill>
            <a:prstDash val="solid"/>
          </a:ln>
        </p:spPr>
      </p:sp>
      <p:sp>
        <p:nvSpPr>
          <p:cNvPr id="25" name="Text 22"/>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comparison panel above ranks departments on three named ratios.</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BANK-WIDE OVERSIGHT</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What we need from you (1 of 2)</a:t>
            </a:r>
            <a:endParaRPr lang="en-US" sz="2500" dirty="0"/>
          </a:p>
        </p:txBody>
      </p:sp>
      <p:sp>
        <p:nvSpPr>
          <p:cNvPr id="4" name="Shape 2"/>
          <p:cNvSpPr/>
          <p:nvPr/>
        </p:nvSpPr>
        <p:spPr>
          <a:xfrm>
            <a:off x="502920" y="1280160"/>
            <a:ext cx="11155680" cy="835762"/>
          </a:xfrm>
          <a:prstGeom prst="roundRect">
            <a:avLst>
              <a:gd name="adj" fmla="val 6565"/>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5" name="Shape 3"/>
          <p:cNvSpPr/>
          <p:nvPr/>
        </p:nvSpPr>
        <p:spPr>
          <a:xfrm>
            <a:off x="777240" y="1496873"/>
            <a:ext cx="402336" cy="402336"/>
          </a:xfrm>
          <a:prstGeom prst="ellipse">
            <a:avLst/>
          </a:prstGeom>
          <a:solidFill>
            <a:srgbClr val="FBE6E4"/>
          </a:solidFill>
          <a:ln w="12700">
            <a:solidFill>
              <a:srgbClr val="FBE6E4"/>
            </a:solidFill>
            <a:prstDash val="solid"/>
          </a:ln>
        </p:spPr>
      </p:sp>
      <p:sp>
        <p:nvSpPr>
          <p:cNvPr id="6" name="Text 4"/>
          <p:cNvSpPr/>
          <p:nvPr/>
        </p:nvSpPr>
        <p:spPr>
          <a:xfrm>
            <a:off x="777240" y="1496873"/>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1</a:t>
            </a:r>
            <a:endParaRPr lang="en-US" sz="1400" dirty="0"/>
          </a:p>
        </p:txBody>
      </p:sp>
      <p:sp>
        <p:nvSpPr>
          <p:cNvPr id="7" name="Text 5"/>
          <p:cNvSpPr/>
          <p:nvPr/>
        </p:nvSpPr>
        <p:spPr>
          <a:xfrm>
            <a:off x="1371600" y="1408176"/>
            <a:ext cx="4663440" cy="579730"/>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Who is staff, who is a consultant, and who is a contractor?</a:t>
            </a:r>
            <a:endParaRPr lang="en-US" sz="1350" dirty="0"/>
          </a:p>
        </p:txBody>
      </p:sp>
      <p:sp>
        <p:nvSpPr>
          <p:cNvPr id="8" name="Text 6"/>
          <p:cNvSpPr/>
          <p:nvPr/>
        </p:nvSpPr>
        <p:spPr>
          <a:xfrm>
            <a:off x="6217920" y="1399032"/>
            <a:ext cx="2743200" cy="598018"/>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The report can see that 1,200 people used EDRMS. It cannot see what kind of person each one is, so we cannot split any user figure three ways as you asked.</a:t>
            </a:r>
            <a:endParaRPr lang="en-US" sz="860" dirty="0"/>
          </a:p>
        </p:txBody>
      </p:sp>
      <p:sp>
        <p:nvSpPr>
          <p:cNvPr id="9" name="Text 7"/>
          <p:cNvSpPr/>
          <p:nvPr/>
        </p:nvSpPr>
        <p:spPr>
          <a:xfrm>
            <a:off x="9098280" y="1399032"/>
            <a:ext cx="2423160" cy="598018"/>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Is there a list somewhere — HR, or a directory — that says which category each person falls into? Even a monthly export would do.</a:t>
            </a:r>
            <a:endParaRPr lang="en-US" sz="860" dirty="0"/>
          </a:p>
        </p:txBody>
      </p:sp>
      <p:sp>
        <p:nvSpPr>
          <p:cNvPr id="10" name="Shape 8"/>
          <p:cNvSpPr/>
          <p:nvPr/>
        </p:nvSpPr>
        <p:spPr>
          <a:xfrm>
            <a:off x="502920" y="2225650"/>
            <a:ext cx="11155680" cy="835762"/>
          </a:xfrm>
          <a:prstGeom prst="roundRect">
            <a:avLst>
              <a:gd name="adj" fmla="val 6565"/>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11" name="Shape 9"/>
          <p:cNvSpPr/>
          <p:nvPr/>
        </p:nvSpPr>
        <p:spPr>
          <a:xfrm>
            <a:off x="777240" y="2442362"/>
            <a:ext cx="402336" cy="402336"/>
          </a:xfrm>
          <a:prstGeom prst="ellipse">
            <a:avLst/>
          </a:prstGeom>
          <a:solidFill>
            <a:srgbClr val="FBE6E4"/>
          </a:solidFill>
          <a:ln w="12700">
            <a:solidFill>
              <a:srgbClr val="FBE6E4"/>
            </a:solidFill>
            <a:prstDash val="solid"/>
          </a:ln>
        </p:spPr>
      </p:sp>
      <p:sp>
        <p:nvSpPr>
          <p:cNvPr id="12" name="Text 10"/>
          <p:cNvSpPr/>
          <p:nvPr/>
        </p:nvSpPr>
        <p:spPr>
          <a:xfrm>
            <a:off x="777240" y="2442362"/>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2</a:t>
            </a:r>
            <a:endParaRPr lang="en-US" sz="1400" dirty="0"/>
          </a:p>
        </p:txBody>
      </p:sp>
      <p:sp>
        <p:nvSpPr>
          <p:cNvPr id="13" name="Text 11"/>
          <p:cNvSpPr/>
          <p:nvPr/>
        </p:nvSpPr>
        <p:spPr>
          <a:xfrm>
            <a:off x="1371600" y="2353666"/>
            <a:ext cx="4663440" cy="579730"/>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Which department does each person belong to?</a:t>
            </a:r>
            <a:endParaRPr lang="en-US" sz="1350" dirty="0"/>
          </a:p>
        </p:txBody>
      </p:sp>
      <p:sp>
        <p:nvSpPr>
          <p:cNvPr id="14" name="Text 12"/>
          <p:cNvSpPr/>
          <p:nvPr/>
        </p:nvSpPr>
        <p:spPr>
          <a:xfrm>
            <a:off x="6217920" y="2344522"/>
            <a:ext cx="2743200" cy="598018"/>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Same problem. We can count people, but we cannot say a person belongs to SARD rather than HRD, so “users per department” cannot be built.</a:t>
            </a:r>
            <a:endParaRPr lang="en-US" sz="860" dirty="0"/>
          </a:p>
        </p:txBody>
      </p:sp>
      <p:sp>
        <p:nvSpPr>
          <p:cNvPr id="15" name="Text 13"/>
          <p:cNvSpPr/>
          <p:nvPr/>
        </p:nvSpPr>
        <p:spPr>
          <a:xfrm>
            <a:off x="9098280" y="2344522"/>
            <a:ext cx="2423160" cy="598018"/>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Where is that held today, and could we read it?</a:t>
            </a:r>
            <a:endParaRPr lang="en-US" sz="860" dirty="0"/>
          </a:p>
        </p:txBody>
      </p:sp>
      <p:sp>
        <p:nvSpPr>
          <p:cNvPr id="16" name="Shape 14"/>
          <p:cNvSpPr/>
          <p:nvPr/>
        </p:nvSpPr>
        <p:spPr>
          <a:xfrm>
            <a:off x="502920" y="3171139"/>
            <a:ext cx="11155680" cy="835762"/>
          </a:xfrm>
          <a:prstGeom prst="roundRect">
            <a:avLst>
              <a:gd name="adj" fmla="val 6565"/>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17" name="Shape 15"/>
          <p:cNvSpPr/>
          <p:nvPr/>
        </p:nvSpPr>
        <p:spPr>
          <a:xfrm>
            <a:off x="777240" y="3387852"/>
            <a:ext cx="402336" cy="402336"/>
          </a:xfrm>
          <a:prstGeom prst="ellipse">
            <a:avLst/>
          </a:prstGeom>
          <a:solidFill>
            <a:srgbClr val="FBE6E4"/>
          </a:solidFill>
          <a:ln w="12700">
            <a:solidFill>
              <a:srgbClr val="FBE6E4"/>
            </a:solidFill>
            <a:prstDash val="solid"/>
          </a:ln>
        </p:spPr>
      </p:sp>
      <p:sp>
        <p:nvSpPr>
          <p:cNvPr id="18" name="Text 16"/>
          <p:cNvSpPr/>
          <p:nvPr/>
        </p:nvSpPr>
        <p:spPr>
          <a:xfrm>
            <a:off x="777240" y="3387852"/>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3</a:t>
            </a:r>
            <a:endParaRPr lang="en-US" sz="1400" dirty="0"/>
          </a:p>
        </p:txBody>
      </p:sp>
      <p:sp>
        <p:nvSpPr>
          <p:cNvPr id="19" name="Text 17"/>
          <p:cNvSpPr/>
          <p:nvPr/>
        </p:nvSpPr>
        <p:spPr>
          <a:xfrm>
            <a:off x="1371600" y="3299155"/>
            <a:ext cx="4663440" cy="579730"/>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Who has completed EDRMS training?</a:t>
            </a:r>
            <a:endParaRPr lang="en-US" sz="1350" dirty="0"/>
          </a:p>
        </p:txBody>
      </p:sp>
      <p:sp>
        <p:nvSpPr>
          <p:cNvPr id="20" name="Text 18"/>
          <p:cNvSpPr/>
          <p:nvPr/>
        </p:nvSpPr>
        <p:spPr>
          <a:xfrm>
            <a:off x="6217920" y="3290011"/>
            <a:ext cx="2743200" cy="598018"/>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You asked for a training completion figure on two screens. Nothing we can reach records training.</a:t>
            </a:r>
            <a:endParaRPr lang="en-US" sz="860" dirty="0"/>
          </a:p>
        </p:txBody>
      </p:sp>
      <p:sp>
        <p:nvSpPr>
          <p:cNvPr id="21" name="Text 19"/>
          <p:cNvSpPr/>
          <p:nvPr/>
        </p:nvSpPr>
        <p:spPr>
          <a:xfrm>
            <a:off x="9098280" y="3290011"/>
            <a:ext cx="2423160" cy="598018"/>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Who keeps the training records, and in what form?</a:t>
            </a:r>
            <a:endParaRPr lang="en-US" sz="860" dirty="0"/>
          </a:p>
        </p:txBody>
      </p:sp>
      <p:sp>
        <p:nvSpPr>
          <p:cNvPr id="22" name="Shape 20"/>
          <p:cNvSpPr/>
          <p:nvPr/>
        </p:nvSpPr>
        <p:spPr>
          <a:xfrm>
            <a:off x="502920" y="4116629"/>
            <a:ext cx="11155680" cy="835762"/>
          </a:xfrm>
          <a:prstGeom prst="roundRect">
            <a:avLst>
              <a:gd name="adj" fmla="val 6565"/>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23" name="Shape 21"/>
          <p:cNvSpPr/>
          <p:nvPr/>
        </p:nvSpPr>
        <p:spPr>
          <a:xfrm>
            <a:off x="777240" y="4333342"/>
            <a:ext cx="402336" cy="402336"/>
          </a:xfrm>
          <a:prstGeom prst="ellipse">
            <a:avLst/>
          </a:prstGeom>
          <a:solidFill>
            <a:srgbClr val="FBE6E4"/>
          </a:solidFill>
          <a:ln w="12700">
            <a:solidFill>
              <a:srgbClr val="FBE6E4"/>
            </a:solidFill>
            <a:prstDash val="solid"/>
          </a:ln>
        </p:spPr>
      </p:sp>
      <p:sp>
        <p:nvSpPr>
          <p:cNvPr id="24" name="Text 22"/>
          <p:cNvSpPr/>
          <p:nvPr/>
        </p:nvSpPr>
        <p:spPr>
          <a:xfrm>
            <a:off x="777240" y="4333342"/>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4</a:t>
            </a:r>
            <a:endParaRPr lang="en-US" sz="1400" dirty="0"/>
          </a:p>
        </p:txBody>
      </p:sp>
      <p:sp>
        <p:nvSpPr>
          <p:cNvPr id="25" name="Text 23"/>
          <p:cNvSpPr/>
          <p:nvPr/>
        </p:nvSpPr>
        <p:spPr>
          <a:xfrm>
            <a:off x="1371600" y="4244645"/>
            <a:ext cx="4663440" cy="579730"/>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Who joined since go-live?</a:t>
            </a:r>
            <a:endParaRPr lang="en-US" sz="1350" dirty="0"/>
          </a:p>
        </p:txBody>
      </p:sp>
      <p:sp>
        <p:nvSpPr>
          <p:cNvPr id="26" name="Text 24"/>
          <p:cNvSpPr/>
          <p:nvPr/>
        </p:nvSpPr>
        <p:spPr>
          <a:xfrm>
            <a:off x="6217920" y="4235501"/>
            <a:ext cx="2743200" cy="598018"/>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We can see activity, but not a start date, so “onboarded since go-live” cannot be counted.</a:t>
            </a:r>
            <a:endParaRPr lang="en-US" sz="860" dirty="0"/>
          </a:p>
        </p:txBody>
      </p:sp>
      <p:sp>
        <p:nvSpPr>
          <p:cNvPr id="27" name="Text 25"/>
          <p:cNvSpPr/>
          <p:nvPr/>
        </p:nvSpPr>
        <p:spPr>
          <a:xfrm>
            <a:off x="9098280" y="4235501"/>
            <a:ext cx="2423160" cy="598018"/>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Is a joining date recorded anywhere we could match to a person?</a:t>
            </a:r>
            <a:endParaRPr lang="en-US" sz="860" dirty="0"/>
          </a:p>
        </p:txBody>
      </p:sp>
      <p:sp>
        <p:nvSpPr>
          <p:cNvPr id="28" name="Shape 26"/>
          <p:cNvSpPr/>
          <p:nvPr/>
        </p:nvSpPr>
        <p:spPr>
          <a:xfrm>
            <a:off x="502920" y="5062118"/>
            <a:ext cx="11155680" cy="835762"/>
          </a:xfrm>
          <a:prstGeom prst="roundRect">
            <a:avLst>
              <a:gd name="adj" fmla="val 6565"/>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29" name="Shape 27"/>
          <p:cNvSpPr/>
          <p:nvPr/>
        </p:nvSpPr>
        <p:spPr>
          <a:xfrm>
            <a:off x="777240" y="5278831"/>
            <a:ext cx="402336" cy="402336"/>
          </a:xfrm>
          <a:prstGeom prst="ellipse">
            <a:avLst/>
          </a:prstGeom>
          <a:solidFill>
            <a:srgbClr val="FBE6E4"/>
          </a:solidFill>
          <a:ln w="12700">
            <a:solidFill>
              <a:srgbClr val="FBE6E4"/>
            </a:solidFill>
            <a:prstDash val="solid"/>
          </a:ln>
        </p:spPr>
      </p:sp>
      <p:sp>
        <p:nvSpPr>
          <p:cNvPr id="30" name="Text 28"/>
          <p:cNvSpPr/>
          <p:nvPr/>
        </p:nvSpPr>
        <p:spPr>
          <a:xfrm>
            <a:off x="777240" y="5278831"/>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5</a:t>
            </a:r>
            <a:endParaRPr lang="en-US" sz="1400" dirty="0"/>
          </a:p>
        </p:txBody>
      </p:sp>
      <p:sp>
        <p:nvSpPr>
          <p:cNvPr id="31" name="Text 29"/>
          <p:cNvSpPr/>
          <p:nvPr/>
        </p:nvSpPr>
        <p:spPr>
          <a:xfrm>
            <a:off x="1371600" y="5190134"/>
            <a:ext cx="4663440" cy="579730"/>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What counts as a division?</a:t>
            </a:r>
            <a:endParaRPr lang="en-US" sz="1350" dirty="0"/>
          </a:p>
        </p:txBody>
      </p:sp>
      <p:sp>
        <p:nvSpPr>
          <p:cNvPr id="32" name="Text 30"/>
          <p:cNvSpPr/>
          <p:nvPr/>
        </p:nvSpPr>
        <p:spPr>
          <a:xfrm>
            <a:off x="6217920" y="5180990"/>
            <a:ext cx="2743200" cy="598018"/>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“Per division” appears on six different screens. We can group by department today, but nothing tells us which division inside a department a site or a person belongs to.</a:t>
            </a:r>
            <a:endParaRPr lang="en-US" sz="860" dirty="0"/>
          </a:p>
        </p:txBody>
      </p:sp>
      <p:sp>
        <p:nvSpPr>
          <p:cNvPr id="33" name="Text 31"/>
          <p:cNvSpPr/>
          <p:nvPr/>
        </p:nvSpPr>
        <p:spPr>
          <a:xfrm>
            <a:off x="9098280" y="5180990"/>
            <a:ext cx="2423160" cy="598018"/>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Is there an agreed list of divisions, and does something already tag sites or people with one?</a:t>
            </a:r>
            <a:endParaRPr lang="en-US" sz="860" dirty="0"/>
          </a:p>
        </p:txBody>
      </p:sp>
      <p:sp>
        <p:nvSpPr>
          <p:cNvPr id="34" name="Text 32"/>
          <p:cNvSpPr/>
          <p:nvPr/>
        </p:nvSpPr>
        <p:spPr>
          <a:xfrm>
            <a:off x="137160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THE QUESTION</a:t>
            </a:r>
            <a:endParaRPr lang="en-US" sz="750" dirty="0"/>
          </a:p>
        </p:txBody>
      </p:sp>
      <p:sp>
        <p:nvSpPr>
          <p:cNvPr id="35" name="Text 33"/>
          <p:cNvSpPr/>
          <p:nvPr/>
        </p:nvSpPr>
        <p:spPr>
          <a:xfrm>
            <a:off x="621792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WHY WE ARE STUCK</a:t>
            </a:r>
            <a:endParaRPr lang="en-US" sz="750" dirty="0"/>
          </a:p>
        </p:txBody>
      </p:sp>
      <p:sp>
        <p:nvSpPr>
          <p:cNvPr id="36" name="Text 34"/>
          <p:cNvSpPr/>
          <p:nvPr/>
        </p:nvSpPr>
        <p:spPr>
          <a:xfrm>
            <a:off x="909828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WHAT WOULD UNBLOCK IT</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BANK-WIDE OVERSIGHT</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What we need from you (2 of 2)</a:t>
            </a:r>
            <a:endParaRPr lang="en-US" sz="2500" dirty="0"/>
          </a:p>
        </p:txBody>
      </p:sp>
      <p:sp>
        <p:nvSpPr>
          <p:cNvPr id="4" name="Shape 2"/>
          <p:cNvSpPr/>
          <p:nvPr/>
        </p:nvSpPr>
        <p:spPr>
          <a:xfrm>
            <a:off x="502920" y="1280160"/>
            <a:ext cx="11155680" cy="1072134"/>
          </a:xfrm>
          <a:prstGeom prst="roundRect">
            <a:avLst>
              <a:gd name="adj" fmla="val 5117"/>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5" name="Shape 3"/>
          <p:cNvSpPr/>
          <p:nvPr/>
        </p:nvSpPr>
        <p:spPr>
          <a:xfrm>
            <a:off x="777240" y="1615059"/>
            <a:ext cx="402336" cy="402336"/>
          </a:xfrm>
          <a:prstGeom prst="ellipse">
            <a:avLst/>
          </a:prstGeom>
          <a:solidFill>
            <a:srgbClr val="FBE6E4"/>
          </a:solidFill>
          <a:ln w="12700">
            <a:solidFill>
              <a:srgbClr val="FBE6E4"/>
            </a:solidFill>
            <a:prstDash val="solid"/>
          </a:ln>
        </p:spPr>
      </p:sp>
      <p:sp>
        <p:nvSpPr>
          <p:cNvPr id="6" name="Text 4"/>
          <p:cNvSpPr/>
          <p:nvPr/>
        </p:nvSpPr>
        <p:spPr>
          <a:xfrm>
            <a:off x="777240" y="1615059"/>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6</a:t>
            </a:r>
            <a:endParaRPr lang="en-US" sz="1400" dirty="0"/>
          </a:p>
        </p:txBody>
      </p:sp>
      <p:sp>
        <p:nvSpPr>
          <p:cNvPr id="7" name="Text 5"/>
          <p:cNvSpPr/>
          <p:nvPr/>
        </p:nvSpPr>
        <p:spPr>
          <a:xfrm>
            <a:off x="1371600" y="1408176"/>
            <a:ext cx="4663440" cy="816102"/>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Can we keep a monthly history?</a:t>
            </a:r>
            <a:endParaRPr lang="en-US" sz="1350" dirty="0"/>
          </a:p>
        </p:txBody>
      </p:sp>
      <p:sp>
        <p:nvSpPr>
          <p:cNvPr id="8" name="Text 6"/>
          <p:cNvSpPr/>
          <p:nvPr/>
        </p:nvSpPr>
        <p:spPr>
          <a:xfrm>
            <a:off x="6217920" y="1399032"/>
            <a:ext cx="2743200" cy="834390"/>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Several of your indicators are month-on-month — new documents, storage growth, records disposed. Today we can only see the current position, not last month’s.</a:t>
            </a:r>
            <a:endParaRPr lang="en-US" sz="860" dirty="0"/>
          </a:p>
        </p:txBody>
      </p:sp>
      <p:sp>
        <p:nvSpPr>
          <p:cNvPr id="9" name="Text 7"/>
          <p:cNvSpPr/>
          <p:nvPr/>
        </p:nvSpPr>
        <p:spPr>
          <a:xfrm>
            <a:off x="9098280" y="1399032"/>
            <a:ext cx="2423160" cy="834390"/>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This one we can solve ourselves by taking a monthly snapshot. We just need your agreement to start, because the history only builds from the day we begin.</a:t>
            </a:r>
            <a:endParaRPr lang="en-US" sz="860" dirty="0"/>
          </a:p>
        </p:txBody>
      </p:sp>
      <p:sp>
        <p:nvSpPr>
          <p:cNvPr id="10" name="Shape 8"/>
          <p:cNvSpPr/>
          <p:nvPr/>
        </p:nvSpPr>
        <p:spPr>
          <a:xfrm>
            <a:off x="502920" y="2462022"/>
            <a:ext cx="11155680" cy="1072134"/>
          </a:xfrm>
          <a:prstGeom prst="roundRect">
            <a:avLst>
              <a:gd name="adj" fmla="val 5117"/>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11" name="Shape 9"/>
          <p:cNvSpPr/>
          <p:nvPr/>
        </p:nvSpPr>
        <p:spPr>
          <a:xfrm>
            <a:off x="777240" y="2796921"/>
            <a:ext cx="402336" cy="402336"/>
          </a:xfrm>
          <a:prstGeom prst="ellipse">
            <a:avLst/>
          </a:prstGeom>
          <a:solidFill>
            <a:srgbClr val="FBE6E4"/>
          </a:solidFill>
          <a:ln w="12700">
            <a:solidFill>
              <a:srgbClr val="FBE6E4"/>
            </a:solidFill>
            <a:prstDash val="solid"/>
          </a:ln>
        </p:spPr>
      </p:sp>
      <p:sp>
        <p:nvSpPr>
          <p:cNvPr id="12" name="Text 10"/>
          <p:cNvSpPr/>
          <p:nvPr/>
        </p:nvSpPr>
        <p:spPr>
          <a:xfrm>
            <a:off x="777240" y="2796921"/>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7</a:t>
            </a:r>
            <a:endParaRPr lang="en-US" sz="1400" dirty="0"/>
          </a:p>
        </p:txBody>
      </p:sp>
      <p:sp>
        <p:nvSpPr>
          <p:cNvPr id="13" name="Text 11"/>
          <p:cNvSpPr/>
          <p:nvPr/>
        </p:nvSpPr>
        <p:spPr>
          <a:xfrm>
            <a:off x="1371600" y="2590038"/>
            <a:ext cx="4663440" cy="816102"/>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Who approves a disposal, and what did they decide?</a:t>
            </a:r>
            <a:endParaRPr lang="en-US" sz="1350" dirty="0"/>
          </a:p>
        </p:txBody>
      </p:sp>
      <p:sp>
        <p:nvSpPr>
          <p:cNvPr id="14" name="Text 12"/>
          <p:cNvSpPr/>
          <p:nvPr/>
        </p:nvSpPr>
        <p:spPr>
          <a:xfrm>
            <a:off x="6217920" y="2580894"/>
            <a:ext cx="2743200" cy="834390"/>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The report can show what is due for disposal. It cannot show approved, declined or extended, because the system has nowhere to record that decision.</a:t>
            </a:r>
            <a:endParaRPr lang="en-US" sz="860" dirty="0"/>
          </a:p>
        </p:txBody>
      </p:sp>
      <p:sp>
        <p:nvSpPr>
          <p:cNvPr id="15" name="Text 13"/>
          <p:cNvSpPr/>
          <p:nvPr/>
        </p:nvSpPr>
        <p:spPr>
          <a:xfrm>
            <a:off x="9098280" y="2580894"/>
            <a:ext cx="2423160" cy="834390"/>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How is a disposal approved today — email, a form, a meeting? If we know where the decision lives, we can work out how to bring it in.</a:t>
            </a:r>
            <a:endParaRPr lang="en-US" sz="860" dirty="0"/>
          </a:p>
        </p:txBody>
      </p:sp>
      <p:sp>
        <p:nvSpPr>
          <p:cNvPr id="16" name="Shape 14"/>
          <p:cNvSpPr/>
          <p:nvPr/>
        </p:nvSpPr>
        <p:spPr>
          <a:xfrm>
            <a:off x="502920" y="3643884"/>
            <a:ext cx="11155680" cy="1072134"/>
          </a:xfrm>
          <a:prstGeom prst="roundRect">
            <a:avLst>
              <a:gd name="adj" fmla="val 5117"/>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17" name="Shape 15"/>
          <p:cNvSpPr/>
          <p:nvPr/>
        </p:nvSpPr>
        <p:spPr>
          <a:xfrm>
            <a:off x="777240" y="3978783"/>
            <a:ext cx="402336" cy="402336"/>
          </a:xfrm>
          <a:prstGeom prst="ellipse">
            <a:avLst/>
          </a:prstGeom>
          <a:solidFill>
            <a:srgbClr val="FBE6E4"/>
          </a:solidFill>
          <a:ln w="12700">
            <a:solidFill>
              <a:srgbClr val="FBE6E4"/>
            </a:solidFill>
            <a:prstDash val="solid"/>
          </a:ln>
        </p:spPr>
      </p:sp>
      <p:sp>
        <p:nvSpPr>
          <p:cNvPr id="18" name="Text 16"/>
          <p:cNvSpPr/>
          <p:nvPr/>
        </p:nvSpPr>
        <p:spPr>
          <a:xfrm>
            <a:off x="777240" y="3978783"/>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8</a:t>
            </a:r>
            <a:endParaRPr lang="en-US" sz="1400" dirty="0"/>
          </a:p>
        </p:txBody>
      </p:sp>
      <p:sp>
        <p:nvSpPr>
          <p:cNvPr id="19" name="Text 17"/>
          <p:cNvSpPr/>
          <p:nvPr/>
        </p:nvSpPr>
        <p:spPr>
          <a:xfrm>
            <a:off x="1371600" y="3771900"/>
            <a:ext cx="4663440" cy="816102"/>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How do we know a paper file actually reached RAC?</a:t>
            </a:r>
            <a:endParaRPr lang="en-US" sz="1350" dirty="0"/>
          </a:p>
        </p:txBody>
      </p:sp>
      <p:sp>
        <p:nvSpPr>
          <p:cNvPr id="20" name="Text 18"/>
          <p:cNvSpPr/>
          <p:nvPr/>
        </p:nvSpPr>
        <p:spPr>
          <a:xfrm>
            <a:off x="6217920" y="3762756"/>
            <a:ext cx="2743200" cy="834390"/>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We can see which records are marked as having a paper counterpart. We cannot see whether that paper was handed over.</a:t>
            </a:r>
            <a:endParaRPr lang="en-US" sz="860" dirty="0"/>
          </a:p>
        </p:txBody>
      </p:sp>
      <p:sp>
        <p:nvSpPr>
          <p:cNvPr id="21" name="Text 19"/>
          <p:cNvSpPr/>
          <p:nvPr/>
        </p:nvSpPr>
        <p:spPr>
          <a:xfrm>
            <a:off x="9098280" y="3762756"/>
            <a:ext cx="2423160" cy="834390"/>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Does RAC record what it receives, and could we match that back to the record in EDRMS?</a:t>
            </a:r>
            <a:endParaRPr lang="en-US" sz="860" dirty="0"/>
          </a:p>
        </p:txBody>
      </p:sp>
      <p:sp>
        <p:nvSpPr>
          <p:cNvPr id="22" name="Shape 20"/>
          <p:cNvSpPr/>
          <p:nvPr/>
        </p:nvSpPr>
        <p:spPr>
          <a:xfrm>
            <a:off x="502920" y="4825746"/>
            <a:ext cx="11155680" cy="1072134"/>
          </a:xfrm>
          <a:prstGeom prst="roundRect">
            <a:avLst>
              <a:gd name="adj" fmla="val 5117"/>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23" name="Shape 21"/>
          <p:cNvSpPr/>
          <p:nvPr/>
        </p:nvSpPr>
        <p:spPr>
          <a:xfrm>
            <a:off x="777240" y="5160645"/>
            <a:ext cx="402336" cy="402336"/>
          </a:xfrm>
          <a:prstGeom prst="ellipse">
            <a:avLst/>
          </a:prstGeom>
          <a:solidFill>
            <a:srgbClr val="FBE6E4"/>
          </a:solidFill>
          <a:ln w="12700">
            <a:solidFill>
              <a:srgbClr val="FBE6E4"/>
            </a:solidFill>
            <a:prstDash val="solid"/>
          </a:ln>
        </p:spPr>
      </p:sp>
      <p:sp>
        <p:nvSpPr>
          <p:cNvPr id="24" name="Text 22"/>
          <p:cNvSpPr/>
          <p:nvPr/>
        </p:nvSpPr>
        <p:spPr>
          <a:xfrm>
            <a:off x="777240" y="5160645"/>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9</a:t>
            </a:r>
            <a:endParaRPr lang="en-US" sz="1400" dirty="0"/>
          </a:p>
        </p:txBody>
      </p:sp>
      <p:sp>
        <p:nvSpPr>
          <p:cNvPr id="25" name="Text 23"/>
          <p:cNvSpPr/>
          <p:nvPr/>
        </p:nvSpPr>
        <p:spPr>
          <a:xfrm>
            <a:off x="1371600" y="4953762"/>
            <a:ext cx="4663440" cy="816102"/>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How many people are creating documents?</a:t>
            </a:r>
            <a:endParaRPr lang="en-US" sz="1350" dirty="0"/>
          </a:p>
        </p:txBody>
      </p:sp>
      <p:sp>
        <p:nvSpPr>
          <p:cNvPr id="26" name="Text 24"/>
          <p:cNvSpPr/>
          <p:nvPr/>
        </p:nvSpPr>
        <p:spPr>
          <a:xfrm>
            <a:off x="6217920" y="4944618"/>
            <a:ext cx="2743200" cy="834390"/>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We can count documents. Counting the distinct people who created them needs a different kind of report than the one we have access to.</a:t>
            </a:r>
            <a:endParaRPr lang="en-US" sz="860" dirty="0"/>
          </a:p>
        </p:txBody>
      </p:sp>
      <p:sp>
        <p:nvSpPr>
          <p:cNvPr id="27" name="Text 25"/>
          <p:cNvSpPr/>
          <p:nvPr/>
        </p:nvSpPr>
        <p:spPr>
          <a:xfrm>
            <a:off x="9098280" y="4944618"/>
            <a:ext cx="2423160" cy="834390"/>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This is one for us to solve, but it may need a change request. Flagging it so it is not a surprise later.</a:t>
            </a:r>
            <a:endParaRPr lang="en-US" sz="860" dirty="0"/>
          </a:p>
        </p:txBody>
      </p:sp>
      <p:sp>
        <p:nvSpPr>
          <p:cNvPr id="28" name="Text 26"/>
          <p:cNvSpPr/>
          <p:nvPr/>
        </p:nvSpPr>
        <p:spPr>
          <a:xfrm>
            <a:off x="137160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THE QUESTION</a:t>
            </a:r>
            <a:endParaRPr lang="en-US" sz="750" dirty="0"/>
          </a:p>
        </p:txBody>
      </p:sp>
      <p:sp>
        <p:nvSpPr>
          <p:cNvPr id="29" name="Text 27"/>
          <p:cNvSpPr/>
          <p:nvPr/>
        </p:nvSpPr>
        <p:spPr>
          <a:xfrm>
            <a:off x="621792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WHY WE ARE STUCK</a:t>
            </a:r>
            <a:endParaRPr lang="en-US" sz="750" dirty="0"/>
          </a:p>
        </p:txBody>
      </p:sp>
      <p:sp>
        <p:nvSpPr>
          <p:cNvPr id="30" name="Text 28"/>
          <p:cNvSpPr/>
          <p:nvPr/>
        </p:nvSpPr>
        <p:spPr>
          <a:xfrm>
            <a:off x="909828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WHAT WOULD UNBLOCK IT</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F35"/>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5A8"/>
          </a:solidFill>
          <a:ln w="12700">
            <a:solidFill>
              <a:srgbClr val="00A5A8"/>
            </a:solidFill>
            <a:prstDash val="solid"/>
          </a:ln>
        </p:spPr>
      </p:sp>
      <p:sp>
        <p:nvSpPr>
          <p:cNvPr id="3" name="Text 1"/>
          <p:cNvSpPr/>
          <p:nvPr/>
        </p:nvSpPr>
        <p:spPr>
          <a:xfrm>
            <a:off x="822960" y="2103120"/>
            <a:ext cx="5486400" cy="274320"/>
          </a:xfrm>
          <a:prstGeom prst="rect">
            <a:avLst/>
          </a:prstGeom>
          <a:noFill/>
          <a:ln/>
        </p:spPr>
        <p:txBody>
          <a:bodyPr wrap="square" lIns="0" tIns="0" rIns="0" bIns="0" rtlCol="0" anchor="ctr"/>
          <a:lstStyle/>
          <a:p>
            <a:pPr indent="0" marL="0">
              <a:buNone/>
            </a:pPr>
            <a:r>
              <a:rPr lang="en-US" sz="1150" b="1" spc="160" kern="0" dirty="0">
                <a:solidFill>
                  <a:srgbClr val="00A5A8"/>
                </a:solidFill>
                <a:latin typeface="Calibri" pitchFamily="34" charset="0"/>
                <a:ea typeface="Calibri" pitchFamily="34" charset="-122"/>
                <a:cs typeface="Calibri" pitchFamily="34" charset="-120"/>
              </a:rPr>
              <a:t>VIEW 2 OF 6</a:t>
            </a:r>
            <a:endParaRPr lang="en-US" sz="1150" dirty="0"/>
          </a:p>
        </p:txBody>
      </p:sp>
      <p:sp>
        <p:nvSpPr>
          <p:cNvPr id="4" name="Text 2"/>
          <p:cNvSpPr/>
          <p:nvPr/>
        </p:nvSpPr>
        <p:spPr>
          <a:xfrm>
            <a:off x="822960" y="2468880"/>
            <a:ext cx="7680960"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Department Insights</a:t>
            </a:r>
            <a:endParaRPr lang="en-US" sz="4000" dirty="0"/>
          </a:p>
        </p:txBody>
      </p:sp>
      <p:sp>
        <p:nvSpPr>
          <p:cNvPr id="5" name="Text 3"/>
          <p:cNvSpPr/>
          <p:nvPr/>
        </p:nvSpPr>
        <p:spPr>
          <a:xfrm>
            <a:off x="822960" y="3520440"/>
            <a:ext cx="7498080" cy="914400"/>
          </a:xfrm>
          <a:prstGeom prst="rect">
            <a:avLst/>
          </a:prstGeom>
          <a:noFill/>
          <a:ln/>
        </p:spPr>
        <p:txBody>
          <a:bodyPr wrap="square" lIns="0" tIns="0" rIns="0" bIns="0" rtlCol="0" anchor="ctr"/>
          <a:lstStyle/>
          <a:p>
            <a:pPr indent="0" marL="0">
              <a:lnSpc>
                <a:spcPts val="2400"/>
              </a:lnSpc>
              <a:buNone/>
            </a:pPr>
            <a:r>
              <a:rPr lang="en-US" sz="1700" dirty="0">
                <a:solidFill>
                  <a:srgbClr val="AFC4D8"/>
                </a:solidFill>
                <a:latin typeface="Calibri" pitchFamily="34" charset="0"/>
                <a:ea typeface="Calibri" pitchFamily="34" charset="-122"/>
                <a:cs typeface="Calibri" pitchFamily="34" charset="-120"/>
              </a:rPr>
              <a:t>How is one department using EDRMS?</a:t>
            </a:r>
            <a:endParaRPr lang="en-US" sz="1700" dirty="0"/>
          </a:p>
        </p:txBody>
      </p:sp>
      <p:sp>
        <p:nvSpPr>
          <p:cNvPr id="6" name="Shape 4"/>
          <p:cNvSpPr/>
          <p:nvPr/>
        </p:nvSpPr>
        <p:spPr>
          <a:xfrm>
            <a:off x="8961120" y="2286000"/>
            <a:ext cx="2606040" cy="2103120"/>
          </a:xfrm>
          <a:prstGeom prst="roundRect">
            <a:avLst>
              <a:gd name="adj" fmla="val 3478"/>
            </a:avLst>
          </a:prstGeom>
          <a:solidFill>
            <a:srgbClr val="16304F"/>
          </a:solidFill>
          <a:ln w="12700">
            <a:solidFill>
              <a:srgbClr val="27476C"/>
            </a:solidFill>
            <a:prstDash val="solid"/>
          </a:ln>
        </p:spPr>
      </p:sp>
      <p:sp>
        <p:nvSpPr>
          <p:cNvPr id="7" name="Text 5"/>
          <p:cNvSpPr/>
          <p:nvPr/>
        </p:nvSpPr>
        <p:spPr>
          <a:xfrm>
            <a:off x="8961120" y="2514600"/>
            <a:ext cx="2606040" cy="777240"/>
          </a:xfrm>
          <a:prstGeom prst="rect">
            <a:avLst/>
          </a:prstGeom>
          <a:noFill/>
          <a:ln/>
        </p:spPr>
        <p:txBody>
          <a:bodyPr wrap="square" lIns="0" tIns="0" rIns="0" bIns="0" rtlCol="0" anchor="ctr"/>
          <a:lstStyle/>
          <a:p>
            <a:pPr algn="ctr" indent="0" marL="0">
              <a:buNone/>
            </a:pPr>
            <a:r>
              <a:rPr lang="en-US" sz="4600" b="1" dirty="0">
                <a:solidFill>
                  <a:srgbClr val="5CA943"/>
                </a:solidFill>
                <a:latin typeface="Cambria" pitchFamily="34" charset="0"/>
                <a:ea typeface="Cambria" pitchFamily="34" charset="-122"/>
                <a:cs typeface="Cambria" pitchFamily="34" charset="-120"/>
              </a:rPr>
              <a:t>59</a:t>
            </a:r>
            <a:endParaRPr lang="en-US" sz="4600" dirty="0"/>
          </a:p>
        </p:txBody>
      </p:sp>
      <p:sp>
        <p:nvSpPr>
          <p:cNvPr id="8" name="Text 6"/>
          <p:cNvSpPr/>
          <p:nvPr/>
        </p:nvSpPr>
        <p:spPr>
          <a:xfrm>
            <a:off x="8961120" y="3291840"/>
            <a:ext cx="2606040" cy="274320"/>
          </a:xfrm>
          <a:prstGeom prst="rect">
            <a:avLst/>
          </a:prstGeom>
          <a:noFill/>
          <a:ln/>
        </p:spPr>
        <p:txBody>
          <a:bodyPr wrap="square" lIns="0" tIns="0" rIns="0" bIns="0" rtlCol="0" anchor="ctr"/>
          <a:lstStyle/>
          <a:p>
            <a:pPr algn="ctr" indent="0" marL="0">
              <a:buNone/>
            </a:pPr>
            <a:r>
              <a:rPr lang="en-US" sz="1250" dirty="0">
                <a:solidFill>
                  <a:srgbClr val="AFC4D8"/>
                </a:solidFill>
                <a:latin typeface="Calibri" pitchFamily="34" charset="0"/>
                <a:ea typeface="Calibri" pitchFamily="34" charset="-122"/>
                <a:cs typeface="Calibri" pitchFamily="34" charset="-120"/>
              </a:rPr>
              <a:t>of 84 built</a:t>
            </a:r>
            <a:endParaRPr lang="en-US" sz="1250" dirty="0"/>
          </a:p>
        </p:txBody>
      </p:sp>
      <p:sp>
        <p:nvSpPr>
          <p:cNvPr id="9" name="Text 7"/>
          <p:cNvSpPr/>
          <p:nvPr/>
        </p:nvSpPr>
        <p:spPr>
          <a:xfrm>
            <a:off x="9052560" y="3703320"/>
            <a:ext cx="2423160" cy="502920"/>
          </a:xfrm>
          <a:prstGeom prst="rect">
            <a:avLst/>
          </a:prstGeom>
          <a:noFill/>
          <a:ln/>
        </p:spPr>
        <p:txBody>
          <a:bodyPr wrap="square" lIns="0" tIns="0" rIns="0" bIns="0" rtlCol="0" anchor="ctr"/>
          <a:lstStyle/>
          <a:p>
            <a:pPr algn="ctr" indent="0" marL="0">
              <a:lnSpc>
                <a:spcPts val="1400"/>
              </a:lnSpc>
              <a:buNone/>
            </a:pPr>
            <a:r>
              <a:rPr lang="en-US" sz="1150" b="1" dirty="0">
                <a:solidFill>
                  <a:srgbClr val="E88A82"/>
                </a:solidFill>
                <a:latin typeface="Calibri" pitchFamily="34" charset="0"/>
                <a:ea typeface="Calibri" pitchFamily="34" charset="-122"/>
                <a:cs typeface="Calibri" pitchFamily="34" charset="-120"/>
              </a:rPr>
              <a:t>25 need your input</a:t>
            </a:r>
            <a:endParaRPr lang="en-US" sz="1150" dirty="0"/>
          </a:p>
        </p:txBody>
      </p:sp>
      <p:sp>
        <p:nvSpPr>
          <p:cNvPr id="10" name="Text 8"/>
          <p:cNvSpPr/>
          <p:nvPr/>
        </p:nvSpPr>
        <p:spPr>
          <a:xfrm>
            <a:off x="822960" y="4937760"/>
            <a:ext cx="7315200" cy="274320"/>
          </a:xfrm>
          <a:prstGeom prst="rect">
            <a:avLst/>
          </a:prstGeom>
          <a:noFill/>
          <a:ln/>
        </p:spPr>
        <p:txBody>
          <a:bodyPr wrap="square" lIns="0" tIns="0" rIns="0" bIns="0" rtlCol="0" anchor="ctr"/>
          <a:lstStyle/>
          <a:p>
            <a:pPr indent="0" marL="0">
              <a:buNone/>
            </a:pPr>
            <a:r>
              <a:rPr lang="en-US" sz="1200" dirty="0">
                <a:solidFill>
                  <a:srgbClr val="7E97B0"/>
                </a:solidFill>
                <a:latin typeface="Calibri" pitchFamily="34" charset="0"/>
                <a:ea typeface="Calibri" pitchFamily="34" charset="-122"/>
                <a:cs typeface="Calibri" pitchFamily="34" charset="-120"/>
              </a:rPr>
              <a:t>9 screens to walk through</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DEPARTMENT INSIGHTS</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The department profile</a:t>
            </a:r>
            <a:endParaRPr lang="en-US" sz="2500" dirty="0"/>
          </a:p>
        </p:txBody>
      </p:sp>
      <p:sp>
        <p:nvSpPr>
          <p:cNvPr id="4" name="Shape 2"/>
          <p:cNvSpPr/>
          <p:nvPr/>
        </p:nvSpPr>
        <p:spPr>
          <a:xfrm>
            <a:off x="470916" y="1802810"/>
            <a:ext cx="7178040" cy="2884214"/>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dp-01.png">    </p:cNvPr>
          <p:cNvPicPr>
            <a:picLocks noChangeAspect="1"/>
          </p:cNvPicPr>
          <p:nvPr/>
        </p:nvPicPr>
        <p:blipFill>
          <a:blip r:embed="rId1"/>
          <a:stretch>
            <a:fillRect/>
          </a:stretch>
        </p:blipFill>
        <p:spPr>
          <a:xfrm>
            <a:off x="502920" y="1834814"/>
            <a:ext cx="7114032" cy="2820206"/>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3198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Department picker driving the whole screen</a:t>
            </a:r>
            <a:endParaRPr lang="en-US" sz="880" dirty="0"/>
          </a:p>
        </p:txBody>
      </p:sp>
      <p:sp>
        <p:nvSpPr>
          <p:cNvPr id="11" name="Shape 8"/>
          <p:cNvSpPr/>
          <p:nvPr/>
        </p:nvSpPr>
        <p:spPr>
          <a:xfrm>
            <a:off x="8019288" y="2084601"/>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84601"/>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038881"/>
            <a:ext cx="2633472" cy="3198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sites created</a:t>
            </a:r>
            <a:endParaRPr lang="en-US" sz="880" dirty="0"/>
          </a:p>
        </p:txBody>
      </p:sp>
      <p:sp>
        <p:nvSpPr>
          <p:cNvPr id="14" name="Shape 11"/>
          <p:cNvSpPr/>
          <p:nvPr/>
        </p:nvSpPr>
        <p:spPr>
          <a:xfrm>
            <a:off x="8019288" y="2404410"/>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404410"/>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358690"/>
            <a:ext cx="2633472" cy="3198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EDRMS users</a:t>
            </a:r>
            <a:endParaRPr lang="en-US" sz="880" dirty="0"/>
          </a:p>
        </p:txBody>
      </p:sp>
      <p:sp>
        <p:nvSpPr>
          <p:cNvPr id="17" name="Shape 14"/>
          <p:cNvSpPr/>
          <p:nvPr/>
        </p:nvSpPr>
        <p:spPr>
          <a:xfrm>
            <a:off x="8019288" y="2724219"/>
            <a:ext cx="731520" cy="169164"/>
          </a:xfrm>
          <a:prstGeom prst="roundRect">
            <a:avLst>
              <a:gd name="adj" fmla="val 48649"/>
            </a:avLst>
          </a:prstGeom>
          <a:solidFill>
            <a:srgbClr val="EAF4E4"/>
          </a:solidFill>
          <a:ln w="12700">
            <a:solidFill>
              <a:srgbClr val="EAF4E4"/>
            </a:solidFill>
            <a:prstDash val="solid"/>
          </a:ln>
        </p:spPr>
      </p:sp>
      <p:sp>
        <p:nvSpPr>
          <p:cNvPr id="18" name="Text 15"/>
          <p:cNvSpPr/>
          <p:nvPr/>
        </p:nvSpPr>
        <p:spPr>
          <a:xfrm>
            <a:off x="8019288" y="2724219"/>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9" name="Text 16"/>
          <p:cNvSpPr/>
          <p:nvPr/>
        </p:nvSpPr>
        <p:spPr>
          <a:xfrm>
            <a:off x="8842248" y="2678499"/>
            <a:ext cx="2633472" cy="3198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site visitors</a:t>
            </a:r>
            <a:endParaRPr lang="en-US" sz="880" dirty="0"/>
          </a:p>
        </p:txBody>
      </p:sp>
      <p:sp>
        <p:nvSpPr>
          <p:cNvPr id="20" name="Shape 17"/>
          <p:cNvSpPr/>
          <p:nvPr/>
        </p:nvSpPr>
        <p:spPr>
          <a:xfrm>
            <a:off x="8019288" y="3044028"/>
            <a:ext cx="731520" cy="169164"/>
          </a:xfrm>
          <a:prstGeom prst="roundRect">
            <a:avLst>
              <a:gd name="adj" fmla="val 48649"/>
            </a:avLst>
          </a:prstGeom>
          <a:solidFill>
            <a:srgbClr val="EAF4E4"/>
          </a:solidFill>
          <a:ln w="12700">
            <a:solidFill>
              <a:srgbClr val="EAF4E4"/>
            </a:solidFill>
            <a:prstDash val="solid"/>
          </a:ln>
        </p:spPr>
      </p:sp>
      <p:sp>
        <p:nvSpPr>
          <p:cNvPr id="21" name="Text 18"/>
          <p:cNvSpPr/>
          <p:nvPr/>
        </p:nvSpPr>
        <p:spPr>
          <a:xfrm>
            <a:off x="8019288" y="3044028"/>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2" name="Text 19"/>
          <p:cNvSpPr/>
          <p:nvPr/>
        </p:nvSpPr>
        <p:spPr>
          <a:xfrm>
            <a:off x="8842248" y="2998308"/>
            <a:ext cx="2633472" cy="3198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documents in EDRMS</a:t>
            </a:r>
            <a:endParaRPr lang="en-US" sz="880" dirty="0"/>
          </a:p>
        </p:txBody>
      </p:sp>
      <p:sp>
        <p:nvSpPr>
          <p:cNvPr id="23" name="Shape 20"/>
          <p:cNvSpPr/>
          <p:nvPr/>
        </p:nvSpPr>
        <p:spPr>
          <a:xfrm>
            <a:off x="8019288" y="3363837"/>
            <a:ext cx="731520" cy="169164"/>
          </a:xfrm>
          <a:prstGeom prst="roundRect">
            <a:avLst>
              <a:gd name="adj" fmla="val 48649"/>
            </a:avLst>
          </a:prstGeom>
          <a:solidFill>
            <a:srgbClr val="EAF4E4"/>
          </a:solidFill>
          <a:ln w="12700">
            <a:solidFill>
              <a:srgbClr val="EAF4E4"/>
            </a:solidFill>
            <a:prstDash val="solid"/>
          </a:ln>
        </p:spPr>
      </p:sp>
      <p:sp>
        <p:nvSpPr>
          <p:cNvPr id="24" name="Text 21"/>
          <p:cNvSpPr/>
          <p:nvPr/>
        </p:nvSpPr>
        <p:spPr>
          <a:xfrm>
            <a:off x="8019288" y="3363837"/>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5" name="Text 22"/>
          <p:cNvSpPr/>
          <p:nvPr/>
        </p:nvSpPr>
        <p:spPr>
          <a:xfrm>
            <a:off x="8842248" y="3318117"/>
            <a:ext cx="2633472" cy="3198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records declared in EDRMS</a:t>
            </a:r>
            <a:endParaRPr lang="en-US" sz="880" dirty="0"/>
          </a:p>
        </p:txBody>
      </p:sp>
      <p:sp>
        <p:nvSpPr>
          <p:cNvPr id="26" name="Shape 23"/>
          <p:cNvSpPr/>
          <p:nvPr/>
        </p:nvSpPr>
        <p:spPr>
          <a:xfrm>
            <a:off x="8019288" y="3683647"/>
            <a:ext cx="731520" cy="169164"/>
          </a:xfrm>
          <a:prstGeom prst="roundRect">
            <a:avLst>
              <a:gd name="adj" fmla="val 48649"/>
            </a:avLst>
          </a:prstGeom>
          <a:solidFill>
            <a:srgbClr val="EAF4E4"/>
          </a:solidFill>
          <a:ln w="12700">
            <a:solidFill>
              <a:srgbClr val="EAF4E4"/>
            </a:solidFill>
            <a:prstDash val="solid"/>
          </a:ln>
        </p:spPr>
      </p:sp>
      <p:sp>
        <p:nvSpPr>
          <p:cNvPr id="27" name="Text 24"/>
          <p:cNvSpPr/>
          <p:nvPr/>
        </p:nvSpPr>
        <p:spPr>
          <a:xfrm>
            <a:off x="8019288" y="3683647"/>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8" name="Text 25"/>
          <p:cNvSpPr/>
          <p:nvPr/>
        </p:nvSpPr>
        <p:spPr>
          <a:xfrm>
            <a:off x="8842248" y="3637927"/>
            <a:ext cx="2633472" cy="3198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physical counterparts identified</a:t>
            </a:r>
            <a:endParaRPr lang="en-US" sz="880" dirty="0"/>
          </a:p>
        </p:txBody>
      </p:sp>
      <p:sp>
        <p:nvSpPr>
          <p:cNvPr id="29" name="Shape 26"/>
          <p:cNvSpPr/>
          <p:nvPr/>
        </p:nvSpPr>
        <p:spPr>
          <a:xfrm>
            <a:off x="8019288" y="4003456"/>
            <a:ext cx="731520" cy="169164"/>
          </a:xfrm>
          <a:prstGeom prst="roundRect">
            <a:avLst>
              <a:gd name="adj" fmla="val 48649"/>
            </a:avLst>
          </a:prstGeom>
          <a:solidFill>
            <a:srgbClr val="EAF4E4"/>
          </a:solidFill>
          <a:ln w="12700">
            <a:solidFill>
              <a:srgbClr val="EAF4E4"/>
            </a:solidFill>
            <a:prstDash val="solid"/>
          </a:ln>
        </p:spPr>
      </p:sp>
      <p:sp>
        <p:nvSpPr>
          <p:cNvPr id="30" name="Text 27"/>
          <p:cNvSpPr/>
          <p:nvPr/>
        </p:nvSpPr>
        <p:spPr>
          <a:xfrm>
            <a:off x="8019288" y="4003456"/>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31" name="Text 28"/>
          <p:cNvSpPr/>
          <p:nvPr/>
        </p:nvSpPr>
        <p:spPr>
          <a:xfrm>
            <a:off x="8842248" y="3957736"/>
            <a:ext cx="2633472" cy="3198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records due for disposal</a:t>
            </a:r>
            <a:endParaRPr lang="en-US" sz="880" dirty="0"/>
          </a:p>
        </p:txBody>
      </p:sp>
      <p:sp>
        <p:nvSpPr>
          <p:cNvPr id="32" name="Shape 29"/>
          <p:cNvSpPr/>
          <p:nvPr/>
        </p:nvSpPr>
        <p:spPr>
          <a:xfrm>
            <a:off x="8019288" y="4323265"/>
            <a:ext cx="731520" cy="169164"/>
          </a:xfrm>
          <a:prstGeom prst="roundRect">
            <a:avLst>
              <a:gd name="adj" fmla="val 48649"/>
            </a:avLst>
          </a:prstGeom>
          <a:solidFill>
            <a:srgbClr val="EAF4E4"/>
          </a:solidFill>
          <a:ln w="12700">
            <a:solidFill>
              <a:srgbClr val="EAF4E4"/>
            </a:solidFill>
            <a:prstDash val="solid"/>
          </a:ln>
        </p:spPr>
      </p:sp>
      <p:sp>
        <p:nvSpPr>
          <p:cNvPr id="33" name="Text 30"/>
          <p:cNvSpPr/>
          <p:nvPr/>
        </p:nvSpPr>
        <p:spPr>
          <a:xfrm>
            <a:off x="8019288" y="4323265"/>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34" name="Text 31"/>
          <p:cNvSpPr/>
          <p:nvPr/>
        </p:nvSpPr>
        <p:spPr>
          <a:xfrm>
            <a:off x="8842248" y="4277545"/>
            <a:ext cx="2633472" cy="3198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Clickable top panel stats</a:t>
            </a:r>
            <a:endParaRPr lang="en-US" sz="880" dirty="0"/>
          </a:p>
        </p:txBody>
      </p:sp>
      <p:sp>
        <p:nvSpPr>
          <p:cNvPr id="35" name="Shape 32"/>
          <p:cNvSpPr/>
          <p:nvPr/>
        </p:nvSpPr>
        <p:spPr>
          <a:xfrm>
            <a:off x="8019288" y="4643074"/>
            <a:ext cx="731520" cy="169164"/>
          </a:xfrm>
          <a:prstGeom prst="roundRect">
            <a:avLst>
              <a:gd name="adj" fmla="val 48649"/>
            </a:avLst>
          </a:prstGeom>
          <a:solidFill>
            <a:srgbClr val="FBE6E4"/>
          </a:solidFill>
          <a:ln w="12700">
            <a:solidFill>
              <a:srgbClr val="FBE6E4"/>
            </a:solidFill>
            <a:prstDash val="solid"/>
          </a:ln>
        </p:spPr>
      </p:sp>
      <p:sp>
        <p:nvSpPr>
          <p:cNvPr id="36" name="Text 33"/>
          <p:cNvSpPr/>
          <p:nvPr/>
        </p:nvSpPr>
        <p:spPr>
          <a:xfrm>
            <a:off x="8019288" y="4643074"/>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37" name="Text 34"/>
          <p:cNvSpPr/>
          <p:nvPr/>
        </p:nvSpPr>
        <p:spPr>
          <a:xfrm>
            <a:off x="8842248" y="4597354"/>
            <a:ext cx="2633472" cy="459509"/>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Approved SharePoint site, library and folder convention</a:t>
            </a:r>
            <a:endParaRPr lang="en-US" sz="880" dirty="0"/>
          </a:p>
        </p:txBody>
      </p:sp>
      <p:sp>
        <p:nvSpPr>
          <p:cNvPr id="38" name="Shape 35"/>
          <p:cNvSpPr/>
          <p:nvPr/>
        </p:nvSpPr>
        <p:spPr>
          <a:xfrm>
            <a:off x="8019288" y="5102583"/>
            <a:ext cx="731520" cy="169164"/>
          </a:xfrm>
          <a:prstGeom prst="roundRect">
            <a:avLst>
              <a:gd name="adj" fmla="val 48649"/>
            </a:avLst>
          </a:prstGeom>
          <a:solidFill>
            <a:srgbClr val="FBE6E4"/>
          </a:solidFill>
          <a:ln w="12700">
            <a:solidFill>
              <a:srgbClr val="FBE6E4"/>
            </a:solidFill>
            <a:prstDash val="solid"/>
          </a:ln>
        </p:spPr>
      </p:sp>
      <p:sp>
        <p:nvSpPr>
          <p:cNvPr id="39" name="Text 36"/>
          <p:cNvSpPr/>
          <p:nvPr/>
        </p:nvSpPr>
        <p:spPr>
          <a:xfrm>
            <a:off x="8019288" y="5102583"/>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40" name="Text 37"/>
          <p:cNvSpPr/>
          <p:nvPr/>
        </p:nvSpPr>
        <p:spPr>
          <a:xfrm>
            <a:off x="8842248" y="5056863"/>
            <a:ext cx="2633472" cy="319809"/>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Go-Live date</a:t>
            </a:r>
            <a:endParaRPr lang="en-US" sz="880" dirty="0"/>
          </a:p>
        </p:txBody>
      </p:sp>
      <p:sp>
        <p:nvSpPr>
          <p:cNvPr id="41" name="Shape 38"/>
          <p:cNvSpPr/>
          <p:nvPr/>
        </p:nvSpPr>
        <p:spPr>
          <a:xfrm>
            <a:off x="502920" y="5779008"/>
            <a:ext cx="118872" cy="118872"/>
          </a:xfrm>
          <a:prstGeom prst="ellipse">
            <a:avLst/>
          </a:prstGeom>
          <a:solidFill>
            <a:srgbClr val="0072BC"/>
          </a:solidFill>
          <a:ln w="12700">
            <a:solidFill>
              <a:srgbClr val="0072BC"/>
            </a:solidFill>
            <a:prstDash val="solid"/>
          </a:ln>
        </p:spPr>
      </p:sp>
      <p:sp>
        <p:nvSpPr>
          <p:cNvPr id="42" name="Text 39"/>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Pick a department at the top and every figure on the screen follows it.</a:t>
            </a:r>
            <a:endParaRPr lang="en-US" sz="1000" dirty="0"/>
          </a:p>
        </p:txBody>
      </p:sp>
      <p:sp>
        <p:nvSpPr>
          <p:cNvPr id="43" name="Shape 40"/>
          <p:cNvSpPr/>
          <p:nvPr/>
        </p:nvSpPr>
        <p:spPr>
          <a:xfrm>
            <a:off x="4270248" y="5779008"/>
            <a:ext cx="118872" cy="118872"/>
          </a:xfrm>
          <a:prstGeom prst="ellipse">
            <a:avLst/>
          </a:prstGeom>
          <a:solidFill>
            <a:srgbClr val="00A5A8"/>
          </a:solidFill>
          <a:ln w="12700">
            <a:solidFill>
              <a:srgbClr val="00A5A8"/>
            </a:solidFill>
            <a:prstDash val="solid"/>
          </a:ln>
        </p:spPr>
      </p:sp>
      <p:sp>
        <p:nvSpPr>
          <p:cNvPr id="44" name="Text 41"/>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same seven headline figures as bank-wide, narrowed to one unit.</a:t>
            </a:r>
            <a:endParaRPr lang="en-US" sz="1000" dirty="0"/>
          </a:p>
        </p:txBody>
      </p:sp>
      <p:sp>
        <p:nvSpPr>
          <p:cNvPr id="45" name="Shape 42"/>
          <p:cNvSpPr/>
          <p:nvPr/>
        </p:nvSpPr>
        <p:spPr>
          <a:xfrm>
            <a:off x="8037576" y="5779008"/>
            <a:ext cx="118872" cy="118872"/>
          </a:xfrm>
          <a:prstGeom prst="ellipse">
            <a:avLst/>
          </a:prstGeom>
          <a:solidFill>
            <a:srgbClr val="5CA943"/>
          </a:solidFill>
          <a:ln w="12700">
            <a:solidFill>
              <a:srgbClr val="5CA943"/>
            </a:solidFill>
            <a:prstDash val="solid"/>
          </a:ln>
        </p:spPr>
      </p:sp>
      <p:sp>
        <p:nvSpPr>
          <p:cNvPr id="46" name="Text 43"/>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Two things are missing from the profile: the naming convention and the go-live date.</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DEPARTMENT INSIGHTS</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Users and activity</a:t>
            </a:r>
            <a:endParaRPr lang="en-US" sz="2500" dirty="0"/>
          </a:p>
        </p:txBody>
      </p:sp>
      <p:sp>
        <p:nvSpPr>
          <p:cNvPr id="4" name="Shape 2"/>
          <p:cNvSpPr/>
          <p:nvPr/>
        </p:nvSpPr>
        <p:spPr>
          <a:xfrm>
            <a:off x="470916" y="2211444"/>
            <a:ext cx="7178040" cy="1903493"/>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dp-drill-users.png">    </p:cNvPr>
          <p:cNvPicPr>
            <a:picLocks noChangeAspect="1"/>
          </p:cNvPicPr>
          <p:nvPr/>
        </p:nvPicPr>
        <p:blipFill>
          <a:blip r:embed="rId1"/>
          <a:stretch>
            <a:fillRect/>
          </a:stretch>
        </p:blipFill>
        <p:spPr>
          <a:xfrm>
            <a:off x="502920" y="2243448"/>
            <a:ext cx="7114032" cy="1839485"/>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active users</a:t>
            </a:r>
            <a:endParaRPr lang="en-US" sz="880" dirty="0"/>
          </a:p>
        </p:txBody>
      </p:sp>
      <p:sp>
        <p:nvSpPr>
          <p:cNvPr id="11" name="Shape 8"/>
          <p:cNvSpPr/>
          <p:nvPr/>
        </p:nvSpPr>
        <p:spPr>
          <a:xfrm>
            <a:off x="8019288" y="2087372"/>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Used EDRMS in the last 180 days</a:t>
            </a:r>
            <a:endParaRPr lang="en-US" sz="880" dirty="0"/>
          </a:p>
        </p:txBody>
      </p:sp>
      <p:sp>
        <p:nvSpPr>
          <p:cNvPr id="14" name="Shape 11"/>
          <p:cNvSpPr/>
          <p:nvPr/>
        </p:nvSpPr>
        <p:spPr>
          <a:xfrm>
            <a:off x="8019288" y="2409952"/>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4099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3642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No access in EDRMS compliant sites, last 180 days</a:t>
            </a:r>
            <a:endParaRPr lang="en-US" sz="880" dirty="0"/>
          </a:p>
        </p:txBody>
      </p:sp>
      <p:sp>
        <p:nvSpPr>
          <p:cNvPr id="17" name="Shape 14"/>
          <p:cNvSpPr/>
          <p:nvPr/>
        </p:nvSpPr>
        <p:spPr>
          <a:xfrm>
            <a:off x="8019288" y="2732532"/>
            <a:ext cx="731520" cy="169164"/>
          </a:xfrm>
          <a:prstGeom prst="roundRect">
            <a:avLst>
              <a:gd name="adj" fmla="val 48649"/>
            </a:avLst>
          </a:prstGeom>
          <a:solidFill>
            <a:srgbClr val="EAF4E4"/>
          </a:solidFill>
          <a:ln w="12700">
            <a:solidFill>
              <a:srgbClr val="EAF4E4"/>
            </a:solidFill>
            <a:prstDash val="solid"/>
          </a:ln>
        </p:spPr>
      </p:sp>
      <p:sp>
        <p:nvSpPr>
          <p:cNvPr id="18" name="Text 15"/>
          <p:cNvSpPr/>
          <p:nvPr/>
        </p:nvSpPr>
        <p:spPr>
          <a:xfrm>
            <a:off x="8019288" y="273253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9" name="Text 16"/>
          <p:cNvSpPr/>
          <p:nvPr/>
        </p:nvSpPr>
        <p:spPr>
          <a:xfrm>
            <a:off x="8842248" y="268681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Never accessed EDRMS compliant sites</a:t>
            </a:r>
            <a:endParaRPr lang="en-US" sz="880" dirty="0"/>
          </a:p>
        </p:txBody>
      </p:sp>
      <p:sp>
        <p:nvSpPr>
          <p:cNvPr id="20" name="Shape 17"/>
          <p:cNvSpPr/>
          <p:nvPr/>
        </p:nvSpPr>
        <p:spPr>
          <a:xfrm>
            <a:off x="8019288" y="3055112"/>
            <a:ext cx="731520" cy="169164"/>
          </a:xfrm>
          <a:prstGeom prst="roundRect">
            <a:avLst>
              <a:gd name="adj" fmla="val 48649"/>
            </a:avLst>
          </a:prstGeom>
          <a:solidFill>
            <a:srgbClr val="FBE6E4"/>
          </a:solidFill>
          <a:ln w="12700">
            <a:solidFill>
              <a:srgbClr val="FBE6E4"/>
            </a:solidFill>
            <a:prstDash val="solid"/>
          </a:ln>
        </p:spPr>
      </p:sp>
      <p:sp>
        <p:nvSpPr>
          <p:cNvPr id="21" name="Text 18"/>
          <p:cNvSpPr/>
          <p:nvPr/>
        </p:nvSpPr>
        <p:spPr>
          <a:xfrm>
            <a:off x="8019288" y="305511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22" name="Text 19"/>
          <p:cNvSpPr/>
          <p:nvPr/>
        </p:nvSpPr>
        <p:spPr>
          <a:xfrm>
            <a:off x="8842248" y="300939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Total number of staff</a:t>
            </a:r>
            <a:endParaRPr lang="en-US" sz="880" dirty="0"/>
          </a:p>
        </p:txBody>
      </p:sp>
      <p:sp>
        <p:nvSpPr>
          <p:cNvPr id="23" name="Shape 20"/>
          <p:cNvSpPr/>
          <p:nvPr/>
        </p:nvSpPr>
        <p:spPr>
          <a:xfrm>
            <a:off x="8019288" y="3377692"/>
            <a:ext cx="731520" cy="169164"/>
          </a:xfrm>
          <a:prstGeom prst="roundRect">
            <a:avLst>
              <a:gd name="adj" fmla="val 48649"/>
            </a:avLst>
          </a:prstGeom>
          <a:solidFill>
            <a:srgbClr val="FBE6E4"/>
          </a:solidFill>
          <a:ln w="12700">
            <a:solidFill>
              <a:srgbClr val="FBE6E4"/>
            </a:solidFill>
            <a:prstDash val="solid"/>
          </a:ln>
        </p:spPr>
      </p:sp>
      <p:sp>
        <p:nvSpPr>
          <p:cNvPr id="24" name="Text 21"/>
          <p:cNvSpPr/>
          <p:nvPr/>
        </p:nvSpPr>
        <p:spPr>
          <a:xfrm>
            <a:off x="8019288" y="337769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25" name="Text 22"/>
          <p:cNvSpPr/>
          <p:nvPr/>
        </p:nvSpPr>
        <p:spPr>
          <a:xfrm>
            <a:off x="8842248" y="333197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Total number of contractors (#, %)</a:t>
            </a:r>
            <a:endParaRPr lang="en-US" sz="880" dirty="0"/>
          </a:p>
        </p:txBody>
      </p:sp>
      <p:sp>
        <p:nvSpPr>
          <p:cNvPr id="26" name="Shape 23"/>
          <p:cNvSpPr/>
          <p:nvPr/>
        </p:nvSpPr>
        <p:spPr>
          <a:xfrm>
            <a:off x="8019288" y="3700272"/>
            <a:ext cx="731520" cy="169164"/>
          </a:xfrm>
          <a:prstGeom prst="roundRect">
            <a:avLst>
              <a:gd name="adj" fmla="val 48649"/>
            </a:avLst>
          </a:prstGeom>
          <a:solidFill>
            <a:srgbClr val="FBE6E4"/>
          </a:solidFill>
          <a:ln w="12700">
            <a:solidFill>
              <a:srgbClr val="FBE6E4"/>
            </a:solidFill>
            <a:prstDash val="solid"/>
          </a:ln>
        </p:spPr>
      </p:sp>
      <p:sp>
        <p:nvSpPr>
          <p:cNvPr id="27" name="Text 24"/>
          <p:cNvSpPr/>
          <p:nvPr/>
        </p:nvSpPr>
        <p:spPr>
          <a:xfrm>
            <a:off x="8019288" y="370027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28" name="Text 25"/>
          <p:cNvSpPr/>
          <p:nvPr/>
        </p:nvSpPr>
        <p:spPr>
          <a:xfrm>
            <a:off x="8842248" y="365455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Total number of consultants (#, %)</a:t>
            </a:r>
            <a:endParaRPr lang="en-US" sz="880" dirty="0"/>
          </a:p>
        </p:txBody>
      </p:sp>
      <p:sp>
        <p:nvSpPr>
          <p:cNvPr id="29" name="Shape 26"/>
          <p:cNvSpPr/>
          <p:nvPr/>
        </p:nvSpPr>
        <p:spPr>
          <a:xfrm>
            <a:off x="8019288" y="4022852"/>
            <a:ext cx="731520" cy="169164"/>
          </a:xfrm>
          <a:prstGeom prst="roundRect">
            <a:avLst>
              <a:gd name="adj" fmla="val 48649"/>
            </a:avLst>
          </a:prstGeom>
          <a:solidFill>
            <a:srgbClr val="FBE6E4"/>
          </a:solidFill>
          <a:ln w="12700">
            <a:solidFill>
              <a:srgbClr val="FBE6E4"/>
            </a:solidFill>
            <a:prstDash val="solid"/>
          </a:ln>
        </p:spPr>
      </p:sp>
      <p:sp>
        <p:nvSpPr>
          <p:cNvPr id="30" name="Text 27"/>
          <p:cNvSpPr/>
          <p:nvPr/>
        </p:nvSpPr>
        <p:spPr>
          <a:xfrm>
            <a:off x="8019288" y="402285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31" name="Text 28"/>
          <p:cNvSpPr/>
          <p:nvPr/>
        </p:nvSpPr>
        <p:spPr>
          <a:xfrm>
            <a:off x="8842248" y="397713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Training completion rate (%)</a:t>
            </a:r>
            <a:endParaRPr lang="en-US" sz="880" dirty="0"/>
          </a:p>
        </p:txBody>
      </p:sp>
      <p:sp>
        <p:nvSpPr>
          <p:cNvPr id="32" name="Shape 29"/>
          <p:cNvSpPr/>
          <p:nvPr/>
        </p:nvSpPr>
        <p:spPr>
          <a:xfrm>
            <a:off x="502920" y="5779008"/>
            <a:ext cx="118872" cy="118872"/>
          </a:xfrm>
          <a:prstGeom prst="ellipse">
            <a:avLst/>
          </a:prstGeom>
          <a:solidFill>
            <a:srgbClr val="0072BC"/>
          </a:solidFill>
          <a:ln w="12700">
            <a:solidFill>
              <a:srgbClr val="0072BC"/>
            </a:solidFill>
            <a:prstDash val="solid"/>
          </a:ln>
        </p:spPr>
      </p:sp>
      <p:sp>
        <p:nvSpPr>
          <p:cNvPr id="33" name="Text 30"/>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Used in the last 180 days, gone quiet, never touched it — all three are here.</a:t>
            </a:r>
            <a:endParaRPr lang="en-US" sz="1000" dirty="0"/>
          </a:p>
        </p:txBody>
      </p:sp>
      <p:sp>
        <p:nvSpPr>
          <p:cNvPr id="34" name="Shape 31"/>
          <p:cNvSpPr/>
          <p:nvPr/>
        </p:nvSpPr>
        <p:spPr>
          <a:xfrm>
            <a:off x="4270248" y="5779008"/>
            <a:ext cx="118872" cy="118872"/>
          </a:xfrm>
          <a:prstGeom prst="ellipse">
            <a:avLst/>
          </a:prstGeom>
          <a:solidFill>
            <a:srgbClr val="00A5A8"/>
          </a:solidFill>
          <a:ln w="12700">
            <a:solidFill>
              <a:srgbClr val="00A5A8"/>
            </a:solidFill>
            <a:prstDash val="solid"/>
          </a:ln>
        </p:spPr>
      </p:sp>
      <p:sp>
        <p:nvSpPr>
          <p:cNvPr id="35" name="Text 32"/>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same user-type gap as bank-wide appears again.</a:t>
            </a:r>
            <a:endParaRPr lang="en-US" sz="1000" dirty="0"/>
          </a:p>
        </p:txBody>
      </p:sp>
      <p:sp>
        <p:nvSpPr>
          <p:cNvPr id="36" name="Shape 33"/>
          <p:cNvSpPr/>
          <p:nvPr/>
        </p:nvSpPr>
        <p:spPr>
          <a:xfrm>
            <a:off x="8037576" y="5779008"/>
            <a:ext cx="118872" cy="118872"/>
          </a:xfrm>
          <a:prstGeom prst="ellipse">
            <a:avLst/>
          </a:prstGeom>
          <a:solidFill>
            <a:srgbClr val="5CA943"/>
          </a:solidFill>
          <a:ln w="12700">
            <a:solidFill>
              <a:srgbClr val="5CA943"/>
            </a:solidFill>
            <a:prstDash val="solid"/>
          </a:ln>
        </p:spPr>
      </p:sp>
      <p:sp>
        <p:nvSpPr>
          <p:cNvPr id="37" name="Text 34"/>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Training completion is asked for here too.</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DEPARTMENT INSIGHTS</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This department’s sites</a:t>
            </a:r>
            <a:endParaRPr lang="en-US" sz="2500" dirty="0"/>
          </a:p>
        </p:txBody>
      </p:sp>
      <p:sp>
        <p:nvSpPr>
          <p:cNvPr id="4" name="Shape 2"/>
          <p:cNvSpPr/>
          <p:nvPr/>
        </p:nvSpPr>
        <p:spPr>
          <a:xfrm>
            <a:off x="470916" y="1156716"/>
            <a:ext cx="7178040" cy="3849689"/>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dp-drill-sites.png">    </p:cNvPr>
          <p:cNvPicPr>
            <a:picLocks noChangeAspect="1"/>
          </p:cNvPicPr>
          <p:nvPr/>
        </p:nvPicPr>
        <p:blipFill>
          <a:blip r:embed="rId1"/>
          <a:stretch>
            <a:fillRect/>
          </a:stretch>
        </p:blipFill>
        <p:spPr>
          <a:xfrm>
            <a:off x="502920" y="1188720"/>
            <a:ext cx="7114032" cy="3785681"/>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3198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sites created</a:t>
            </a:r>
            <a:endParaRPr lang="en-US" sz="880" dirty="0"/>
          </a:p>
        </p:txBody>
      </p:sp>
      <p:sp>
        <p:nvSpPr>
          <p:cNvPr id="11" name="Shape 8"/>
          <p:cNvSpPr/>
          <p:nvPr/>
        </p:nvSpPr>
        <p:spPr>
          <a:xfrm>
            <a:off x="8019288" y="2084601"/>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84601"/>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038881"/>
            <a:ext cx="2633472" cy="3198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documents in EDRMS</a:t>
            </a:r>
            <a:endParaRPr lang="en-US" sz="880" dirty="0"/>
          </a:p>
        </p:txBody>
      </p:sp>
      <p:sp>
        <p:nvSpPr>
          <p:cNvPr id="14" name="Shape 11"/>
          <p:cNvSpPr/>
          <p:nvPr/>
        </p:nvSpPr>
        <p:spPr>
          <a:xfrm>
            <a:off x="8019288" y="2404410"/>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404410"/>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358690"/>
            <a:ext cx="2633472" cy="3198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records declared in EDRMS</a:t>
            </a:r>
            <a:endParaRPr lang="en-US" sz="880" dirty="0"/>
          </a:p>
        </p:txBody>
      </p:sp>
      <p:sp>
        <p:nvSpPr>
          <p:cNvPr id="17" name="Shape 14"/>
          <p:cNvSpPr/>
          <p:nvPr/>
        </p:nvSpPr>
        <p:spPr>
          <a:xfrm>
            <a:off x="8019288" y="2724219"/>
            <a:ext cx="731520" cy="169164"/>
          </a:xfrm>
          <a:prstGeom prst="roundRect">
            <a:avLst>
              <a:gd name="adj" fmla="val 48649"/>
            </a:avLst>
          </a:prstGeom>
          <a:solidFill>
            <a:srgbClr val="EAF4E4"/>
          </a:solidFill>
          <a:ln w="12700">
            <a:solidFill>
              <a:srgbClr val="EAF4E4"/>
            </a:solidFill>
            <a:prstDash val="solid"/>
          </a:ln>
        </p:spPr>
      </p:sp>
      <p:sp>
        <p:nvSpPr>
          <p:cNvPr id="18" name="Text 15"/>
          <p:cNvSpPr/>
          <p:nvPr/>
        </p:nvSpPr>
        <p:spPr>
          <a:xfrm>
            <a:off x="8019288" y="2724219"/>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9" name="Text 16"/>
          <p:cNvSpPr/>
          <p:nvPr/>
        </p:nvSpPr>
        <p:spPr>
          <a:xfrm>
            <a:off x="8842248" y="2678499"/>
            <a:ext cx="2633472" cy="3198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physical counterparts identified</a:t>
            </a:r>
            <a:endParaRPr lang="en-US" sz="880" dirty="0"/>
          </a:p>
        </p:txBody>
      </p:sp>
      <p:sp>
        <p:nvSpPr>
          <p:cNvPr id="20" name="Shape 17"/>
          <p:cNvSpPr/>
          <p:nvPr/>
        </p:nvSpPr>
        <p:spPr>
          <a:xfrm>
            <a:off x="8019288" y="3044028"/>
            <a:ext cx="731520" cy="169164"/>
          </a:xfrm>
          <a:prstGeom prst="roundRect">
            <a:avLst>
              <a:gd name="adj" fmla="val 48649"/>
            </a:avLst>
          </a:prstGeom>
          <a:solidFill>
            <a:srgbClr val="EAF4E4"/>
          </a:solidFill>
          <a:ln w="12700">
            <a:solidFill>
              <a:srgbClr val="EAF4E4"/>
            </a:solidFill>
            <a:prstDash val="solid"/>
          </a:ln>
        </p:spPr>
      </p:sp>
      <p:sp>
        <p:nvSpPr>
          <p:cNvPr id="21" name="Text 18"/>
          <p:cNvSpPr/>
          <p:nvPr/>
        </p:nvSpPr>
        <p:spPr>
          <a:xfrm>
            <a:off x="8019288" y="3044028"/>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2" name="Text 19"/>
          <p:cNvSpPr/>
          <p:nvPr/>
        </p:nvSpPr>
        <p:spPr>
          <a:xfrm>
            <a:off x="8842248" y="2998308"/>
            <a:ext cx="2633472" cy="4595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records due for disposal within 12 months</a:t>
            </a:r>
            <a:endParaRPr lang="en-US" sz="880" dirty="0"/>
          </a:p>
        </p:txBody>
      </p:sp>
      <p:sp>
        <p:nvSpPr>
          <p:cNvPr id="23" name="Shape 20"/>
          <p:cNvSpPr/>
          <p:nvPr/>
        </p:nvSpPr>
        <p:spPr>
          <a:xfrm>
            <a:off x="8019288" y="3503537"/>
            <a:ext cx="731520" cy="169164"/>
          </a:xfrm>
          <a:prstGeom prst="roundRect">
            <a:avLst>
              <a:gd name="adj" fmla="val 48649"/>
            </a:avLst>
          </a:prstGeom>
          <a:solidFill>
            <a:srgbClr val="EAF4E4"/>
          </a:solidFill>
          <a:ln w="12700">
            <a:solidFill>
              <a:srgbClr val="EAF4E4"/>
            </a:solidFill>
            <a:prstDash val="solid"/>
          </a:ln>
        </p:spPr>
      </p:sp>
      <p:sp>
        <p:nvSpPr>
          <p:cNvPr id="24" name="Text 21"/>
          <p:cNvSpPr/>
          <p:nvPr/>
        </p:nvSpPr>
        <p:spPr>
          <a:xfrm>
            <a:off x="8019288" y="3503537"/>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5" name="Text 22"/>
          <p:cNvSpPr/>
          <p:nvPr/>
        </p:nvSpPr>
        <p:spPr>
          <a:xfrm>
            <a:off x="8842248" y="3457817"/>
            <a:ext cx="2633472" cy="3198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Name of sites</a:t>
            </a:r>
            <a:endParaRPr lang="en-US" sz="880" dirty="0"/>
          </a:p>
        </p:txBody>
      </p:sp>
      <p:sp>
        <p:nvSpPr>
          <p:cNvPr id="26" name="Shape 23"/>
          <p:cNvSpPr/>
          <p:nvPr/>
        </p:nvSpPr>
        <p:spPr>
          <a:xfrm>
            <a:off x="8019288" y="3823347"/>
            <a:ext cx="731520" cy="169164"/>
          </a:xfrm>
          <a:prstGeom prst="roundRect">
            <a:avLst>
              <a:gd name="adj" fmla="val 48649"/>
            </a:avLst>
          </a:prstGeom>
          <a:solidFill>
            <a:srgbClr val="EAF4E4"/>
          </a:solidFill>
          <a:ln w="12700">
            <a:solidFill>
              <a:srgbClr val="EAF4E4"/>
            </a:solidFill>
            <a:prstDash val="solid"/>
          </a:ln>
        </p:spPr>
      </p:sp>
      <p:sp>
        <p:nvSpPr>
          <p:cNvPr id="27" name="Text 24"/>
          <p:cNvSpPr/>
          <p:nvPr/>
        </p:nvSpPr>
        <p:spPr>
          <a:xfrm>
            <a:off x="8019288" y="3823347"/>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8" name="Text 25"/>
          <p:cNvSpPr/>
          <p:nvPr/>
        </p:nvSpPr>
        <p:spPr>
          <a:xfrm>
            <a:off x="8842248" y="3777627"/>
            <a:ext cx="2633472" cy="3198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Site owners</a:t>
            </a:r>
            <a:endParaRPr lang="en-US" sz="880" dirty="0"/>
          </a:p>
        </p:txBody>
      </p:sp>
      <p:sp>
        <p:nvSpPr>
          <p:cNvPr id="29" name="Shape 26"/>
          <p:cNvSpPr/>
          <p:nvPr/>
        </p:nvSpPr>
        <p:spPr>
          <a:xfrm>
            <a:off x="8019288" y="4143156"/>
            <a:ext cx="731520" cy="169164"/>
          </a:xfrm>
          <a:prstGeom prst="roundRect">
            <a:avLst>
              <a:gd name="adj" fmla="val 48649"/>
            </a:avLst>
          </a:prstGeom>
          <a:solidFill>
            <a:srgbClr val="EAF4E4"/>
          </a:solidFill>
          <a:ln w="12700">
            <a:solidFill>
              <a:srgbClr val="EAF4E4"/>
            </a:solidFill>
            <a:prstDash val="solid"/>
          </a:ln>
        </p:spPr>
      </p:sp>
      <p:sp>
        <p:nvSpPr>
          <p:cNvPr id="30" name="Text 27"/>
          <p:cNvSpPr/>
          <p:nvPr/>
        </p:nvSpPr>
        <p:spPr>
          <a:xfrm>
            <a:off x="8019288" y="4143156"/>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31" name="Text 28"/>
          <p:cNvSpPr/>
          <p:nvPr/>
        </p:nvSpPr>
        <p:spPr>
          <a:xfrm>
            <a:off x="8842248" y="4097436"/>
            <a:ext cx="2633472" cy="3198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documents</a:t>
            </a:r>
            <a:endParaRPr lang="en-US" sz="880" dirty="0"/>
          </a:p>
        </p:txBody>
      </p:sp>
      <p:sp>
        <p:nvSpPr>
          <p:cNvPr id="32" name="Shape 29"/>
          <p:cNvSpPr/>
          <p:nvPr/>
        </p:nvSpPr>
        <p:spPr>
          <a:xfrm>
            <a:off x="8019288" y="4462965"/>
            <a:ext cx="731520" cy="169164"/>
          </a:xfrm>
          <a:prstGeom prst="roundRect">
            <a:avLst>
              <a:gd name="adj" fmla="val 48649"/>
            </a:avLst>
          </a:prstGeom>
          <a:solidFill>
            <a:srgbClr val="EAF4E4"/>
          </a:solidFill>
          <a:ln w="12700">
            <a:solidFill>
              <a:srgbClr val="EAF4E4"/>
            </a:solidFill>
            <a:prstDash val="solid"/>
          </a:ln>
        </p:spPr>
      </p:sp>
      <p:sp>
        <p:nvSpPr>
          <p:cNvPr id="33" name="Text 30"/>
          <p:cNvSpPr/>
          <p:nvPr/>
        </p:nvSpPr>
        <p:spPr>
          <a:xfrm>
            <a:off x="8019288" y="4462965"/>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34" name="Text 31"/>
          <p:cNvSpPr/>
          <p:nvPr/>
        </p:nvSpPr>
        <p:spPr>
          <a:xfrm>
            <a:off x="8842248" y="4417245"/>
            <a:ext cx="2633472" cy="3198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records</a:t>
            </a:r>
            <a:endParaRPr lang="en-US" sz="880" dirty="0"/>
          </a:p>
        </p:txBody>
      </p:sp>
      <p:sp>
        <p:nvSpPr>
          <p:cNvPr id="35" name="Shape 32"/>
          <p:cNvSpPr/>
          <p:nvPr/>
        </p:nvSpPr>
        <p:spPr>
          <a:xfrm>
            <a:off x="8019288" y="4782774"/>
            <a:ext cx="731520" cy="169164"/>
          </a:xfrm>
          <a:prstGeom prst="roundRect">
            <a:avLst>
              <a:gd name="adj" fmla="val 48649"/>
            </a:avLst>
          </a:prstGeom>
          <a:solidFill>
            <a:srgbClr val="EAF4E4"/>
          </a:solidFill>
          <a:ln w="12700">
            <a:solidFill>
              <a:srgbClr val="EAF4E4"/>
            </a:solidFill>
            <a:prstDash val="solid"/>
          </a:ln>
        </p:spPr>
      </p:sp>
      <p:sp>
        <p:nvSpPr>
          <p:cNvPr id="36" name="Text 33"/>
          <p:cNvSpPr/>
          <p:nvPr/>
        </p:nvSpPr>
        <p:spPr>
          <a:xfrm>
            <a:off x="8019288" y="4782774"/>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37" name="Text 34"/>
          <p:cNvSpPr/>
          <p:nvPr/>
        </p:nvSpPr>
        <p:spPr>
          <a:xfrm>
            <a:off x="8842248" y="4737054"/>
            <a:ext cx="2633472" cy="3198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physical counterparts</a:t>
            </a:r>
            <a:endParaRPr lang="en-US" sz="880" dirty="0"/>
          </a:p>
        </p:txBody>
      </p:sp>
      <p:sp>
        <p:nvSpPr>
          <p:cNvPr id="38" name="Shape 35"/>
          <p:cNvSpPr/>
          <p:nvPr/>
        </p:nvSpPr>
        <p:spPr>
          <a:xfrm>
            <a:off x="8019288" y="5102583"/>
            <a:ext cx="731520" cy="169164"/>
          </a:xfrm>
          <a:prstGeom prst="roundRect">
            <a:avLst>
              <a:gd name="adj" fmla="val 48649"/>
            </a:avLst>
          </a:prstGeom>
          <a:solidFill>
            <a:srgbClr val="EAF4E4"/>
          </a:solidFill>
          <a:ln w="12700">
            <a:solidFill>
              <a:srgbClr val="EAF4E4"/>
            </a:solidFill>
            <a:prstDash val="solid"/>
          </a:ln>
        </p:spPr>
      </p:sp>
      <p:sp>
        <p:nvSpPr>
          <p:cNvPr id="39" name="Text 36"/>
          <p:cNvSpPr/>
          <p:nvPr/>
        </p:nvSpPr>
        <p:spPr>
          <a:xfrm>
            <a:off x="8019288" y="5102583"/>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40" name="Text 37"/>
          <p:cNvSpPr/>
          <p:nvPr/>
        </p:nvSpPr>
        <p:spPr>
          <a:xfrm>
            <a:off x="8842248" y="5056863"/>
            <a:ext cx="2633472" cy="3198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records due for disposal</a:t>
            </a:r>
            <a:endParaRPr lang="en-US" sz="880" dirty="0"/>
          </a:p>
        </p:txBody>
      </p:sp>
      <p:sp>
        <p:nvSpPr>
          <p:cNvPr id="41" name="Shape 38"/>
          <p:cNvSpPr/>
          <p:nvPr/>
        </p:nvSpPr>
        <p:spPr>
          <a:xfrm>
            <a:off x="502920" y="5779008"/>
            <a:ext cx="118872" cy="118872"/>
          </a:xfrm>
          <a:prstGeom prst="ellipse">
            <a:avLst/>
          </a:prstGeom>
          <a:solidFill>
            <a:srgbClr val="0072BC"/>
          </a:solidFill>
          <a:ln w="12700">
            <a:solidFill>
              <a:srgbClr val="0072BC"/>
            </a:solidFill>
            <a:prstDash val="solid"/>
          </a:ln>
        </p:spPr>
      </p:sp>
      <p:sp>
        <p:nvSpPr>
          <p:cNvPr id="42" name="Text 39"/>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Every site the department owns, with its owner named.</a:t>
            </a:r>
            <a:endParaRPr lang="en-US" sz="1000" dirty="0"/>
          </a:p>
        </p:txBody>
      </p:sp>
      <p:sp>
        <p:nvSpPr>
          <p:cNvPr id="43" name="Shape 40"/>
          <p:cNvSpPr/>
          <p:nvPr/>
        </p:nvSpPr>
        <p:spPr>
          <a:xfrm>
            <a:off x="4270248" y="5779008"/>
            <a:ext cx="118872" cy="118872"/>
          </a:xfrm>
          <a:prstGeom prst="ellipse">
            <a:avLst/>
          </a:prstGeom>
          <a:solidFill>
            <a:srgbClr val="00A5A8"/>
          </a:solidFill>
          <a:ln w="12700">
            <a:solidFill>
              <a:srgbClr val="00A5A8"/>
            </a:solidFill>
            <a:prstDash val="solid"/>
          </a:ln>
        </p:spPr>
      </p:sp>
      <p:sp>
        <p:nvSpPr>
          <p:cNvPr id="44" name="Text 41"/>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All six columns the client drew are present.</a:t>
            </a:r>
            <a:endParaRPr lang="en-US" sz="1000" dirty="0"/>
          </a:p>
        </p:txBody>
      </p:sp>
      <p:sp>
        <p:nvSpPr>
          <p:cNvPr id="45" name="Shape 42"/>
          <p:cNvSpPr/>
          <p:nvPr/>
        </p:nvSpPr>
        <p:spPr>
          <a:xfrm>
            <a:off x="8037576" y="5779008"/>
            <a:ext cx="118872" cy="118872"/>
          </a:xfrm>
          <a:prstGeom prst="ellipse">
            <a:avLst/>
          </a:prstGeom>
          <a:solidFill>
            <a:srgbClr val="5CA943"/>
          </a:solidFill>
          <a:ln w="12700">
            <a:solidFill>
              <a:srgbClr val="5CA943"/>
            </a:solidFill>
            <a:prstDash val="solid"/>
          </a:ln>
        </p:spPr>
      </p:sp>
      <p:sp>
        <p:nvSpPr>
          <p:cNvPr id="46" name="Text 43"/>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This screen is complete — nothing red on it.</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DEPARTMENT INSIGHTS</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Site visitors</a:t>
            </a:r>
            <a:endParaRPr lang="en-US" sz="2500" dirty="0"/>
          </a:p>
        </p:txBody>
      </p:sp>
      <p:sp>
        <p:nvSpPr>
          <p:cNvPr id="4" name="Shape 2"/>
          <p:cNvSpPr/>
          <p:nvPr/>
        </p:nvSpPr>
        <p:spPr>
          <a:xfrm>
            <a:off x="470916" y="1156716"/>
            <a:ext cx="7178040" cy="4098680"/>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dp-drill-visitors.png">    </p:cNvPr>
          <p:cNvPicPr>
            <a:picLocks noChangeAspect="1"/>
          </p:cNvPicPr>
          <p:nvPr/>
        </p:nvPicPr>
        <p:blipFill>
          <a:blip r:embed="rId1"/>
          <a:stretch>
            <a:fillRect/>
          </a:stretch>
        </p:blipFill>
        <p:spPr>
          <a:xfrm>
            <a:off x="502920" y="1188720"/>
            <a:ext cx="7114032" cy="4034672"/>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261257"/>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visitors</a:t>
            </a:r>
            <a:endParaRPr lang="en-US" sz="880" dirty="0"/>
          </a:p>
        </p:txBody>
      </p:sp>
      <p:sp>
        <p:nvSpPr>
          <p:cNvPr id="11" name="Shape 8"/>
          <p:cNvSpPr/>
          <p:nvPr/>
        </p:nvSpPr>
        <p:spPr>
          <a:xfrm>
            <a:off x="8019288" y="2026049"/>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26049"/>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1980329"/>
            <a:ext cx="2633472" cy="261257"/>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Site visits table, by site</a:t>
            </a:r>
            <a:endParaRPr lang="en-US" sz="880" dirty="0"/>
          </a:p>
        </p:txBody>
      </p:sp>
      <p:sp>
        <p:nvSpPr>
          <p:cNvPr id="14" name="Shape 11"/>
          <p:cNvSpPr/>
          <p:nvPr/>
        </p:nvSpPr>
        <p:spPr>
          <a:xfrm>
            <a:off x="8019288" y="2287306"/>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287306"/>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241586"/>
            <a:ext cx="2633472" cy="261257"/>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Page View Count</a:t>
            </a:r>
            <a:endParaRPr lang="en-US" sz="880" dirty="0"/>
          </a:p>
        </p:txBody>
      </p:sp>
      <p:sp>
        <p:nvSpPr>
          <p:cNvPr id="17" name="Shape 14"/>
          <p:cNvSpPr/>
          <p:nvPr/>
        </p:nvSpPr>
        <p:spPr>
          <a:xfrm>
            <a:off x="8019288" y="2548563"/>
            <a:ext cx="731520" cy="169164"/>
          </a:xfrm>
          <a:prstGeom prst="roundRect">
            <a:avLst>
              <a:gd name="adj" fmla="val 48649"/>
            </a:avLst>
          </a:prstGeom>
          <a:solidFill>
            <a:srgbClr val="EAF4E4"/>
          </a:solidFill>
          <a:ln w="12700">
            <a:solidFill>
              <a:srgbClr val="EAF4E4"/>
            </a:solidFill>
            <a:prstDash val="solid"/>
          </a:ln>
        </p:spPr>
      </p:sp>
      <p:sp>
        <p:nvSpPr>
          <p:cNvPr id="18" name="Text 15"/>
          <p:cNvSpPr/>
          <p:nvPr/>
        </p:nvSpPr>
        <p:spPr>
          <a:xfrm>
            <a:off x="8019288" y="2548563"/>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9" name="Text 16"/>
          <p:cNvSpPr/>
          <p:nvPr/>
        </p:nvSpPr>
        <p:spPr>
          <a:xfrm>
            <a:off x="8842248" y="2502843"/>
            <a:ext cx="2633472" cy="261257"/>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Visited Page Count</a:t>
            </a:r>
            <a:endParaRPr lang="en-US" sz="880" dirty="0"/>
          </a:p>
        </p:txBody>
      </p:sp>
      <p:sp>
        <p:nvSpPr>
          <p:cNvPr id="20" name="Shape 17"/>
          <p:cNvSpPr/>
          <p:nvPr/>
        </p:nvSpPr>
        <p:spPr>
          <a:xfrm>
            <a:off x="8019288" y="2809821"/>
            <a:ext cx="731520" cy="169164"/>
          </a:xfrm>
          <a:prstGeom prst="roundRect">
            <a:avLst>
              <a:gd name="adj" fmla="val 48649"/>
            </a:avLst>
          </a:prstGeom>
          <a:solidFill>
            <a:srgbClr val="EAF4E4"/>
          </a:solidFill>
          <a:ln w="12700">
            <a:solidFill>
              <a:srgbClr val="EAF4E4"/>
            </a:solidFill>
            <a:prstDash val="solid"/>
          </a:ln>
        </p:spPr>
      </p:sp>
      <p:sp>
        <p:nvSpPr>
          <p:cNvPr id="21" name="Text 18"/>
          <p:cNvSpPr/>
          <p:nvPr/>
        </p:nvSpPr>
        <p:spPr>
          <a:xfrm>
            <a:off x="8019288" y="2809821"/>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2" name="Text 19"/>
          <p:cNvSpPr/>
          <p:nvPr/>
        </p:nvSpPr>
        <p:spPr>
          <a:xfrm>
            <a:off x="8842248" y="2764101"/>
            <a:ext cx="2633472" cy="261257"/>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Quick Windows (Last 7,30,90,180 days)</a:t>
            </a:r>
            <a:endParaRPr lang="en-US" sz="880" dirty="0"/>
          </a:p>
        </p:txBody>
      </p:sp>
      <p:sp>
        <p:nvSpPr>
          <p:cNvPr id="23" name="Shape 20"/>
          <p:cNvSpPr/>
          <p:nvPr/>
        </p:nvSpPr>
        <p:spPr>
          <a:xfrm>
            <a:off x="8019288" y="3071078"/>
            <a:ext cx="731520" cy="169164"/>
          </a:xfrm>
          <a:prstGeom prst="roundRect">
            <a:avLst>
              <a:gd name="adj" fmla="val 48649"/>
            </a:avLst>
          </a:prstGeom>
          <a:solidFill>
            <a:srgbClr val="EAF4E4"/>
          </a:solidFill>
          <a:ln w="12700">
            <a:solidFill>
              <a:srgbClr val="EAF4E4"/>
            </a:solidFill>
            <a:prstDash val="solid"/>
          </a:ln>
        </p:spPr>
      </p:sp>
      <p:sp>
        <p:nvSpPr>
          <p:cNvPr id="24" name="Text 21"/>
          <p:cNvSpPr/>
          <p:nvPr/>
        </p:nvSpPr>
        <p:spPr>
          <a:xfrm>
            <a:off x="8019288" y="3071078"/>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5" name="Text 22"/>
          <p:cNvSpPr/>
          <p:nvPr/>
        </p:nvSpPr>
        <p:spPr>
          <a:xfrm>
            <a:off x="8842248" y="3025358"/>
            <a:ext cx="2633472" cy="261257"/>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Filter by month/year</a:t>
            </a:r>
            <a:endParaRPr lang="en-US" sz="880" dirty="0"/>
          </a:p>
        </p:txBody>
      </p:sp>
      <p:sp>
        <p:nvSpPr>
          <p:cNvPr id="26" name="Shape 23"/>
          <p:cNvSpPr/>
          <p:nvPr/>
        </p:nvSpPr>
        <p:spPr>
          <a:xfrm>
            <a:off x="8019288" y="3332335"/>
            <a:ext cx="731520" cy="169164"/>
          </a:xfrm>
          <a:prstGeom prst="roundRect">
            <a:avLst>
              <a:gd name="adj" fmla="val 48649"/>
            </a:avLst>
          </a:prstGeom>
          <a:solidFill>
            <a:srgbClr val="EAF4E4"/>
          </a:solidFill>
          <a:ln w="12700">
            <a:solidFill>
              <a:srgbClr val="EAF4E4"/>
            </a:solidFill>
            <a:prstDash val="solid"/>
          </a:ln>
        </p:spPr>
      </p:sp>
      <p:sp>
        <p:nvSpPr>
          <p:cNvPr id="27" name="Text 24"/>
          <p:cNvSpPr/>
          <p:nvPr/>
        </p:nvSpPr>
        <p:spPr>
          <a:xfrm>
            <a:off x="8019288" y="3332335"/>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8" name="Text 25"/>
          <p:cNvSpPr/>
          <p:nvPr/>
        </p:nvSpPr>
        <p:spPr>
          <a:xfrm>
            <a:off x="8842248" y="3286615"/>
            <a:ext cx="2633472" cy="261257"/>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Name of sites</a:t>
            </a:r>
            <a:endParaRPr lang="en-US" sz="880" dirty="0"/>
          </a:p>
        </p:txBody>
      </p:sp>
      <p:sp>
        <p:nvSpPr>
          <p:cNvPr id="29" name="Shape 26"/>
          <p:cNvSpPr/>
          <p:nvPr/>
        </p:nvSpPr>
        <p:spPr>
          <a:xfrm>
            <a:off x="8019288" y="3593592"/>
            <a:ext cx="731520" cy="169164"/>
          </a:xfrm>
          <a:prstGeom prst="roundRect">
            <a:avLst>
              <a:gd name="adj" fmla="val 48649"/>
            </a:avLst>
          </a:prstGeom>
          <a:solidFill>
            <a:srgbClr val="EAF4E4"/>
          </a:solidFill>
          <a:ln w="12700">
            <a:solidFill>
              <a:srgbClr val="EAF4E4"/>
            </a:solidFill>
            <a:prstDash val="solid"/>
          </a:ln>
        </p:spPr>
      </p:sp>
      <p:sp>
        <p:nvSpPr>
          <p:cNvPr id="30" name="Text 27"/>
          <p:cNvSpPr/>
          <p:nvPr/>
        </p:nvSpPr>
        <p:spPr>
          <a:xfrm>
            <a:off x="8019288" y="35935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31" name="Text 28"/>
          <p:cNvSpPr/>
          <p:nvPr/>
        </p:nvSpPr>
        <p:spPr>
          <a:xfrm>
            <a:off x="8842248" y="3547872"/>
            <a:ext cx="2633472" cy="261257"/>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Page View Count</a:t>
            </a:r>
            <a:endParaRPr lang="en-US" sz="880" dirty="0"/>
          </a:p>
        </p:txBody>
      </p:sp>
      <p:sp>
        <p:nvSpPr>
          <p:cNvPr id="32" name="Shape 29"/>
          <p:cNvSpPr/>
          <p:nvPr/>
        </p:nvSpPr>
        <p:spPr>
          <a:xfrm>
            <a:off x="8019288" y="3854849"/>
            <a:ext cx="731520" cy="169164"/>
          </a:xfrm>
          <a:prstGeom prst="roundRect">
            <a:avLst>
              <a:gd name="adj" fmla="val 48649"/>
            </a:avLst>
          </a:prstGeom>
          <a:solidFill>
            <a:srgbClr val="EAF4E4"/>
          </a:solidFill>
          <a:ln w="12700">
            <a:solidFill>
              <a:srgbClr val="EAF4E4"/>
            </a:solidFill>
            <a:prstDash val="solid"/>
          </a:ln>
        </p:spPr>
      </p:sp>
      <p:sp>
        <p:nvSpPr>
          <p:cNvPr id="33" name="Text 30"/>
          <p:cNvSpPr/>
          <p:nvPr/>
        </p:nvSpPr>
        <p:spPr>
          <a:xfrm>
            <a:off x="8019288" y="3854849"/>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34" name="Text 31"/>
          <p:cNvSpPr/>
          <p:nvPr/>
        </p:nvSpPr>
        <p:spPr>
          <a:xfrm>
            <a:off x="8842248" y="3809129"/>
            <a:ext cx="2633472" cy="261257"/>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Visited Page Count</a:t>
            </a:r>
            <a:endParaRPr lang="en-US" sz="880" dirty="0"/>
          </a:p>
        </p:txBody>
      </p:sp>
      <p:sp>
        <p:nvSpPr>
          <p:cNvPr id="35" name="Shape 32"/>
          <p:cNvSpPr/>
          <p:nvPr/>
        </p:nvSpPr>
        <p:spPr>
          <a:xfrm>
            <a:off x="8019288" y="4116106"/>
            <a:ext cx="731520" cy="169164"/>
          </a:xfrm>
          <a:prstGeom prst="roundRect">
            <a:avLst>
              <a:gd name="adj" fmla="val 48649"/>
            </a:avLst>
          </a:prstGeom>
          <a:solidFill>
            <a:srgbClr val="EAF4E4"/>
          </a:solidFill>
          <a:ln w="12700">
            <a:solidFill>
              <a:srgbClr val="EAF4E4"/>
            </a:solidFill>
            <a:prstDash val="solid"/>
          </a:ln>
        </p:spPr>
      </p:sp>
      <p:sp>
        <p:nvSpPr>
          <p:cNvPr id="36" name="Text 33"/>
          <p:cNvSpPr/>
          <p:nvPr/>
        </p:nvSpPr>
        <p:spPr>
          <a:xfrm>
            <a:off x="8019288" y="4116106"/>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37" name="Text 34"/>
          <p:cNvSpPr/>
          <p:nvPr/>
        </p:nvSpPr>
        <p:spPr>
          <a:xfrm>
            <a:off x="8842248" y="4070386"/>
            <a:ext cx="2633472" cy="261257"/>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EDRMS Site Type</a:t>
            </a:r>
            <a:endParaRPr lang="en-US" sz="880" dirty="0"/>
          </a:p>
        </p:txBody>
      </p:sp>
      <p:sp>
        <p:nvSpPr>
          <p:cNvPr id="38" name="Shape 35"/>
          <p:cNvSpPr/>
          <p:nvPr/>
        </p:nvSpPr>
        <p:spPr>
          <a:xfrm>
            <a:off x="8019288" y="4377363"/>
            <a:ext cx="731520" cy="169164"/>
          </a:xfrm>
          <a:prstGeom prst="roundRect">
            <a:avLst>
              <a:gd name="adj" fmla="val 48649"/>
            </a:avLst>
          </a:prstGeom>
          <a:solidFill>
            <a:srgbClr val="FBE6E4"/>
          </a:solidFill>
          <a:ln w="12700">
            <a:solidFill>
              <a:srgbClr val="FBE6E4"/>
            </a:solidFill>
            <a:prstDash val="solid"/>
          </a:ln>
        </p:spPr>
      </p:sp>
      <p:sp>
        <p:nvSpPr>
          <p:cNvPr id="39" name="Text 36"/>
          <p:cNvSpPr/>
          <p:nvPr/>
        </p:nvSpPr>
        <p:spPr>
          <a:xfrm>
            <a:off x="8019288" y="4377363"/>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40" name="Text 37"/>
          <p:cNvSpPr/>
          <p:nvPr/>
        </p:nvSpPr>
        <p:spPr>
          <a:xfrm>
            <a:off x="8842248" y="4331643"/>
            <a:ext cx="2633472" cy="261257"/>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Total number of visitors (external) (#, %)</a:t>
            </a:r>
            <a:endParaRPr lang="en-US" sz="880" dirty="0"/>
          </a:p>
        </p:txBody>
      </p:sp>
      <p:sp>
        <p:nvSpPr>
          <p:cNvPr id="41" name="Shape 38"/>
          <p:cNvSpPr/>
          <p:nvPr/>
        </p:nvSpPr>
        <p:spPr>
          <a:xfrm>
            <a:off x="8019288" y="4638621"/>
            <a:ext cx="731520" cy="169164"/>
          </a:xfrm>
          <a:prstGeom prst="roundRect">
            <a:avLst>
              <a:gd name="adj" fmla="val 48649"/>
            </a:avLst>
          </a:prstGeom>
          <a:solidFill>
            <a:srgbClr val="FBE6E4"/>
          </a:solidFill>
          <a:ln w="12700">
            <a:solidFill>
              <a:srgbClr val="FBE6E4"/>
            </a:solidFill>
            <a:prstDash val="solid"/>
          </a:ln>
        </p:spPr>
      </p:sp>
      <p:sp>
        <p:nvSpPr>
          <p:cNvPr id="42" name="Text 39"/>
          <p:cNvSpPr/>
          <p:nvPr/>
        </p:nvSpPr>
        <p:spPr>
          <a:xfrm>
            <a:off x="8019288" y="4638621"/>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43" name="Text 40"/>
          <p:cNvSpPr/>
          <p:nvPr/>
        </p:nvSpPr>
        <p:spPr>
          <a:xfrm>
            <a:off x="8842248" y="4592901"/>
            <a:ext cx="2633472" cy="261257"/>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Total number of visitors (internal) (#, %)</a:t>
            </a:r>
            <a:endParaRPr lang="en-US" sz="880" dirty="0"/>
          </a:p>
        </p:txBody>
      </p:sp>
      <p:sp>
        <p:nvSpPr>
          <p:cNvPr id="44" name="Shape 41"/>
          <p:cNvSpPr/>
          <p:nvPr/>
        </p:nvSpPr>
        <p:spPr>
          <a:xfrm>
            <a:off x="8019288" y="4899878"/>
            <a:ext cx="731520" cy="169164"/>
          </a:xfrm>
          <a:prstGeom prst="roundRect">
            <a:avLst>
              <a:gd name="adj" fmla="val 48649"/>
            </a:avLst>
          </a:prstGeom>
          <a:solidFill>
            <a:srgbClr val="FBE6E4"/>
          </a:solidFill>
          <a:ln w="12700">
            <a:solidFill>
              <a:srgbClr val="FBE6E4"/>
            </a:solidFill>
            <a:prstDash val="solid"/>
          </a:ln>
        </p:spPr>
      </p:sp>
      <p:sp>
        <p:nvSpPr>
          <p:cNvPr id="45" name="Text 42"/>
          <p:cNvSpPr/>
          <p:nvPr/>
        </p:nvSpPr>
        <p:spPr>
          <a:xfrm>
            <a:off x="8019288" y="4899878"/>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46" name="Text 43"/>
          <p:cNvSpPr/>
          <p:nvPr/>
        </p:nvSpPr>
        <p:spPr>
          <a:xfrm>
            <a:off x="8842248" y="4854158"/>
            <a:ext cx="2633472" cy="261257"/>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Total number of access requests granted (#, %)</a:t>
            </a:r>
            <a:endParaRPr lang="en-US" sz="880" dirty="0"/>
          </a:p>
        </p:txBody>
      </p:sp>
      <p:sp>
        <p:nvSpPr>
          <p:cNvPr id="47" name="Shape 44"/>
          <p:cNvSpPr/>
          <p:nvPr/>
        </p:nvSpPr>
        <p:spPr>
          <a:xfrm>
            <a:off x="8019288" y="5161135"/>
            <a:ext cx="731520" cy="169164"/>
          </a:xfrm>
          <a:prstGeom prst="roundRect">
            <a:avLst>
              <a:gd name="adj" fmla="val 48649"/>
            </a:avLst>
          </a:prstGeom>
          <a:solidFill>
            <a:srgbClr val="FBE6E4"/>
          </a:solidFill>
          <a:ln w="12700">
            <a:solidFill>
              <a:srgbClr val="FBE6E4"/>
            </a:solidFill>
            <a:prstDash val="solid"/>
          </a:ln>
        </p:spPr>
      </p:sp>
      <p:sp>
        <p:nvSpPr>
          <p:cNvPr id="48" name="Text 45"/>
          <p:cNvSpPr/>
          <p:nvPr/>
        </p:nvSpPr>
        <p:spPr>
          <a:xfrm>
            <a:off x="8019288" y="5161135"/>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49" name="Text 46"/>
          <p:cNvSpPr/>
          <p:nvPr/>
        </p:nvSpPr>
        <p:spPr>
          <a:xfrm>
            <a:off x="8842248" y="5115415"/>
            <a:ext cx="2633472" cy="261257"/>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Total number of access requests denied (#, %)</a:t>
            </a:r>
            <a:endParaRPr lang="en-US" sz="880" dirty="0"/>
          </a:p>
        </p:txBody>
      </p:sp>
      <p:sp>
        <p:nvSpPr>
          <p:cNvPr id="50" name="Shape 47"/>
          <p:cNvSpPr/>
          <p:nvPr/>
        </p:nvSpPr>
        <p:spPr>
          <a:xfrm>
            <a:off x="502920" y="5779008"/>
            <a:ext cx="118872" cy="118872"/>
          </a:xfrm>
          <a:prstGeom prst="ellipse">
            <a:avLst/>
          </a:prstGeom>
          <a:solidFill>
            <a:srgbClr val="0072BC"/>
          </a:solidFill>
          <a:ln w="12700">
            <a:solidFill>
              <a:srgbClr val="0072BC"/>
            </a:solidFill>
            <a:prstDash val="solid"/>
          </a:ln>
        </p:spPr>
      </p:sp>
      <p:sp>
        <p:nvSpPr>
          <p:cNvPr id="51" name="Text 48"/>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Page views and unique pages, per site, with quick date windows.</a:t>
            </a:r>
            <a:endParaRPr lang="en-US" sz="1000" dirty="0"/>
          </a:p>
        </p:txBody>
      </p:sp>
      <p:sp>
        <p:nvSpPr>
          <p:cNvPr id="52" name="Shape 49"/>
          <p:cNvSpPr/>
          <p:nvPr/>
        </p:nvSpPr>
        <p:spPr>
          <a:xfrm>
            <a:off x="4270248" y="5779008"/>
            <a:ext cx="118872" cy="118872"/>
          </a:xfrm>
          <a:prstGeom prst="ellipse">
            <a:avLst/>
          </a:prstGeom>
          <a:solidFill>
            <a:srgbClr val="00A5A8"/>
          </a:solidFill>
          <a:ln w="12700">
            <a:solidFill>
              <a:srgbClr val="00A5A8"/>
            </a:solidFill>
            <a:prstDash val="solid"/>
          </a:ln>
        </p:spPr>
      </p:sp>
      <p:sp>
        <p:nvSpPr>
          <p:cNvPr id="53" name="Text 50"/>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You can also pick any month and year.</a:t>
            </a:r>
            <a:endParaRPr lang="en-US" sz="1000" dirty="0"/>
          </a:p>
        </p:txBody>
      </p:sp>
      <p:sp>
        <p:nvSpPr>
          <p:cNvPr id="54" name="Shape 51"/>
          <p:cNvSpPr/>
          <p:nvPr/>
        </p:nvSpPr>
        <p:spPr>
          <a:xfrm>
            <a:off x="8037576" y="5779008"/>
            <a:ext cx="118872" cy="118872"/>
          </a:xfrm>
          <a:prstGeom prst="ellipse">
            <a:avLst/>
          </a:prstGeom>
          <a:solidFill>
            <a:srgbClr val="5CA943"/>
          </a:solidFill>
          <a:ln w="12700">
            <a:solidFill>
              <a:srgbClr val="5CA943"/>
            </a:solidFill>
            <a:prstDash val="solid"/>
          </a:ln>
        </p:spPr>
      </p:sp>
      <p:sp>
        <p:nvSpPr>
          <p:cNvPr id="55" name="Text 52"/>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What we cannot yet do is separate ADB people from outsiders.</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DEPARTMENT INSIGHTS</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Documents</a:t>
            </a:r>
            <a:endParaRPr lang="en-US" sz="2500" dirty="0"/>
          </a:p>
        </p:txBody>
      </p:sp>
      <p:sp>
        <p:nvSpPr>
          <p:cNvPr id="4" name="Shape 2"/>
          <p:cNvSpPr/>
          <p:nvPr/>
        </p:nvSpPr>
        <p:spPr>
          <a:xfrm>
            <a:off x="470916" y="1156716"/>
            <a:ext cx="7178040" cy="3925911"/>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dp-drill-docs.png">    </p:cNvPr>
          <p:cNvPicPr>
            <a:picLocks noChangeAspect="1"/>
          </p:cNvPicPr>
          <p:nvPr/>
        </p:nvPicPr>
        <p:blipFill>
          <a:blip r:embed="rId1"/>
          <a:stretch>
            <a:fillRect/>
          </a:stretch>
        </p:blipFill>
        <p:spPr>
          <a:xfrm>
            <a:off x="502920" y="1188720"/>
            <a:ext cx="7114032" cy="3861903"/>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documents created / uploaded</a:t>
            </a:r>
            <a:endParaRPr lang="en-US" sz="880" dirty="0"/>
          </a:p>
        </p:txBody>
      </p:sp>
      <p:sp>
        <p:nvSpPr>
          <p:cNvPr id="11" name="Shape 8"/>
          <p:cNvSpPr/>
          <p:nvPr/>
        </p:nvSpPr>
        <p:spPr>
          <a:xfrm>
            <a:off x="8019288" y="2087372"/>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EDRMS Active Sites</a:t>
            </a:r>
            <a:endParaRPr lang="en-US" sz="880" dirty="0"/>
          </a:p>
        </p:txBody>
      </p:sp>
      <p:sp>
        <p:nvSpPr>
          <p:cNvPr id="14" name="Shape 11"/>
          <p:cNvSpPr/>
          <p:nvPr/>
        </p:nvSpPr>
        <p:spPr>
          <a:xfrm>
            <a:off x="8019288" y="2409952"/>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4099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3642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documents size</a:t>
            </a:r>
            <a:endParaRPr lang="en-US" sz="880" dirty="0"/>
          </a:p>
        </p:txBody>
      </p:sp>
      <p:sp>
        <p:nvSpPr>
          <p:cNvPr id="17" name="Shape 14"/>
          <p:cNvSpPr/>
          <p:nvPr/>
        </p:nvSpPr>
        <p:spPr>
          <a:xfrm>
            <a:off x="8019288" y="2732532"/>
            <a:ext cx="731520" cy="169164"/>
          </a:xfrm>
          <a:prstGeom prst="roundRect">
            <a:avLst>
              <a:gd name="adj" fmla="val 48649"/>
            </a:avLst>
          </a:prstGeom>
          <a:solidFill>
            <a:srgbClr val="EAF4E4"/>
          </a:solidFill>
          <a:ln w="12700">
            <a:solidFill>
              <a:srgbClr val="EAF4E4"/>
            </a:solidFill>
            <a:prstDash val="solid"/>
          </a:ln>
        </p:spPr>
      </p:sp>
      <p:sp>
        <p:nvSpPr>
          <p:cNvPr id="18" name="Text 15"/>
          <p:cNvSpPr/>
          <p:nvPr/>
        </p:nvSpPr>
        <p:spPr>
          <a:xfrm>
            <a:off x="8019288" y="273253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9" name="Text 16"/>
          <p:cNvSpPr/>
          <p:nvPr/>
        </p:nvSpPr>
        <p:spPr>
          <a:xfrm>
            <a:off x="8842248" y="268681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Name of sites</a:t>
            </a:r>
            <a:endParaRPr lang="en-US" sz="880" dirty="0"/>
          </a:p>
        </p:txBody>
      </p:sp>
      <p:sp>
        <p:nvSpPr>
          <p:cNvPr id="20" name="Shape 17"/>
          <p:cNvSpPr/>
          <p:nvPr/>
        </p:nvSpPr>
        <p:spPr>
          <a:xfrm>
            <a:off x="8019288" y="3055112"/>
            <a:ext cx="731520" cy="169164"/>
          </a:xfrm>
          <a:prstGeom prst="roundRect">
            <a:avLst>
              <a:gd name="adj" fmla="val 48649"/>
            </a:avLst>
          </a:prstGeom>
          <a:solidFill>
            <a:srgbClr val="EAF4E4"/>
          </a:solidFill>
          <a:ln w="12700">
            <a:solidFill>
              <a:srgbClr val="EAF4E4"/>
            </a:solidFill>
            <a:prstDash val="solid"/>
          </a:ln>
        </p:spPr>
      </p:sp>
      <p:sp>
        <p:nvSpPr>
          <p:cNvPr id="21" name="Text 18"/>
          <p:cNvSpPr/>
          <p:nvPr/>
        </p:nvSpPr>
        <p:spPr>
          <a:xfrm>
            <a:off x="8019288" y="305511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2" name="Text 19"/>
          <p:cNvSpPr/>
          <p:nvPr/>
        </p:nvSpPr>
        <p:spPr>
          <a:xfrm>
            <a:off x="8842248" y="300939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documents created / uploaded</a:t>
            </a:r>
            <a:endParaRPr lang="en-US" sz="880" dirty="0"/>
          </a:p>
        </p:txBody>
      </p:sp>
      <p:sp>
        <p:nvSpPr>
          <p:cNvPr id="23" name="Shape 20"/>
          <p:cNvSpPr/>
          <p:nvPr/>
        </p:nvSpPr>
        <p:spPr>
          <a:xfrm>
            <a:off x="8019288" y="3377692"/>
            <a:ext cx="731520" cy="169164"/>
          </a:xfrm>
          <a:prstGeom prst="roundRect">
            <a:avLst>
              <a:gd name="adj" fmla="val 48649"/>
            </a:avLst>
          </a:prstGeom>
          <a:solidFill>
            <a:srgbClr val="EAF4E4"/>
          </a:solidFill>
          <a:ln w="12700">
            <a:solidFill>
              <a:srgbClr val="EAF4E4"/>
            </a:solidFill>
            <a:prstDash val="solid"/>
          </a:ln>
        </p:spPr>
      </p:sp>
      <p:sp>
        <p:nvSpPr>
          <p:cNvPr id="24" name="Text 21"/>
          <p:cNvSpPr/>
          <p:nvPr/>
        </p:nvSpPr>
        <p:spPr>
          <a:xfrm>
            <a:off x="8019288" y="33776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5" name="Text 22"/>
          <p:cNvSpPr/>
          <p:nvPr/>
        </p:nvSpPr>
        <p:spPr>
          <a:xfrm>
            <a:off x="8842248" y="33319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Documents size (in GB)</a:t>
            </a:r>
            <a:endParaRPr lang="en-US" sz="880" dirty="0"/>
          </a:p>
        </p:txBody>
      </p:sp>
      <p:sp>
        <p:nvSpPr>
          <p:cNvPr id="26" name="Shape 23"/>
          <p:cNvSpPr/>
          <p:nvPr/>
        </p:nvSpPr>
        <p:spPr>
          <a:xfrm>
            <a:off x="8019288" y="3700272"/>
            <a:ext cx="731520" cy="169164"/>
          </a:xfrm>
          <a:prstGeom prst="roundRect">
            <a:avLst>
              <a:gd name="adj" fmla="val 48649"/>
            </a:avLst>
          </a:prstGeom>
          <a:solidFill>
            <a:srgbClr val="FBE6E4"/>
          </a:solidFill>
          <a:ln w="12700">
            <a:solidFill>
              <a:srgbClr val="FBE6E4"/>
            </a:solidFill>
            <a:prstDash val="solid"/>
          </a:ln>
        </p:spPr>
      </p:sp>
      <p:sp>
        <p:nvSpPr>
          <p:cNvPr id="27" name="Text 24"/>
          <p:cNvSpPr/>
          <p:nvPr/>
        </p:nvSpPr>
        <p:spPr>
          <a:xfrm>
            <a:off x="8019288" y="370027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28" name="Text 25"/>
          <p:cNvSpPr/>
          <p:nvPr/>
        </p:nvSpPr>
        <p:spPr>
          <a:xfrm>
            <a:off x="8842248" y="365455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Number of users creating documents</a:t>
            </a:r>
            <a:endParaRPr lang="en-US" sz="880" dirty="0"/>
          </a:p>
        </p:txBody>
      </p:sp>
      <p:sp>
        <p:nvSpPr>
          <p:cNvPr id="29" name="Shape 26"/>
          <p:cNvSpPr/>
          <p:nvPr/>
        </p:nvSpPr>
        <p:spPr>
          <a:xfrm>
            <a:off x="502920" y="5779008"/>
            <a:ext cx="118872" cy="118872"/>
          </a:xfrm>
          <a:prstGeom prst="ellipse">
            <a:avLst/>
          </a:prstGeom>
          <a:solidFill>
            <a:srgbClr val="0072BC"/>
          </a:solidFill>
          <a:ln w="12700">
            <a:solidFill>
              <a:srgbClr val="0072BC"/>
            </a:solidFill>
            <a:prstDash val="solid"/>
          </a:ln>
        </p:spPr>
      </p:sp>
      <p:sp>
        <p:nvSpPr>
          <p:cNvPr id="30" name="Text 27"/>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Counts and storage size, per site.</a:t>
            </a:r>
            <a:endParaRPr lang="en-US" sz="1000" dirty="0"/>
          </a:p>
        </p:txBody>
      </p:sp>
      <p:sp>
        <p:nvSpPr>
          <p:cNvPr id="31" name="Shape 28"/>
          <p:cNvSpPr/>
          <p:nvPr/>
        </p:nvSpPr>
        <p:spPr>
          <a:xfrm>
            <a:off x="4270248" y="5779008"/>
            <a:ext cx="118872" cy="118872"/>
          </a:xfrm>
          <a:prstGeom prst="ellipse">
            <a:avLst/>
          </a:prstGeom>
          <a:solidFill>
            <a:srgbClr val="00A5A8"/>
          </a:solidFill>
          <a:ln w="12700">
            <a:solidFill>
              <a:srgbClr val="00A5A8"/>
            </a:solidFill>
            <a:prstDash val="solid"/>
          </a:ln>
        </p:spPr>
      </p:sp>
      <p:sp>
        <p:nvSpPr>
          <p:cNvPr id="32" name="Text 29"/>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Solid and sourced, apart from one item.</a:t>
            </a:r>
            <a:endParaRPr lang="en-US" sz="1000" dirty="0"/>
          </a:p>
        </p:txBody>
      </p:sp>
      <p:sp>
        <p:nvSpPr>
          <p:cNvPr id="33" name="Shape 30"/>
          <p:cNvSpPr/>
          <p:nvPr/>
        </p:nvSpPr>
        <p:spPr>
          <a:xfrm>
            <a:off x="8037576" y="5779008"/>
            <a:ext cx="118872" cy="118872"/>
          </a:xfrm>
          <a:prstGeom prst="ellipse">
            <a:avLst/>
          </a:prstGeom>
          <a:solidFill>
            <a:srgbClr val="5CA943"/>
          </a:solidFill>
          <a:ln w="12700">
            <a:solidFill>
              <a:srgbClr val="5CA943"/>
            </a:solidFill>
            <a:prstDash val="solid"/>
          </a:ln>
        </p:spPr>
      </p:sp>
      <p:sp>
        <p:nvSpPr>
          <p:cNvPr id="34" name="Text 31"/>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Same “how many people are creating documents” question as bank-wide.</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DEPARTMENT INSIGHTS</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Records declaration</a:t>
            </a:r>
            <a:endParaRPr lang="en-US" sz="2500" dirty="0"/>
          </a:p>
        </p:txBody>
      </p:sp>
      <p:sp>
        <p:nvSpPr>
          <p:cNvPr id="4" name="Shape 2"/>
          <p:cNvSpPr/>
          <p:nvPr/>
        </p:nvSpPr>
        <p:spPr>
          <a:xfrm>
            <a:off x="470916" y="1156716"/>
            <a:ext cx="7178040" cy="3925911"/>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dp-drill-rec.png">    </p:cNvPr>
          <p:cNvPicPr>
            <a:picLocks noChangeAspect="1"/>
          </p:cNvPicPr>
          <p:nvPr/>
        </p:nvPicPr>
        <p:blipFill>
          <a:blip r:embed="rId1"/>
          <a:stretch>
            <a:fillRect/>
          </a:stretch>
        </p:blipFill>
        <p:spPr>
          <a:xfrm>
            <a:off x="502920" y="1188720"/>
            <a:ext cx="7114032" cy="3861903"/>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records declared</a:t>
            </a:r>
            <a:endParaRPr lang="en-US" sz="880" dirty="0"/>
          </a:p>
        </p:txBody>
      </p:sp>
      <p:sp>
        <p:nvSpPr>
          <p:cNvPr id="11" name="Shape 8"/>
          <p:cNvSpPr/>
          <p:nvPr/>
        </p:nvSpPr>
        <p:spPr>
          <a:xfrm>
            <a:off x="8019288" y="2087372"/>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users declaring records</a:t>
            </a:r>
            <a:endParaRPr lang="en-US" sz="880" dirty="0"/>
          </a:p>
        </p:txBody>
      </p:sp>
      <p:sp>
        <p:nvSpPr>
          <p:cNvPr id="14" name="Shape 11"/>
          <p:cNvSpPr/>
          <p:nvPr/>
        </p:nvSpPr>
        <p:spPr>
          <a:xfrm>
            <a:off x="8019288" y="2409952"/>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4099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3642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Sites with no declared record in 180 days</a:t>
            </a:r>
            <a:endParaRPr lang="en-US" sz="880" dirty="0"/>
          </a:p>
        </p:txBody>
      </p:sp>
      <p:sp>
        <p:nvSpPr>
          <p:cNvPr id="17" name="Shape 14"/>
          <p:cNvSpPr/>
          <p:nvPr/>
        </p:nvSpPr>
        <p:spPr>
          <a:xfrm>
            <a:off x="8019288" y="2732532"/>
            <a:ext cx="731520" cy="169164"/>
          </a:xfrm>
          <a:prstGeom prst="roundRect">
            <a:avLst>
              <a:gd name="adj" fmla="val 48649"/>
            </a:avLst>
          </a:prstGeom>
          <a:solidFill>
            <a:srgbClr val="EAF4E4"/>
          </a:solidFill>
          <a:ln w="12700">
            <a:solidFill>
              <a:srgbClr val="EAF4E4"/>
            </a:solidFill>
            <a:prstDash val="solid"/>
          </a:ln>
        </p:spPr>
      </p:sp>
      <p:sp>
        <p:nvSpPr>
          <p:cNvPr id="18" name="Text 15"/>
          <p:cNvSpPr/>
          <p:nvPr/>
        </p:nvSpPr>
        <p:spPr>
          <a:xfrm>
            <a:off x="8019288" y="273253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9" name="Text 16"/>
          <p:cNvSpPr/>
          <p:nvPr/>
        </p:nvSpPr>
        <p:spPr>
          <a:xfrm>
            <a:off x="8842248" y="268681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records declared</a:t>
            </a:r>
            <a:endParaRPr lang="en-US" sz="880" dirty="0"/>
          </a:p>
        </p:txBody>
      </p:sp>
      <p:sp>
        <p:nvSpPr>
          <p:cNvPr id="20" name="Shape 17"/>
          <p:cNvSpPr/>
          <p:nvPr/>
        </p:nvSpPr>
        <p:spPr>
          <a:xfrm>
            <a:off x="8019288" y="3055112"/>
            <a:ext cx="731520" cy="169164"/>
          </a:xfrm>
          <a:prstGeom prst="roundRect">
            <a:avLst>
              <a:gd name="adj" fmla="val 48649"/>
            </a:avLst>
          </a:prstGeom>
          <a:solidFill>
            <a:srgbClr val="EAF4E4"/>
          </a:solidFill>
          <a:ln w="12700">
            <a:solidFill>
              <a:srgbClr val="EAF4E4"/>
            </a:solidFill>
            <a:prstDash val="solid"/>
          </a:ln>
        </p:spPr>
      </p:sp>
      <p:sp>
        <p:nvSpPr>
          <p:cNvPr id="21" name="Text 18"/>
          <p:cNvSpPr/>
          <p:nvPr/>
        </p:nvSpPr>
        <p:spPr>
          <a:xfrm>
            <a:off x="8019288" y="305511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2" name="Text 19"/>
          <p:cNvSpPr/>
          <p:nvPr/>
        </p:nvSpPr>
        <p:spPr>
          <a:xfrm>
            <a:off x="8842248" y="300939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users declaring records</a:t>
            </a:r>
            <a:endParaRPr lang="en-US" sz="880" dirty="0"/>
          </a:p>
        </p:txBody>
      </p:sp>
      <p:sp>
        <p:nvSpPr>
          <p:cNvPr id="23" name="Shape 20"/>
          <p:cNvSpPr/>
          <p:nvPr/>
        </p:nvSpPr>
        <p:spPr>
          <a:xfrm>
            <a:off x="8019288" y="3377692"/>
            <a:ext cx="731520" cy="169164"/>
          </a:xfrm>
          <a:prstGeom prst="roundRect">
            <a:avLst>
              <a:gd name="adj" fmla="val 48649"/>
            </a:avLst>
          </a:prstGeom>
          <a:solidFill>
            <a:srgbClr val="EAF4E4"/>
          </a:solidFill>
          <a:ln w="12700">
            <a:solidFill>
              <a:srgbClr val="EAF4E4"/>
            </a:solidFill>
            <a:prstDash val="solid"/>
          </a:ln>
        </p:spPr>
      </p:sp>
      <p:sp>
        <p:nvSpPr>
          <p:cNvPr id="24" name="Text 21"/>
          <p:cNvSpPr/>
          <p:nvPr/>
        </p:nvSpPr>
        <p:spPr>
          <a:xfrm>
            <a:off x="8019288" y="33776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5" name="Text 22"/>
          <p:cNvSpPr/>
          <p:nvPr/>
        </p:nvSpPr>
        <p:spPr>
          <a:xfrm>
            <a:off x="8842248" y="33319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declared record size (in GB)</a:t>
            </a:r>
            <a:endParaRPr lang="en-US" sz="880" dirty="0"/>
          </a:p>
        </p:txBody>
      </p:sp>
      <p:sp>
        <p:nvSpPr>
          <p:cNvPr id="26" name="Shape 23"/>
          <p:cNvSpPr/>
          <p:nvPr/>
        </p:nvSpPr>
        <p:spPr>
          <a:xfrm>
            <a:off x="8019288" y="3700272"/>
            <a:ext cx="731520" cy="169164"/>
          </a:xfrm>
          <a:prstGeom prst="roundRect">
            <a:avLst>
              <a:gd name="adj" fmla="val 48649"/>
            </a:avLst>
          </a:prstGeom>
          <a:solidFill>
            <a:srgbClr val="FBE6E4"/>
          </a:solidFill>
          <a:ln w="12700">
            <a:solidFill>
              <a:srgbClr val="FBE6E4"/>
            </a:solidFill>
            <a:prstDash val="solid"/>
          </a:ln>
        </p:spPr>
      </p:sp>
      <p:sp>
        <p:nvSpPr>
          <p:cNvPr id="27" name="Text 24"/>
          <p:cNvSpPr/>
          <p:nvPr/>
        </p:nvSpPr>
        <p:spPr>
          <a:xfrm>
            <a:off x="8019288" y="370027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28" name="Text 25"/>
          <p:cNvSpPr/>
          <p:nvPr/>
        </p:nvSpPr>
        <p:spPr>
          <a:xfrm>
            <a:off x="8842248" y="365455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Number of records declared per division</a:t>
            </a:r>
            <a:endParaRPr lang="en-US" sz="880" dirty="0"/>
          </a:p>
        </p:txBody>
      </p:sp>
      <p:sp>
        <p:nvSpPr>
          <p:cNvPr id="29" name="Shape 26"/>
          <p:cNvSpPr/>
          <p:nvPr/>
        </p:nvSpPr>
        <p:spPr>
          <a:xfrm>
            <a:off x="8019288" y="4022852"/>
            <a:ext cx="731520" cy="169164"/>
          </a:xfrm>
          <a:prstGeom prst="roundRect">
            <a:avLst>
              <a:gd name="adj" fmla="val 48649"/>
            </a:avLst>
          </a:prstGeom>
          <a:solidFill>
            <a:srgbClr val="FBE6E4"/>
          </a:solidFill>
          <a:ln w="12700">
            <a:solidFill>
              <a:srgbClr val="FBE6E4"/>
            </a:solidFill>
            <a:prstDash val="solid"/>
          </a:ln>
        </p:spPr>
      </p:sp>
      <p:sp>
        <p:nvSpPr>
          <p:cNvPr id="30" name="Text 27"/>
          <p:cNvSpPr/>
          <p:nvPr/>
        </p:nvSpPr>
        <p:spPr>
          <a:xfrm>
            <a:off x="8019288" y="402285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31" name="Text 28"/>
          <p:cNvSpPr/>
          <p:nvPr/>
        </p:nvSpPr>
        <p:spPr>
          <a:xfrm>
            <a:off x="8842248" y="397713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Number of users declaring records per division</a:t>
            </a:r>
            <a:endParaRPr lang="en-US" sz="880" dirty="0"/>
          </a:p>
        </p:txBody>
      </p:sp>
      <p:sp>
        <p:nvSpPr>
          <p:cNvPr id="32" name="Shape 29"/>
          <p:cNvSpPr/>
          <p:nvPr/>
        </p:nvSpPr>
        <p:spPr>
          <a:xfrm>
            <a:off x="502920" y="5779008"/>
            <a:ext cx="118872" cy="118872"/>
          </a:xfrm>
          <a:prstGeom prst="ellipse">
            <a:avLst/>
          </a:prstGeom>
          <a:solidFill>
            <a:srgbClr val="0072BC"/>
          </a:solidFill>
          <a:ln w="12700">
            <a:solidFill>
              <a:srgbClr val="0072BC"/>
            </a:solidFill>
            <a:prstDash val="solid"/>
          </a:ln>
        </p:spPr>
      </p:sp>
      <p:sp>
        <p:nvSpPr>
          <p:cNvPr id="33" name="Text 30"/>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Records declared, people declaring, and total declared size.</a:t>
            </a:r>
            <a:endParaRPr lang="en-US" sz="1000" dirty="0"/>
          </a:p>
        </p:txBody>
      </p:sp>
      <p:sp>
        <p:nvSpPr>
          <p:cNvPr id="34" name="Shape 31"/>
          <p:cNvSpPr/>
          <p:nvPr/>
        </p:nvSpPr>
        <p:spPr>
          <a:xfrm>
            <a:off x="4270248" y="5779008"/>
            <a:ext cx="118872" cy="118872"/>
          </a:xfrm>
          <a:prstGeom prst="ellipse">
            <a:avLst/>
          </a:prstGeom>
          <a:solidFill>
            <a:srgbClr val="00A5A8"/>
          </a:solidFill>
          <a:ln w="12700">
            <a:solidFill>
              <a:srgbClr val="00A5A8"/>
            </a:solidFill>
            <a:prstDash val="solid"/>
          </a:ln>
        </p:spPr>
      </p:sp>
      <p:sp>
        <p:nvSpPr>
          <p:cNvPr id="35" name="Text 32"/>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Sites that have declared nothing in 180 days are flagged.</a:t>
            </a:r>
            <a:endParaRPr lang="en-US" sz="1000" dirty="0"/>
          </a:p>
        </p:txBody>
      </p:sp>
      <p:sp>
        <p:nvSpPr>
          <p:cNvPr id="36" name="Shape 33"/>
          <p:cNvSpPr/>
          <p:nvPr/>
        </p:nvSpPr>
        <p:spPr>
          <a:xfrm>
            <a:off x="8037576" y="5779008"/>
            <a:ext cx="118872" cy="118872"/>
          </a:xfrm>
          <a:prstGeom prst="ellipse">
            <a:avLst/>
          </a:prstGeom>
          <a:solidFill>
            <a:srgbClr val="5CA943"/>
          </a:solidFill>
          <a:ln w="12700">
            <a:solidFill>
              <a:srgbClr val="5CA943"/>
            </a:solidFill>
            <a:prstDash val="solid"/>
          </a:ln>
        </p:spPr>
      </p:sp>
      <p:sp>
        <p:nvSpPr>
          <p:cNvPr id="37" name="Text 34"/>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Only the two per-division items are missing.</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DEPARTMENT INSIGHTS</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Physical counterparts</a:t>
            </a:r>
            <a:endParaRPr lang="en-US" sz="2500" dirty="0"/>
          </a:p>
        </p:txBody>
      </p:sp>
      <p:sp>
        <p:nvSpPr>
          <p:cNvPr id="4" name="Shape 2"/>
          <p:cNvSpPr/>
          <p:nvPr/>
        </p:nvSpPr>
        <p:spPr>
          <a:xfrm>
            <a:off x="470916" y="1156716"/>
            <a:ext cx="7178040" cy="3783630"/>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dp-drill-phys.png">    </p:cNvPr>
          <p:cNvPicPr>
            <a:picLocks noChangeAspect="1"/>
          </p:cNvPicPr>
          <p:nvPr/>
        </p:nvPicPr>
        <p:blipFill>
          <a:blip r:embed="rId1"/>
          <a:stretch>
            <a:fillRect/>
          </a:stretch>
        </p:blipFill>
        <p:spPr>
          <a:xfrm>
            <a:off x="502920" y="1188720"/>
            <a:ext cx="7114032" cy="3719622"/>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Records with a counterpart, by site</a:t>
            </a:r>
            <a:endParaRPr lang="en-US" sz="880" dirty="0"/>
          </a:p>
        </p:txBody>
      </p:sp>
      <p:sp>
        <p:nvSpPr>
          <p:cNvPr id="11" name="Shape 8"/>
          <p:cNvSpPr/>
          <p:nvPr/>
        </p:nvSpPr>
        <p:spPr>
          <a:xfrm>
            <a:off x="8019288" y="2087372"/>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records declared</a:t>
            </a:r>
            <a:endParaRPr lang="en-US" sz="880" dirty="0"/>
          </a:p>
        </p:txBody>
      </p:sp>
      <p:sp>
        <p:nvSpPr>
          <p:cNvPr id="14" name="Shape 11"/>
          <p:cNvSpPr/>
          <p:nvPr/>
        </p:nvSpPr>
        <p:spPr>
          <a:xfrm>
            <a:off x="8019288" y="2409952"/>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4099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3642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Share of records with a counterpart</a:t>
            </a:r>
            <a:endParaRPr lang="en-US" sz="880" dirty="0"/>
          </a:p>
        </p:txBody>
      </p:sp>
      <p:sp>
        <p:nvSpPr>
          <p:cNvPr id="17" name="Shape 14"/>
          <p:cNvSpPr/>
          <p:nvPr/>
        </p:nvSpPr>
        <p:spPr>
          <a:xfrm>
            <a:off x="8019288" y="2732532"/>
            <a:ext cx="731520" cy="169164"/>
          </a:xfrm>
          <a:prstGeom prst="roundRect">
            <a:avLst>
              <a:gd name="adj" fmla="val 48649"/>
            </a:avLst>
          </a:prstGeom>
          <a:solidFill>
            <a:srgbClr val="FBE6E4"/>
          </a:solidFill>
          <a:ln w="12700">
            <a:solidFill>
              <a:srgbClr val="FBE6E4"/>
            </a:solidFill>
            <a:prstDash val="solid"/>
          </a:ln>
        </p:spPr>
      </p:sp>
      <p:sp>
        <p:nvSpPr>
          <p:cNvPr id="18" name="Text 15"/>
          <p:cNvSpPr/>
          <p:nvPr/>
        </p:nvSpPr>
        <p:spPr>
          <a:xfrm>
            <a:off x="8019288" y="273253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19" name="Text 16"/>
          <p:cNvSpPr/>
          <p:nvPr/>
        </p:nvSpPr>
        <p:spPr>
          <a:xfrm>
            <a:off x="8842248" y="268681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Per division, two columns</a:t>
            </a:r>
            <a:endParaRPr lang="en-US" sz="880" dirty="0"/>
          </a:p>
        </p:txBody>
      </p:sp>
      <p:sp>
        <p:nvSpPr>
          <p:cNvPr id="20" name="Shape 17"/>
          <p:cNvSpPr/>
          <p:nvPr/>
        </p:nvSpPr>
        <p:spPr>
          <a:xfrm>
            <a:off x="8019288" y="3055112"/>
            <a:ext cx="731520" cy="169164"/>
          </a:xfrm>
          <a:prstGeom prst="roundRect">
            <a:avLst>
              <a:gd name="adj" fmla="val 48649"/>
            </a:avLst>
          </a:prstGeom>
          <a:solidFill>
            <a:srgbClr val="FBE6E4"/>
          </a:solidFill>
          <a:ln w="12700">
            <a:solidFill>
              <a:srgbClr val="FBE6E4"/>
            </a:solidFill>
            <a:prstDash val="solid"/>
          </a:ln>
        </p:spPr>
      </p:sp>
      <p:sp>
        <p:nvSpPr>
          <p:cNvPr id="21" name="Text 18"/>
          <p:cNvSpPr/>
          <p:nvPr/>
        </p:nvSpPr>
        <p:spPr>
          <a:xfrm>
            <a:off x="8019288" y="305511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22" name="Text 19"/>
          <p:cNvSpPr/>
          <p:nvPr/>
        </p:nvSpPr>
        <p:spPr>
          <a:xfrm>
            <a:off x="8842248" y="3009392"/>
            <a:ext cx="2633472" cy="4622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Physical counterpart completion rate (turned over to RAC)</a:t>
            </a:r>
            <a:endParaRPr lang="en-US" sz="880" dirty="0"/>
          </a:p>
        </p:txBody>
      </p:sp>
      <p:sp>
        <p:nvSpPr>
          <p:cNvPr id="23" name="Shape 20"/>
          <p:cNvSpPr/>
          <p:nvPr/>
        </p:nvSpPr>
        <p:spPr>
          <a:xfrm>
            <a:off x="502920" y="5779008"/>
            <a:ext cx="118872" cy="118872"/>
          </a:xfrm>
          <a:prstGeom prst="ellipse">
            <a:avLst/>
          </a:prstGeom>
          <a:solidFill>
            <a:srgbClr val="0072BC"/>
          </a:solidFill>
          <a:ln w="12700">
            <a:solidFill>
              <a:srgbClr val="0072BC"/>
            </a:solidFill>
            <a:prstDash val="solid"/>
          </a:ln>
        </p:spPr>
      </p:sp>
      <p:sp>
        <p:nvSpPr>
          <p:cNvPr id="24" name="Text 21"/>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Which sites hold records with a paper copy, and what share that is.</a:t>
            </a:r>
            <a:endParaRPr lang="en-US" sz="1000" dirty="0"/>
          </a:p>
        </p:txBody>
      </p:sp>
      <p:sp>
        <p:nvSpPr>
          <p:cNvPr id="25" name="Shape 22"/>
          <p:cNvSpPr/>
          <p:nvPr/>
        </p:nvSpPr>
        <p:spPr>
          <a:xfrm>
            <a:off x="4270248" y="5779008"/>
            <a:ext cx="118872" cy="118872"/>
          </a:xfrm>
          <a:prstGeom prst="ellipse">
            <a:avLst/>
          </a:prstGeom>
          <a:solidFill>
            <a:srgbClr val="00A5A8"/>
          </a:solidFill>
          <a:ln w="12700">
            <a:solidFill>
              <a:srgbClr val="00A5A8"/>
            </a:solidFill>
            <a:prstDash val="solid"/>
          </a:ln>
        </p:spPr>
      </p:sp>
      <p:sp>
        <p:nvSpPr>
          <p:cNvPr id="26" name="Text 23"/>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Same handover gap as bank-wide.</a:t>
            </a:r>
            <a:endParaRPr lang="en-US" sz="1000" dirty="0"/>
          </a:p>
        </p:txBody>
      </p:sp>
      <p:sp>
        <p:nvSpPr>
          <p:cNvPr id="27" name="Shape 24"/>
          <p:cNvSpPr/>
          <p:nvPr/>
        </p:nvSpPr>
        <p:spPr>
          <a:xfrm>
            <a:off x="8037576" y="5779008"/>
            <a:ext cx="118872" cy="118872"/>
          </a:xfrm>
          <a:prstGeom prst="ellipse">
            <a:avLst/>
          </a:prstGeom>
          <a:solidFill>
            <a:srgbClr val="5CA943"/>
          </a:solidFill>
          <a:ln w="12700">
            <a:solidFill>
              <a:srgbClr val="5CA943"/>
            </a:solidFill>
            <a:prstDash val="solid"/>
          </a:ln>
        </p:spPr>
      </p:sp>
      <p:sp>
        <p:nvSpPr>
          <p:cNvPr id="28" name="Text 25"/>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Note items 60 and 61 sit under this heading in the workbook.</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DEPARTMENT INSIGHTS</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Disposal</a:t>
            </a:r>
            <a:endParaRPr lang="en-US" sz="2500" dirty="0"/>
          </a:p>
        </p:txBody>
      </p:sp>
      <p:sp>
        <p:nvSpPr>
          <p:cNvPr id="4" name="Shape 2"/>
          <p:cNvSpPr/>
          <p:nvPr/>
        </p:nvSpPr>
        <p:spPr>
          <a:xfrm>
            <a:off x="470916" y="1156716"/>
            <a:ext cx="7178040" cy="3783630"/>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dp-drill-disp.png">    </p:cNvPr>
          <p:cNvPicPr>
            <a:picLocks noChangeAspect="1"/>
          </p:cNvPicPr>
          <p:nvPr/>
        </p:nvPicPr>
        <p:blipFill>
          <a:blip r:embed="rId1"/>
          <a:stretch>
            <a:fillRect/>
          </a:stretch>
        </p:blipFill>
        <p:spPr>
          <a:xfrm>
            <a:off x="502920" y="1188720"/>
            <a:ext cx="7114032" cy="3719622"/>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30480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Records due for disposal within 3 months</a:t>
            </a:r>
            <a:endParaRPr lang="en-US" sz="880" dirty="0"/>
          </a:p>
        </p:txBody>
      </p:sp>
      <p:sp>
        <p:nvSpPr>
          <p:cNvPr id="11" name="Shape 8"/>
          <p:cNvSpPr/>
          <p:nvPr/>
        </p:nvSpPr>
        <p:spPr>
          <a:xfrm>
            <a:off x="8019288" y="2069592"/>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695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023872"/>
            <a:ext cx="2633472" cy="30480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Records due for disposal within 6 months</a:t>
            </a:r>
            <a:endParaRPr lang="en-US" sz="880" dirty="0"/>
          </a:p>
        </p:txBody>
      </p:sp>
      <p:sp>
        <p:nvSpPr>
          <p:cNvPr id="14" name="Shape 11"/>
          <p:cNvSpPr/>
          <p:nvPr/>
        </p:nvSpPr>
        <p:spPr>
          <a:xfrm>
            <a:off x="8019288" y="2374392"/>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3743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328672"/>
            <a:ext cx="2633472" cy="30480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Records due for disposal within 12 months</a:t>
            </a:r>
            <a:endParaRPr lang="en-US" sz="880" dirty="0"/>
          </a:p>
        </p:txBody>
      </p:sp>
      <p:sp>
        <p:nvSpPr>
          <p:cNvPr id="17" name="Shape 14"/>
          <p:cNvSpPr/>
          <p:nvPr/>
        </p:nvSpPr>
        <p:spPr>
          <a:xfrm>
            <a:off x="8019288" y="2679192"/>
            <a:ext cx="731520" cy="169164"/>
          </a:xfrm>
          <a:prstGeom prst="roundRect">
            <a:avLst>
              <a:gd name="adj" fmla="val 48649"/>
            </a:avLst>
          </a:prstGeom>
          <a:solidFill>
            <a:srgbClr val="EAF4E4"/>
          </a:solidFill>
          <a:ln w="12700">
            <a:solidFill>
              <a:srgbClr val="EAF4E4"/>
            </a:solidFill>
            <a:prstDash val="solid"/>
          </a:ln>
        </p:spPr>
      </p:sp>
      <p:sp>
        <p:nvSpPr>
          <p:cNvPr id="18" name="Text 15"/>
          <p:cNvSpPr/>
          <p:nvPr/>
        </p:nvSpPr>
        <p:spPr>
          <a:xfrm>
            <a:off x="8019288" y="26791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9" name="Text 16"/>
          <p:cNvSpPr/>
          <p:nvPr/>
        </p:nvSpPr>
        <p:spPr>
          <a:xfrm>
            <a:off x="8842248" y="2633472"/>
            <a:ext cx="2633472" cy="30480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records due for disposal</a:t>
            </a:r>
            <a:endParaRPr lang="en-US" sz="880" dirty="0"/>
          </a:p>
        </p:txBody>
      </p:sp>
      <p:sp>
        <p:nvSpPr>
          <p:cNvPr id="20" name="Shape 17"/>
          <p:cNvSpPr/>
          <p:nvPr/>
        </p:nvSpPr>
        <p:spPr>
          <a:xfrm>
            <a:off x="8019288" y="2983992"/>
            <a:ext cx="731520" cy="169164"/>
          </a:xfrm>
          <a:prstGeom prst="roundRect">
            <a:avLst>
              <a:gd name="adj" fmla="val 48649"/>
            </a:avLst>
          </a:prstGeom>
          <a:solidFill>
            <a:srgbClr val="EAF4E4"/>
          </a:solidFill>
          <a:ln w="12700">
            <a:solidFill>
              <a:srgbClr val="EAF4E4"/>
            </a:solidFill>
            <a:prstDash val="solid"/>
          </a:ln>
        </p:spPr>
      </p:sp>
      <p:sp>
        <p:nvSpPr>
          <p:cNvPr id="21" name="Text 18"/>
          <p:cNvSpPr/>
          <p:nvPr/>
        </p:nvSpPr>
        <p:spPr>
          <a:xfrm>
            <a:off x="8019288" y="29839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2" name="Text 19"/>
          <p:cNvSpPr/>
          <p:nvPr/>
        </p:nvSpPr>
        <p:spPr>
          <a:xfrm>
            <a:off x="8842248" y="2938272"/>
            <a:ext cx="2633472" cy="30480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Next due date for disposal</a:t>
            </a:r>
            <a:endParaRPr lang="en-US" sz="880" dirty="0"/>
          </a:p>
        </p:txBody>
      </p:sp>
      <p:sp>
        <p:nvSpPr>
          <p:cNvPr id="23" name="Shape 20"/>
          <p:cNvSpPr/>
          <p:nvPr/>
        </p:nvSpPr>
        <p:spPr>
          <a:xfrm>
            <a:off x="8019288" y="3288792"/>
            <a:ext cx="731520" cy="169164"/>
          </a:xfrm>
          <a:prstGeom prst="roundRect">
            <a:avLst>
              <a:gd name="adj" fmla="val 48649"/>
            </a:avLst>
          </a:prstGeom>
          <a:solidFill>
            <a:srgbClr val="EAF4E4"/>
          </a:solidFill>
          <a:ln w="12700">
            <a:solidFill>
              <a:srgbClr val="EAF4E4"/>
            </a:solidFill>
            <a:prstDash val="solid"/>
          </a:ln>
        </p:spPr>
      </p:sp>
      <p:sp>
        <p:nvSpPr>
          <p:cNvPr id="24" name="Text 21"/>
          <p:cNvSpPr/>
          <p:nvPr/>
        </p:nvSpPr>
        <p:spPr>
          <a:xfrm>
            <a:off x="8019288" y="3288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5" name="Text 22"/>
          <p:cNvSpPr/>
          <p:nvPr/>
        </p:nvSpPr>
        <p:spPr>
          <a:xfrm>
            <a:off x="8842248" y="3243072"/>
            <a:ext cx="2633472" cy="30480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With physical counterpart?</a:t>
            </a:r>
            <a:endParaRPr lang="en-US" sz="880" dirty="0"/>
          </a:p>
        </p:txBody>
      </p:sp>
      <p:sp>
        <p:nvSpPr>
          <p:cNvPr id="26" name="Shape 23"/>
          <p:cNvSpPr/>
          <p:nvPr/>
        </p:nvSpPr>
        <p:spPr>
          <a:xfrm>
            <a:off x="8019288" y="3593592"/>
            <a:ext cx="731520" cy="169164"/>
          </a:xfrm>
          <a:prstGeom prst="roundRect">
            <a:avLst>
              <a:gd name="adj" fmla="val 48649"/>
            </a:avLst>
          </a:prstGeom>
          <a:solidFill>
            <a:srgbClr val="FBE6E4"/>
          </a:solidFill>
          <a:ln w="12700">
            <a:solidFill>
              <a:srgbClr val="FBE6E4"/>
            </a:solidFill>
            <a:prstDash val="solid"/>
          </a:ln>
        </p:spPr>
      </p:sp>
      <p:sp>
        <p:nvSpPr>
          <p:cNvPr id="27" name="Text 24"/>
          <p:cNvSpPr/>
          <p:nvPr/>
        </p:nvSpPr>
        <p:spPr>
          <a:xfrm>
            <a:off x="8019288" y="359359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28" name="Text 25"/>
          <p:cNvSpPr/>
          <p:nvPr/>
        </p:nvSpPr>
        <p:spPr>
          <a:xfrm>
            <a:off x="8842248" y="3547872"/>
            <a:ext cx="2633472" cy="30480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Disposal approver</a:t>
            </a:r>
            <a:endParaRPr lang="en-US" sz="880" dirty="0"/>
          </a:p>
        </p:txBody>
      </p:sp>
      <p:sp>
        <p:nvSpPr>
          <p:cNvPr id="29" name="Shape 26"/>
          <p:cNvSpPr/>
          <p:nvPr/>
        </p:nvSpPr>
        <p:spPr>
          <a:xfrm>
            <a:off x="8019288" y="3898392"/>
            <a:ext cx="731520" cy="169164"/>
          </a:xfrm>
          <a:prstGeom prst="roundRect">
            <a:avLst>
              <a:gd name="adj" fmla="val 48649"/>
            </a:avLst>
          </a:prstGeom>
          <a:solidFill>
            <a:srgbClr val="FBE6E4"/>
          </a:solidFill>
          <a:ln w="12700">
            <a:solidFill>
              <a:srgbClr val="FBE6E4"/>
            </a:solidFill>
            <a:prstDash val="solid"/>
          </a:ln>
        </p:spPr>
      </p:sp>
      <p:sp>
        <p:nvSpPr>
          <p:cNvPr id="30" name="Text 27"/>
          <p:cNvSpPr/>
          <p:nvPr/>
        </p:nvSpPr>
        <p:spPr>
          <a:xfrm>
            <a:off x="8019288" y="389839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31" name="Text 28"/>
          <p:cNvSpPr/>
          <p:nvPr/>
        </p:nvSpPr>
        <p:spPr>
          <a:xfrm>
            <a:off x="8842248" y="3852672"/>
            <a:ext cx="2633472" cy="30480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Status (Approved)</a:t>
            </a:r>
            <a:endParaRPr lang="en-US" sz="880" dirty="0"/>
          </a:p>
        </p:txBody>
      </p:sp>
      <p:sp>
        <p:nvSpPr>
          <p:cNvPr id="32" name="Shape 29"/>
          <p:cNvSpPr/>
          <p:nvPr/>
        </p:nvSpPr>
        <p:spPr>
          <a:xfrm>
            <a:off x="8019288" y="4203192"/>
            <a:ext cx="731520" cy="169164"/>
          </a:xfrm>
          <a:prstGeom prst="roundRect">
            <a:avLst>
              <a:gd name="adj" fmla="val 48649"/>
            </a:avLst>
          </a:prstGeom>
          <a:solidFill>
            <a:srgbClr val="FBE6E4"/>
          </a:solidFill>
          <a:ln w="12700">
            <a:solidFill>
              <a:srgbClr val="FBE6E4"/>
            </a:solidFill>
            <a:prstDash val="solid"/>
          </a:ln>
        </p:spPr>
      </p:sp>
      <p:sp>
        <p:nvSpPr>
          <p:cNvPr id="33" name="Text 30"/>
          <p:cNvSpPr/>
          <p:nvPr/>
        </p:nvSpPr>
        <p:spPr>
          <a:xfrm>
            <a:off x="8019288" y="420319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34" name="Text 31"/>
          <p:cNvSpPr/>
          <p:nvPr/>
        </p:nvSpPr>
        <p:spPr>
          <a:xfrm>
            <a:off x="8842248" y="4157472"/>
            <a:ext cx="2633472" cy="30480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Status (Declined)</a:t>
            </a:r>
            <a:endParaRPr lang="en-US" sz="880" dirty="0"/>
          </a:p>
        </p:txBody>
      </p:sp>
      <p:sp>
        <p:nvSpPr>
          <p:cNvPr id="35" name="Shape 32"/>
          <p:cNvSpPr/>
          <p:nvPr/>
        </p:nvSpPr>
        <p:spPr>
          <a:xfrm>
            <a:off x="8019288" y="4507992"/>
            <a:ext cx="731520" cy="169164"/>
          </a:xfrm>
          <a:prstGeom prst="roundRect">
            <a:avLst>
              <a:gd name="adj" fmla="val 48649"/>
            </a:avLst>
          </a:prstGeom>
          <a:solidFill>
            <a:srgbClr val="FBE6E4"/>
          </a:solidFill>
          <a:ln w="12700">
            <a:solidFill>
              <a:srgbClr val="FBE6E4"/>
            </a:solidFill>
            <a:prstDash val="solid"/>
          </a:ln>
        </p:spPr>
      </p:sp>
      <p:sp>
        <p:nvSpPr>
          <p:cNvPr id="36" name="Text 33"/>
          <p:cNvSpPr/>
          <p:nvPr/>
        </p:nvSpPr>
        <p:spPr>
          <a:xfrm>
            <a:off x="8019288" y="450799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37" name="Text 34"/>
          <p:cNvSpPr/>
          <p:nvPr/>
        </p:nvSpPr>
        <p:spPr>
          <a:xfrm>
            <a:off x="8842248" y="4462272"/>
            <a:ext cx="2633472" cy="30480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Status (Extended)</a:t>
            </a:r>
            <a:endParaRPr lang="en-US" sz="880" dirty="0"/>
          </a:p>
        </p:txBody>
      </p:sp>
      <p:sp>
        <p:nvSpPr>
          <p:cNvPr id="38" name="Shape 35"/>
          <p:cNvSpPr/>
          <p:nvPr/>
        </p:nvSpPr>
        <p:spPr>
          <a:xfrm>
            <a:off x="8019288" y="4812792"/>
            <a:ext cx="731520" cy="169164"/>
          </a:xfrm>
          <a:prstGeom prst="roundRect">
            <a:avLst>
              <a:gd name="adj" fmla="val 48649"/>
            </a:avLst>
          </a:prstGeom>
          <a:solidFill>
            <a:srgbClr val="FBE6E4"/>
          </a:solidFill>
          <a:ln w="12700">
            <a:solidFill>
              <a:srgbClr val="FBE6E4"/>
            </a:solidFill>
            <a:prstDash val="solid"/>
          </a:ln>
        </p:spPr>
      </p:sp>
      <p:sp>
        <p:nvSpPr>
          <p:cNvPr id="39" name="Text 36"/>
          <p:cNvSpPr/>
          <p:nvPr/>
        </p:nvSpPr>
        <p:spPr>
          <a:xfrm>
            <a:off x="8019288" y="481279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40" name="Text 37"/>
          <p:cNvSpPr/>
          <p:nvPr/>
        </p:nvSpPr>
        <p:spPr>
          <a:xfrm>
            <a:off x="8842248" y="4767072"/>
            <a:ext cx="2633472" cy="30480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Total number of records disposed, per year and month</a:t>
            </a:r>
            <a:endParaRPr lang="en-US" sz="880" dirty="0"/>
          </a:p>
        </p:txBody>
      </p:sp>
      <p:sp>
        <p:nvSpPr>
          <p:cNvPr id="41" name="Shape 38"/>
          <p:cNvSpPr/>
          <p:nvPr/>
        </p:nvSpPr>
        <p:spPr>
          <a:xfrm>
            <a:off x="8019288" y="5117592"/>
            <a:ext cx="731520" cy="169164"/>
          </a:xfrm>
          <a:prstGeom prst="roundRect">
            <a:avLst>
              <a:gd name="adj" fmla="val 48649"/>
            </a:avLst>
          </a:prstGeom>
          <a:solidFill>
            <a:srgbClr val="FBE6E4"/>
          </a:solidFill>
          <a:ln w="12700">
            <a:solidFill>
              <a:srgbClr val="FBE6E4"/>
            </a:solidFill>
            <a:prstDash val="solid"/>
          </a:ln>
        </p:spPr>
      </p:sp>
      <p:sp>
        <p:nvSpPr>
          <p:cNvPr id="42" name="Text 39"/>
          <p:cNvSpPr/>
          <p:nvPr/>
        </p:nvSpPr>
        <p:spPr>
          <a:xfrm>
            <a:off x="8019288" y="511759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43" name="Text 40"/>
          <p:cNvSpPr/>
          <p:nvPr/>
        </p:nvSpPr>
        <p:spPr>
          <a:xfrm>
            <a:off x="8842248" y="5071872"/>
            <a:ext cx="2633472" cy="30480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Total disposed record size (in GB)</a:t>
            </a:r>
            <a:endParaRPr lang="en-US" sz="880" dirty="0"/>
          </a:p>
        </p:txBody>
      </p:sp>
      <p:sp>
        <p:nvSpPr>
          <p:cNvPr id="44" name="Shape 41"/>
          <p:cNvSpPr/>
          <p:nvPr/>
        </p:nvSpPr>
        <p:spPr>
          <a:xfrm>
            <a:off x="502920" y="5779008"/>
            <a:ext cx="118872" cy="118872"/>
          </a:xfrm>
          <a:prstGeom prst="ellipse">
            <a:avLst/>
          </a:prstGeom>
          <a:solidFill>
            <a:srgbClr val="0072BC"/>
          </a:solidFill>
          <a:ln w="12700">
            <a:solidFill>
              <a:srgbClr val="0072BC"/>
            </a:solidFill>
            <a:prstDash val="solid"/>
          </a:ln>
        </p:spPr>
      </p:sp>
      <p:sp>
        <p:nvSpPr>
          <p:cNvPr id="45" name="Text 42"/>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Due within three, six and twelve months, all three windows.</a:t>
            </a:r>
            <a:endParaRPr lang="en-US" sz="1000" dirty="0"/>
          </a:p>
        </p:txBody>
      </p:sp>
      <p:sp>
        <p:nvSpPr>
          <p:cNvPr id="46" name="Shape 43"/>
          <p:cNvSpPr/>
          <p:nvPr/>
        </p:nvSpPr>
        <p:spPr>
          <a:xfrm>
            <a:off x="4270248" y="5779008"/>
            <a:ext cx="118872" cy="118872"/>
          </a:xfrm>
          <a:prstGeom prst="ellipse">
            <a:avLst/>
          </a:prstGeom>
          <a:solidFill>
            <a:srgbClr val="00A5A8"/>
          </a:solidFill>
          <a:ln w="12700">
            <a:solidFill>
              <a:srgbClr val="00A5A8"/>
            </a:solidFill>
            <a:prstDash val="solid"/>
          </a:ln>
        </p:spPr>
      </p:sp>
      <p:sp>
        <p:nvSpPr>
          <p:cNvPr id="47" name="Text 44"/>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Next due date and whether there is paper alongside.</a:t>
            </a:r>
            <a:endParaRPr lang="en-US" sz="1000" dirty="0"/>
          </a:p>
        </p:txBody>
      </p:sp>
      <p:sp>
        <p:nvSpPr>
          <p:cNvPr id="48" name="Shape 45"/>
          <p:cNvSpPr/>
          <p:nvPr/>
        </p:nvSpPr>
        <p:spPr>
          <a:xfrm>
            <a:off x="8037576" y="5779008"/>
            <a:ext cx="118872" cy="118872"/>
          </a:xfrm>
          <a:prstGeom prst="ellipse">
            <a:avLst/>
          </a:prstGeom>
          <a:solidFill>
            <a:srgbClr val="5CA943"/>
          </a:solidFill>
          <a:ln w="12700">
            <a:solidFill>
              <a:srgbClr val="5CA943"/>
            </a:solidFill>
            <a:prstDash val="solid"/>
          </a:ln>
        </p:spPr>
      </p:sp>
      <p:sp>
        <p:nvSpPr>
          <p:cNvPr id="49" name="Text 46"/>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Six of the twelve items wait on the same disposal-outcome gap.</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DEPARTMENT INSIGHTS</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Library usage</a:t>
            </a:r>
            <a:endParaRPr lang="en-US" sz="2500" dirty="0"/>
          </a:p>
        </p:txBody>
      </p:sp>
      <p:sp>
        <p:nvSpPr>
          <p:cNvPr id="4" name="Shape 2"/>
          <p:cNvSpPr/>
          <p:nvPr/>
        </p:nvSpPr>
        <p:spPr>
          <a:xfrm>
            <a:off x="470916" y="1156716"/>
            <a:ext cx="7178040" cy="3448255"/>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dp-03.png">    </p:cNvPr>
          <p:cNvPicPr>
            <a:picLocks noChangeAspect="1"/>
          </p:cNvPicPr>
          <p:nvPr/>
        </p:nvPicPr>
        <p:blipFill>
          <a:blip r:embed="rId1"/>
          <a:stretch>
            <a:fillRect/>
          </a:stretch>
        </p:blipFill>
        <p:spPr>
          <a:xfrm>
            <a:off x="502920" y="1188720"/>
            <a:ext cx="7114032" cy="3384247"/>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Library names</a:t>
            </a:r>
            <a:endParaRPr lang="en-US" sz="880" dirty="0"/>
          </a:p>
        </p:txBody>
      </p:sp>
      <p:sp>
        <p:nvSpPr>
          <p:cNvPr id="11" name="Shape 8"/>
          <p:cNvSpPr/>
          <p:nvPr/>
        </p:nvSpPr>
        <p:spPr>
          <a:xfrm>
            <a:off x="8019288" y="2087372"/>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documents</a:t>
            </a:r>
            <a:endParaRPr lang="en-US" sz="880" dirty="0"/>
          </a:p>
        </p:txBody>
      </p:sp>
      <p:sp>
        <p:nvSpPr>
          <p:cNvPr id="14" name="Shape 11"/>
          <p:cNvSpPr/>
          <p:nvPr/>
        </p:nvSpPr>
        <p:spPr>
          <a:xfrm>
            <a:off x="8019288" y="2409952"/>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4099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3642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records declared</a:t>
            </a:r>
            <a:endParaRPr lang="en-US" sz="880" dirty="0"/>
          </a:p>
        </p:txBody>
      </p:sp>
      <p:sp>
        <p:nvSpPr>
          <p:cNvPr id="17" name="Shape 14"/>
          <p:cNvSpPr/>
          <p:nvPr/>
        </p:nvSpPr>
        <p:spPr>
          <a:xfrm>
            <a:off x="8019288" y="2732532"/>
            <a:ext cx="731520" cy="169164"/>
          </a:xfrm>
          <a:prstGeom prst="roundRect">
            <a:avLst>
              <a:gd name="adj" fmla="val 48649"/>
            </a:avLst>
          </a:prstGeom>
          <a:solidFill>
            <a:srgbClr val="EAF4E4"/>
          </a:solidFill>
          <a:ln w="12700">
            <a:solidFill>
              <a:srgbClr val="EAF4E4"/>
            </a:solidFill>
            <a:prstDash val="solid"/>
          </a:ln>
        </p:spPr>
      </p:sp>
      <p:sp>
        <p:nvSpPr>
          <p:cNvPr id="18" name="Text 15"/>
          <p:cNvSpPr/>
          <p:nvPr/>
        </p:nvSpPr>
        <p:spPr>
          <a:xfrm>
            <a:off x="8019288" y="273253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9" name="Text 16"/>
          <p:cNvSpPr/>
          <p:nvPr/>
        </p:nvSpPr>
        <p:spPr>
          <a:xfrm>
            <a:off x="8842248" y="268681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physical counterparts</a:t>
            </a:r>
            <a:endParaRPr lang="en-US" sz="880" dirty="0"/>
          </a:p>
        </p:txBody>
      </p:sp>
      <p:sp>
        <p:nvSpPr>
          <p:cNvPr id="20" name="Shape 17"/>
          <p:cNvSpPr/>
          <p:nvPr/>
        </p:nvSpPr>
        <p:spPr>
          <a:xfrm>
            <a:off x="8019288" y="3055112"/>
            <a:ext cx="731520" cy="169164"/>
          </a:xfrm>
          <a:prstGeom prst="roundRect">
            <a:avLst>
              <a:gd name="adj" fmla="val 48649"/>
            </a:avLst>
          </a:prstGeom>
          <a:solidFill>
            <a:srgbClr val="FBE6E4"/>
          </a:solidFill>
          <a:ln w="12700">
            <a:solidFill>
              <a:srgbClr val="FBE6E4"/>
            </a:solidFill>
            <a:prstDash val="solid"/>
          </a:ln>
        </p:spPr>
      </p:sp>
      <p:sp>
        <p:nvSpPr>
          <p:cNvPr id="21" name="Text 18"/>
          <p:cNvSpPr/>
          <p:nvPr/>
        </p:nvSpPr>
        <p:spPr>
          <a:xfrm>
            <a:off x="8019288" y="305511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22" name="Text 19"/>
          <p:cNvSpPr/>
          <p:nvPr/>
        </p:nvSpPr>
        <p:spPr>
          <a:xfrm>
            <a:off x="8842248" y="300939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Category picker across the six categories</a:t>
            </a:r>
            <a:endParaRPr lang="en-US" sz="880" dirty="0"/>
          </a:p>
        </p:txBody>
      </p:sp>
      <p:sp>
        <p:nvSpPr>
          <p:cNvPr id="23" name="Shape 20"/>
          <p:cNvSpPr/>
          <p:nvPr/>
        </p:nvSpPr>
        <p:spPr>
          <a:xfrm>
            <a:off x="8019288" y="3377692"/>
            <a:ext cx="731520" cy="169164"/>
          </a:xfrm>
          <a:prstGeom prst="roundRect">
            <a:avLst>
              <a:gd name="adj" fmla="val 48649"/>
            </a:avLst>
          </a:prstGeom>
          <a:solidFill>
            <a:srgbClr val="FBE6E4"/>
          </a:solidFill>
          <a:ln w="12700">
            <a:solidFill>
              <a:srgbClr val="FBE6E4"/>
            </a:solidFill>
            <a:prstDash val="solid"/>
          </a:ln>
        </p:spPr>
      </p:sp>
      <p:sp>
        <p:nvSpPr>
          <p:cNvPr id="24" name="Text 21"/>
          <p:cNvSpPr/>
          <p:nvPr/>
        </p:nvSpPr>
        <p:spPr>
          <a:xfrm>
            <a:off x="8019288" y="337769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25" name="Text 22"/>
          <p:cNvSpPr/>
          <p:nvPr/>
        </p:nvSpPr>
        <p:spPr>
          <a:xfrm>
            <a:off x="8842248" y="333197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Number of users per library</a:t>
            </a:r>
            <a:endParaRPr lang="en-US" sz="880" dirty="0"/>
          </a:p>
        </p:txBody>
      </p:sp>
      <p:sp>
        <p:nvSpPr>
          <p:cNvPr id="26" name="Shape 23"/>
          <p:cNvSpPr/>
          <p:nvPr/>
        </p:nvSpPr>
        <p:spPr>
          <a:xfrm>
            <a:off x="8019288" y="3700272"/>
            <a:ext cx="731520" cy="169164"/>
          </a:xfrm>
          <a:prstGeom prst="roundRect">
            <a:avLst>
              <a:gd name="adj" fmla="val 48649"/>
            </a:avLst>
          </a:prstGeom>
          <a:solidFill>
            <a:srgbClr val="FBE6E4"/>
          </a:solidFill>
          <a:ln w="12700">
            <a:solidFill>
              <a:srgbClr val="FBE6E4"/>
            </a:solidFill>
            <a:prstDash val="solid"/>
          </a:ln>
        </p:spPr>
      </p:sp>
      <p:sp>
        <p:nvSpPr>
          <p:cNvPr id="27" name="Text 24"/>
          <p:cNvSpPr/>
          <p:nvPr/>
        </p:nvSpPr>
        <p:spPr>
          <a:xfrm>
            <a:off x="8019288" y="370027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28" name="Text 25"/>
          <p:cNvSpPr/>
          <p:nvPr/>
        </p:nvSpPr>
        <p:spPr>
          <a:xfrm>
            <a:off x="8842248" y="365455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Indicators per library, per division</a:t>
            </a:r>
            <a:endParaRPr lang="en-US" sz="880" dirty="0"/>
          </a:p>
        </p:txBody>
      </p:sp>
      <p:sp>
        <p:nvSpPr>
          <p:cNvPr id="29" name="Shape 26"/>
          <p:cNvSpPr/>
          <p:nvPr/>
        </p:nvSpPr>
        <p:spPr>
          <a:xfrm>
            <a:off x="8019288" y="4022852"/>
            <a:ext cx="731520" cy="169164"/>
          </a:xfrm>
          <a:prstGeom prst="roundRect">
            <a:avLst>
              <a:gd name="adj" fmla="val 48649"/>
            </a:avLst>
          </a:prstGeom>
          <a:solidFill>
            <a:srgbClr val="FBE6E4"/>
          </a:solidFill>
          <a:ln w="12700">
            <a:solidFill>
              <a:srgbClr val="FBE6E4"/>
            </a:solidFill>
            <a:prstDash val="solid"/>
          </a:ln>
        </p:spPr>
      </p:sp>
      <p:sp>
        <p:nvSpPr>
          <p:cNvPr id="30" name="Text 27"/>
          <p:cNvSpPr/>
          <p:nvPr/>
        </p:nvSpPr>
        <p:spPr>
          <a:xfrm>
            <a:off x="8019288" y="402285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31" name="Text 28"/>
          <p:cNvSpPr/>
          <p:nvPr/>
        </p:nvSpPr>
        <p:spPr>
          <a:xfrm>
            <a:off x="8842248" y="397713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Programme dates</a:t>
            </a:r>
            <a:endParaRPr lang="en-US" sz="880" dirty="0"/>
          </a:p>
        </p:txBody>
      </p:sp>
      <p:sp>
        <p:nvSpPr>
          <p:cNvPr id="32" name="Shape 29"/>
          <p:cNvSpPr/>
          <p:nvPr/>
        </p:nvSpPr>
        <p:spPr>
          <a:xfrm>
            <a:off x="502920" y="5779008"/>
            <a:ext cx="118872" cy="118872"/>
          </a:xfrm>
          <a:prstGeom prst="ellipse">
            <a:avLst/>
          </a:prstGeom>
          <a:solidFill>
            <a:srgbClr val="0072BC"/>
          </a:solidFill>
          <a:ln w="12700">
            <a:solidFill>
              <a:srgbClr val="0072BC"/>
            </a:solidFill>
            <a:prstDash val="solid"/>
          </a:ln>
        </p:spPr>
      </p:sp>
      <p:sp>
        <p:nvSpPr>
          <p:cNvPr id="33" name="Text 30"/>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client drew this as six screens, one per file plan category.</a:t>
            </a:r>
            <a:endParaRPr lang="en-US" sz="1000" dirty="0"/>
          </a:p>
        </p:txBody>
      </p:sp>
      <p:sp>
        <p:nvSpPr>
          <p:cNvPr id="34" name="Shape 31"/>
          <p:cNvSpPr/>
          <p:nvPr/>
        </p:nvSpPr>
        <p:spPr>
          <a:xfrm>
            <a:off x="4270248" y="5779008"/>
            <a:ext cx="118872" cy="118872"/>
          </a:xfrm>
          <a:prstGeom prst="ellipse">
            <a:avLst/>
          </a:prstGeom>
          <a:solidFill>
            <a:srgbClr val="00A5A8"/>
          </a:solidFill>
          <a:ln w="12700">
            <a:solidFill>
              <a:srgbClr val="00A5A8"/>
            </a:solidFill>
            <a:prstDash val="solid"/>
          </a:ln>
        </p:spPr>
      </p:sp>
      <p:sp>
        <p:nvSpPr>
          <p:cNvPr id="35" name="Text 32"/>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We have the library table. We cannot yet group libraries by category.</a:t>
            </a:r>
            <a:endParaRPr lang="en-US" sz="1000" dirty="0"/>
          </a:p>
        </p:txBody>
      </p:sp>
      <p:sp>
        <p:nvSpPr>
          <p:cNvPr id="36" name="Shape 33"/>
          <p:cNvSpPr/>
          <p:nvPr/>
        </p:nvSpPr>
        <p:spPr>
          <a:xfrm>
            <a:off x="8037576" y="5779008"/>
            <a:ext cx="118872" cy="118872"/>
          </a:xfrm>
          <a:prstGeom prst="ellipse">
            <a:avLst/>
          </a:prstGeom>
          <a:solidFill>
            <a:srgbClr val="5CA943"/>
          </a:solidFill>
          <a:ln w="12700">
            <a:solidFill>
              <a:srgbClr val="5CA943"/>
            </a:solidFill>
            <a:prstDash val="solid"/>
          </a:ln>
        </p:spPr>
      </p:sp>
      <p:sp>
        <p:nvSpPr>
          <p:cNvPr id="37" name="Text 34"/>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That is the same file plan gap we will see on the next dashboard.</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DEPARTMENT INSIGHTS</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What we need from you (1 of 2)</a:t>
            </a:r>
            <a:endParaRPr lang="en-US" sz="2500" dirty="0"/>
          </a:p>
        </p:txBody>
      </p:sp>
      <p:sp>
        <p:nvSpPr>
          <p:cNvPr id="4" name="Shape 2"/>
          <p:cNvSpPr/>
          <p:nvPr/>
        </p:nvSpPr>
        <p:spPr>
          <a:xfrm>
            <a:off x="502920" y="1280160"/>
            <a:ext cx="11155680" cy="835762"/>
          </a:xfrm>
          <a:prstGeom prst="roundRect">
            <a:avLst>
              <a:gd name="adj" fmla="val 6565"/>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5" name="Shape 3"/>
          <p:cNvSpPr/>
          <p:nvPr/>
        </p:nvSpPr>
        <p:spPr>
          <a:xfrm>
            <a:off x="777240" y="1496873"/>
            <a:ext cx="402336" cy="402336"/>
          </a:xfrm>
          <a:prstGeom prst="ellipse">
            <a:avLst/>
          </a:prstGeom>
          <a:solidFill>
            <a:srgbClr val="FBE6E4"/>
          </a:solidFill>
          <a:ln w="12700">
            <a:solidFill>
              <a:srgbClr val="FBE6E4"/>
            </a:solidFill>
            <a:prstDash val="solid"/>
          </a:ln>
        </p:spPr>
      </p:sp>
      <p:sp>
        <p:nvSpPr>
          <p:cNvPr id="6" name="Text 4"/>
          <p:cNvSpPr/>
          <p:nvPr/>
        </p:nvSpPr>
        <p:spPr>
          <a:xfrm>
            <a:off x="777240" y="1496873"/>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1</a:t>
            </a:r>
            <a:endParaRPr lang="en-US" sz="1400" dirty="0"/>
          </a:p>
        </p:txBody>
      </p:sp>
      <p:sp>
        <p:nvSpPr>
          <p:cNvPr id="7" name="Text 5"/>
          <p:cNvSpPr/>
          <p:nvPr/>
        </p:nvSpPr>
        <p:spPr>
          <a:xfrm>
            <a:off x="1371600" y="1408176"/>
            <a:ext cx="4663440" cy="579730"/>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What is the approved naming convention?</a:t>
            </a:r>
            <a:endParaRPr lang="en-US" sz="1350" dirty="0"/>
          </a:p>
        </p:txBody>
      </p:sp>
      <p:sp>
        <p:nvSpPr>
          <p:cNvPr id="8" name="Text 6"/>
          <p:cNvSpPr/>
          <p:nvPr/>
        </p:nvSpPr>
        <p:spPr>
          <a:xfrm>
            <a:off x="6217920" y="1399032"/>
            <a:ext cx="2743200" cy="598018"/>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You asked us to show whether sites, libraries and folders follow the approved convention. We have never been shown what the convention actually is.</a:t>
            </a:r>
            <a:endParaRPr lang="en-US" sz="860" dirty="0"/>
          </a:p>
        </p:txBody>
      </p:sp>
      <p:sp>
        <p:nvSpPr>
          <p:cNvPr id="9" name="Text 7"/>
          <p:cNvSpPr/>
          <p:nvPr/>
        </p:nvSpPr>
        <p:spPr>
          <a:xfrm>
            <a:off x="9098280" y="1399032"/>
            <a:ext cx="2423160" cy="598018"/>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Is it written down? If we have the rule, we can check every site against it automatically.</a:t>
            </a:r>
            <a:endParaRPr lang="en-US" sz="860" dirty="0"/>
          </a:p>
        </p:txBody>
      </p:sp>
      <p:sp>
        <p:nvSpPr>
          <p:cNvPr id="10" name="Shape 8"/>
          <p:cNvSpPr/>
          <p:nvPr/>
        </p:nvSpPr>
        <p:spPr>
          <a:xfrm>
            <a:off x="502920" y="2225650"/>
            <a:ext cx="11155680" cy="835762"/>
          </a:xfrm>
          <a:prstGeom prst="roundRect">
            <a:avLst>
              <a:gd name="adj" fmla="val 6565"/>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11" name="Shape 9"/>
          <p:cNvSpPr/>
          <p:nvPr/>
        </p:nvSpPr>
        <p:spPr>
          <a:xfrm>
            <a:off x="777240" y="2442362"/>
            <a:ext cx="402336" cy="402336"/>
          </a:xfrm>
          <a:prstGeom prst="ellipse">
            <a:avLst/>
          </a:prstGeom>
          <a:solidFill>
            <a:srgbClr val="FBE6E4"/>
          </a:solidFill>
          <a:ln w="12700">
            <a:solidFill>
              <a:srgbClr val="FBE6E4"/>
            </a:solidFill>
            <a:prstDash val="solid"/>
          </a:ln>
        </p:spPr>
      </p:sp>
      <p:sp>
        <p:nvSpPr>
          <p:cNvPr id="12" name="Text 10"/>
          <p:cNvSpPr/>
          <p:nvPr/>
        </p:nvSpPr>
        <p:spPr>
          <a:xfrm>
            <a:off x="777240" y="2442362"/>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2</a:t>
            </a:r>
            <a:endParaRPr lang="en-US" sz="1400" dirty="0"/>
          </a:p>
        </p:txBody>
      </p:sp>
      <p:sp>
        <p:nvSpPr>
          <p:cNvPr id="13" name="Text 11"/>
          <p:cNvSpPr/>
          <p:nvPr/>
        </p:nvSpPr>
        <p:spPr>
          <a:xfrm>
            <a:off x="1371600" y="2353666"/>
            <a:ext cx="4663440" cy="579730"/>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When did each department go live?</a:t>
            </a:r>
            <a:endParaRPr lang="en-US" sz="1350" dirty="0"/>
          </a:p>
        </p:txBody>
      </p:sp>
      <p:sp>
        <p:nvSpPr>
          <p:cNvPr id="14" name="Text 12"/>
          <p:cNvSpPr/>
          <p:nvPr/>
        </p:nvSpPr>
        <p:spPr>
          <a:xfrm>
            <a:off x="6217920" y="2344522"/>
            <a:ext cx="2743200" cy="598018"/>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The profile has a space for a go-live date, but nothing records one.</a:t>
            </a:r>
            <a:endParaRPr lang="en-US" sz="860" dirty="0"/>
          </a:p>
        </p:txBody>
      </p:sp>
      <p:sp>
        <p:nvSpPr>
          <p:cNvPr id="15" name="Text 13"/>
          <p:cNvSpPr/>
          <p:nvPr/>
        </p:nvSpPr>
        <p:spPr>
          <a:xfrm>
            <a:off x="9098280" y="2344522"/>
            <a:ext cx="2423160" cy="598018"/>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Is there a rollout schedule we could use — even a spreadsheet?</a:t>
            </a:r>
            <a:endParaRPr lang="en-US" sz="860" dirty="0"/>
          </a:p>
        </p:txBody>
      </p:sp>
      <p:sp>
        <p:nvSpPr>
          <p:cNvPr id="16" name="Shape 14"/>
          <p:cNvSpPr/>
          <p:nvPr/>
        </p:nvSpPr>
        <p:spPr>
          <a:xfrm>
            <a:off x="502920" y="3171139"/>
            <a:ext cx="11155680" cy="835762"/>
          </a:xfrm>
          <a:prstGeom prst="roundRect">
            <a:avLst>
              <a:gd name="adj" fmla="val 6565"/>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17" name="Shape 15"/>
          <p:cNvSpPr/>
          <p:nvPr/>
        </p:nvSpPr>
        <p:spPr>
          <a:xfrm>
            <a:off x="777240" y="3387852"/>
            <a:ext cx="402336" cy="402336"/>
          </a:xfrm>
          <a:prstGeom prst="ellipse">
            <a:avLst/>
          </a:prstGeom>
          <a:solidFill>
            <a:srgbClr val="FBE6E4"/>
          </a:solidFill>
          <a:ln w="12700">
            <a:solidFill>
              <a:srgbClr val="FBE6E4"/>
            </a:solidFill>
            <a:prstDash val="solid"/>
          </a:ln>
        </p:spPr>
      </p:sp>
      <p:sp>
        <p:nvSpPr>
          <p:cNvPr id="18" name="Text 16"/>
          <p:cNvSpPr/>
          <p:nvPr/>
        </p:nvSpPr>
        <p:spPr>
          <a:xfrm>
            <a:off x="777240" y="3387852"/>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3</a:t>
            </a:r>
            <a:endParaRPr lang="en-US" sz="1400" dirty="0"/>
          </a:p>
        </p:txBody>
      </p:sp>
      <p:sp>
        <p:nvSpPr>
          <p:cNvPr id="19" name="Text 17"/>
          <p:cNvSpPr/>
          <p:nvPr/>
        </p:nvSpPr>
        <p:spPr>
          <a:xfrm>
            <a:off x="1371600" y="3299155"/>
            <a:ext cx="4663440" cy="579730"/>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Who is an ADB person and who is an outside visitor?</a:t>
            </a:r>
            <a:endParaRPr lang="en-US" sz="1350" dirty="0"/>
          </a:p>
        </p:txBody>
      </p:sp>
      <p:sp>
        <p:nvSpPr>
          <p:cNvPr id="20" name="Text 18"/>
          <p:cNvSpPr/>
          <p:nvPr/>
        </p:nvSpPr>
        <p:spPr>
          <a:xfrm>
            <a:off x="6217920" y="3290011"/>
            <a:ext cx="2743200" cy="598018"/>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We can count visits to a site. We cannot tell whether the visitor was ADB staff or someone external, so the internal / external split cannot be built.</a:t>
            </a:r>
            <a:endParaRPr lang="en-US" sz="860" dirty="0"/>
          </a:p>
        </p:txBody>
      </p:sp>
      <p:sp>
        <p:nvSpPr>
          <p:cNvPr id="21" name="Text 19"/>
          <p:cNvSpPr/>
          <p:nvPr/>
        </p:nvSpPr>
        <p:spPr>
          <a:xfrm>
            <a:off x="9098280" y="3290011"/>
            <a:ext cx="2423160" cy="598018"/>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Same underlying question as the user types on the last dashboard. One answer would unlock both.</a:t>
            </a:r>
            <a:endParaRPr lang="en-US" sz="860" dirty="0"/>
          </a:p>
        </p:txBody>
      </p:sp>
      <p:sp>
        <p:nvSpPr>
          <p:cNvPr id="22" name="Shape 20"/>
          <p:cNvSpPr/>
          <p:nvPr/>
        </p:nvSpPr>
        <p:spPr>
          <a:xfrm>
            <a:off x="502920" y="4116629"/>
            <a:ext cx="11155680" cy="835762"/>
          </a:xfrm>
          <a:prstGeom prst="roundRect">
            <a:avLst>
              <a:gd name="adj" fmla="val 6565"/>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23" name="Shape 21"/>
          <p:cNvSpPr/>
          <p:nvPr/>
        </p:nvSpPr>
        <p:spPr>
          <a:xfrm>
            <a:off x="777240" y="4333342"/>
            <a:ext cx="402336" cy="402336"/>
          </a:xfrm>
          <a:prstGeom prst="ellipse">
            <a:avLst/>
          </a:prstGeom>
          <a:solidFill>
            <a:srgbClr val="FBE6E4"/>
          </a:solidFill>
          <a:ln w="12700">
            <a:solidFill>
              <a:srgbClr val="FBE6E4"/>
            </a:solidFill>
            <a:prstDash val="solid"/>
          </a:ln>
        </p:spPr>
      </p:sp>
      <p:sp>
        <p:nvSpPr>
          <p:cNvPr id="24" name="Text 22"/>
          <p:cNvSpPr/>
          <p:nvPr/>
        </p:nvSpPr>
        <p:spPr>
          <a:xfrm>
            <a:off x="777240" y="4333342"/>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4</a:t>
            </a:r>
            <a:endParaRPr lang="en-US" sz="1400" dirty="0"/>
          </a:p>
        </p:txBody>
      </p:sp>
      <p:sp>
        <p:nvSpPr>
          <p:cNvPr id="25" name="Text 23"/>
          <p:cNvSpPr/>
          <p:nvPr/>
        </p:nvSpPr>
        <p:spPr>
          <a:xfrm>
            <a:off x="1371600" y="4244645"/>
            <a:ext cx="4663440" cy="579730"/>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Where are access requests recorded?</a:t>
            </a:r>
            <a:endParaRPr lang="en-US" sz="1350" dirty="0"/>
          </a:p>
        </p:txBody>
      </p:sp>
      <p:sp>
        <p:nvSpPr>
          <p:cNvPr id="26" name="Text 24"/>
          <p:cNvSpPr/>
          <p:nvPr/>
        </p:nvSpPr>
        <p:spPr>
          <a:xfrm>
            <a:off x="6217920" y="4235501"/>
            <a:ext cx="2743200" cy="598018"/>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You asked how many requests for access were granted and how many were denied. Nothing we reach records either.</a:t>
            </a:r>
            <a:endParaRPr lang="en-US" sz="860" dirty="0"/>
          </a:p>
        </p:txBody>
      </p:sp>
      <p:sp>
        <p:nvSpPr>
          <p:cNvPr id="27" name="Text 25"/>
          <p:cNvSpPr/>
          <p:nvPr/>
        </p:nvSpPr>
        <p:spPr>
          <a:xfrm>
            <a:off x="9098280" y="4235501"/>
            <a:ext cx="2423160" cy="598018"/>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When someone asks for access to a site, where does that request go, and is the outcome kept?</a:t>
            </a:r>
            <a:endParaRPr lang="en-US" sz="860" dirty="0"/>
          </a:p>
        </p:txBody>
      </p:sp>
      <p:sp>
        <p:nvSpPr>
          <p:cNvPr id="28" name="Shape 26"/>
          <p:cNvSpPr/>
          <p:nvPr/>
        </p:nvSpPr>
        <p:spPr>
          <a:xfrm>
            <a:off x="502920" y="5062118"/>
            <a:ext cx="11155680" cy="835762"/>
          </a:xfrm>
          <a:prstGeom prst="roundRect">
            <a:avLst>
              <a:gd name="adj" fmla="val 6565"/>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29" name="Shape 27"/>
          <p:cNvSpPr/>
          <p:nvPr/>
        </p:nvSpPr>
        <p:spPr>
          <a:xfrm>
            <a:off x="777240" y="5278831"/>
            <a:ext cx="402336" cy="402336"/>
          </a:xfrm>
          <a:prstGeom prst="ellipse">
            <a:avLst/>
          </a:prstGeom>
          <a:solidFill>
            <a:srgbClr val="FBE6E4"/>
          </a:solidFill>
          <a:ln w="12700">
            <a:solidFill>
              <a:srgbClr val="FBE6E4"/>
            </a:solidFill>
            <a:prstDash val="solid"/>
          </a:ln>
        </p:spPr>
      </p:sp>
      <p:sp>
        <p:nvSpPr>
          <p:cNvPr id="30" name="Text 28"/>
          <p:cNvSpPr/>
          <p:nvPr/>
        </p:nvSpPr>
        <p:spPr>
          <a:xfrm>
            <a:off x="777240" y="5278831"/>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5</a:t>
            </a:r>
            <a:endParaRPr lang="en-US" sz="1400" dirty="0"/>
          </a:p>
        </p:txBody>
      </p:sp>
      <p:sp>
        <p:nvSpPr>
          <p:cNvPr id="31" name="Text 29"/>
          <p:cNvSpPr/>
          <p:nvPr/>
        </p:nvSpPr>
        <p:spPr>
          <a:xfrm>
            <a:off x="1371600" y="5190134"/>
            <a:ext cx="4663440" cy="579730"/>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Which libraries belong to which file plan category?</a:t>
            </a:r>
            <a:endParaRPr lang="en-US" sz="1350" dirty="0"/>
          </a:p>
        </p:txBody>
      </p:sp>
      <p:sp>
        <p:nvSpPr>
          <p:cNvPr id="32" name="Text 30"/>
          <p:cNvSpPr/>
          <p:nvPr/>
        </p:nvSpPr>
        <p:spPr>
          <a:xfrm>
            <a:off x="6217920" y="5180990"/>
            <a:ext cx="2743200" cy="598018"/>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You drew library usage as six screens, one per category. We can list the libraries; we cannot say which category each one belongs to.</a:t>
            </a:r>
            <a:endParaRPr lang="en-US" sz="860" dirty="0"/>
          </a:p>
        </p:txBody>
      </p:sp>
      <p:sp>
        <p:nvSpPr>
          <p:cNvPr id="33" name="Text 31"/>
          <p:cNvSpPr/>
          <p:nvPr/>
        </p:nvSpPr>
        <p:spPr>
          <a:xfrm>
            <a:off x="9098280" y="5180990"/>
            <a:ext cx="2423160" cy="598018"/>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Is that mapping written down anywhere, or does it live in someone’s head?</a:t>
            </a:r>
            <a:endParaRPr lang="en-US" sz="860" dirty="0"/>
          </a:p>
        </p:txBody>
      </p:sp>
      <p:sp>
        <p:nvSpPr>
          <p:cNvPr id="34" name="Text 32"/>
          <p:cNvSpPr/>
          <p:nvPr/>
        </p:nvSpPr>
        <p:spPr>
          <a:xfrm>
            <a:off x="137160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THE QUESTION</a:t>
            </a:r>
            <a:endParaRPr lang="en-US" sz="750" dirty="0"/>
          </a:p>
        </p:txBody>
      </p:sp>
      <p:sp>
        <p:nvSpPr>
          <p:cNvPr id="35" name="Text 33"/>
          <p:cNvSpPr/>
          <p:nvPr/>
        </p:nvSpPr>
        <p:spPr>
          <a:xfrm>
            <a:off x="621792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WHY WE ARE STUCK</a:t>
            </a:r>
            <a:endParaRPr lang="en-US" sz="750" dirty="0"/>
          </a:p>
        </p:txBody>
      </p:sp>
      <p:sp>
        <p:nvSpPr>
          <p:cNvPr id="36" name="Text 34"/>
          <p:cNvSpPr/>
          <p:nvPr/>
        </p:nvSpPr>
        <p:spPr>
          <a:xfrm>
            <a:off x="909828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WHAT WOULD UNBLOCK IT</a:t>
            </a:r>
            <a:endParaRPr lang="en-US" sz="7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DEPARTMENT INSIGHTS</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What we need from you (2 of 2)</a:t>
            </a:r>
            <a:endParaRPr lang="en-US" sz="2500" dirty="0"/>
          </a:p>
        </p:txBody>
      </p:sp>
      <p:sp>
        <p:nvSpPr>
          <p:cNvPr id="4" name="Shape 2"/>
          <p:cNvSpPr/>
          <p:nvPr/>
        </p:nvSpPr>
        <p:spPr>
          <a:xfrm>
            <a:off x="502920" y="1280160"/>
            <a:ext cx="11155680" cy="1965960"/>
          </a:xfrm>
          <a:prstGeom prst="roundRect">
            <a:avLst>
              <a:gd name="adj" fmla="val 2791"/>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5" name="Shape 3"/>
          <p:cNvSpPr/>
          <p:nvPr/>
        </p:nvSpPr>
        <p:spPr>
          <a:xfrm>
            <a:off x="777240" y="2061972"/>
            <a:ext cx="402336" cy="402336"/>
          </a:xfrm>
          <a:prstGeom prst="ellipse">
            <a:avLst/>
          </a:prstGeom>
          <a:solidFill>
            <a:srgbClr val="FBE6E4"/>
          </a:solidFill>
          <a:ln w="12700">
            <a:solidFill>
              <a:srgbClr val="FBE6E4"/>
            </a:solidFill>
            <a:prstDash val="solid"/>
          </a:ln>
        </p:spPr>
      </p:sp>
      <p:sp>
        <p:nvSpPr>
          <p:cNvPr id="6" name="Text 4"/>
          <p:cNvSpPr/>
          <p:nvPr/>
        </p:nvSpPr>
        <p:spPr>
          <a:xfrm>
            <a:off x="777240" y="2061972"/>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6</a:t>
            </a:r>
            <a:endParaRPr lang="en-US" sz="1400" dirty="0"/>
          </a:p>
        </p:txBody>
      </p:sp>
      <p:sp>
        <p:nvSpPr>
          <p:cNvPr id="7" name="Text 5"/>
          <p:cNvSpPr/>
          <p:nvPr/>
        </p:nvSpPr>
        <p:spPr>
          <a:xfrm>
            <a:off x="1371600" y="1408176"/>
            <a:ext cx="4663440" cy="1709928"/>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What are the programme dates?</a:t>
            </a:r>
            <a:endParaRPr lang="en-US" sz="1350" dirty="0"/>
          </a:p>
        </p:txBody>
      </p:sp>
      <p:sp>
        <p:nvSpPr>
          <p:cNvPr id="8" name="Text 6"/>
          <p:cNvSpPr/>
          <p:nvPr/>
        </p:nvSpPr>
        <p:spPr>
          <a:xfrm>
            <a:off x="6217920" y="1399032"/>
            <a:ext cx="2743200" cy="1728216"/>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The deck refers to programme milestones. We have no dates to plot against.</a:t>
            </a:r>
            <a:endParaRPr lang="en-US" sz="860" dirty="0"/>
          </a:p>
        </p:txBody>
      </p:sp>
      <p:sp>
        <p:nvSpPr>
          <p:cNvPr id="9" name="Text 7"/>
          <p:cNvSpPr/>
          <p:nvPr/>
        </p:nvSpPr>
        <p:spPr>
          <a:xfrm>
            <a:off x="9098280" y="1399032"/>
            <a:ext cx="2423160" cy="1728216"/>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Can we have the agreed milestone dates, so progress can be shown against plan?</a:t>
            </a:r>
            <a:endParaRPr lang="en-US" sz="860" dirty="0"/>
          </a:p>
        </p:txBody>
      </p:sp>
      <p:sp>
        <p:nvSpPr>
          <p:cNvPr id="10" name="Text 8"/>
          <p:cNvSpPr/>
          <p:nvPr/>
        </p:nvSpPr>
        <p:spPr>
          <a:xfrm>
            <a:off x="137160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THE QUESTION</a:t>
            </a:r>
            <a:endParaRPr lang="en-US" sz="750" dirty="0"/>
          </a:p>
        </p:txBody>
      </p:sp>
      <p:sp>
        <p:nvSpPr>
          <p:cNvPr id="11" name="Text 9"/>
          <p:cNvSpPr/>
          <p:nvPr/>
        </p:nvSpPr>
        <p:spPr>
          <a:xfrm>
            <a:off x="621792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WHY WE ARE STUCK</a:t>
            </a:r>
            <a:endParaRPr lang="en-US" sz="750" dirty="0"/>
          </a:p>
        </p:txBody>
      </p:sp>
      <p:sp>
        <p:nvSpPr>
          <p:cNvPr id="12" name="Text 10"/>
          <p:cNvSpPr/>
          <p:nvPr/>
        </p:nvSpPr>
        <p:spPr>
          <a:xfrm>
            <a:off x="909828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WHAT WOULD UNBLOCK IT</a:t>
            </a:r>
            <a:endParaRPr lang="en-US" sz="7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E1F35"/>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5A8"/>
          </a:solidFill>
          <a:ln w="12700">
            <a:solidFill>
              <a:srgbClr val="00A5A8"/>
            </a:solidFill>
            <a:prstDash val="solid"/>
          </a:ln>
        </p:spPr>
      </p:sp>
      <p:sp>
        <p:nvSpPr>
          <p:cNvPr id="3" name="Text 1"/>
          <p:cNvSpPr/>
          <p:nvPr/>
        </p:nvSpPr>
        <p:spPr>
          <a:xfrm>
            <a:off x="822960" y="2103120"/>
            <a:ext cx="5486400" cy="274320"/>
          </a:xfrm>
          <a:prstGeom prst="rect">
            <a:avLst/>
          </a:prstGeom>
          <a:noFill/>
          <a:ln/>
        </p:spPr>
        <p:txBody>
          <a:bodyPr wrap="square" lIns="0" tIns="0" rIns="0" bIns="0" rtlCol="0" anchor="ctr"/>
          <a:lstStyle/>
          <a:p>
            <a:pPr indent="0" marL="0">
              <a:buNone/>
            </a:pPr>
            <a:r>
              <a:rPr lang="en-US" sz="1150" b="1" spc="160" kern="0" dirty="0">
                <a:solidFill>
                  <a:srgbClr val="00A5A8"/>
                </a:solidFill>
                <a:latin typeface="Calibri" pitchFamily="34" charset="0"/>
                <a:ea typeface="Calibri" pitchFamily="34" charset="-122"/>
                <a:cs typeface="Calibri" pitchFamily="34" charset="-120"/>
              </a:rPr>
              <a:t>VIEW 3 OF 6</a:t>
            </a:r>
            <a:endParaRPr lang="en-US" sz="1150" dirty="0"/>
          </a:p>
        </p:txBody>
      </p:sp>
      <p:sp>
        <p:nvSpPr>
          <p:cNvPr id="4" name="Text 2"/>
          <p:cNvSpPr/>
          <p:nvPr/>
        </p:nvSpPr>
        <p:spPr>
          <a:xfrm>
            <a:off x="822960" y="2468880"/>
            <a:ext cx="7680960"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Project Insights</a:t>
            </a:r>
            <a:endParaRPr lang="en-US" sz="4000" dirty="0"/>
          </a:p>
        </p:txBody>
      </p:sp>
      <p:sp>
        <p:nvSpPr>
          <p:cNvPr id="5" name="Text 3"/>
          <p:cNvSpPr/>
          <p:nvPr/>
        </p:nvSpPr>
        <p:spPr>
          <a:xfrm>
            <a:off x="822960" y="3520440"/>
            <a:ext cx="7498080" cy="914400"/>
          </a:xfrm>
          <a:prstGeom prst="rect">
            <a:avLst/>
          </a:prstGeom>
          <a:noFill/>
          <a:ln/>
        </p:spPr>
        <p:txBody>
          <a:bodyPr wrap="square" lIns="0" tIns="0" rIns="0" bIns="0" rtlCol="0" anchor="ctr"/>
          <a:lstStyle/>
          <a:p>
            <a:pPr indent="0" marL="0">
              <a:lnSpc>
                <a:spcPts val="2400"/>
              </a:lnSpc>
              <a:buNone/>
            </a:pPr>
            <a:r>
              <a:rPr lang="en-US" sz="1700" dirty="0">
                <a:solidFill>
                  <a:srgbClr val="AFC4D8"/>
                </a:solidFill>
                <a:latin typeface="Calibri" pitchFamily="34" charset="0"/>
                <a:ea typeface="Calibri" pitchFamily="34" charset="-122"/>
                <a:cs typeface="Calibri" pitchFamily="34" charset="-120"/>
              </a:rPr>
              <a:t>Are project sites being kept up to recordkeeping standards?</a:t>
            </a:r>
            <a:endParaRPr lang="en-US" sz="1700" dirty="0"/>
          </a:p>
        </p:txBody>
      </p:sp>
      <p:sp>
        <p:nvSpPr>
          <p:cNvPr id="6" name="Shape 4"/>
          <p:cNvSpPr/>
          <p:nvPr/>
        </p:nvSpPr>
        <p:spPr>
          <a:xfrm>
            <a:off x="8961120" y="2286000"/>
            <a:ext cx="2606040" cy="2103120"/>
          </a:xfrm>
          <a:prstGeom prst="roundRect">
            <a:avLst>
              <a:gd name="adj" fmla="val 3478"/>
            </a:avLst>
          </a:prstGeom>
          <a:solidFill>
            <a:srgbClr val="16304F"/>
          </a:solidFill>
          <a:ln w="12700">
            <a:solidFill>
              <a:srgbClr val="27476C"/>
            </a:solidFill>
            <a:prstDash val="solid"/>
          </a:ln>
        </p:spPr>
      </p:sp>
      <p:sp>
        <p:nvSpPr>
          <p:cNvPr id="7" name="Text 5"/>
          <p:cNvSpPr/>
          <p:nvPr/>
        </p:nvSpPr>
        <p:spPr>
          <a:xfrm>
            <a:off x="8961120" y="2514600"/>
            <a:ext cx="2606040" cy="777240"/>
          </a:xfrm>
          <a:prstGeom prst="rect">
            <a:avLst/>
          </a:prstGeom>
          <a:noFill/>
          <a:ln/>
        </p:spPr>
        <p:txBody>
          <a:bodyPr wrap="square" lIns="0" tIns="0" rIns="0" bIns="0" rtlCol="0" anchor="ctr"/>
          <a:lstStyle/>
          <a:p>
            <a:pPr algn="ctr" indent="0" marL="0">
              <a:buNone/>
            </a:pPr>
            <a:r>
              <a:rPr lang="en-US" sz="4600" b="1" dirty="0">
                <a:solidFill>
                  <a:srgbClr val="5CA943"/>
                </a:solidFill>
                <a:latin typeface="Cambria" pitchFamily="34" charset="0"/>
                <a:ea typeface="Cambria" pitchFamily="34" charset="-122"/>
                <a:cs typeface="Cambria" pitchFamily="34" charset="-120"/>
              </a:rPr>
              <a:t>21</a:t>
            </a:r>
            <a:endParaRPr lang="en-US" sz="4600" dirty="0"/>
          </a:p>
        </p:txBody>
      </p:sp>
      <p:sp>
        <p:nvSpPr>
          <p:cNvPr id="8" name="Text 6"/>
          <p:cNvSpPr/>
          <p:nvPr/>
        </p:nvSpPr>
        <p:spPr>
          <a:xfrm>
            <a:off x="8961120" y="3291840"/>
            <a:ext cx="2606040" cy="274320"/>
          </a:xfrm>
          <a:prstGeom prst="rect">
            <a:avLst/>
          </a:prstGeom>
          <a:noFill/>
          <a:ln/>
        </p:spPr>
        <p:txBody>
          <a:bodyPr wrap="square" lIns="0" tIns="0" rIns="0" bIns="0" rtlCol="0" anchor="ctr"/>
          <a:lstStyle/>
          <a:p>
            <a:pPr algn="ctr" indent="0" marL="0">
              <a:buNone/>
            </a:pPr>
            <a:r>
              <a:rPr lang="en-US" sz="1250" dirty="0">
                <a:solidFill>
                  <a:srgbClr val="AFC4D8"/>
                </a:solidFill>
                <a:latin typeface="Calibri" pitchFamily="34" charset="0"/>
                <a:ea typeface="Calibri" pitchFamily="34" charset="-122"/>
                <a:cs typeface="Calibri" pitchFamily="34" charset="-120"/>
              </a:rPr>
              <a:t>of 21 built</a:t>
            </a:r>
            <a:endParaRPr lang="en-US" sz="1250" dirty="0"/>
          </a:p>
        </p:txBody>
      </p:sp>
      <p:sp>
        <p:nvSpPr>
          <p:cNvPr id="9" name="Text 7"/>
          <p:cNvSpPr/>
          <p:nvPr/>
        </p:nvSpPr>
        <p:spPr>
          <a:xfrm>
            <a:off x="9052560" y="3703320"/>
            <a:ext cx="2423160" cy="502920"/>
          </a:xfrm>
          <a:prstGeom prst="rect">
            <a:avLst/>
          </a:prstGeom>
          <a:noFill/>
          <a:ln/>
        </p:spPr>
        <p:txBody>
          <a:bodyPr wrap="square" lIns="0" tIns="0" rIns="0" bIns="0" rtlCol="0" anchor="ctr"/>
          <a:lstStyle/>
          <a:p>
            <a:pPr algn="ctr" indent="0" marL="0">
              <a:lnSpc>
                <a:spcPts val="1400"/>
              </a:lnSpc>
              <a:buNone/>
            </a:pPr>
            <a:r>
              <a:rPr lang="en-US" sz="1150" b="1" dirty="0">
                <a:solidFill>
                  <a:srgbClr val="00A5A8"/>
                </a:solidFill>
                <a:latin typeface="Calibri" pitchFamily="34" charset="0"/>
                <a:ea typeface="Calibri" pitchFamily="34" charset="-122"/>
                <a:cs typeface="Calibri" pitchFamily="34" charset="-120"/>
              </a:rPr>
              <a:t>nothing outstanding on the checklist</a:t>
            </a:r>
            <a:endParaRPr lang="en-US" sz="1150" dirty="0"/>
          </a:p>
        </p:txBody>
      </p:sp>
      <p:sp>
        <p:nvSpPr>
          <p:cNvPr id="10" name="Text 8"/>
          <p:cNvSpPr/>
          <p:nvPr/>
        </p:nvSpPr>
        <p:spPr>
          <a:xfrm>
            <a:off x="822960" y="4937760"/>
            <a:ext cx="7315200" cy="274320"/>
          </a:xfrm>
          <a:prstGeom prst="rect">
            <a:avLst/>
          </a:prstGeom>
          <a:noFill/>
          <a:ln/>
        </p:spPr>
        <p:txBody>
          <a:bodyPr wrap="square" lIns="0" tIns="0" rIns="0" bIns="0" rtlCol="0" anchor="ctr"/>
          <a:lstStyle/>
          <a:p>
            <a:pPr indent="0" marL="0">
              <a:buNone/>
            </a:pPr>
            <a:r>
              <a:rPr lang="en-US" sz="1200" dirty="0">
                <a:solidFill>
                  <a:srgbClr val="7E97B0"/>
                </a:solidFill>
                <a:latin typeface="Calibri" pitchFamily="34" charset="0"/>
                <a:ea typeface="Calibri" pitchFamily="34" charset="-122"/>
                <a:cs typeface="Calibri" pitchFamily="34" charset="-120"/>
              </a:rPr>
              <a:t>3 screens to walk through</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PROJECT INSIGHTS</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The project list</a:t>
            </a:r>
            <a:endParaRPr lang="en-US" sz="2500" dirty="0"/>
          </a:p>
        </p:txBody>
      </p:sp>
      <p:sp>
        <p:nvSpPr>
          <p:cNvPr id="4" name="Shape 2"/>
          <p:cNvSpPr/>
          <p:nvPr/>
        </p:nvSpPr>
        <p:spPr>
          <a:xfrm>
            <a:off x="470916" y="1754113"/>
            <a:ext cx="7178040" cy="3001087"/>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pj-01.png">    </p:cNvPr>
          <p:cNvPicPr>
            <a:picLocks noChangeAspect="1"/>
          </p:cNvPicPr>
          <p:nvPr/>
        </p:nvPicPr>
        <p:blipFill>
          <a:blip r:embed="rId1"/>
          <a:stretch>
            <a:fillRect/>
          </a:stretch>
        </p:blipFill>
        <p:spPr>
          <a:xfrm>
            <a:off x="502920" y="1786117"/>
            <a:ext cx="7114032" cy="2937079"/>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Project Insights, as one of the six required key views</a:t>
            </a:r>
            <a:endParaRPr lang="en-US" sz="880" dirty="0"/>
          </a:p>
        </p:txBody>
      </p:sp>
      <p:sp>
        <p:nvSpPr>
          <p:cNvPr id="11" name="Shape 8"/>
          <p:cNvSpPr/>
          <p:nvPr/>
        </p:nvSpPr>
        <p:spPr>
          <a:xfrm>
            <a:off x="8019288" y="2087372"/>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Sovereign project site list</a:t>
            </a:r>
            <a:endParaRPr lang="en-US" sz="880" dirty="0"/>
          </a:p>
        </p:txBody>
      </p:sp>
      <p:sp>
        <p:nvSpPr>
          <p:cNvPr id="14" name="Shape 11"/>
          <p:cNvSpPr/>
          <p:nvPr/>
        </p:nvSpPr>
        <p:spPr>
          <a:xfrm>
            <a:off x="8019288" y="2409952"/>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4099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3642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Nonsovereign project site list</a:t>
            </a:r>
            <a:endParaRPr lang="en-US" sz="880" dirty="0"/>
          </a:p>
        </p:txBody>
      </p:sp>
      <p:sp>
        <p:nvSpPr>
          <p:cNvPr id="17" name="Shape 14"/>
          <p:cNvSpPr/>
          <p:nvPr/>
        </p:nvSpPr>
        <p:spPr>
          <a:xfrm>
            <a:off x="502920" y="5779008"/>
            <a:ext cx="118872" cy="118872"/>
          </a:xfrm>
          <a:prstGeom prst="ellipse">
            <a:avLst/>
          </a:prstGeom>
          <a:solidFill>
            <a:srgbClr val="0072BC"/>
          </a:solidFill>
          <a:ln w="12700">
            <a:solidFill>
              <a:srgbClr val="0072BC"/>
            </a:solidFill>
            <a:prstDash val="solid"/>
          </a:ln>
        </p:spPr>
      </p:sp>
      <p:sp>
        <p:nvSpPr>
          <p:cNvPr id="18" name="Text 15"/>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Sovereign and nonsovereign, switched with the picker.</a:t>
            </a:r>
            <a:endParaRPr lang="en-US" sz="1000" dirty="0"/>
          </a:p>
        </p:txBody>
      </p:sp>
      <p:sp>
        <p:nvSpPr>
          <p:cNvPr id="19" name="Shape 16"/>
          <p:cNvSpPr/>
          <p:nvPr/>
        </p:nvSpPr>
        <p:spPr>
          <a:xfrm>
            <a:off x="4270248" y="5779008"/>
            <a:ext cx="118872" cy="118872"/>
          </a:xfrm>
          <a:prstGeom prst="ellipse">
            <a:avLst/>
          </a:prstGeom>
          <a:solidFill>
            <a:srgbClr val="00A5A8"/>
          </a:solidFill>
          <a:ln w="12700">
            <a:solidFill>
              <a:srgbClr val="00A5A8"/>
            </a:solidFill>
            <a:prstDash val="solid"/>
          </a:ln>
        </p:spPr>
      </p:sp>
      <p:sp>
        <p:nvSpPr>
          <p:cNvPr id="20" name="Text 17"/>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Click any project to open its profile below.</a:t>
            </a:r>
            <a:endParaRPr lang="en-US" sz="1000" dirty="0"/>
          </a:p>
        </p:txBody>
      </p:sp>
      <p:sp>
        <p:nvSpPr>
          <p:cNvPr id="21" name="Shape 18"/>
          <p:cNvSpPr/>
          <p:nvPr/>
        </p:nvSpPr>
        <p:spPr>
          <a:xfrm>
            <a:off x="8037576" y="5779008"/>
            <a:ext cx="118872" cy="118872"/>
          </a:xfrm>
          <a:prstGeom prst="ellipse">
            <a:avLst/>
          </a:prstGeom>
          <a:solidFill>
            <a:srgbClr val="5CA943"/>
          </a:solidFill>
          <a:ln w="12700">
            <a:solidFill>
              <a:srgbClr val="5CA943"/>
            </a:solidFill>
            <a:prstDash val="solid"/>
          </a:ln>
        </p:spPr>
      </p:sp>
      <p:sp>
        <p:nvSpPr>
          <p:cNvPr id="22" name="Text 19"/>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totals reconcile: named projects sit inside the facility total, which sits inside bank-wide.</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PROJECT INSIGHTS</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The project profile and its seven figures</a:t>
            </a:r>
            <a:endParaRPr lang="en-US" sz="2500" dirty="0"/>
          </a:p>
        </p:txBody>
      </p:sp>
      <p:sp>
        <p:nvSpPr>
          <p:cNvPr id="4" name="Shape 2"/>
          <p:cNvSpPr/>
          <p:nvPr/>
        </p:nvSpPr>
        <p:spPr>
          <a:xfrm>
            <a:off x="470916" y="1156716"/>
            <a:ext cx="7178040" cy="3793793"/>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pj-02.png">    </p:cNvPr>
          <p:cNvPicPr>
            <a:picLocks noChangeAspect="1"/>
          </p:cNvPicPr>
          <p:nvPr/>
        </p:nvPicPr>
        <p:blipFill>
          <a:blip r:embed="rId1"/>
          <a:stretch>
            <a:fillRect/>
          </a:stretch>
        </p:blipFill>
        <p:spPr>
          <a:xfrm>
            <a:off x="502920" y="1188720"/>
            <a:ext cx="7114032" cy="3729785"/>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24384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Facility type</a:t>
            </a:r>
            <a:endParaRPr lang="en-US" sz="880" dirty="0"/>
          </a:p>
        </p:txBody>
      </p:sp>
      <p:sp>
        <p:nvSpPr>
          <p:cNvPr id="11" name="Shape 8"/>
          <p:cNvSpPr/>
          <p:nvPr/>
        </p:nvSpPr>
        <p:spPr>
          <a:xfrm>
            <a:off x="8019288" y="2008632"/>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0863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1962912"/>
            <a:ext cx="2633472" cy="24384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Modality</a:t>
            </a:r>
            <a:endParaRPr lang="en-US" sz="880" dirty="0"/>
          </a:p>
        </p:txBody>
      </p:sp>
      <p:sp>
        <p:nvSpPr>
          <p:cNvPr id="14" name="Shape 11"/>
          <p:cNvSpPr/>
          <p:nvPr/>
        </p:nvSpPr>
        <p:spPr>
          <a:xfrm>
            <a:off x="8019288" y="2252472"/>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2524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206752"/>
            <a:ext cx="2633472" cy="24384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Country</a:t>
            </a:r>
            <a:endParaRPr lang="en-US" sz="880" dirty="0"/>
          </a:p>
        </p:txBody>
      </p:sp>
      <p:sp>
        <p:nvSpPr>
          <p:cNvPr id="17" name="Shape 14"/>
          <p:cNvSpPr/>
          <p:nvPr/>
        </p:nvSpPr>
        <p:spPr>
          <a:xfrm>
            <a:off x="8019288" y="2496312"/>
            <a:ext cx="731520" cy="169164"/>
          </a:xfrm>
          <a:prstGeom prst="roundRect">
            <a:avLst>
              <a:gd name="adj" fmla="val 48649"/>
            </a:avLst>
          </a:prstGeom>
          <a:solidFill>
            <a:srgbClr val="EAF4E4"/>
          </a:solidFill>
          <a:ln w="12700">
            <a:solidFill>
              <a:srgbClr val="EAF4E4"/>
            </a:solidFill>
            <a:prstDash val="solid"/>
          </a:ln>
        </p:spPr>
      </p:sp>
      <p:sp>
        <p:nvSpPr>
          <p:cNvPr id="18" name="Text 15"/>
          <p:cNvSpPr/>
          <p:nvPr/>
        </p:nvSpPr>
        <p:spPr>
          <a:xfrm>
            <a:off x="8019288" y="249631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9" name="Text 16"/>
          <p:cNvSpPr/>
          <p:nvPr/>
        </p:nvSpPr>
        <p:spPr>
          <a:xfrm>
            <a:off x="8842248" y="2450592"/>
            <a:ext cx="2633472" cy="24384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Status</a:t>
            </a:r>
            <a:endParaRPr lang="en-US" sz="880" dirty="0"/>
          </a:p>
        </p:txBody>
      </p:sp>
      <p:sp>
        <p:nvSpPr>
          <p:cNvPr id="20" name="Shape 17"/>
          <p:cNvSpPr/>
          <p:nvPr/>
        </p:nvSpPr>
        <p:spPr>
          <a:xfrm>
            <a:off x="8019288" y="2740152"/>
            <a:ext cx="731520" cy="169164"/>
          </a:xfrm>
          <a:prstGeom prst="roundRect">
            <a:avLst>
              <a:gd name="adj" fmla="val 48649"/>
            </a:avLst>
          </a:prstGeom>
          <a:solidFill>
            <a:srgbClr val="EAF4E4"/>
          </a:solidFill>
          <a:ln w="12700">
            <a:solidFill>
              <a:srgbClr val="EAF4E4"/>
            </a:solidFill>
            <a:prstDash val="solid"/>
          </a:ln>
        </p:spPr>
      </p:sp>
      <p:sp>
        <p:nvSpPr>
          <p:cNvPr id="21" name="Text 18"/>
          <p:cNvSpPr/>
          <p:nvPr/>
        </p:nvSpPr>
        <p:spPr>
          <a:xfrm>
            <a:off x="8019288" y="27401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2" name="Text 19"/>
          <p:cNvSpPr/>
          <p:nvPr/>
        </p:nvSpPr>
        <p:spPr>
          <a:xfrm>
            <a:off x="8842248" y="2694432"/>
            <a:ext cx="2633472" cy="24384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Effectivity date</a:t>
            </a:r>
            <a:endParaRPr lang="en-US" sz="880" dirty="0"/>
          </a:p>
        </p:txBody>
      </p:sp>
      <p:sp>
        <p:nvSpPr>
          <p:cNvPr id="23" name="Shape 20"/>
          <p:cNvSpPr/>
          <p:nvPr/>
        </p:nvSpPr>
        <p:spPr>
          <a:xfrm>
            <a:off x="8019288" y="2983992"/>
            <a:ext cx="731520" cy="169164"/>
          </a:xfrm>
          <a:prstGeom prst="roundRect">
            <a:avLst>
              <a:gd name="adj" fmla="val 48649"/>
            </a:avLst>
          </a:prstGeom>
          <a:solidFill>
            <a:srgbClr val="EAF4E4"/>
          </a:solidFill>
          <a:ln w="12700">
            <a:solidFill>
              <a:srgbClr val="EAF4E4"/>
            </a:solidFill>
            <a:prstDash val="solid"/>
          </a:ln>
        </p:spPr>
      </p:sp>
      <p:sp>
        <p:nvSpPr>
          <p:cNvPr id="24" name="Text 21"/>
          <p:cNvSpPr/>
          <p:nvPr/>
        </p:nvSpPr>
        <p:spPr>
          <a:xfrm>
            <a:off x="8019288" y="29839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5" name="Text 22"/>
          <p:cNvSpPr/>
          <p:nvPr/>
        </p:nvSpPr>
        <p:spPr>
          <a:xfrm>
            <a:off x="8842248" y="2938272"/>
            <a:ext cx="2633472" cy="24384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Closing date</a:t>
            </a:r>
            <a:endParaRPr lang="en-US" sz="880" dirty="0"/>
          </a:p>
        </p:txBody>
      </p:sp>
      <p:sp>
        <p:nvSpPr>
          <p:cNvPr id="26" name="Shape 23"/>
          <p:cNvSpPr/>
          <p:nvPr/>
        </p:nvSpPr>
        <p:spPr>
          <a:xfrm>
            <a:off x="8019288" y="3227832"/>
            <a:ext cx="731520" cy="169164"/>
          </a:xfrm>
          <a:prstGeom prst="roundRect">
            <a:avLst>
              <a:gd name="adj" fmla="val 48649"/>
            </a:avLst>
          </a:prstGeom>
          <a:solidFill>
            <a:srgbClr val="EAF4E4"/>
          </a:solidFill>
          <a:ln w="12700">
            <a:solidFill>
              <a:srgbClr val="EAF4E4"/>
            </a:solidFill>
            <a:prstDash val="solid"/>
          </a:ln>
        </p:spPr>
      </p:sp>
      <p:sp>
        <p:nvSpPr>
          <p:cNvPr id="27" name="Text 24"/>
          <p:cNvSpPr/>
          <p:nvPr/>
        </p:nvSpPr>
        <p:spPr>
          <a:xfrm>
            <a:off x="8019288" y="322783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8" name="Text 25"/>
          <p:cNvSpPr/>
          <p:nvPr/>
        </p:nvSpPr>
        <p:spPr>
          <a:xfrm>
            <a:off x="8842248" y="3182112"/>
            <a:ext cx="2633472" cy="24384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Project number</a:t>
            </a:r>
            <a:endParaRPr lang="en-US" sz="880" dirty="0"/>
          </a:p>
        </p:txBody>
      </p:sp>
      <p:sp>
        <p:nvSpPr>
          <p:cNvPr id="29" name="Shape 26"/>
          <p:cNvSpPr/>
          <p:nvPr/>
        </p:nvSpPr>
        <p:spPr>
          <a:xfrm>
            <a:off x="8019288" y="3471672"/>
            <a:ext cx="731520" cy="169164"/>
          </a:xfrm>
          <a:prstGeom prst="roundRect">
            <a:avLst>
              <a:gd name="adj" fmla="val 48649"/>
            </a:avLst>
          </a:prstGeom>
          <a:solidFill>
            <a:srgbClr val="EAF4E4"/>
          </a:solidFill>
          <a:ln w="12700">
            <a:solidFill>
              <a:srgbClr val="EAF4E4"/>
            </a:solidFill>
            <a:prstDash val="solid"/>
          </a:ln>
        </p:spPr>
      </p:sp>
      <p:sp>
        <p:nvSpPr>
          <p:cNvPr id="30" name="Text 27"/>
          <p:cNvSpPr/>
          <p:nvPr/>
        </p:nvSpPr>
        <p:spPr>
          <a:xfrm>
            <a:off x="8019288" y="34716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31" name="Text 28"/>
          <p:cNvSpPr/>
          <p:nvPr/>
        </p:nvSpPr>
        <p:spPr>
          <a:xfrm>
            <a:off x="8842248" y="3425952"/>
            <a:ext cx="2633472" cy="24384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Project name</a:t>
            </a:r>
            <a:endParaRPr lang="en-US" sz="880" dirty="0"/>
          </a:p>
        </p:txBody>
      </p:sp>
      <p:sp>
        <p:nvSpPr>
          <p:cNvPr id="32" name="Shape 29"/>
          <p:cNvSpPr/>
          <p:nvPr/>
        </p:nvSpPr>
        <p:spPr>
          <a:xfrm>
            <a:off x="8019288" y="3715512"/>
            <a:ext cx="731520" cy="169164"/>
          </a:xfrm>
          <a:prstGeom prst="roundRect">
            <a:avLst>
              <a:gd name="adj" fmla="val 48649"/>
            </a:avLst>
          </a:prstGeom>
          <a:solidFill>
            <a:srgbClr val="EAF4E4"/>
          </a:solidFill>
          <a:ln w="12700">
            <a:solidFill>
              <a:srgbClr val="EAF4E4"/>
            </a:solidFill>
            <a:prstDash val="solid"/>
          </a:ln>
        </p:spPr>
      </p:sp>
      <p:sp>
        <p:nvSpPr>
          <p:cNvPr id="33" name="Text 30"/>
          <p:cNvSpPr/>
          <p:nvPr/>
        </p:nvSpPr>
        <p:spPr>
          <a:xfrm>
            <a:off x="8019288" y="371551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34" name="Text 31"/>
          <p:cNvSpPr/>
          <p:nvPr/>
        </p:nvSpPr>
        <p:spPr>
          <a:xfrm>
            <a:off x="8842248" y="3669792"/>
            <a:ext cx="2633472" cy="24384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Sites for this project</a:t>
            </a:r>
            <a:endParaRPr lang="en-US" sz="880" dirty="0"/>
          </a:p>
        </p:txBody>
      </p:sp>
      <p:sp>
        <p:nvSpPr>
          <p:cNvPr id="35" name="Shape 32"/>
          <p:cNvSpPr/>
          <p:nvPr/>
        </p:nvSpPr>
        <p:spPr>
          <a:xfrm>
            <a:off x="8019288" y="3959352"/>
            <a:ext cx="731520" cy="169164"/>
          </a:xfrm>
          <a:prstGeom prst="roundRect">
            <a:avLst>
              <a:gd name="adj" fmla="val 48649"/>
            </a:avLst>
          </a:prstGeom>
          <a:solidFill>
            <a:srgbClr val="EAF4E4"/>
          </a:solidFill>
          <a:ln w="12700">
            <a:solidFill>
              <a:srgbClr val="EAF4E4"/>
            </a:solidFill>
            <a:prstDash val="solid"/>
          </a:ln>
        </p:spPr>
      </p:sp>
      <p:sp>
        <p:nvSpPr>
          <p:cNvPr id="36" name="Text 33"/>
          <p:cNvSpPr/>
          <p:nvPr/>
        </p:nvSpPr>
        <p:spPr>
          <a:xfrm>
            <a:off x="8019288" y="39593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37" name="Text 34"/>
          <p:cNvSpPr/>
          <p:nvPr/>
        </p:nvSpPr>
        <p:spPr>
          <a:xfrm>
            <a:off x="8842248" y="3913632"/>
            <a:ext cx="2633472" cy="24384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Users for this project</a:t>
            </a:r>
            <a:endParaRPr lang="en-US" sz="880" dirty="0"/>
          </a:p>
        </p:txBody>
      </p:sp>
      <p:sp>
        <p:nvSpPr>
          <p:cNvPr id="38" name="Shape 35"/>
          <p:cNvSpPr/>
          <p:nvPr/>
        </p:nvSpPr>
        <p:spPr>
          <a:xfrm>
            <a:off x="8019288" y="4203192"/>
            <a:ext cx="731520" cy="169164"/>
          </a:xfrm>
          <a:prstGeom prst="roundRect">
            <a:avLst>
              <a:gd name="adj" fmla="val 48649"/>
            </a:avLst>
          </a:prstGeom>
          <a:solidFill>
            <a:srgbClr val="EAF4E4"/>
          </a:solidFill>
          <a:ln w="12700">
            <a:solidFill>
              <a:srgbClr val="EAF4E4"/>
            </a:solidFill>
            <a:prstDash val="solid"/>
          </a:ln>
        </p:spPr>
      </p:sp>
      <p:sp>
        <p:nvSpPr>
          <p:cNvPr id="39" name="Text 36"/>
          <p:cNvSpPr/>
          <p:nvPr/>
        </p:nvSpPr>
        <p:spPr>
          <a:xfrm>
            <a:off x="8019288" y="42031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40" name="Text 37"/>
          <p:cNvSpPr/>
          <p:nvPr/>
        </p:nvSpPr>
        <p:spPr>
          <a:xfrm>
            <a:off x="8842248" y="4157472"/>
            <a:ext cx="2633472" cy="24384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Site visits for this project</a:t>
            </a:r>
            <a:endParaRPr lang="en-US" sz="880" dirty="0"/>
          </a:p>
        </p:txBody>
      </p:sp>
      <p:sp>
        <p:nvSpPr>
          <p:cNvPr id="41" name="Shape 38"/>
          <p:cNvSpPr/>
          <p:nvPr/>
        </p:nvSpPr>
        <p:spPr>
          <a:xfrm>
            <a:off x="8019288" y="4447032"/>
            <a:ext cx="731520" cy="169164"/>
          </a:xfrm>
          <a:prstGeom prst="roundRect">
            <a:avLst>
              <a:gd name="adj" fmla="val 48649"/>
            </a:avLst>
          </a:prstGeom>
          <a:solidFill>
            <a:srgbClr val="EAF4E4"/>
          </a:solidFill>
          <a:ln w="12700">
            <a:solidFill>
              <a:srgbClr val="EAF4E4"/>
            </a:solidFill>
            <a:prstDash val="solid"/>
          </a:ln>
        </p:spPr>
      </p:sp>
      <p:sp>
        <p:nvSpPr>
          <p:cNvPr id="42" name="Text 39"/>
          <p:cNvSpPr/>
          <p:nvPr/>
        </p:nvSpPr>
        <p:spPr>
          <a:xfrm>
            <a:off x="8019288" y="444703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43" name="Text 40"/>
          <p:cNvSpPr/>
          <p:nvPr/>
        </p:nvSpPr>
        <p:spPr>
          <a:xfrm>
            <a:off x="8842248" y="4401312"/>
            <a:ext cx="2633472" cy="24384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Documents for this project</a:t>
            </a:r>
            <a:endParaRPr lang="en-US" sz="880" dirty="0"/>
          </a:p>
        </p:txBody>
      </p:sp>
      <p:sp>
        <p:nvSpPr>
          <p:cNvPr id="44" name="Shape 41"/>
          <p:cNvSpPr/>
          <p:nvPr/>
        </p:nvSpPr>
        <p:spPr>
          <a:xfrm>
            <a:off x="8019288" y="4690872"/>
            <a:ext cx="731520" cy="169164"/>
          </a:xfrm>
          <a:prstGeom prst="roundRect">
            <a:avLst>
              <a:gd name="adj" fmla="val 48649"/>
            </a:avLst>
          </a:prstGeom>
          <a:solidFill>
            <a:srgbClr val="EAF4E4"/>
          </a:solidFill>
          <a:ln w="12700">
            <a:solidFill>
              <a:srgbClr val="EAF4E4"/>
            </a:solidFill>
            <a:prstDash val="solid"/>
          </a:ln>
        </p:spPr>
      </p:sp>
      <p:sp>
        <p:nvSpPr>
          <p:cNvPr id="45" name="Text 42"/>
          <p:cNvSpPr/>
          <p:nvPr/>
        </p:nvSpPr>
        <p:spPr>
          <a:xfrm>
            <a:off x="8019288" y="46908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46" name="Text 43"/>
          <p:cNvSpPr/>
          <p:nvPr/>
        </p:nvSpPr>
        <p:spPr>
          <a:xfrm>
            <a:off x="8842248" y="4645152"/>
            <a:ext cx="2633472" cy="24384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Records declared for this project</a:t>
            </a:r>
            <a:endParaRPr lang="en-US" sz="880" dirty="0"/>
          </a:p>
        </p:txBody>
      </p:sp>
      <p:sp>
        <p:nvSpPr>
          <p:cNvPr id="47" name="Shape 44"/>
          <p:cNvSpPr/>
          <p:nvPr/>
        </p:nvSpPr>
        <p:spPr>
          <a:xfrm>
            <a:off x="8019288" y="4934712"/>
            <a:ext cx="731520" cy="169164"/>
          </a:xfrm>
          <a:prstGeom prst="roundRect">
            <a:avLst>
              <a:gd name="adj" fmla="val 48649"/>
            </a:avLst>
          </a:prstGeom>
          <a:solidFill>
            <a:srgbClr val="EAF4E4"/>
          </a:solidFill>
          <a:ln w="12700">
            <a:solidFill>
              <a:srgbClr val="EAF4E4"/>
            </a:solidFill>
            <a:prstDash val="solid"/>
          </a:ln>
        </p:spPr>
      </p:sp>
      <p:sp>
        <p:nvSpPr>
          <p:cNvPr id="48" name="Text 45"/>
          <p:cNvSpPr/>
          <p:nvPr/>
        </p:nvSpPr>
        <p:spPr>
          <a:xfrm>
            <a:off x="8019288" y="493471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49" name="Text 46"/>
          <p:cNvSpPr/>
          <p:nvPr/>
        </p:nvSpPr>
        <p:spPr>
          <a:xfrm>
            <a:off x="8842248" y="4888992"/>
            <a:ext cx="2633472" cy="24384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Physical counterparts for this project</a:t>
            </a:r>
            <a:endParaRPr lang="en-US" sz="880" dirty="0"/>
          </a:p>
        </p:txBody>
      </p:sp>
      <p:sp>
        <p:nvSpPr>
          <p:cNvPr id="50" name="Shape 47"/>
          <p:cNvSpPr/>
          <p:nvPr/>
        </p:nvSpPr>
        <p:spPr>
          <a:xfrm>
            <a:off x="8019288" y="5178552"/>
            <a:ext cx="731520" cy="169164"/>
          </a:xfrm>
          <a:prstGeom prst="roundRect">
            <a:avLst>
              <a:gd name="adj" fmla="val 48649"/>
            </a:avLst>
          </a:prstGeom>
          <a:solidFill>
            <a:srgbClr val="EAF4E4"/>
          </a:solidFill>
          <a:ln w="12700">
            <a:solidFill>
              <a:srgbClr val="EAF4E4"/>
            </a:solidFill>
            <a:prstDash val="solid"/>
          </a:ln>
        </p:spPr>
      </p:sp>
      <p:sp>
        <p:nvSpPr>
          <p:cNvPr id="51" name="Text 48"/>
          <p:cNvSpPr/>
          <p:nvPr/>
        </p:nvSpPr>
        <p:spPr>
          <a:xfrm>
            <a:off x="8019288" y="51785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52" name="Text 49"/>
          <p:cNvSpPr/>
          <p:nvPr/>
        </p:nvSpPr>
        <p:spPr>
          <a:xfrm>
            <a:off x="8842248" y="5132832"/>
            <a:ext cx="2633472" cy="24384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Records due for disposal for this project</a:t>
            </a:r>
            <a:endParaRPr lang="en-US" sz="880" dirty="0"/>
          </a:p>
        </p:txBody>
      </p:sp>
      <p:sp>
        <p:nvSpPr>
          <p:cNvPr id="53" name="Shape 50"/>
          <p:cNvSpPr/>
          <p:nvPr/>
        </p:nvSpPr>
        <p:spPr>
          <a:xfrm>
            <a:off x="502920" y="5779008"/>
            <a:ext cx="118872" cy="118872"/>
          </a:xfrm>
          <a:prstGeom prst="ellipse">
            <a:avLst/>
          </a:prstGeom>
          <a:solidFill>
            <a:srgbClr val="0072BC"/>
          </a:solidFill>
          <a:ln w="12700">
            <a:solidFill>
              <a:srgbClr val="0072BC"/>
            </a:solidFill>
            <a:prstDash val="solid"/>
          </a:ln>
        </p:spPr>
      </p:sp>
      <p:sp>
        <p:nvSpPr>
          <p:cNvPr id="54" name="Text 51"/>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All eight profile fields the client drew, in their order.</a:t>
            </a:r>
            <a:endParaRPr lang="en-US" sz="1000" dirty="0"/>
          </a:p>
        </p:txBody>
      </p:sp>
      <p:sp>
        <p:nvSpPr>
          <p:cNvPr id="55" name="Shape 52"/>
          <p:cNvSpPr/>
          <p:nvPr/>
        </p:nvSpPr>
        <p:spPr>
          <a:xfrm>
            <a:off x="4270248" y="5779008"/>
            <a:ext cx="118872" cy="118872"/>
          </a:xfrm>
          <a:prstGeom prst="ellipse">
            <a:avLst/>
          </a:prstGeom>
          <a:solidFill>
            <a:srgbClr val="00A5A8"/>
          </a:solidFill>
          <a:ln w="12700">
            <a:solidFill>
              <a:srgbClr val="00A5A8"/>
            </a:solidFill>
            <a:prstDash val="solid"/>
          </a:ln>
        </p:spPr>
      </p:sp>
      <p:sp>
        <p:nvSpPr>
          <p:cNvPr id="56" name="Text 53"/>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All seven figures are clickable and open a table site by site.</a:t>
            </a:r>
            <a:endParaRPr lang="en-US" sz="1000" dirty="0"/>
          </a:p>
        </p:txBody>
      </p:sp>
      <p:sp>
        <p:nvSpPr>
          <p:cNvPr id="57" name="Shape 54"/>
          <p:cNvSpPr/>
          <p:nvPr/>
        </p:nvSpPr>
        <p:spPr>
          <a:xfrm>
            <a:off x="8037576" y="5779008"/>
            <a:ext cx="118872" cy="118872"/>
          </a:xfrm>
          <a:prstGeom prst="ellipse">
            <a:avLst/>
          </a:prstGeom>
          <a:solidFill>
            <a:srgbClr val="5CA943"/>
          </a:solidFill>
          <a:ln w="12700">
            <a:solidFill>
              <a:srgbClr val="5CA943"/>
            </a:solidFill>
            <a:prstDash val="solid"/>
          </a:ln>
        </p:spPr>
      </p:sp>
      <p:sp>
        <p:nvSpPr>
          <p:cNvPr id="58" name="Text 55"/>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site rows always add back up to the project total.</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PROJECT INSIGHTS</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The three charts</a:t>
            </a:r>
            <a:endParaRPr lang="en-US" sz="2500" dirty="0"/>
          </a:p>
        </p:txBody>
      </p:sp>
      <p:sp>
        <p:nvSpPr>
          <p:cNvPr id="4" name="Shape 2"/>
          <p:cNvSpPr/>
          <p:nvPr/>
        </p:nvSpPr>
        <p:spPr>
          <a:xfrm>
            <a:off x="470916" y="1156716"/>
            <a:ext cx="7178040" cy="4073273"/>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pj-03.png">    </p:cNvPr>
          <p:cNvPicPr>
            <a:picLocks noChangeAspect="1"/>
          </p:cNvPicPr>
          <p:nvPr/>
        </p:nvPicPr>
        <p:blipFill>
          <a:blip r:embed="rId1"/>
          <a:stretch>
            <a:fillRect/>
          </a:stretch>
        </p:blipFill>
        <p:spPr>
          <a:xfrm>
            <a:off x="502920" y="1188720"/>
            <a:ext cx="7114032" cy="4009265"/>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Users pie, split staff / consultants / contractors</a:t>
            </a:r>
            <a:endParaRPr lang="en-US" sz="880" dirty="0"/>
          </a:p>
        </p:txBody>
      </p:sp>
      <p:sp>
        <p:nvSpPr>
          <p:cNvPr id="11" name="Shape 8"/>
          <p:cNvSpPr/>
          <p:nvPr/>
        </p:nvSpPr>
        <p:spPr>
          <a:xfrm>
            <a:off x="8019288" y="2087372"/>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Cumulative declaration trend for this project</a:t>
            </a:r>
            <a:endParaRPr lang="en-US" sz="880" dirty="0"/>
          </a:p>
        </p:txBody>
      </p:sp>
      <p:sp>
        <p:nvSpPr>
          <p:cNvPr id="14" name="Shape 11"/>
          <p:cNvSpPr/>
          <p:nvPr/>
        </p:nvSpPr>
        <p:spPr>
          <a:xfrm>
            <a:off x="8019288" y="2409952"/>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4099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364232"/>
            <a:ext cx="2633472" cy="4622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Documents against records declared, site by site, with declaration rate</a:t>
            </a:r>
            <a:endParaRPr lang="en-US" sz="880" dirty="0"/>
          </a:p>
        </p:txBody>
      </p:sp>
      <p:sp>
        <p:nvSpPr>
          <p:cNvPr id="17" name="Shape 14"/>
          <p:cNvSpPr/>
          <p:nvPr/>
        </p:nvSpPr>
        <p:spPr>
          <a:xfrm>
            <a:off x="502920" y="5779008"/>
            <a:ext cx="118872" cy="118872"/>
          </a:xfrm>
          <a:prstGeom prst="ellipse">
            <a:avLst/>
          </a:prstGeom>
          <a:solidFill>
            <a:srgbClr val="0072BC"/>
          </a:solidFill>
          <a:ln w="12700">
            <a:solidFill>
              <a:srgbClr val="0072BC"/>
            </a:solidFill>
            <a:prstDash val="solid"/>
          </a:ln>
        </p:spPr>
      </p:sp>
      <p:sp>
        <p:nvSpPr>
          <p:cNvPr id="18" name="Text 15"/>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User mix uses the client’s own three-way split.</a:t>
            </a:r>
            <a:endParaRPr lang="en-US" sz="1000" dirty="0"/>
          </a:p>
        </p:txBody>
      </p:sp>
      <p:sp>
        <p:nvSpPr>
          <p:cNvPr id="19" name="Shape 16"/>
          <p:cNvSpPr/>
          <p:nvPr/>
        </p:nvSpPr>
        <p:spPr>
          <a:xfrm>
            <a:off x="4270248" y="5779008"/>
            <a:ext cx="118872" cy="118872"/>
          </a:xfrm>
          <a:prstGeom prst="ellipse">
            <a:avLst/>
          </a:prstGeom>
          <a:solidFill>
            <a:srgbClr val="00A5A8"/>
          </a:solidFill>
          <a:ln w="12700">
            <a:solidFill>
              <a:srgbClr val="00A5A8"/>
            </a:solidFill>
            <a:prstDash val="solid"/>
          </a:ln>
        </p:spPr>
      </p:sp>
      <p:sp>
        <p:nvSpPr>
          <p:cNvPr id="20" name="Text 17"/>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curve is cumulative, so it ends at the project’s declared total.</a:t>
            </a:r>
            <a:endParaRPr lang="en-US" sz="1000" dirty="0"/>
          </a:p>
        </p:txBody>
      </p:sp>
      <p:sp>
        <p:nvSpPr>
          <p:cNvPr id="21" name="Shape 18"/>
          <p:cNvSpPr/>
          <p:nvPr/>
        </p:nvSpPr>
        <p:spPr>
          <a:xfrm>
            <a:off x="8037576" y="5779008"/>
            <a:ext cx="118872" cy="118872"/>
          </a:xfrm>
          <a:prstGeom prst="ellipse">
            <a:avLst/>
          </a:prstGeom>
          <a:solidFill>
            <a:srgbClr val="5CA943"/>
          </a:solidFill>
          <a:ln w="12700">
            <a:solidFill>
              <a:srgbClr val="5CA943"/>
            </a:solidFill>
            <a:prstDash val="solid"/>
          </a:ln>
        </p:spPr>
      </p:sp>
      <p:sp>
        <p:nvSpPr>
          <p:cNvPr id="22" name="Text 19"/>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bottom chart shows why one site declares everything and another almost nothing.</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PROJECT INSIGHTS</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What we need from you</a:t>
            </a:r>
            <a:endParaRPr lang="en-US" sz="2500" dirty="0"/>
          </a:p>
        </p:txBody>
      </p:sp>
      <p:sp>
        <p:nvSpPr>
          <p:cNvPr id="4" name="Shape 2"/>
          <p:cNvSpPr/>
          <p:nvPr/>
        </p:nvSpPr>
        <p:spPr>
          <a:xfrm>
            <a:off x="502920" y="1280160"/>
            <a:ext cx="11155680" cy="1965960"/>
          </a:xfrm>
          <a:prstGeom prst="roundRect">
            <a:avLst>
              <a:gd name="adj" fmla="val 2791"/>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5" name="Shape 3"/>
          <p:cNvSpPr/>
          <p:nvPr/>
        </p:nvSpPr>
        <p:spPr>
          <a:xfrm>
            <a:off x="777240" y="2061972"/>
            <a:ext cx="402336" cy="402336"/>
          </a:xfrm>
          <a:prstGeom prst="ellipse">
            <a:avLst/>
          </a:prstGeom>
          <a:solidFill>
            <a:srgbClr val="FBE6E4"/>
          </a:solidFill>
          <a:ln w="12700">
            <a:solidFill>
              <a:srgbClr val="FBE6E4"/>
            </a:solidFill>
            <a:prstDash val="solid"/>
          </a:ln>
        </p:spPr>
      </p:sp>
      <p:sp>
        <p:nvSpPr>
          <p:cNvPr id="6" name="Text 4"/>
          <p:cNvSpPr/>
          <p:nvPr/>
        </p:nvSpPr>
        <p:spPr>
          <a:xfrm>
            <a:off x="777240" y="2061972"/>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1</a:t>
            </a:r>
            <a:endParaRPr lang="en-US" sz="1400" dirty="0"/>
          </a:p>
        </p:txBody>
      </p:sp>
      <p:sp>
        <p:nvSpPr>
          <p:cNvPr id="7" name="Text 5"/>
          <p:cNvSpPr/>
          <p:nvPr/>
        </p:nvSpPr>
        <p:spPr>
          <a:xfrm>
            <a:off x="1371600" y="1408176"/>
            <a:ext cx="4663440" cy="1709928"/>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Which SharePoint site belongs to which project?</a:t>
            </a:r>
            <a:endParaRPr lang="en-US" sz="1350" dirty="0"/>
          </a:p>
        </p:txBody>
      </p:sp>
      <p:sp>
        <p:nvSpPr>
          <p:cNvPr id="8" name="Text 6"/>
          <p:cNvSpPr/>
          <p:nvPr/>
        </p:nvSpPr>
        <p:spPr>
          <a:xfrm>
            <a:off x="6217920" y="1399032"/>
            <a:ext cx="2743200" cy="1728216"/>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This is the one that matters. Nothing today connects a SharePoint site to a project number, so every figure on this dashboard is a placeholder — the layout is right, the numbers are invented.</a:t>
            </a:r>
            <a:endParaRPr lang="en-US" sz="860" dirty="0"/>
          </a:p>
        </p:txBody>
      </p:sp>
      <p:sp>
        <p:nvSpPr>
          <p:cNvPr id="9" name="Text 7"/>
          <p:cNvSpPr/>
          <p:nvPr/>
        </p:nvSpPr>
        <p:spPr>
          <a:xfrm>
            <a:off x="9098280" y="1399032"/>
            <a:ext cx="2423160" cy="1728216"/>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Is there a list anywhere, even a spreadsheet someone keeps by hand? If sites are named to a pattern that includes the project number, that would work too.</a:t>
            </a:r>
            <a:endParaRPr lang="en-US" sz="860" dirty="0"/>
          </a:p>
        </p:txBody>
      </p:sp>
      <p:sp>
        <p:nvSpPr>
          <p:cNvPr id="10" name="Shape 8"/>
          <p:cNvSpPr/>
          <p:nvPr/>
        </p:nvSpPr>
        <p:spPr>
          <a:xfrm>
            <a:off x="502920" y="3355848"/>
            <a:ext cx="11155680" cy="1965960"/>
          </a:xfrm>
          <a:prstGeom prst="roundRect">
            <a:avLst>
              <a:gd name="adj" fmla="val 2791"/>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11" name="Shape 9"/>
          <p:cNvSpPr/>
          <p:nvPr/>
        </p:nvSpPr>
        <p:spPr>
          <a:xfrm>
            <a:off x="777240" y="4137660"/>
            <a:ext cx="402336" cy="402336"/>
          </a:xfrm>
          <a:prstGeom prst="ellipse">
            <a:avLst/>
          </a:prstGeom>
          <a:solidFill>
            <a:srgbClr val="FBE6E4"/>
          </a:solidFill>
          <a:ln w="12700">
            <a:solidFill>
              <a:srgbClr val="FBE6E4"/>
            </a:solidFill>
            <a:prstDash val="solid"/>
          </a:ln>
        </p:spPr>
      </p:sp>
      <p:sp>
        <p:nvSpPr>
          <p:cNvPr id="12" name="Text 10"/>
          <p:cNvSpPr/>
          <p:nvPr/>
        </p:nvSpPr>
        <p:spPr>
          <a:xfrm>
            <a:off x="777240" y="4137660"/>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2</a:t>
            </a:r>
            <a:endParaRPr lang="en-US" sz="1400" dirty="0"/>
          </a:p>
        </p:txBody>
      </p:sp>
      <p:sp>
        <p:nvSpPr>
          <p:cNvPr id="13" name="Text 11"/>
          <p:cNvSpPr/>
          <p:nvPr/>
        </p:nvSpPr>
        <p:spPr>
          <a:xfrm>
            <a:off x="1371600" y="3483864"/>
            <a:ext cx="4663440" cy="1709928"/>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Where do the eight project details come from?</a:t>
            </a:r>
            <a:endParaRPr lang="en-US" sz="1350" dirty="0"/>
          </a:p>
        </p:txBody>
      </p:sp>
      <p:sp>
        <p:nvSpPr>
          <p:cNvPr id="14" name="Text 12"/>
          <p:cNvSpPr/>
          <p:nvPr/>
        </p:nvSpPr>
        <p:spPr>
          <a:xfrm>
            <a:off x="6217920" y="3474720"/>
            <a:ext cx="2743200" cy="1728216"/>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Facility type, modality, country, status, effectivity and closing dates — these clearly live in an ADB project system, but that system has never been named in this work.</a:t>
            </a:r>
            <a:endParaRPr lang="en-US" sz="860" dirty="0"/>
          </a:p>
        </p:txBody>
      </p:sp>
      <p:sp>
        <p:nvSpPr>
          <p:cNvPr id="15" name="Text 13"/>
          <p:cNvSpPr/>
          <p:nvPr/>
        </p:nvSpPr>
        <p:spPr>
          <a:xfrm>
            <a:off x="9098280" y="3474720"/>
            <a:ext cx="2423160" cy="1728216"/>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Which system holds them, and who owns it? Once we know, we can ask for a feed.</a:t>
            </a:r>
            <a:endParaRPr lang="en-US" sz="860" dirty="0"/>
          </a:p>
        </p:txBody>
      </p:sp>
      <p:sp>
        <p:nvSpPr>
          <p:cNvPr id="16" name="Text 14"/>
          <p:cNvSpPr/>
          <p:nvPr/>
        </p:nvSpPr>
        <p:spPr>
          <a:xfrm>
            <a:off x="137160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THE QUESTION</a:t>
            </a:r>
            <a:endParaRPr lang="en-US" sz="750" dirty="0"/>
          </a:p>
        </p:txBody>
      </p:sp>
      <p:sp>
        <p:nvSpPr>
          <p:cNvPr id="17" name="Text 15"/>
          <p:cNvSpPr/>
          <p:nvPr/>
        </p:nvSpPr>
        <p:spPr>
          <a:xfrm>
            <a:off x="621792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WHY WE ARE STUCK</a:t>
            </a:r>
            <a:endParaRPr lang="en-US" sz="750" dirty="0"/>
          </a:p>
        </p:txBody>
      </p:sp>
      <p:sp>
        <p:nvSpPr>
          <p:cNvPr id="18" name="Text 16"/>
          <p:cNvSpPr/>
          <p:nvPr/>
        </p:nvSpPr>
        <p:spPr>
          <a:xfrm>
            <a:off x="909828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WHAT WOULD UNBLOCK IT</a:t>
            </a:r>
            <a:endParaRPr lang="en-US" sz="7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E1F35"/>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5A8"/>
          </a:solidFill>
          <a:ln w="12700">
            <a:solidFill>
              <a:srgbClr val="00A5A8"/>
            </a:solidFill>
            <a:prstDash val="solid"/>
          </a:ln>
        </p:spPr>
      </p:sp>
      <p:sp>
        <p:nvSpPr>
          <p:cNvPr id="3" name="Text 1"/>
          <p:cNvSpPr/>
          <p:nvPr/>
        </p:nvSpPr>
        <p:spPr>
          <a:xfrm>
            <a:off x="822960" y="2103120"/>
            <a:ext cx="5486400" cy="274320"/>
          </a:xfrm>
          <a:prstGeom prst="rect">
            <a:avLst/>
          </a:prstGeom>
          <a:noFill/>
          <a:ln/>
        </p:spPr>
        <p:txBody>
          <a:bodyPr wrap="square" lIns="0" tIns="0" rIns="0" bIns="0" rtlCol="0" anchor="ctr"/>
          <a:lstStyle/>
          <a:p>
            <a:pPr indent="0" marL="0">
              <a:buNone/>
            </a:pPr>
            <a:r>
              <a:rPr lang="en-US" sz="1150" b="1" spc="160" kern="0" dirty="0">
                <a:solidFill>
                  <a:srgbClr val="00A5A8"/>
                </a:solidFill>
                <a:latin typeface="Calibri" pitchFamily="34" charset="0"/>
                <a:ea typeface="Calibri" pitchFamily="34" charset="-122"/>
                <a:cs typeface="Calibri" pitchFamily="34" charset="-120"/>
              </a:rPr>
              <a:t>VIEW 4 OF 6</a:t>
            </a:r>
            <a:endParaRPr lang="en-US" sz="1150" dirty="0"/>
          </a:p>
        </p:txBody>
      </p:sp>
      <p:sp>
        <p:nvSpPr>
          <p:cNvPr id="4" name="Text 2"/>
          <p:cNvSpPr/>
          <p:nvPr/>
        </p:nvSpPr>
        <p:spPr>
          <a:xfrm>
            <a:off x="822960" y="2468880"/>
            <a:ext cx="7680960"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Institutional File Plan</a:t>
            </a:r>
            <a:endParaRPr lang="en-US" sz="4000" dirty="0"/>
          </a:p>
        </p:txBody>
      </p:sp>
      <p:sp>
        <p:nvSpPr>
          <p:cNvPr id="5" name="Text 3"/>
          <p:cNvSpPr/>
          <p:nvPr/>
        </p:nvSpPr>
        <p:spPr>
          <a:xfrm>
            <a:off x="822960" y="3520440"/>
            <a:ext cx="7498080" cy="914400"/>
          </a:xfrm>
          <a:prstGeom prst="rect">
            <a:avLst/>
          </a:prstGeom>
          <a:noFill/>
          <a:ln/>
        </p:spPr>
        <p:txBody>
          <a:bodyPr wrap="square" lIns="0" tIns="0" rIns="0" bIns="0" rtlCol="0" anchor="ctr"/>
          <a:lstStyle/>
          <a:p>
            <a:pPr indent="0" marL="0">
              <a:lnSpc>
                <a:spcPts val="2400"/>
              </a:lnSpc>
              <a:buNone/>
            </a:pPr>
            <a:r>
              <a:rPr lang="en-US" sz="1700" dirty="0">
                <a:solidFill>
                  <a:srgbClr val="AFC4D8"/>
                </a:solidFill>
                <a:latin typeface="Calibri" pitchFamily="34" charset="0"/>
                <a:ea typeface="Calibri" pitchFamily="34" charset="-122"/>
                <a:cs typeface="Calibri" pitchFamily="34" charset="-120"/>
              </a:rPr>
              <a:t>Is the file plan actually being used?</a:t>
            </a:r>
            <a:endParaRPr lang="en-US" sz="1700" dirty="0"/>
          </a:p>
        </p:txBody>
      </p:sp>
      <p:sp>
        <p:nvSpPr>
          <p:cNvPr id="6" name="Shape 4"/>
          <p:cNvSpPr/>
          <p:nvPr/>
        </p:nvSpPr>
        <p:spPr>
          <a:xfrm>
            <a:off x="8961120" y="2286000"/>
            <a:ext cx="2606040" cy="2103120"/>
          </a:xfrm>
          <a:prstGeom prst="roundRect">
            <a:avLst>
              <a:gd name="adj" fmla="val 3478"/>
            </a:avLst>
          </a:prstGeom>
          <a:solidFill>
            <a:srgbClr val="16304F"/>
          </a:solidFill>
          <a:ln w="12700">
            <a:solidFill>
              <a:srgbClr val="27476C"/>
            </a:solidFill>
            <a:prstDash val="solid"/>
          </a:ln>
        </p:spPr>
      </p:sp>
      <p:sp>
        <p:nvSpPr>
          <p:cNvPr id="7" name="Text 5"/>
          <p:cNvSpPr/>
          <p:nvPr/>
        </p:nvSpPr>
        <p:spPr>
          <a:xfrm>
            <a:off x="8961120" y="2514600"/>
            <a:ext cx="2606040" cy="777240"/>
          </a:xfrm>
          <a:prstGeom prst="rect">
            <a:avLst/>
          </a:prstGeom>
          <a:noFill/>
          <a:ln/>
        </p:spPr>
        <p:txBody>
          <a:bodyPr wrap="square" lIns="0" tIns="0" rIns="0" bIns="0" rtlCol="0" anchor="ctr"/>
          <a:lstStyle/>
          <a:p>
            <a:pPr algn="ctr" indent="0" marL="0">
              <a:buNone/>
            </a:pPr>
            <a:r>
              <a:rPr lang="en-US" sz="4600" b="1" dirty="0">
                <a:solidFill>
                  <a:srgbClr val="5CA943"/>
                </a:solidFill>
                <a:latin typeface="Cambria" pitchFamily="34" charset="0"/>
                <a:ea typeface="Cambria" pitchFamily="34" charset="-122"/>
                <a:cs typeface="Cambria" pitchFamily="34" charset="-120"/>
              </a:rPr>
              <a:t>22</a:t>
            </a:r>
            <a:endParaRPr lang="en-US" sz="4600" dirty="0"/>
          </a:p>
        </p:txBody>
      </p:sp>
      <p:sp>
        <p:nvSpPr>
          <p:cNvPr id="8" name="Text 6"/>
          <p:cNvSpPr/>
          <p:nvPr/>
        </p:nvSpPr>
        <p:spPr>
          <a:xfrm>
            <a:off x="8961120" y="3291840"/>
            <a:ext cx="2606040" cy="274320"/>
          </a:xfrm>
          <a:prstGeom prst="rect">
            <a:avLst/>
          </a:prstGeom>
          <a:noFill/>
          <a:ln/>
        </p:spPr>
        <p:txBody>
          <a:bodyPr wrap="square" lIns="0" tIns="0" rIns="0" bIns="0" rtlCol="0" anchor="ctr"/>
          <a:lstStyle/>
          <a:p>
            <a:pPr algn="ctr" indent="0" marL="0">
              <a:buNone/>
            </a:pPr>
            <a:r>
              <a:rPr lang="en-US" sz="1250" dirty="0">
                <a:solidFill>
                  <a:srgbClr val="AFC4D8"/>
                </a:solidFill>
                <a:latin typeface="Calibri" pitchFamily="34" charset="0"/>
                <a:ea typeface="Calibri" pitchFamily="34" charset="-122"/>
                <a:cs typeface="Calibri" pitchFamily="34" charset="-120"/>
              </a:rPr>
              <a:t>of 26 built</a:t>
            </a:r>
            <a:endParaRPr lang="en-US" sz="1250" dirty="0"/>
          </a:p>
        </p:txBody>
      </p:sp>
      <p:sp>
        <p:nvSpPr>
          <p:cNvPr id="9" name="Text 7"/>
          <p:cNvSpPr/>
          <p:nvPr/>
        </p:nvSpPr>
        <p:spPr>
          <a:xfrm>
            <a:off x="9052560" y="3703320"/>
            <a:ext cx="2423160" cy="502920"/>
          </a:xfrm>
          <a:prstGeom prst="rect">
            <a:avLst/>
          </a:prstGeom>
          <a:noFill/>
          <a:ln/>
        </p:spPr>
        <p:txBody>
          <a:bodyPr wrap="square" lIns="0" tIns="0" rIns="0" bIns="0" rtlCol="0" anchor="ctr"/>
          <a:lstStyle/>
          <a:p>
            <a:pPr algn="ctr" indent="0" marL="0">
              <a:lnSpc>
                <a:spcPts val="1400"/>
              </a:lnSpc>
              <a:buNone/>
            </a:pPr>
            <a:r>
              <a:rPr lang="en-US" sz="1150" b="1" dirty="0">
                <a:solidFill>
                  <a:srgbClr val="E88A82"/>
                </a:solidFill>
                <a:latin typeface="Calibri" pitchFamily="34" charset="0"/>
                <a:ea typeface="Calibri" pitchFamily="34" charset="-122"/>
                <a:cs typeface="Calibri" pitchFamily="34" charset="-120"/>
              </a:rPr>
              <a:t>4 need your input</a:t>
            </a:r>
            <a:endParaRPr lang="en-US" sz="1150" dirty="0"/>
          </a:p>
        </p:txBody>
      </p:sp>
      <p:sp>
        <p:nvSpPr>
          <p:cNvPr id="10" name="Text 8"/>
          <p:cNvSpPr/>
          <p:nvPr/>
        </p:nvSpPr>
        <p:spPr>
          <a:xfrm>
            <a:off x="822960" y="4937760"/>
            <a:ext cx="7315200" cy="274320"/>
          </a:xfrm>
          <a:prstGeom prst="rect">
            <a:avLst/>
          </a:prstGeom>
          <a:noFill/>
          <a:ln/>
        </p:spPr>
        <p:txBody>
          <a:bodyPr wrap="square" lIns="0" tIns="0" rIns="0" bIns="0" rtlCol="0" anchor="ctr"/>
          <a:lstStyle/>
          <a:p>
            <a:pPr indent="0" marL="0">
              <a:buNone/>
            </a:pPr>
            <a:r>
              <a:rPr lang="en-US" sz="1200" dirty="0">
                <a:solidFill>
                  <a:srgbClr val="7E97B0"/>
                </a:solidFill>
                <a:latin typeface="Calibri" pitchFamily="34" charset="0"/>
                <a:ea typeface="Calibri" pitchFamily="34" charset="-122"/>
                <a:cs typeface="Calibri" pitchFamily="34" charset="-120"/>
              </a:rPr>
              <a:t>5 screens to walk through</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INSTITUTIONAL FILE PLAN</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The five categories</a:t>
            </a:r>
            <a:endParaRPr lang="en-US" sz="2500" dirty="0"/>
          </a:p>
        </p:txBody>
      </p:sp>
      <p:sp>
        <p:nvSpPr>
          <p:cNvPr id="4" name="Shape 2"/>
          <p:cNvSpPr/>
          <p:nvPr/>
        </p:nvSpPr>
        <p:spPr>
          <a:xfrm>
            <a:off x="470916" y="1156716"/>
            <a:ext cx="7178040" cy="4047866"/>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fp-01.png">    </p:cNvPr>
          <p:cNvPicPr>
            <a:picLocks noChangeAspect="1"/>
          </p:cNvPicPr>
          <p:nvPr/>
        </p:nvPicPr>
        <p:blipFill>
          <a:blip r:embed="rId1"/>
          <a:stretch>
            <a:fillRect/>
          </a:stretch>
        </p:blipFill>
        <p:spPr>
          <a:xfrm>
            <a:off x="502920" y="1188720"/>
            <a:ext cx="7114032" cy="3983858"/>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FDF1DE"/>
          </a:solidFill>
          <a:ln w="12700">
            <a:solidFill>
              <a:srgbClr val="FDF1DE"/>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Institutional Management terms</a:t>
            </a:r>
            <a:endParaRPr lang="en-US" sz="880" dirty="0"/>
          </a:p>
        </p:txBody>
      </p:sp>
      <p:sp>
        <p:nvSpPr>
          <p:cNvPr id="11" name="Shape 8"/>
          <p:cNvSpPr/>
          <p:nvPr/>
        </p:nvSpPr>
        <p:spPr>
          <a:xfrm>
            <a:off x="8019288" y="2087372"/>
            <a:ext cx="731520" cy="169164"/>
          </a:xfrm>
          <a:prstGeom prst="roundRect">
            <a:avLst>
              <a:gd name="adj" fmla="val 48649"/>
            </a:avLst>
          </a:prstGeom>
          <a:solidFill>
            <a:srgbClr val="FDF1DE"/>
          </a:solidFill>
          <a:ln w="12700">
            <a:solidFill>
              <a:srgbClr val="FDF1DE"/>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Administration terms</a:t>
            </a:r>
            <a:endParaRPr lang="en-US" sz="880" dirty="0"/>
          </a:p>
        </p:txBody>
      </p:sp>
      <p:sp>
        <p:nvSpPr>
          <p:cNvPr id="14" name="Shape 11"/>
          <p:cNvSpPr/>
          <p:nvPr/>
        </p:nvSpPr>
        <p:spPr>
          <a:xfrm>
            <a:off x="8019288" y="2409952"/>
            <a:ext cx="731520" cy="169164"/>
          </a:xfrm>
          <a:prstGeom prst="roundRect">
            <a:avLst>
              <a:gd name="adj" fmla="val 48649"/>
            </a:avLst>
          </a:prstGeom>
          <a:solidFill>
            <a:srgbClr val="FDF1DE"/>
          </a:solidFill>
          <a:ln w="12700">
            <a:solidFill>
              <a:srgbClr val="FDF1DE"/>
            </a:solidFill>
            <a:prstDash val="solid"/>
          </a:ln>
        </p:spPr>
      </p:sp>
      <p:sp>
        <p:nvSpPr>
          <p:cNvPr id="15" name="Text 12"/>
          <p:cNvSpPr/>
          <p:nvPr/>
        </p:nvSpPr>
        <p:spPr>
          <a:xfrm>
            <a:off x="8019288" y="240995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6" name="Text 13"/>
          <p:cNvSpPr/>
          <p:nvPr/>
        </p:nvSpPr>
        <p:spPr>
          <a:xfrm>
            <a:off x="8842248" y="23642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People management terms</a:t>
            </a:r>
            <a:endParaRPr lang="en-US" sz="880" dirty="0"/>
          </a:p>
        </p:txBody>
      </p:sp>
      <p:sp>
        <p:nvSpPr>
          <p:cNvPr id="17" name="Shape 14"/>
          <p:cNvSpPr/>
          <p:nvPr/>
        </p:nvSpPr>
        <p:spPr>
          <a:xfrm>
            <a:off x="8019288" y="2732532"/>
            <a:ext cx="731520" cy="169164"/>
          </a:xfrm>
          <a:prstGeom prst="roundRect">
            <a:avLst>
              <a:gd name="adj" fmla="val 48649"/>
            </a:avLst>
          </a:prstGeom>
          <a:solidFill>
            <a:srgbClr val="FDF1DE"/>
          </a:solidFill>
          <a:ln w="12700">
            <a:solidFill>
              <a:srgbClr val="FDF1DE"/>
            </a:solidFill>
            <a:prstDash val="solid"/>
          </a:ln>
        </p:spPr>
      </p:sp>
      <p:sp>
        <p:nvSpPr>
          <p:cNvPr id="18" name="Text 15"/>
          <p:cNvSpPr/>
          <p:nvPr/>
        </p:nvSpPr>
        <p:spPr>
          <a:xfrm>
            <a:off x="8019288" y="273253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9" name="Text 16"/>
          <p:cNvSpPr/>
          <p:nvPr/>
        </p:nvSpPr>
        <p:spPr>
          <a:xfrm>
            <a:off x="8842248" y="268681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Programs and operations terms</a:t>
            </a:r>
            <a:endParaRPr lang="en-US" sz="880" dirty="0"/>
          </a:p>
        </p:txBody>
      </p:sp>
      <p:sp>
        <p:nvSpPr>
          <p:cNvPr id="20" name="Shape 17"/>
          <p:cNvSpPr/>
          <p:nvPr/>
        </p:nvSpPr>
        <p:spPr>
          <a:xfrm>
            <a:off x="8019288" y="3055112"/>
            <a:ext cx="731520" cy="169164"/>
          </a:xfrm>
          <a:prstGeom prst="roundRect">
            <a:avLst>
              <a:gd name="adj" fmla="val 48649"/>
            </a:avLst>
          </a:prstGeom>
          <a:solidFill>
            <a:srgbClr val="FDF1DE"/>
          </a:solidFill>
          <a:ln w="12700">
            <a:solidFill>
              <a:srgbClr val="FDF1DE"/>
            </a:solidFill>
            <a:prstDash val="solid"/>
          </a:ln>
        </p:spPr>
      </p:sp>
      <p:sp>
        <p:nvSpPr>
          <p:cNvPr id="21" name="Text 18"/>
          <p:cNvSpPr/>
          <p:nvPr/>
        </p:nvSpPr>
        <p:spPr>
          <a:xfrm>
            <a:off x="8019288" y="305511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22" name="Text 19"/>
          <p:cNvSpPr/>
          <p:nvPr/>
        </p:nvSpPr>
        <p:spPr>
          <a:xfrm>
            <a:off x="8842248" y="300939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other terms</a:t>
            </a:r>
            <a:endParaRPr lang="en-US" sz="880" dirty="0"/>
          </a:p>
        </p:txBody>
      </p:sp>
      <p:sp>
        <p:nvSpPr>
          <p:cNvPr id="23" name="Shape 20"/>
          <p:cNvSpPr/>
          <p:nvPr/>
        </p:nvSpPr>
        <p:spPr>
          <a:xfrm>
            <a:off x="8019288" y="3377692"/>
            <a:ext cx="731520" cy="169164"/>
          </a:xfrm>
          <a:prstGeom prst="roundRect">
            <a:avLst>
              <a:gd name="adj" fmla="val 48649"/>
            </a:avLst>
          </a:prstGeom>
          <a:solidFill>
            <a:srgbClr val="FDF1DE"/>
          </a:solidFill>
          <a:ln w="12700">
            <a:solidFill>
              <a:srgbClr val="FDF1DE"/>
            </a:solidFill>
            <a:prstDash val="solid"/>
          </a:ln>
        </p:spPr>
      </p:sp>
      <p:sp>
        <p:nvSpPr>
          <p:cNvPr id="24" name="Text 21"/>
          <p:cNvSpPr/>
          <p:nvPr/>
        </p:nvSpPr>
        <p:spPr>
          <a:xfrm>
            <a:off x="8019288" y="337769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25" name="Text 22"/>
          <p:cNvSpPr/>
          <p:nvPr/>
        </p:nvSpPr>
        <p:spPr>
          <a:xfrm>
            <a:off x="8842248" y="33319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terms</a:t>
            </a:r>
            <a:endParaRPr lang="en-US" sz="880" dirty="0"/>
          </a:p>
        </p:txBody>
      </p:sp>
      <p:sp>
        <p:nvSpPr>
          <p:cNvPr id="26" name="Shape 23"/>
          <p:cNvSpPr/>
          <p:nvPr/>
        </p:nvSpPr>
        <p:spPr>
          <a:xfrm>
            <a:off x="8019288" y="3700272"/>
            <a:ext cx="731520" cy="169164"/>
          </a:xfrm>
          <a:prstGeom prst="roundRect">
            <a:avLst>
              <a:gd name="adj" fmla="val 48649"/>
            </a:avLst>
          </a:prstGeom>
          <a:solidFill>
            <a:srgbClr val="FDF1DE"/>
          </a:solidFill>
          <a:ln w="12700">
            <a:solidFill>
              <a:srgbClr val="FDF1DE"/>
            </a:solidFill>
            <a:prstDash val="solid"/>
          </a:ln>
        </p:spPr>
      </p:sp>
      <p:sp>
        <p:nvSpPr>
          <p:cNvPr id="27" name="Text 24"/>
          <p:cNvSpPr/>
          <p:nvPr/>
        </p:nvSpPr>
        <p:spPr>
          <a:xfrm>
            <a:off x="8019288" y="370027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28" name="Text 25"/>
          <p:cNvSpPr/>
          <p:nvPr/>
        </p:nvSpPr>
        <p:spPr>
          <a:xfrm>
            <a:off x="8842248" y="36545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Departments / Offices / RMs provisioned</a:t>
            </a:r>
            <a:endParaRPr lang="en-US" sz="880" dirty="0"/>
          </a:p>
        </p:txBody>
      </p:sp>
      <p:sp>
        <p:nvSpPr>
          <p:cNvPr id="29" name="Shape 26"/>
          <p:cNvSpPr/>
          <p:nvPr/>
        </p:nvSpPr>
        <p:spPr>
          <a:xfrm>
            <a:off x="8019288" y="4022852"/>
            <a:ext cx="731520" cy="169164"/>
          </a:xfrm>
          <a:prstGeom prst="roundRect">
            <a:avLst>
              <a:gd name="adj" fmla="val 48649"/>
            </a:avLst>
          </a:prstGeom>
          <a:solidFill>
            <a:srgbClr val="FDF1DE"/>
          </a:solidFill>
          <a:ln w="12700">
            <a:solidFill>
              <a:srgbClr val="FDF1DE"/>
            </a:solidFill>
            <a:prstDash val="solid"/>
          </a:ln>
        </p:spPr>
      </p:sp>
      <p:sp>
        <p:nvSpPr>
          <p:cNvPr id="30" name="Text 27"/>
          <p:cNvSpPr/>
          <p:nvPr/>
        </p:nvSpPr>
        <p:spPr>
          <a:xfrm>
            <a:off x="8019288" y="402285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31" name="Text 28"/>
          <p:cNvSpPr/>
          <p:nvPr/>
        </p:nvSpPr>
        <p:spPr>
          <a:xfrm>
            <a:off x="8842248" y="39771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libraries provisioned</a:t>
            </a:r>
            <a:endParaRPr lang="en-US" sz="880" dirty="0"/>
          </a:p>
        </p:txBody>
      </p:sp>
      <p:sp>
        <p:nvSpPr>
          <p:cNvPr id="32" name="Shape 29"/>
          <p:cNvSpPr/>
          <p:nvPr/>
        </p:nvSpPr>
        <p:spPr>
          <a:xfrm>
            <a:off x="8019288" y="4345432"/>
            <a:ext cx="731520" cy="169164"/>
          </a:xfrm>
          <a:prstGeom prst="roundRect">
            <a:avLst>
              <a:gd name="adj" fmla="val 48649"/>
            </a:avLst>
          </a:prstGeom>
          <a:solidFill>
            <a:srgbClr val="FDF1DE"/>
          </a:solidFill>
          <a:ln w="12700">
            <a:solidFill>
              <a:srgbClr val="FDF1DE"/>
            </a:solidFill>
            <a:prstDash val="solid"/>
          </a:ln>
        </p:spPr>
      </p:sp>
      <p:sp>
        <p:nvSpPr>
          <p:cNvPr id="33" name="Text 30"/>
          <p:cNvSpPr/>
          <p:nvPr/>
        </p:nvSpPr>
        <p:spPr>
          <a:xfrm>
            <a:off x="8019288" y="434543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34" name="Text 31"/>
          <p:cNvSpPr/>
          <p:nvPr/>
        </p:nvSpPr>
        <p:spPr>
          <a:xfrm>
            <a:off x="8842248" y="429971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documents</a:t>
            </a:r>
            <a:endParaRPr lang="en-US" sz="880" dirty="0"/>
          </a:p>
        </p:txBody>
      </p:sp>
      <p:sp>
        <p:nvSpPr>
          <p:cNvPr id="35" name="Shape 32"/>
          <p:cNvSpPr/>
          <p:nvPr/>
        </p:nvSpPr>
        <p:spPr>
          <a:xfrm>
            <a:off x="8019288" y="4668012"/>
            <a:ext cx="731520" cy="169164"/>
          </a:xfrm>
          <a:prstGeom prst="roundRect">
            <a:avLst>
              <a:gd name="adj" fmla="val 48649"/>
            </a:avLst>
          </a:prstGeom>
          <a:solidFill>
            <a:srgbClr val="FDF1DE"/>
          </a:solidFill>
          <a:ln w="12700">
            <a:solidFill>
              <a:srgbClr val="FDF1DE"/>
            </a:solidFill>
            <a:prstDash val="solid"/>
          </a:ln>
        </p:spPr>
      </p:sp>
      <p:sp>
        <p:nvSpPr>
          <p:cNvPr id="36" name="Text 33"/>
          <p:cNvSpPr/>
          <p:nvPr/>
        </p:nvSpPr>
        <p:spPr>
          <a:xfrm>
            <a:off x="8019288" y="466801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37" name="Text 34"/>
          <p:cNvSpPr/>
          <p:nvPr/>
        </p:nvSpPr>
        <p:spPr>
          <a:xfrm>
            <a:off x="8842248" y="462229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records declared</a:t>
            </a:r>
            <a:endParaRPr lang="en-US" sz="880" dirty="0"/>
          </a:p>
        </p:txBody>
      </p:sp>
      <p:sp>
        <p:nvSpPr>
          <p:cNvPr id="38" name="Shape 35"/>
          <p:cNvSpPr/>
          <p:nvPr/>
        </p:nvSpPr>
        <p:spPr>
          <a:xfrm>
            <a:off x="8019288" y="4990592"/>
            <a:ext cx="731520" cy="169164"/>
          </a:xfrm>
          <a:prstGeom prst="roundRect">
            <a:avLst>
              <a:gd name="adj" fmla="val 48649"/>
            </a:avLst>
          </a:prstGeom>
          <a:solidFill>
            <a:srgbClr val="FDF1DE"/>
          </a:solidFill>
          <a:ln w="12700">
            <a:solidFill>
              <a:srgbClr val="FDF1DE"/>
            </a:solidFill>
            <a:prstDash val="solid"/>
          </a:ln>
        </p:spPr>
      </p:sp>
      <p:sp>
        <p:nvSpPr>
          <p:cNvPr id="39" name="Text 36"/>
          <p:cNvSpPr/>
          <p:nvPr/>
        </p:nvSpPr>
        <p:spPr>
          <a:xfrm>
            <a:off x="8019288" y="499059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40" name="Text 37"/>
          <p:cNvSpPr/>
          <p:nvPr/>
        </p:nvSpPr>
        <p:spPr>
          <a:xfrm>
            <a:off x="8842248" y="49448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physical counterparts</a:t>
            </a:r>
            <a:endParaRPr lang="en-US" sz="880" dirty="0"/>
          </a:p>
        </p:txBody>
      </p:sp>
      <p:sp>
        <p:nvSpPr>
          <p:cNvPr id="41" name="Shape 38"/>
          <p:cNvSpPr/>
          <p:nvPr/>
        </p:nvSpPr>
        <p:spPr>
          <a:xfrm>
            <a:off x="502920" y="5779008"/>
            <a:ext cx="118872" cy="118872"/>
          </a:xfrm>
          <a:prstGeom prst="ellipse">
            <a:avLst/>
          </a:prstGeom>
          <a:solidFill>
            <a:srgbClr val="0072BC"/>
          </a:solidFill>
          <a:ln w="12700">
            <a:solidFill>
              <a:srgbClr val="0072BC"/>
            </a:solidFill>
            <a:prstDash val="solid"/>
          </a:ln>
        </p:spPr>
      </p:sp>
      <p:sp>
        <p:nvSpPr>
          <p:cNvPr id="42" name="Text 39"/>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Five categories and a total, with the client’s own column names.</a:t>
            </a:r>
            <a:endParaRPr lang="en-US" sz="1000" dirty="0"/>
          </a:p>
        </p:txBody>
      </p:sp>
      <p:sp>
        <p:nvSpPr>
          <p:cNvPr id="43" name="Shape 40"/>
          <p:cNvSpPr/>
          <p:nvPr/>
        </p:nvSpPr>
        <p:spPr>
          <a:xfrm>
            <a:off x="4270248" y="5779008"/>
            <a:ext cx="118872" cy="118872"/>
          </a:xfrm>
          <a:prstGeom prst="ellipse">
            <a:avLst/>
          </a:prstGeom>
          <a:solidFill>
            <a:srgbClr val="00A5A8"/>
          </a:solidFill>
          <a:ln w="12700">
            <a:solidFill>
              <a:srgbClr val="00A5A8"/>
            </a:solidFill>
            <a:prstDash val="solid"/>
          </a:ln>
        </p:spPr>
      </p:sp>
      <p:sp>
        <p:nvSpPr>
          <p:cNvPr id="44" name="Text 41"/>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total row is checked against the bank-wide figures automatically.</a:t>
            </a:r>
            <a:endParaRPr lang="en-US" sz="1000" dirty="0"/>
          </a:p>
        </p:txBody>
      </p:sp>
      <p:sp>
        <p:nvSpPr>
          <p:cNvPr id="45" name="Shape 42"/>
          <p:cNvSpPr/>
          <p:nvPr/>
        </p:nvSpPr>
        <p:spPr>
          <a:xfrm>
            <a:off x="8037576" y="5779008"/>
            <a:ext cx="118872" cy="118872"/>
          </a:xfrm>
          <a:prstGeom prst="ellipse">
            <a:avLst/>
          </a:prstGeom>
          <a:solidFill>
            <a:srgbClr val="5CA943"/>
          </a:solidFill>
          <a:ln w="12700">
            <a:solidFill>
              <a:srgbClr val="5CA943"/>
            </a:solidFill>
            <a:prstDash val="solid"/>
          </a:ln>
        </p:spPr>
      </p:sp>
      <p:sp>
        <p:nvSpPr>
          <p:cNvPr id="46" name="Text 43"/>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department column is assigned, not measured. That is the gap on this dashboard.</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INSTITUTIONAL FILE PLAN</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Inside one category</a:t>
            </a:r>
            <a:endParaRPr lang="en-US" sz="2500" dirty="0"/>
          </a:p>
        </p:txBody>
      </p:sp>
      <p:sp>
        <p:nvSpPr>
          <p:cNvPr id="4" name="Shape 2"/>
          <p:cNvSpPr/>
          <p:nvPr/>
        </p:nvSpPr>
        <p:spPr>
          <a:xfrm>
            <a:off x="470916" y="1156716"/>
            <a:ext cx="7178040" cy="3910667"/>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fp-02.png">    </p:cNvPr>
          <p:cNvPicPr>
            <a:picLocks noChangeAspect="1"/>
          </p:cNvPicPr>
          <p:nvPr/>
        </p:nvPicPr>
        <p:blipFill>
          <a:blip r:embed="rId1"/>
          <a:stretch>
            <a:fillRect/>
          </a:stretch>
        </p:blipFill>
        <p:spPr>
          <a:xfrm>
            <a:off x="502920" y="1188720"/>
            <a:ext cx="7114032" cy="3846659"/>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FDF1DE"/>
          </a:solidFill>
          <a:ln w="12700">
            <a:solidFill>
              <a:srgbClr val="FDF1DE"/>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Term (Top level) list per category</a:t>
            </a:r>
            <a:endParaRPr lang="en-US" sz="880" dirty="0"/>
          </a:p>
        </p:txBody>
      </p:sp>
      <p:sp>
        <p:nvSpPr>
          <p:cNvPr id="11" name="Shape 8"/>
          <p:cNvSpPr/>
          <p:nvPr/>
        </p:nvSpPr>
        <p:spPr>
          <a:xfrm>
            <a:off x="8019288" y="2087372"/>
            <a:ext cx="731520" cy="169164"/>
          </a:xfrm>
          <a:prstGeom prst="roundRect">
            <a:avLst>
              <a:gd name="adj" fmla="val 48649"/>
            </a:avLst>
          </a:prstGeom>
          <a:solidFill>
            <a:srgbClr val="FDF1DE"/>
          </a:solidFill>
          <a:ln w="12700">
            <a:solidFill>
              <a:srgbClr val="FDF1DE"/>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Category screens, all five present</a:t>
            </a:r>
            <a:endParaRPr lang="en-US" sz="880" dirty="0"/>
          </a:p>
        </p:txBody>
      </p:sp>
      <p:sp>
        <p:nvSpPr>
          <p:cNvPr id="14" name="Shape 11"/>
          <p:cNvSpPr/>
          <p:nvPr/>
        </p:nvSpPr>
        <p:spPr>
          <a:xfrm>
            <a:off x="8019288" y="2409952"/>
            <a:ext cx="731520" cy="169164"/>
          </a:xfrm>
          <a:prstGeom prst="roundRect">
            <a:avLst>
              <a:gd name="adj" fmla="val 48649"/>
            </a:avLst>
          </a:prstGeom>
          <a:solidFill>
            <a:srgbClr val="FBE6E4"/>
          </a:solidFill>
          <a:ln w="12700">
            <a:solidFill>
              <a:srgbClr val="FBE6E4"/>
            </a:solidFill>
            <a:prstDash val="solid"/>
          </a:ln>
        </p:spPr>
      </p:sp>
      <p:sp>
        <p:nvSpPr>
          <p:cNvPr id="15" name="Text 12"/>
          <p:cNvSpPr/>
          <p:nvPr/>
        </p:nvSpPr>
        <p:spPr>
          <a:xfrm>
            <a:off x="8019288" y="240995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16" name="Text 13"/>
          <p:cNvSpPr/>
          <p:nvPr/>
        </p:nvSpPr>
        <p:spPr>
          <a:xfrm>
            <a:off x="8842248" y="236423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A notice saying what is missing behind this dashboard</a:t>
            </a:r>
            <a:endParaRPr lang="en-US" sz="880" dirty="0"/>
          </a:p>
        </p:txBody>
      </p:sp>
      <p:sp>
        <p:nvSpPr>
          <p:cNvPr id="17" name="Shape 14"/>
          <p:cNvSpPr/>
          <p:nvPr/>
        </p:nvSpPr>
        <p:spPr>
          <a:xfrm>
            <a:off x="8019288" y="2732532"/>
            <a:ext cx="731520" cy="169164"/>
          </a:xfrm>
          <a:prstGeom prst="roundRect">
            <a:avLst>
              <a:gd name="adj" fmla="val 48649"/>
            </a:avLst>
          </a:prstGeom>
          <a:solidFill>
            <a:srgbClr val="FBE6E4"/>
          </a:solidFill>
          <a:ln w="12700">
            <a:solidFill>
              <a:srgbClr val="FBE6E4"/>
            </a:solidFill>
            <a:prstDash val="solid"/>
          </a:ln>
        </p:spPr>
      </p:sp>
      <p:sp>
        <p:nvSpPr>
          <p:cNvPr id="18" name="Text 15"/>
          <p:cNvSpPr/>
          <p:nvPr/>
        </p:nvSpPr>
        <p:spPr>
          <a:xfrm>
            <a:off x="8019288" y="273253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19" name="Text 16"/>
          <p:cNvSpPr/>
          <p:nvPr/>
        </p:nvSpPr>
        <p:spPr>
          <a:xfrm>
            <a:off x="8842248" y="268681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Departments / Offices / RMs provisioned, per term</a:t>
            </a:r>
            <a:endParaRPr lang="en-US" sz="880" dirty="0"/>
          </a:p>
        </p:txBody>
      </p:sp>
      <p:sp>
        <p:nvSpPr>
          <p:cNvPr id="20" name="Shape 17"/>
          <p:cNvSpPr/>
          <p:nvPr/>
        </p:nvSpPr>
        <p:spPr>
          <a:xfrm>
            <a:off x="8019288" y="3055112"/>
            <a:ext cx="731520" cy="169164"/>
          </a:xfrm>
          <a:prstGeom prst="roundRect">
            <a:avLst>
              <a:gd name="adj" fmla="val 48649"/>
            </a:avLst>
          </a:prstGeom>
          <a:solidFill>
            <a:srgbClr val="FDF1DE"/>
          </a:solidFill>
          <a:ln w="12700">
            <a:solidFill>
              <a:srgbClr val="FDF1DE"/>
            </a:solidFill>
            <a:prstDash val="solid"/>
          </a:ln>
        </p:spPr>
      </p:sp>
      <p:sp>
        <p:nvSpPr>
          <p:cNvPr id="21" name="Text 18"/>
          <p:cNvSpPr/>
          <p:nvPr/>
        </p:nvSpPr>
        <p:spPr>
          <a:xfrm>
            <a:off x="8019288" y="305511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22" name="Text 19"/>
          <p:cNvSpPr/>
          <p:nvPr/>
        </p:nvSpPr>
        <p:spPr>
          <a:xfrm>
            <a:off x="8842248" y="300939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libraries provisioned, per term</a:t>
            </a:r>
            <a:endParaRPr lang="en-US" sz="880" dirty="0"/>
          </a:p>
        </p:txBody>
      </p:sp>
      <p:sp>
        <p:nvSpPr>
          <p:cNvPr id="23" name="Shape 20"/>
          <p:cNvSpPr/>
          <p:nvPr/>
        </p:nvSpPr>
        <p:spPr>
          <a:xfrm>
            <a:off x="8019288" y="3377692"/>
            <a:ext cx="731520" cy="169164"/>
          </a:xfrm>
          <a:prstGeom prst="roundRect">
            <a:avLst>
              <a:gd name="adj" fmla="val 48649"/>
            </a:avLst>
          </a:prstGeom>
          <a:solidFill>
            <a:srgbClr val="FDF1DE"/>
          </a:solidFill>
          <a:ln w="12700">
            <a:solidFill>
              <a:srgbClr val="FDF1DE"/>
            </a:solidFill>
            <a:prstDash val="solid"/>
          </a:ln>
        </p:spPr>
      </p:sp>
      <p:sp>
        <p:nvSpPr>
          <p:cNvPr id="24" name="Text 21"/>
          <p:cNvSpPr/>
          <p:nvPr/>
        </p:nvSpPr>
        <p:spPr>
          <a:xfrm>
            <a:off x="8019288" y="337769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25" name="Text 22"/>
          <p:cNvSpPr/>
          <p:nvPr/>
        </p:nvSpPr>
        <p:spPr>
          <a:xfrm>
            <a:off x="8842248" y="33319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documents, per term</a:t>
            </a:r>
            <a:endParaRPr lang="en-US" sz="880" dirty="0"/>
          </a:p>
        </p:txBody>
      </p:sp>
      <p:sp>
        <p:nvSpPr>
          <p:cNvPr id="26" name="Shape 23"/>
          <p:cNvSpPr/>
          <p:nvPr/>
        </p:nvSpPr>
        <p:spPr>
          <a:xfrm>
            <a:off x="8019288" y="3700272"/>
            <a:ext cx="731520" cy="169164"/>
          </a:xfrm>
          <a:prstGeom prst="roundRect">
            <a:avLst>
              <a:gd name="adj" fmla="val 48649"/>
            </a:avLst>
          </a:prstGeom>
          <a:solidFill>
            <a:srgbClr val="FDF1DE"/>
          </a:solidFill>
          <a:ln w="12700">
            <a:solidFill>
              <a:srgbClr val="FDF1DE"/>
            </a:solidFill>
            <a:prstDash val="solid"/>
          </a:ln>
        </p:spPr>
      </p:sp>
      <p:sp>
        <p:nvSpPr>
          <p:cNvPr id="27" name="Text 24"/>
          <p:cNvSpPr/>
          <p:nvPr/>
        </p:nvSpPr>
        <p:spPr>
          <a:xfrm>
            <a:off x="8019288" y="370027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28" name="Text 25"/>
          <p:cNvSpPr/>
          <p:nvPr/>
        </p:nvSpPr>
        <p:spPr>
          <a:xfrm>
            <a:off x="8842248" y="36545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records declared, per term</a:t>
            </a:r>
            <a:endParaRPr lang="en-US" sz="880" dirty="0"/>
          </a:p>
        </p:txBody>
      </p:sp>
      <p:sp>
        <p:nvSpPr>
          <p:cNvPr id="29" name="Shape 26"/>
          <p:cNvSpPr/>
          <p:nvPr/>
        </p:nvSpPr>
        <p:spPr>
          <a:xfrm>
            <a:off x="8019288" y="4022852"/>
            <a:ext cx="731520" cy="169164"/>
          </a:xfrm>
          <a:prstGeom prst="roundRect">
            <a:avLst>
              <a:gd name="adj" fmla="val 48649"/>
            </a:avLst>
          </a:prstGeom>
          <a:solidFill>
            <a:srgbClr val="FDF1DE"/>
          </a:solidFill>
          <a:ln w="12700">
            <a:solidFill>
              <a:srgbClr val="FDF1DE"/>
            </a:solidFill>
            <a:prstDash val="solid"/>
          </a:ln>
        </p:spPr>
      </p:sp>
      <p:sp>
        <p:nvSpPr>
          <p:cNvPr id="30" name="Text 27"/>
          <p:cNvSpPr/>
          <p:nvPr/>
        </p:nvSpPr>
        <p:spPr>
          <a:xfrm>
            <a:off x="8019288" y="402285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31" name="Text 28"/>
          <p:cNvSpPr/>
          <p:nvPr/>
        </p:nvSpPr>
        <p:spPr>
          <a:xfrm>
            <a:off x="8842248" y="39771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physical counterparts, per term</a:t>
            </a:r>
            <a:endParaRPr lang="en-US" sz="880" dirty="0"/>
          </a:p>
        </p:txBody>
      </p:sp>
      <p:sp>
        <p:nvSpPr>
          <p:cNvPr id="32" name="Shape 29"/>
          <p:cNvSpPr/>
          <p:nvPr/>
        </p:nvSpPr>
        <p:spPr>
          <a:xfrm>
            <a:off x="502920" y="5779008"/>
            <a:ext cx="118872" cy="118872"/>
          </a:xfrm>
          <a:prstGeom prst="ellipse">
            <a:avLst/>
          </a:prstGeom>
          <a:solidFill>
            <a:srgbClr val="0072BC"/>
          </a:solidFill>
          <a:ln w="12700">
            <a:solidFill>
              <a:srgbClr val="0072BC"/>
            </a:solidFill>
            <a:prstDash val="solid"/>
          </a:ln>
        </p:spPr>
      </p:sp>
      <p:sp>
        <p:nvSpPr>
          <p:cNvPr id="33" name="Text 30"/>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client drew five screens. We built one screen with a category picker.</a:t>
            </a:r>
            <a:endParaRPr lang="en-US" sz="1000" dirty="0"/>
          </a:p>
        </p:txBody>
      </p:sp>
      <p:sp>
        <p:nvSpPr>
          <p:cNvPr id="34" name="Shape 31"/>
          <p:cNvSpPr/>
          <p:nvPr/>
        </p:nvSpPr>
        <p:spPr>
          <a:xfrm>
            <a:off x="4270248" y="5779008"/>
            <a:ext cx="118872" cy="118872"/>
          </a:xfrm>
          <a:prstGeom prst="ellipse">
            <a:avLst/>
          </a:prstGeom>
          <a:solidFill>
            <a:srgbClr val="00A5A8"/>
          </a:solidFill>
          <a:ln w="12700">
            <a:solidFill>
              <a:srgbClr val="00A5A8"/>
            </a:solidFill>
            <a:prstDash val="solid"/>
          </a:ln>
        </p:spPr>
      </p:sp>
      <p:sp>
        <p:nvSpPr>
          <p:cNvPr id="35" name="Text 32"/>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Five figures at the top, then every top-level term underneath.</a:t>
            </a:r>
            <a:endParaRPr lang="en-US" sz="1000" dirty="0"/>
          </a:p>
        </p:txBody>
      </p:sp>
      <p:sp>
        <p:nvSpPr>
          <p:cNvPr id="36" name="Shape 33"/>
          <p:cNvSpPr/>
          <p:nvPr/>
        </p:nvSpPr>
        <p:spPr>
          <a:xfrm>
            <a:off x="8037576" y="5779008"/>
            <a:ext cx="118872" cy="118872"/>
          </a:xfrm>
          <a:prstGeom prst="ellipse">
            <a:avLst/>
          </a:prstGeom>
          <a:solidFill>
            <a:srgbClr val="5CA943"/>
          </a:solidFill>
          <a:ln w="12700">
            <a:solidFill>
              <a:srgbClr val="5CA943"/>
            </a:solidFill>
            <a:prstDash val="solid"/>
          </a:ln>
        </p:spPr>
      </p:sp>
      <p:sp>
        <p:nvSpPr>
          <p:cNvPr id="37" name="Text 34"/>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Most used and least used terms are charted below the table.</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INSTITUTIONAL FILE PLAN</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Unused terms</a:t>
            </a:r>
            <a:endParaRPr lang="en-US" sz="2500" dirty="0"/>
          </a:p>
        </p:txBody>
      </p:sp>
      <p:sp>
        <p:nvSpPr>
          <p:cNvPr id="4" name="Shape 2"/>
          <p:cNvSpPr/>
          <p:nvPr/>
        </p:nvSpPr>
        <p:spPr>
          <a:xfrm>
            <a:off x="470916" y="2198740"/>
            <a:ext cx="7178040" cy="1933982"/>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fp-03.png">    </p:cNvPr>
          <p:cNvPicPr>
            <a:picLocks noChangeAspect="1"/>
          </p:cNvPicPr>
          <p:nvPr/>
        </p:nvPicPr>
        <p:blipFill>
          <a:blip r:embed="rId1"/>
          <a:stretch>
            <a:fillRect/>
          </a:stretch>
        </p:blipFill>
        <p:spPr>
          <a:xfrm>
            <a:off x="502920" y="2230744"/>
            <a:ext cx="7114032" cy="1869974"/>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FDF1DE"/>
          </a:solidFill>
          <a:ln w="12700">
            <a:solidFill>
              <a:srgbClr val="FDF1DE"/>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Indicator: top most used terms</a:t>
            </a:r>
            <a:endParaRPr lang="en-US" sz="880" dirty="0"/>
          </a:p>
        </p:txBody>
      </p:sp>
      <p:sp>
        <p:nvSpPr>
          <p:cNvPr id="11" name="Shape 8"/>
          <p:cNvSpPr/>
          <p:nvPr/>
        </p:nvSpPr>
        <p:spPr>
          <a:xfrm>
            <a:off x="8019288" y="2087372"/>
            <a:ext cx="731520" cy="169164"/>
          </a:xfrm>
          <a:prstGeom prst="roundRect">
            <a:avLst>
              <a:gd name="adj" fmla="val 48649"/>
            </a:avLst>
          </a:prstGeom>
          <a:solidFill>
            <a:srgbClr val="FDF1DE"/>
          </a:solidFill>
          <a:ln w="12700">
            <a:solidFill>
              <a:srgbClr val="FDF1DE"/>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Indicator: least used and unused terms</a:t>
            </a:r>
            <a:endParaRPr lang="en-US" sz="880" dirty="0"/>
          </a:p>
        </p:txBody>
      </p:sp>
      <p:sp>
        <p:nvSpPr>
          <p:cNvPr id="14" name="Shape 11"/>
          <p:cNvSpPr/>
          <p:nvPr/>
        </p:nvSpPr>
        <p:spPr>
          <a:xfrm>
            <a:off x="502920" y="5779008"/>
            <a:ext cx="118872" cy="118872"/>
          </a:xfrm>
          <a:prstGeom prst="ellipse">
            <a:avLst/>
          </a:prstGeom>
          <a:solidFill>
            <a:srgbClr val="0072BC"/>
          </a:solidFill>
          <a:ln w="12700">
            <a:solidFill>
              <a:srgbClr val="0072BC"/>
            </a:solidFill>
            <a:prstDash val="solid"/>
          </a:ln>
        </p:spPr>
      </p:sp>
      <p:sp>
        <p:nvSpPr>
          <p:cNvPr id="15" name="Text 12"/>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Terms nobody is using, with when they were last touched and why they are flagged.</a:t>
            </a:r>
            <a:endParaRPr lang="en-US" sz="1000" dirty="0"/>
          </a:p>
        </p:txBody>
      </p:sp>
      <p:sp>
        <p:nvSpPr>
          <p:cNvPr id="16" name="Shape 13"/>
          <p:cNvSpPr/>
          <p:nvPr/>
        </p:nvSpPr>
        <p:spPr>
          <a:xfrm>
            <a:off x="4270248" y="5779008"/>
            <a:ext cx="118872" cy="118872"/>
          </a:xfrm>
          <a:prstGeom prst="ellipse">
            <a:avLst/>
          </a:prstGeom>
          <a:solidFill>
            <a:srgbClr val="00A5A8"/>
          </a:solidFill>
          <a:ln w="12700">
            <a:solidFill>
              <a:srgbClr val="00A5A8"/>
            </a:solidFill>
            <a:prstDash val="solid"/>
          </a:ln>
        </p:spPr>
      </p:sp>
      <p:sp>
        <p:nvSpPr>
          <p:cNvPr id="17" name="Text 14"/>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This is the list you would work from when tidying the file plan.</a:t>
            </a:r>
            <a:endParaRPr lang="en-US" sz="1000" dirty="0"/>
          </a:p>
        </p:txBody>
      </p:sp>
      <p:sp>
        <p:nvSpPr>
          <p:cNvPr id="18" name="Shape 15"/>
          <p:cNvSpPr/>
          <p:nvPr/>
        </p:nvSpPr>
        <p:spPr>
          <a:xfrm>
            <a:off x="8037576" y="5779008"/>
            <a:ext cx="118872" cy="118872"/>
          </a:xfrm>
          <a:prstGeom prst="ellipse">
            <a:avLst/>
          </a:prstGeom>
          <a:solidFill>
            <a:srgbClr val="5CA943"/>
          </a:solidFill>
          <a:ln w="12700">
            <a:solidFill>
              <a:srgbClr val="5CA943"/>
            </a:solidFill>
            <a:prstDash val="solid"/>
          </a:ln>
        </p:spPr>
      </p:sp>
      <p:sp>
        <p:nvSpPr>
          <p:cNvPr id="19" name="Text 16"/>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figures are illustrative until we can measure real usage.</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INSTITUTIONAL FILE PLAN</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Libraries created outside convention</a:t>
            </a:r>
            <a:endParaRPr lang="en-US" sz="2500" dirty="0"/>
          </a:p>
        </p:txBody>
      </p:sp>
      <p:sp>
        <p:nvSpPr>
          <p:cNvPr id="4" name="Shape 2"/>
          <p:cNvSpPr/>
          <p:nvPr/>
        </p:nvSpPr>
        <p:spPr>
          <a:xfrm>
            <a:off x="470916" y="2262258"/>
            <a:ext cx="7178040" cy="1781539"/>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fp-04.png">    </p:cNvPr>
          <p:cNvPicPr>
            <a:picLocks noChangeAspect="1"/>
          </p:cNvPicPr>
          <p:nvPr/>
        </p:nvPicPr>
        <p:blipFill>
          <a:blip r:embed="rId1"/>
          <a:stretch>
            <a:fillRect/>
          </a:stretch>
        </p:blipFill>
        <p:spPr>
          <a:xfrm>
            <a:off x="502920" y="2294262"/>
            <a:ext cx="7114032" cy="1717531"/>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FDF1DE"/>
          </a:solidFill>
          <a:ln w="12700">
            <a:solidFill>
              <a:srgbClr val="FDF1DE"/>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Indicator: new libraries created outside convention</a:t>
            </a:r>
            <a:endParaRPr lang="en-US" sz="880" dirty="0"/>
          </a:p>
        </p:txBody>
      </p:sp>
      <p:sp>
        <p:nvSpPr>
          <p:cNvPr id="11" name="Shape 8"/>
          <p:cNvSpPr/>
          <p:nvPr/>
        </p:nvSpPr>
        <p:spPr>
          <a:xfrm>
            <a:off x="502920" y="5779008"/>
            <a:ext cx="118872" cy="118872"/>
          </a:xfrm>
          <a:prstGeom prst="ellipse">
            <a:avLst/>
          </a:prstGeom>
          <a:solidFill>
            <a:srgbClr val="0072BC"/>
          </a:solidFill>
          <a:ln w="12700">
            <a:solidFill>
              <a:srgbClr val="0072BC"/>
            </a:solidFill>
            <a:prstDash val="solid"/>
          </a:ln>
        </p:spPr>
      </p:sp>
      <p:sp>
        <p:nvSpPr>
          <p:cNvPr id="12" name="Text 9"/>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Libraries that do not follow the standard pattern.</a:t>
            </a:r>
            <a:endParaRPr lang="en-US" sz="1000" dirty="0"/>
          </a:p>
        </p:txBody>
      </p:sp>
      <p:sp>
        <p:nvSpPr>
          <p:cNvPr id="13" name="Shape 10"/>
          <p:cNvSpPr/>
          <p:nvPr/>
        </p:nvSpPr>
        <p:spPr>
          <a:xfrm>
            <a:off x="4270248" y="5779008"/>
            <a:ext cx="118872" cy="118872"/>
          </a:xfrm>
          <a:prstGeom prst="ellipse">
            <a:avLst/>
          </a:prstGeom>
          <a:solidFill>
            <a:srgbClr val="00A5A8"/>
          </a:solidFill>
          <a:ln w="12700">
            <a:solidFill>
              <a:srgbClr val="00A5A8"/>
            </a:solidFill>
            <a:prstDash val="solid"/>
          </a:ln>
        </p:spPr>
      </p:sp>
      <p:sp>
        <p:nvSpPr>
          <p:cNvPr id="14" name="Text 11"/>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To make this real we need the convention itself.</a:t>
            </a:r>
            <a:endParaRPr lang="en-US" sz="1000" dirty="0"/>
          </a:p>
        </p:txBody>
      </p:sp>
      <p:sp>
        <p:nvSpPr>
          <p:cNvPr id="15" name="Shape 12"/>
          <p:cNvSpPr/>
          <p:nvPr/>
        </p:nvSpPr>
        <p:spPr>
          <a:xfrm>
            <a:off x="8037576" y="5779008"/>
            <a:ext cx="118872" cy="118872"/>
          </a:xfrm>
          <a:prstGeom prst="ellipse">
            <a:avLst/>
          </a:prstGeom>
          <a:solidFill>
            <a:srgbClr val="5CA943"/>
          </a:solidFill>
          <a:ln w="12700">
            <a:solidFill>
              <a:srgbClr val="5CA943"/>
            </a:solidFill>
            <a:prstDash val="solid"/>
          </a:ln>
        </p:spPr>
      </p:sp>
      <p:sp>
        <p:nvSpPr>
          <p:cNvPr id="16" name="Text 13"/>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Same question as on Department Insights.</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INSTITUTIONAL FILE PLAN</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Requests waiting for a decision</a:t>
            </a:r>
            <a:endParaRPr lang="en-US" sz="2500" dirty="0"/>
          </a:p>
        </p:txBody>
      </p:sp>
      <p:sp>
        <p:nvSpPr>
          <p:cNvPr id="4" name="Shape 2"/>
          <p:cNvSpPr/>
          <p:nvPr/>
        </p:nvSpPr>
        <p:spPr>
          <a:xfrm>
            <a:off x="470916" y="2192388"/>
            <a:ext cx="7178040" cy="1949226"/>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fp-05.png">    </p:cNvPr>
          <p:cNvPicPr>
            <a:picLocks noChangeAspect="1"/>
          </p:cNvPicPr>
          <p:nvPr/>
        </p:nvPicPr>
        <p:blipFill>
          <a:blip r:embed="rId1"/>
          <a:stretch>
            <a:fillRect/>
          </a:stretch>
        </p:blipFill>
        <p:spPr>
          <a:xfrm>
            <a:off x="502920" y="2224392"/>
            <a:ext cx="7114032" cy="1885218"/>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FDF1DE"/>
          </a:solidFill>
          <a:ln w="12700">
            <a:solidFill>
              <a:srgbClr val="FDF1DE"/>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Request for new library creation and/or deletion</a:t>
            </a:r>
            <a:endParaRPr lang="en-US" sz="880" dirty="0"/>
          </a:p>
        </p:txBody>
      </p:sp>
      <p:sp>
        <p:nvSpPr>
          <p:cNvPr id="11" name="Shape 8"/>
          <p:cNvSpPr/>
          <p:nvPr/>
        </p:nvSpPr>
        <p:spPr>
          <a:xfrm>
            <a:off x="8019288" y="2087372"/>
            <a:ext cx="731520" cy="169164"/>
          </a:xfrm>
          <a:prstGeom prst="roundRect">
            <a:avLst>
              <a:gd name="adj" fmla="val 48649"/>
            </a:avLst>
          </a:prstGeom>
          <a:solidFill>
            <a:srgbClr val="FDF1DE"/>
          </a:solidFill>
          <a:ln w="12700">
            <a:solidFill>
              <a:srgbClr val="FDF1DE"/>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Request for new term</a:t>
            </a:r>
            <a:endParaRPr lang="en-US" sz="880" dirty="0"/>
          </a:p>
        </p:txBody>
      </p:sp>
      <p:sp>
        <p:nvSpPr>
          <p:cNvPr id="14" name="Shape 11"/>
          <p:cNvSpPr/>
          <p:nvPr/>
        </p:nvSpPr>
        <p:spPr>
          <a:xfrm>
            <a:off x="8019288" y="2409952"/>
            <a:ext cx="731520" cy="169164"/>
          </a:xfrm>
          <a:prstGeom prst="roundRect">
            <a:avLst>
              <a:gd name="adj" fmla="val 48649"/>
            </a:avLst>
          </a:prstGeom>
          <a:solidFill>
            <a:srgbClr val="FBE6E4"/>
          </a:solidFill>
          <a:ln w="12700">
            <a:solidFill>
              <a:srgbClr val="FBE6E4"/>
            </a:solidFill>
            <a:prstDash val="solid"/>
          </a:ln>
        </p:spPr>
      </p:sp>
      <p:sp>
        <p:nvSpPr>
          <p:cNvPr id="15" name="Text 12"/>
          <p:cNvSpPr/>
          <p:nvPr/>
        </p:nvSpPr>
        <p:spPr>
          <a:xfrm>
            <a:off x="8019288" y="240995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16" name="Text 13"/>
          <p:cNvSpPr/>
          <p:nvPr/>
        </p:nvSpPr>
        <p:spPr>
          <a:xfrm>
            <a:off x="8842248" y="236423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Where the Institutional File Plan actually lives</a:t>
            </a:r>
            <a:endParaRPr lang="en-US" sz="880" dirty="0"/>
          </a:p>
        </p:txBody>
      </p:sp>
      <p:sp>
        <p:nvSpPr>
          <p:cNvPr id="17" name="Shape 14"/>
          <p:cNvSpPr/>
          <p:nvPr/>
        </p:nvSpPr>
        <p:spPr>
          <a:xfrm>
            <a:off x="8019288" y="2732532"/>
            <a:ext cx="731520" cy="169164"/>
          </a:xfrm>
          <a:prstGeom prst="roundRect">
            <a:avLst>
              <a:gd name="adj" fmla="val 48649"/>
            </a:avLst>
          </a:prstGeom>
          <a:solidFill>
            <a:srgbClr val="FBE6E4"/>
          </a:solidFill>
          <a:ln w="12700">
            <a:solidFill>
              <a:srgbClr val="FBE6E4"/>
            </a:solidFill>
            <a:prstDash val="solid"/>
          </a:ln>
        </p:spPr>
      </p:sp>
      <p:sp>
        <p:nvSpPr>
          <p:cNvPr id="18" name="Text 15"/>
          <p:cNvSpPr/>
          <p:nvPr/>
        </p:nvSpPr>
        <p:spPr>
          <a:xfrm>
            <a:off x="8019288" y="273253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19" name="Text 16"/>
          <p:cNvSpPr/>
          <p:nvPr/>
        </p:nvSpPr>
        <p:spPr>
          <a:xfrm>
            <a:off x="8842248" y="268681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How a library or document is known to use a term</a:t>
            </a:r>
            <a:endParaRPr lang="en-US" sz="880" dirty="0"/>
          </a:p>
        </p:txBody>
      </p:sp>
      <p:sp>
        <p:nvSpPr>
          <p:cNvPr id="20" name="Shape 17"/>
          <p:cNvSpPr/>
          <p:nvPr/>
        </p:nvSpPr>
        <p:spPr>
          <a:xfrm>
            <a:off x="502920" y="5779008"/>
            <a:ext cx="118872" cy="118872"/>
          </a:xfrm>
          <a:prstGeom prst="ellipse">
            <a:avLst/>
          </a:prstGeom>
          <a:solidFill>
            <a:srgbClr val="0072BC"/>
          </a:solidFill>
          <a:ln w="12700">
            <a:solidFill>
              <a:srgbClr val="0072BC"/>
            </a:solidFill>
            <a:prstDash val="solid"/>
          </a:ln>
        </p:spPr>
      </p:sp>
      <p:sp>
        <p:nvSpPr>
          <p:cNvPr id="21" name="Text 18"/>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New library, new term, and both kinds of deletion, in one place.</a:t>
            </a:r>
            <a:endParaRPr lang="en-US" sz="1000" dirty="0"/>
          </a:p>
        </p:txBody>
      </p:sp>
      <p:sp>
        <p:nvSpPr>
          <p:cNvPr id="22" name="Shape 19"/>
          <p:cNvSpPr/>
          <p:nvPr/>
        </p:nvSpPr>
        <p:spPr>
          <a:xfrm>
            <a:off x="4270248" y="5779008"/>
            <a:ext cx="118872" cy="118872"/>
          </a:xfrm>
          <a:prstGeom prst="ellipse">
            <a:avLst/>
          </a:prstGeom>
          <a:solidFill>
            <a:srgbClr val="00A5A8"/>
          </a:solidFill>
          <a:ln w="12700">
            <a:solidFill>
              <a:srgbClr val="00A5A8"/>
            </a:solidFill>
            <a:prstDash val="solid"/>
          </a:ln>
        </p:spPr>
      </p:sp>
      <p:sp>
        <p:nvSpPr>
          <p:cNvPr id="23" name="Text 20"/>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Requestor, status and date submitted on every row.</a:t>
            </a:r>
            <a:endParaRPr lang="en-US" sz="1000" dirty="0"/>
          </a:p>
        </p:txBody>
      </p:sp>
      <p:sp>
        <p:nvSpPr>
          <p:cNvPr id="24" name="Shape 21"/>
          <p:cNvSpPr/>
          <p:nvPr/>
        </p:nvSpPr>
        <p:spPr>
          <a:xfrm>
            <a:off x="8037576" y="5779008"/>
            <a:ext cx="118872" cy="118872"/>
          </a:xfrm>
          <a:prstGeom prst="ellipse">
            <a:avLst/>
          </a:prstGeom>
          <a:solidFill>
            <a:srgbClr val="5CA943"/>
          </a:solidFill>
          <a:ln w="12700">
            <a:solidFill>
              <a:srgbClr val="5CA943"/>
            </a:solidFill>
            <a:prstDash val="solid"/>
          </a:ln>
        </p:spPr>
      </p:sp>
      <p:sp>
        <p:nvSpPr>
          <p:cNvPr id="25" name="Text 22"/>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last two rows are the gaps that govern this whole dashboard.</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INSTITUTIONAL FILE PLAN</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What we need from you</a:t>
            </a:r>
            <a:endParaRPr lang="en-US" sz="2500" dirty="0"/>
          </a:p>
        </p:txBody>
      </p:sp>
      <p:sp>
        <p:nvSpPr>
          <p:cNvPr id="4" name="Shape 2"/>
          <p:cNvSpPr/>
          <p:nvPr/>
        </p:nvSpPr>
        <p:spPr>
          <a:xfrm>
            <a:off x="502920" y="1280160"/>
            <a:ext cx="11155680" cy="1072134"/>
          </a:xfrm>
          <a:prstGeom prst="roundRect">
            <a:avLst>
              <a:gd name="adj" fmla="val 5117"/>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5" name="Shape 3"/>
          <p:cNvSpPr/>
          <p:nvPr/>
        </p:nvSpPr>
        <p:spPr>
          <a:xfrm>
            <a:off x="777240" y="1615059"/>
            <a:ext cx="402336" cy="402336"/>
          </a:xfrm>
          <a:prstGeom prst="ellipse">
            <a:avLst/>
          </a:prstGeom>
          <a:solidFill>
            <a:srgbClr val="FBE6E4"/>
          </a:solidFill>
          <a:ln w="12700">
            <a:solidFill>
              <a:srgbClr val="FBE6E4"/>
            </a:solidFill>
            <a:prstDash val="solid"/>
          </a:ln>
        </p:spPr>
      </p:sp>
      <p:sp>
        <p:nvSpPr>
          <p:cNvPr id="6" name="Text 4"/>
          <p:cNvSpPr/>
          <p:nvPr/>
        </p:nvSpPr>
        <p:spPr>
          <a:xfrm>
            <a:off x="777240" y="1615059"/>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1</a:t>
            </a:r>
            <a:endParaRPr lang="en-US" sz="1400" dirty="0"/>
          </a:p>
        </p:txBody>
      </p:sp>
      <p:sp>
        <p:nvSpPr>
          <p:cNvPr id="7" name="Text 5"/>
          <p:cNvSpPr/>
          <p:nvPr/>
        </p:nvSpPr>
        <p:spPr>
          <a:xfrm>
            <a:off x="1371600" y="1408176"/>
            <a:ext cx="4663440" cy="816102"/>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Where does the official file plan live?</a:t>
            </a:r>
            <a:endParaRPr lang="en-US" sz="1350" dirty="0"/>
          </a:p>
        </p:txBody>
      </p:sp>
      <p:sp>
        <p:nvSpPr>
          <p:cNvPr id="8" name="Text 6"/>
          <p:cNvSpPr/>
          <p:nvPr/>
        </p:nvSpPr>
        <p:spPr>
          <a:xfrm>
            <a:off x="6217920" y="1399032"/>
            <a:ext cx="2743200" cy="834390"/>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Every term you can see on these screens is our own example. Nothing in this work has ever named the system that holds the real institutional file plan.</a:t>
            </a:r>
            <a:endParaRPr lang="en-US" sz="860" dirty="0"/>
          </a:p>
        </p:txBody>
      </p:sp>
      <p:sp>
        <p:nvSpPr>
          <p:cNvPr id="9" name="Text 7"/>
          <p:cNvSpPr/>
          <p:nvPr/>
        </p:nvSpPr>
        <p:spPr>
          <a:xfrm>
            <a:off x="9098280" y="1399032"/>
            <a:ext cx="2423160" cy="834390"/>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Which system is it? If it is a document rather than a system, that is fine too — we just need to know.</a:t>
            </a:r>
            <a:endParaRPr lang="en-US" sz="860" dirty="0"/>
          </a:p>
        </p:txBody>
      </p:sp>
      <p:sp>
        <p:nvSpPr>
          <p:cNvPr id="10" name="Shape 8"/>
          <p:cNvSpPr/>
          <p:nvPr/>
        </p:nvSpPr>
        <p:spPr>
          <a:xfrm>
            <a:off x="502920" y="2462022"/>
            <a:ext cx="11155680" cy="1072134"/>
          </a:xfrm>
          <a:prstGeom prst="roundRect">
            <a:avLst>
              <a:gd name="adj" fmla="val 5117"/>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11" name="Shape 9"/>
          <p:cNvSpPr/>
          <p:nvPr/>
        </p:nvSpPr>
        <p:spPr>
          <a:xfrm>
            <a:off x="777240" y="2796921"/>
            <a:ext cx="402336" cy="402336"/>
          </a:xfrm>
          <a:prstGeom prst="ellipse">
            <a:avLst/>
          </a:prstGeom>
          <a:solidFill>
            <a:srgbClr val="FBE6E4"/>
          </a:solidFill>
          <a:ln w="12700">
            <a:solidFill>
              <a:srgbClr val="FBE6E4"/>
            </a:solidFill>
            <a:prstDash val="solid"/>
          </a:ln>
        </p:spPr>
      </p:sp>
      <p:sp>
        <p:nvSpPr>
          <p:cNvPr id="12" name="Text 10"/>
          <p:cNvSpPr/>
          <p:nvPr/>
        </p:nvSpPr>
        <p:spPr>
          <a:xfrm>
            <a:off x="777240" y="2796921"/>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2</a:t>
            </a:r>
            <a:endParaRPr lang="en-US" sz="1400" dirty="0"/>
          </a:p>
        </p:txBody>
      </p:sp>
      <p:sp>
        <p:nvSpPr>
          <p:cNvPr id="13" name="Text 11"/>
          <p:cNvSpPr/>
          <p:nvPr/>
        </p:nvSpPr>
        <p:spPr>
          <a:xfrm>
            <a:off x="1371600" y="2590038"/>
            <a:ext cx="4663440" cy="816102"/>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How do we know a library is using a term?</a:t>
            </a:r>
            <a:endParaRPr lang="en-US" sz="1350" dirty="0"/>
          </a:p>
        </p:txBody>
      </p:sp>
      <p:sp>
        <p:nvSpPr>
          <p:cNvPr id="14" name="Text 12"/>
          <p:cNvSpPr/>
          <p:nvPr/>
        </p:nvSpPr>
        <p:spPr>
          <a:xfrm>
            <a:off x="6217920" y="2580894"/>
            <a:ext cx="2743200" cy="834390"/>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This is the technical heart of the problem, put simply: the system knows which library a document sits in, but nothing says which file plan category that library belongs to. Without that link, no figure on this dashboard can be measured.</a:t>
            </a:r>
            <a:endParaRPr lang="en-US" sz="860" dirty="0"/>
          </a:p>
        </p:txBody>
      </p:sp>
      <p:sp>
        <p:nvSpPr>
          <p:cNvPr id="15" name="Text 13"/>
          <p:cNvSpPr/>
          <p:nvPr/>
        </p:nvSpPr>
        <p:spPr>
          <a:xfrm>
            <a:off x="9098280" y="2580894"/>
            <a:ext cx="2423160" cy="834390"/>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Is that mapping recorded anywhere? If not, is there a rule we could apply — for example, does the library name tell you the category?</a:t>
            </a:r>
            <a:endParaRPr lang="en-US" sz="860" dirty="0"/>
          </a:p>
        </p:txBody>
      </p:sp>
      <p:sp>
        <p:nvSpPr>
          <p:cNvPr id="16" name="Shape 14"/>
          <p:cNvSpPr/>
          <p:nvPr/>
        </p:nvSpPr>
        <p:spPr>
          <a:xfrm>
            <a:off x="502920" y="3643884"/>
            <a:ext cx="11155680" cy="1072134"/>
          </a:xfrm>
          <a:prstGeom prst="roundRect">
            <a:avLst>
              <a:gd name="adj" fmla="val 5117"/>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17" name="Shape 15"/>
          <p:cNvSpPr/>
          <p:nvPr/>
        </p:nvSpPr>
        <p:spPr>
          <a:xfrm>
            <a:off x="777240" y="3978783"/>
            <a:ext cx="402336" cy="402336"/>
          </a:xfrm>
          <a:prstGeom prst="ellipse">
            <a:avLst/>
          </a:prstGeom>
          <a:solidFill>
            <a:srgbClr val="FBE6E4"/>
          </a:solidFill>
          <a:ln w="12700">
            <a:solidFill>
              <a:srgbClr val="FBE6E4"/>
            </a:solidFill>
            <a:prstDash val="solid"/>
          </a:ln>
        </p:spPr>
      </p:sp>
      <p:sp>
        <p:nvSpPr>
          <p:cNvPr id="18" name="Text 16"/>
          <p:cNvSpPr/>
          <p:nvPr/>
        </p:nvSpPr>
        <p:spPr>
          <a:xfrm>
            <a:off x="777240" y="3978783"/>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3</a:t>
            </a:r>
            <a:endParaRPr lang="en-US" sz="1400" dirty="0"/>
          </a:p>
        </p:txBody>
      </p:sp>
      <p:sp>
        <p:nvSpPr>
          <p:cNvPr id="19" name="Text 17"/>
          <p:cNvSpPr/>
          <p:nvPr/>
        </p:nvSpPr>
        <p:spPr>
          <a:xfrm>
            <a:off x="1371600" y="3771900"/>
            <a:ext cx="4663440" cy="816102"/>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Where are new term and new library requests raised?</a:t>
            </a:r>
            <a:endParaRPr lang="en-US" sz="1350" dirty="0"/>
          </a:p>
        </p:txBody>
      </p:sp>
      <p:sp>
        <p:nvSpPr>
          <p:cNvPr id="20" name="Text 18"/>
          <p:cNvSpPr/>
          <p:nvPr/>
        </p:nvSpPr>
        <p:spPr>
          <a:xfrm>
            <a:off x="6217920" y="3762756"/>
            <a:ext cx="2743200" cy="834390"/>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The screen shows requests waiting for a decision. We invented them, because we do not know where real ones are submitted.</a:t>
            </a:r>
            <a:endParaRPr lang="en-US" sz="860" dirty="0"/>
          </a:p>
        </p:txBody>
      </p:sp>
      <p:sp>
        <p:nvSpPr>
          <p:cNvPr id="21" name="Text 19"/>
          <p:cNvSpPr/>
          <p:nvPr/>
        </p:nvSpPr>
        <p:spPr>
          <a:xfrm>
            <a:off x="9098280" y="3762756"/>
            <a:ext cx="2423160" cy="834390"/>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When someone wants a new term or a new library, what do they do today?</a:t>
            </a:r>
            <a:endParaRPr lang="en-US" sz="860" dirty="0"/>
          </a:p>
        </p:txBody>
      </p:sp>
      <p:sp>
        <p:nvSpPr>
          <p:cNvPr id="22" name="Shape 20"/>
          <p:cNvSpPr/>
          <p:nvPr/>
        </p:nvSpPr>
        <p:spPr>
          <a:xfrm>
            <a:off x="502920" y="4825746"/>
            <a:ext cx="11155680" cy="1072134"/>
          </a:xfrm>
          <a:prstGeom prst="roundRect">
            <a:avLst>
              <a:gd name="adj" fmla="val 5117"/>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23" name="Shape 21"/>
          <p:cNvSpPr/>
          <p:nvPr/>
        </p:nvSpPr>
        <p:spPr>
          <a:xfrm>
            <a:off x="777240" y="5160645"/>
            <a:ext cx="402336" cy="402336"/>
          </a:xfrm>
          <a:prstGeom prst="ellipse">
            <a:avLst/>
          </a:prstGeom>
          <a:solidFill>
            <a:srgbClr val="FBE6E4"/>
          </a:solidFill>
          <a:ln w="12700">
            <a:solidFill>
              <a:srgbClr val="FBE6E4"/>
            </a:solidFill>
            <a:prstDash val="solid"/>
          </a:ln>
        </p:spPr>
      </p:sp>
      <p:sp>
        <p:nvSpPr>
          <p:cNvPr id="24" name="Text 22"/>
          <p:cNvSpPr/>
          <p:nvPr/>
        </p:nvSpPr>
        <p:spPr>
          <a:xfrm>
            <a:off x="777240" y="5160645"/>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4</a:t>
            </a:r>
            <a:endParaRPr lang="en-US" sz="1400" dirty="0"/>
          </a:p>
        </p:txBody>
      </p:sp>
      <p:sp>
        <p:nvSpPr>
          <p:cNvPr id="25" name="Text 23"/>
          <p:cNvSpPr/>
          <p:nvPr/>
        </p:nvSpPr>
        <p:spPr>
          <a:xfrm>
            <a:off x="1371600" y="4953762"/>
            <a:ext cx="4663440" cy="816102"/>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Should the screen say what is missing?</a:t>
            </a:r>
            <a:endParaRPr lang="en-US" sz="1350" dirty="0"/>
          </a:p>
        </p:txBody>
      </p:sp>
      <p:sp>
        <p:nvSpPr>
          <p:cNvPr id="26" name="Text 24"/>
          <p:cNvSpPr/>
          <p:nvPr/>
        </p:nvSpPr>
        <p:spPr>
          <a:xfrm>
            <a:off x="6217920" y="4944618"/>
            <a:ext cx="2743200" cy="834390"/>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Until yesterday this dashboard carried a notice explaining that the figures were placeholders. It has been taken off.</a:t>
            </a:r>
            <a:endParaRPr lang="en-US" sz="860" dirty="0"/>
          </a:p>
        </p:txBody>
      </p:sp>
      <p:sp>
        <p:nvSpPr>
          <p:cNvPr id="27" name="Text 25"/>
          <p:cNvSpPr/>
          <p:nvPr/>
        </p:nvSpPr>
        <p:spPr>
          <a:xfrm>
            <a:off x="9098280" y="4944618"/>
            <a:ext cx="2423160" cy="834390"/>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For the workshop — do you want that notice back on screen, or is it enough that it is tracked in the checklist?</a:t>
            </a:r>
            <a:endParaRPr lang="en-US" sz="860" dirty="0"/>
          </a:p>
        </p:txBody>
      </p:sp>
      <p:sp>
        <p:nvSpPr>
          <p:cNvPr id="28" name="Text 26"/>
          <p:cNvSpPr/>
          <p:nvPr/>
        </p:nvSpPr>
        <p:spPr>
          <a:xfrm>
            <a:off x="137160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THE QUESTION</a:t>
            </a:r>
            <a:endParaRPr lang="en-US" sz="750" dirty="0"/>
          </a:p>
        </p:txBody>
      </p:sp>
      <p:sp>
        <p:nvSpPr>
          <p:cNvPr id="29" name="Text 27"/>
          <p:cNvSpPr/>
          <p:nvPr/>
        </p:nvSpPr>
        <p:spPr>
          <a:xfrm>
            <a:off x="621792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WHY WE ARE STUCK</a:t>
            </a:r>
            <a:endParaRPr lang="en-US" sz="750" dirty="0"/>
          </a:p>
        </p:txBody>
      </p:sp>
      <p:sp>
        <p:nvSpPr>
          <p:cNvPr id="30" name="Text 28"/>
          <p:cNvSpPr/>
          <p:nvPr/>
        </p:nvSpPr>
        <p:spPr>
          <a:xfrm>
            <a:off x="909828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WHAT WOULD UNBLOCK IT</a:t>
            </a:r>
            <a:endParaRPr lang="en-US" sz="7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E1F35"/>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5A8"/>
          </a:solidFill>
          <a:ln w="12700">
            <a:solidFill>
              <a:srgbClr val="00A5A8"/>
            </a:solidFill>
            <a:prstDash val="solid"/>
          </a:ln>
        </p:spPr>
      </p:sp>
      <p:sp>
        <p:nvSpPr>
          <p:cNvPr id="3" name="Text 1"/>
          <p:cNvSpPr/>
          <p:nvPr/>
        </p:nvSpPr>
        <p:spPr>
          <a:xfrm>
            <a:off x="822960" y="2103120"/>
            <a:ext cx="5486400" cy="274320"/>
          </a:xfrm>
          <a:prstGeom prst="rect">
            <a:avLst/>
          </a:prstGeom>
          <a:noFill/>
          <a:ln/>
        </p:spPr>
        <p:txBody>
          <a:bodyPr wrap="square" lIns="0" tIns="0" rIns="0" bIns="0" rtlCol="0" anchor="ctr"/>
          <a:lstStyle/>
          <a:p>
            <a:pPr indent="0" marL="0">
              <a:buNone/>
            </a:pPr>
            <a:r>
              <a:rPr lang="en-US" sz="1150" b="1" spc="160" kern="0" dirty="0">
                <a:solidFill>
                  <a:srgbClr val="00A5A8"/>
                </a:solidFill>
                <a:latin typeface="Calibri" pitchFamily="34" charset="0"/>
                <a:ea typeface="Calibri" pitchFamily="34" charset="-122"/>
                <a:cs typeface="Calibri" pitchFamily="34" charset="-120"/>
              </a:rPr>
              <a:t>VIEW 5 OF 6</a:t>
            </a:r>
            <a:endParaRPr lang="en-US" sz="1150" dirty="0"/>
          </a:p>
        </p:txBody>
      </p:sp>
      <p:sp>
        <p:nvSpPr>
          <p:cNvPr id="4" name="Text 2"/>
          <p:cNvSpPr/>
          <p:nvPr/>
        </p:nvSpPr>
        <p:spPr>
          <a:xfrm>
            <a:off x="822960" y="2468880"/>
            <a:ext cx="7680960"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Retention and Disposal</a:t>
            </a:r>
            <a:endParaRPr lang="en-US" sz="4000" dirty="0"/>
          </a:p>
        </p:txBody>
      </p:sp>
      <p:sp>
        <p:nvSpPr>
          <p:cNvPr id="5" name="Text 3"/>
          <p:cNvSpPr/>
          <p:nvPr/>
        </p:nvSpPr>
        <p:spPr>
          <a:xfrm>
            <a:off x="822960" y="3520440"/>
            <a:ext cx="7498080" cy="914400"/>
          </a:xfrm>
          <a:prstGeom prst="rect">
            <a:avLst/>
          </a:prstGeom>
          <a:noFill/>
          <a:ln/>
        </p:spPr>
        <p:txBody>
          <a:bodyPr wrap="square" lIns="0" tIns="0" rIns="0" bIns="0" rtlCol="0" anchor="ctr"/>
          <a:lstStyle/>
          <a:p>
            <a:pPr indent="0" marL="0">
              <a:lnSpc>
                <a:spcPts val="2400"/>
              </a:lnSpc>
              <a:buNone/>
            </a:pPr>
            <a:r>
              <a:rPr lang="en-US" sz="1700" dirty="0">
                <a:solidFill>
                  <a:srgbClr val="AFC4D8"/>
                </a:solidFill>
                <a:latin typeface="Calibri" pitchFamily="34" charset="0"/>
                <a:ea typeface="Calibri" pitchFamily="34" charset="-122"/>
                <a:cs typeface="Calibri" pitchFamily="34" charset="-120"/>
              </a:rPr>
              <a:t>What must be kept forever, and what is coming up for disposal?</a:t>
            </a:r>
            <a:endParaRPr lang="en-US" sz="1700" dirty="0"/>
          </a:p>
        </p:txBody>
      </p:sp>
      <p:sp>
        <p:nvSpPr>
          <p:cNvPr id="6" name="Shape 4"/>
          <p:cNvSpPr/>
          <p:nvPr/>
        </p:nvSpPr>
        <p:spPr>
          <a:xfrm>
            <a:off x="8961120" y="2286000"/>
            <a:ext cx="2606040" cy="2103120"/>
          </a:xfrm>
          <a:prstGeom prst="roundRect">
            <a:avLst>
              <a:gd name="adj" fmla="val 3478"/>
            </a:avLst>
          </a:prstGeom>
          <a:solidFill>
            <a:srgbClr val="16304F"/>
          </a:solidFill>
          <a:ln w="12700">
            <a:solidFill>
              <a:srgbClr val="27476C"/>
            </a:solidFill>
            <a:prstDash val="solid"/>
          </a:ln>
        </p:spPr>
      </p:sp>
      <p:sp>
        <p:nvSpPr>
          <p:cNvPr id="7" name="Text 5"/>
          <p:cNvSpPr/>
          <p:nvPr/>
        </p:nvSpPr>
        <p:spPr>
          <a:xfrm>
            <a:off x="8961120" y="2514600"/>
            <a:ext cx="2606040" cy="777240"/>
          </a:xfrm>
          <a:prstGeom prst="rect">
            <a:avLst/>
          </a:prstGeom>
          <a:noFill/>
          <a:ln/>
        </p:spPr>
        <p:txBody>
          <a:bodyPr wrap="square" lIns="0" tIns="0" rIns="0" bIns="0" rtlCol="0" anchor="ctr"/>
          <a:lstStyle/>
          <a:p>
            <a:pPr algn="ctr" indent="0" marL="0">
              <a:buNone/>
            </a:pPr>
            <a:r>
              <a:rPr lang="en-US" sz="4600" b="1" dirty="0">
                <a:solidFill>
                  <a:srgbClr val="5CA943"/>
                </a:solidFill>
                <a:latin typeface="Cambria" pitchFamily="34" charset="0"/>
                <a:ea typeface="Cambria" pitchFamily="34" charset="-122"/>
                <a:cs typeface="Cambria" pitchFamily="34" charset="-120"/>
              </a:rPr>
              <a:t>18</a:t>
            </a:r>
            <a:endParaRPr lang="en-US" sz="4600" dirty="0"/>
          </a:p>
        </p:txBody>
      </p:sp>
      <p:sp>
        <p:nvSpPr>
          <p:cNvPr id="8" name="Text 6"/>
          <p:cNvSpPr/>
          <p:nvPr/>
        </p:nvSpPr>
        <p:spPr>
          <a:xfrm>
            <a:off x="8961120" y="3291840"/>
            <a:ext cx="2606040" cy="274320"/>
          </a:xfrm>
          <a:prstGeom prst="rect">
            <a:avLst/>
          </a:prstGeom>
          <a:noFill/>
          <a:ln/>
        </p:spPr>
        <p:txBody>
          <a:bodyPr wrap="square" lIns="0" tIns="0" rIns="0" bIns="0" rtlCol="0" anchor="ctr"/>
          <a:lstStyle/>
          <a:p>
            <a:pPr algn="ctr" indent="0" marL="0">
              <a:buNone/>
            </a:pPr>
            <a:r>
              <a:rPr lang="en-US" sz="1250" dirty="0">
                <a:solidFill>
                  <a:srgbClr val="AFC4D8"/>
                </a:solidFill>
                <a:latin typeface="Calibri" pitchFamily="34" charset="0"/>
                <a:ea typeface="Calibri" pitchFamily="34" charset="-122"/>
                <a:cs typeface="Calibri" pitchFamily="34" charset="-120"/>
              </a:rPr>
              <a:t>of 27 built</a:t>
            </a:r>
            <a:endParaRPr lang="en-US" sz="1250" dirty="0"/>
          </a:p>
        </p:txBody>
      </p:sp>
      <p:sp>
        <p:nvSpPr>
          <p:cNvPr id="9" name="Text 7"/>
          <p:cNvSpPr/>
          <p:nvPr/>
        </p:nvSpPr>
        <p:spPr>
          <a:xfrm>
            <a:off x="9052560" y="3703320"/>
            <a:ext cx="2423160" cy="502920"/>
          </a:xfrm>
          <a:prstGeom prst="rect">
            <a:avLst/>
          </a:prstGeom>
          <a:noFill/>
          <a:ln/>
        </p:spPr>
        <p:txBody>
          <a:bodyPr wrap="square" lIns="0" tIns="0" rIns="0" bIns="0" rtlCol="0" anchor="ctr"/>
          <a:lstStyle/>
          <a:p>
            <a:pPr algn="ctr" indent="0" marL="0">
              <a:lnSpc>
                <a:spcPts val="1400"/>
              </a:lnSpc>
              <a:buNone/>
            </a:pPr>
            <a:r>
              <a:rPr lang="en-US" sz="1150" b="1" dirty="0">
                <a:solidFill>
                  <a:srgbClr val="E88A82"/>
                </a:solidFill>
                <a:latin typeface="Calibri" pitchFamily="34" charset="0"/>
                <a:ea typeface="Calibri" pitchFamily="34" charset="-122"/>
                <a:cs typeface="Calibri" pitchFamily="34" charset="-120"/>
              </a:rPr>
              <a:t>9 need your input</a:t>
            </a:r>
            <a:endParaRPr lang="en-US" sz="1150" dirty="0"/>
          </a:p>
        </p:txBody>
      </p:sp>
      <p:sp>
        <p:nvSpPr>
          <p:cNvPr id="10" name="Text 8"/>
          <p:cNvSpPr/>
          <p:nvPr/>
        </p:nvSpPr>
        <p:spPr>
          <a:xfrm>
            <a:off x="822960" y="4937760"/>
            <a:ext cx="7315200" cy="274320"/>
          </a:xfrm>
          <a:prstGeom prst="rect">
            <a:avLst/>
          </a:prstGeom>
          <a:noFill/>
          <a:ln/>
        </p:spPr>
        <p:txBody>
          <a:bodyPr wrap="square" lIns="0" tIns="0" rIns="0" bIns="0" rtlCol="0" anchor="ctr"/>
          <a:lstStyle/>
          <a:p>
            <a:pPr indent="0" marL="0">
              <a:buNone/>
            </a:pPr>
            <a:r>
              <a:rPr lang="en-US" sz="1200" dirty="0">
                <a:solidFill>
                  <a:srgbClr val="7E97B0"/>
                </a:solidFill>
                <a:latin typeface="Calibri" pitchFamily="34" charset="0"/>
                <a:ea typeface="Calibri" pitchFamily="34" charset="-122"/>
                <a:cs typeface="Calibri" pitchFamily="34" charset="-120"/>
              </a:rPr>
              <a:t>4 screens to walk through</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RETENTION AND DISPOSAL</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Permanent against temporary</a:t>
            </a:r>
            <a:endParaRPr lang="en-US" sz="2500" dirty="0"/>
          </a:p>
        </p:txBody>
      </p:sp>
      <p:sp>
        <p:nvSpPr>
          <p:cNvPr id="4" name="Shape 2"/>
          <p:cNvSpPr/>
          <p:nvPr/>
        </p:nvSpPr>
        <p:spPr>
          <a:xfrm>
            <a:off x="470916" y="1823983"/>
            <a:ext cx="7178040" cy="2833399"/>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rd-01.png">    </p:cNvPr>
          <p:cNvPicPr>
            <a:picLocks noChangeAspect="1"/>
          </p:cNvPicPr>
          <p:nvPr/>
        </p:nvPicPr>
        <p:blipFill>
          <a:blip r:embed="rId1"/>
          <a:stretch>
            <a:fillRect/>
          </a:stretch>
        </p:blipFill>
        <p:spPr>
          <a:xfrm>
            <a:off x="502920" y="1855987"/>
            <a:ext cx="7114032" cy="2769391"/>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30480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Permanent retention sites</a:t>
            </a:r>
            <a:endParaRPr lang="en-US" sz="880" dirty="0"/>
          </a:p>
        </p:txBody>
      </p:sp>
      <p:sp>
        <p:nvSpPr>
          <p:cNvPr id="11" name="Shape 8"/>
          <p:cNvSpPr/>
          <p:nvPr/>
        </p:nvSpPr>
        <p:spPr>
          <a:xfrm>
            <a:off x="8019288" y="2069592"/>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695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023872"/>
            <a:ext cx="2633472" cy="30480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Permanent retention libraries</a:t>
            </a:r>
            <a:endParaRPr lang="en-US" sz="880" dirty="0"/>
          </a:p>
        </p:txBody>
      </p:sp>
      <p:sp>
        <p:nvSpPr>
          <p:cNvPr id="14" name="Shape 11"/>
          <p:cNvSpPr/>
          <p:nvPr/>
        </p:nvSpPr>
        <p:spPr>
          <a:xfrm>
            <a:off x="8019288" y="2374392"/>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3743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328672"/>
            <a:ext cx="2633472" cy="30480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Permanent retention records</a:t>
            </a:r>
            <a:endParaRPr lang="en-US" sz="880" dirty="0"/>
          </a:p>
        </p:txBody>
      </p:sp>
      <p:sp>
        <p:nvSpPr>
          <p:cNvPr id="17" name="Shape 14"/>
          <p:cNvSpPr/>
          <p:nvPr/>
        </p:nvSpPr>
        <p:spPr>
          <a:xfrm>
            <a:off x="8019288" y="2679192"/>
            <a:ext cx="731520" cy="169164"/>
          </a:xfrm>
          <a:prstGeom prst="roundRect">
            <a:avLst>
              <a:gd name="adj" fmla="val 48649"/>
            </a:avLst>
          </a:prstGeom>
          <a:solidFill>
            <a:srgbClr val="EAF4E4"/>
          </a:solidFill>
          <a:ln w="12700">
            <a:solidFill>
              <a:srgbClr val="EAF4E4"/>
            </a:solidFill>
            <a:prstDash val="solid"/>
          </a:ln>
        </p:spPr>
      </p:sp>
      <p:sp>
        <p:nvSpPr>
          <p:cNvPr id="18" name="Text 15"/>
          <p:cNvSpPr/>
          <p:nvPr/>
        </p:nvSpPr>
        <p:spPr>
          <a:xfrm>
            <a:off x="8019288" y="26791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9" name="Text 16"/>
          <p:cNvSpPr/>
          <p:nvPr/>
        </p:nvSpPr>
        <p:spPr>
          <a:xfrm>
            <a:off x="8842248" y="2633472"/>
            <a:ext cx="2633472" cy="30480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Temporary retention sites</a:t>
            </a:r>
            <a:endParaRPr lang="en-US" sz="880" dirty="0"/>
          </a:p>
        </p:txBody>
      </p:sp>
      <p:sp>
        <p:nvSpPr>
          <p:cNvPr id="20" name="Shape 17"/>
          <p:cNvSpPr/>
          <p:nvPr/>
        </p:nvSpPr>
        <p:spPr>
          <a:xfrm>
            <a:off x="8019288" y="2983992"/>
            <a:ext cx="731520" cy="169164"/>
          </a:xfrm>
          <a:prstGeom prst="roundRect">
            <a:avLst>
              <a:gd name="adj" fmla="val 48649"/>
            </a:avLst>
          </a:prstGeom>
          <a:solidFill>
            <a:srgbClr val="EAF4E4"/>
          </a:solidFill>
          <a:ln w="12700">
            <a:solidFill>
              <a:srgbClr val="EAF4E4"/>
            </a:solidFill>
            <a:prstDash val="solid"/>
          </a:ln>
        </p:spPr>
      </p:sp>
      <p:sp>
        <p:nvSpPr>
          <p:cNvPr id="21" name="Text 18"/>
          <p:cNvSpPr/>
          <p:nvPr/>
        </p:nvSpPr>
        <p:spPr>
          <a:xfrm>
            <a:off x="8019288" y="29839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2" name="Text 19"/>
          <p:cNvSpPr/>
          <p:nvPr/>
        </p:nvSpPr>
        <p:spPr>
          <a:xfrm>
            <a:off x="8842248" y="2938272"/>
            <a:ext cx="2633472" cy="30480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Temporary retention libraries</a:t>
            </a:r>
            <a:endParaRPr lang="en-US" sz="880" dirty="0"/>
          </a:p>
        </p:txBody>
      </p:sp>
      <p:sp>
        <p:nvSpPr>
          <p:cNvPr id="23" name="Shape 20"/>
          <p:cNvSpPr/>
          <p:nvPr/>
        </p:nvSpPr>
        <p:spPr>
          <a:xfrm>
            <a:off x="8019288" y="3288792"/>
            <a:ext cx="731520" cy="169164"/>
          </a:xfrm>
          <a:prstGeom prst="roundRect">
            <a:avLst>
              <a:gd name="adj" fmla="val 48649"/>
            </a:avLst>
          </a:prstGeom>
          <a:solidFill>
            <a:srgbClr val="EAF4E4"/>
          </a:solidFill>
          <a:ln w="12700">
            <a:solidFill>
              <a:srgbClr val="EAF4E4"/>
            </a:solidFill>
            <a:prstDash val="solid"/>
          </a:ln>
        </p:spPr>
      </p:sp>
      <p:sp>
        <p:nvSpPr>
          <p:cNvPr id="24" name="Text 21"/>
          <p:cNvSpPr/>
          <p:nvPr/>
        </p:nvSpPr>
        <p:spPr>
          <a:xfrm>
            <a:off x="8019288" y="3288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5" name="Text 22"/>
          <p:cNvSpPr/>
          <p:nvPr/>
        </p:nvSpPr>
        <p:spPr>
          <a:xfrm>
            <a:off x="8842248" y="3243072"/>
            <a:ext cx="2633472" cy="30480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Temporary retention records</a:t>
            </a:r>
            <a:endParaRPr lang="en-US" sz="880" dirty="0"/>
          </a:p>
        </p:txBody>
      </p:sp>
      <p:sp>
        <p:nvSpPr>
          <p:cNvPr id="26" name="Shape 23"/>
          <p:cNvSpPr/>
          <p:nvPr/>
        </p:nvSpPr>
        <p:spPr>
          <a:xfrm>
            <a:off x="8019288" y="3593592"/>
            <a:ext cx="731520" cy="169164"/>
          </a:xfrm>
          <a:prstGeom prst="roundRect">
            <a:avLst>
              <a:gd name="adj" fmla="val 48649"/>
            </a:avLst>
          </a:prstGeom>
          <a:solidFill>
            <a:srgbClr val="FBE6E4"/>
          </a:solidFill>
          <a:ln w="12700">
            <a:solidFill>
              <a:srgbClr val="FBE6E4"/>
            </a:solidFill>
            <a:prstDash val="solid"/>
          </a:ln>
        </p:spPr>
      </p:sp>
      <p:sp>
        <p:nvSpPr>
          <p:cNvPr id="27" name="Text 24"/>
          <p:cNvSpPr/>
          <p:nvPr/>
        </p:nvSpPr>
        <p:spPr>
          <a:xfrm>
            <a:off x="8019288" y="359359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28" name="Text 25"/>
          <p:cNvSpPr/>
          <p:nvPr/>
        </p:nvSpPr>
        <p:spPr>
          <a:xfrm>
            <a:off x="8842248" y="3547872"/>
            <a:ext cx="2633472" cy="30480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Departments / Offices / RMs provisioned</a:t>
            </a:r>
            <a:endParaRPr lang="en-US" sz="880" dirty="0"/>
          </a:p>
        </p:txBody>
      </p:sp>
      <p:sp>
        <p:nvSpPr>
          <p:cNvPr id="29" name="Shape 26"/>
          <p:cNvSpPr/>
          <p:nvPr/>
        </p:nvSpPr>
        <p:spPr>
          <a:xfrm>
            <a:off x="8019288" y="3898392"/>
            <a:ext cx="731520" cy="169164"/>
          </a:xfrm>
          <a:prstGeom prst="roundRect">
            <a:avLst>
              <a:gd name="adj" fmla="val 48649"/>
            </a:avLst>
          </a:prstGeom>
          <a:solidFill>
            <a:srgbClr val="FBE6E4"/>
          </a:solidFill>
          <a:ln w="12700">
            <a:solidFill>
              <a:srgbClr val="FBE6E4"/>
            </a:solidFill>
            <a:prstDash val="solid"/>
          </a:ln>
        </p:spPr>
      </p:sp>
      <p:sp>
        <p:nvSpPr>
          <p:cNvPr id="30" name="Text 27"/>
          <p:cNvSpPr/>
          <p:nvPr/>
        </p:nvSpPr>
        <p:spPr>
          <a:xfrm>
            <a:off x="8019288" y="389839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31" name="Text 28"/>
          <p:cNvSpPr/>
          <p:nvPr/>
        </p:nvSpPr>
        <p:spPr>
          <a:xfrm>
            <a:off x="8842248" y="3852672"/>
            <a:ext cx="2633472" cy="30480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Number of libraries provisioned</a:t>
            </a:r>
            <a:endParaRPr lang="en-US" sz="880" dirty="0"/>
          </a:p>
        </p:txBody>
      </p:sp>
      <p:sp>
        <p:nvSpPr>
          <p:cNvPr id="32" name="Shape 29"/>
          <p:cNvSpPr/>
          <p:nvPr/>
        </p:nvSpPr>
        <p:spPr>
          <a:xfrm>
            <a:off x="8019288" y="4203192"/>
            <a:ext cx="731520" cy="169164"/>
          </a:xfrm>
          <a:prstGeom prst="roundRect">
            <a:avLst>
              <a:gd name="adj" fmla="val 48649"/>
            </a:avLst>
          </a:prstGeom>
          <a:solidFill>
            <a:srgbClr val="FBE6E4"/>
          </a:solidFill>
          <a:ln w="12700">
            <a:solidFill>
              <a:srgbClr val="FBE6E4"/>
            </a:solidFill>
            <a:prstDash val="solid"/>
          </a:ln>
        </p:spPr>
      </p:sp>
      <p:sp>
        <p:nvSpPr>
          <p:cNvPr id="33" name="Text 30"/>
          <p:cNvSpPr/>
          <p:nvPr/>
        </p:nvSpPr>
        <p:spPr>
          <a:xfrm>
            <a:off x="8019288" y="420319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34" name="Text 31"/>
          <p:cNvSpPr/>
          <p:nvPr/>
        </p:nvSpPr>
        <p:spPr>
          <a:xfrm>
            <a:off x="8842248" y="4157472"/>
            <a:ext cx="2633472" cy="30480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Number of records declared</a:t>
            </a:r>
            <a:endParaRPr lang="en-US" sz="880" dirty="0"/>
          </a:p>
        </p:txBody>
      </p:sp>
      <p:sp>
        <p:nvSpPr>
          <p:cNvPr id="35" name="Shape 32"/>
          <p:cNvSpPr/>
          <p:nvPr/>
        </p:nvSpPr>
        <p:spPr>
          <a:xfrm>
            <a:off x="8019288" y="4507992"/>
            <a:ext cx="731520" cy="169164"/>
          </a:xfrm>
          <a:prstGeom prst="roundRect">
            <a:avLst>
              <a:gd name="adj" fmla="val 48649"/>
            </a:avLst>
          </a:prstGeom>
          <a:solidFill>
            <a:srgbClr val="FBE6E4"/>
          </a:solidFill>
          <a:ln w="12700">
            <a:solidFill>
              <a:srgbClr val="FBE6E4"/>
            </a:solidFill>
            <a:prstDash val="solid"/>
          </a:ln>
        </p:spPr>
      </p:sp>
      <p:sp>
        <p:nvSpPr>
          <p:cNvPr id="36" name="Text 33"/>
          <p:cNvSpPr/>
          <p:nvPr/>
        </p:nvSpPr>
        <p:spPr>
          <a:xfrm>
            <a:off x="8019288" y="450799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37" name="Text 34"/>
          <p:cNvSpPr/>
          <p:nvPr/>
        </p:nvSpPr>
        <p:spPr>
          <a:xfrm>
            <a:off x="8842248" y="4462272"/>
            <a:ext cx="2633472" cy="30480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Number of physical counterparts</a:t>
            </a:r>
            <a:endParaRPr lang="en-US" sz="880" dirty="0"/>
          </a:p>
        </p:txBody>
      </p:sp>
      <p:sp>
        <p:nvSpPr>
          <p:cNvPr id="38" name="Shape 35"/>
          <p:cNvSpPr/>
          <p:nvPr/>
        </p:nvSpPr>
        <p:spPr>
          <a:xfrm>
            <a:off x="8019288" y="4812792"/>
            <a:ext cx="731520" cy="169164"/>
          </a:xfrm>
          <a:prstGeom prst="roundRect">
            <a:avLst>
              <a:gd name="adj" fmla="val 48649"/>
            </a:avLst>
          </a:prstGeom>
          <a:solidFill>
            <a:srgbClr val="FBE6E4"/>
          </a:solidFill>
          <a:ln w="12700">
            <a:solidFill>
              <a:srgbClr val="FBE6E4"/>
            </a:solidFill>
            <a:prstDash val="solid"/>
          </a:ln>
        </p:spPr>
      </p:sp>
      <p:sp>
        <p:nvSpPr>
          <p:cNvPr id="39" name="Text 36"/>
          <p:cNvSpPr/>
          <p:nvPr/>
        </p:nvSpPr>
        <p:spPr>
          <a:xfrm>
            <a:off x="8019288" y="481279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40" name="Text 37"/>
          <p:cNvSpPr/>
          <p:nvPr/>
        </p:nvSpPr>
        <p:spPr>
          <a:xfrm>
            <a:off x="8842248" y="4767072"/>
            <a:ext cx="2633472" cy="30480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Number of records due for disposal</a:t>
            </a:r>
            <a:endParaRPr lang="en-US" sz="880" dirty="0"/>
          </a:p>
        </p:txBody>
      </p:sp>
      <p:sp>
        <p:nvSpPr>
          <p:cNvPr id="41" name="Shape 38"/>
          <p:cNvSpPr/>
          <p:nvPr/>
        </p:nvSpPr>
        <p:spPr>
          <a:xfrm>
            <a:off x="8019288" y="5117592"/>
            <a:ext cx="731520" cy="169164"/>
          </a:xfrm>
          <a:prstGeom prst="roundRect">
            <a:avLst>
              <a:gd name="adj" fmla="val 48649"/>
            </a:avLst>
          </a:prstGeom>
          <a:solidFill>
            <a:srgbClr val="FBE6E4"/>
          </a:solidFill>
          <a:ln w="12700">
            <a:solidFill>
              <a:srgbClr val="FBE6E4"/>
            </a:solidFill>
            <a:prstDash val="solid"/>
          </a:ln>
        </p:spPr>
      </p:sp>
      <p:sp>
        <p:nvSpPr>
          <p:cNvPr id="42" name="Text 39"/>
          <p:cNvSpPr/>
          <p:nvPr/>
        </p:nvSpPr>
        <p:spPr>
          <a:xfrm>
            <a:off x="8019288" y="511759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43" name="Text 40"/>
          <p:cNvSpPr/>
          <p:nvPr/>
        </p:nvSpPr>
        <p:spPr>
          <a:xfrm>
            <a:off x="8842248" y="5071872"/>
            <a:ext cx="2633472" cy="30480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Number of records disposed</a:t>
            </a:r>
            <a:endParaRPr lang="en-US" sz="880" dirty="0"/>
          </a:p>
        </p:txBody>
      </p:sp>
      <p:sp>
        <p:nvSpPr>
          <p:cNvPr id="44" name="Shape 41"/>
          <p:cNvSpPr/>
          <p:nvPr/>
        </p:nvSpPr>
        <p:spPr>
          <a:xfrm>
            <a:off x="502920" y="5779008"/>
            <a:ext cx="118872" cy="118872"/>
          </a:xfrm>
          <a:prstGeom prst="ellipse">
            <a:avLst/>
          </a:prstGeom>
          <a:solidFill>
            <a:srgbClr val="0072BC"/>
          </a:solidFill>
          <a:ln w="12700">
            <a:solidFill>
              <a:srgbClr val="0072BC"/>
            </a:solidFill>
            <a:prstDash val="solid"/>
          </a:ln>
        </p:spPr>
      </p:sp>
      <p:sp>
        <p:nvSpPr>
          <p:cNvPr id="45" name="Text 42"/>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Six figures: sites, libraries and records, split permanent and temporary.</a:t>
            </a:r>
            <a:endParaRPr lang="en-US" sz="1000" dirty="0"/>
          </a:p>
        </p:txBody>
      </p:sp>
      <p:sp>
        <p:nvSpPr>
          <p:cNvPr id="46" name="Shape 43"/>
          <p:cNvSpPr/>
          <p:nvPr/>
        </p:nvSpPr>
        <p:spPr>
          <a:xfrm>
            <a:off x="4270248" y="5779008"/>
            <a:ext cx="118872" cy="118872"/>
          </a:xfrm>
          <a:prstGeom prst="ellipse">
            <a:avLst/>
          </a:prstGeom>
          <a:solidFill>
            <a:srgbClr val="00A5A8"/>
          </a:solidFill>
          <a:ln w="12700">
            <a:solidFill>
              <a:srgbClr val="00A5A8"/>
            </a:solidFill>
            <a:prstDash val="solid"/>
          </a:ln>
        </p:spPr>
      </p:sp>
      <p:sp>
        <p:nvSpPr>
          <p:cNvPr id="47" name="Text 44"/>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This is the closest match of the six to something we already had built.</a:t>
            </a:r>
            <a:endParaRPr lang="en-US" sz="1000" dirty="0"/>
          </a:p>
        </p:txBody>
      </p:sp>
      <p:sp>
        <p:nvSpPr>
          <p:cNvPr id="48" name="Shape 45"/>
          <p:cNvSpPr/>
          <p:nvPr/>
        </p:nvSpPr>
        <p:spPr>
          <a:xfrm>
            <a:off x="8037576" y="5779008"/>
            <a:ext cx="118872" cy="118872"/>
          </a:xfrm>
          <a:prstGeom prst="ellipse">
            <a:avLst/>
          </a:prstGeom>
          <a:solidFill>
            <a:srgbClr val="5CA943"/>
          </a:solidFill>
          <a:ln w="12700">
            <a:solidFill>
              <a:srgbClr val="5CA943"/>
            </a:solidFill>
            <a:prstDash val="solid"/>
          </a:ln>
        </p:spPr>
      </p:sp>
      <p:sp>
        <p:nvSpPr>
          <p:cNvPr id="49" name="Text 46"/>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summary table the client drew on slide 44 was taken off. That needs your view.</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RETENTION AND DISPOSAL</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Permanent retention</a:t>
            </a:r>
            <a:endParaRPr lang="en-US" sz="2500" dirty="0"/>
          </a:p>
        </p:txBody>
      </p:sp>
      <p:sp>
        <p:nvSpPr>
          <p:cNvPr id="4" name="Shape 2"/>
          <p:cNvSpPr/>
          <p:nvPr/>
        </p:nvSpPr>
        <p:spPr>
          <a:xfrm>
            <a:off x="470916" y="1792224"/>
            <a:ext cx="7178040" cy="2909621"/>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rd-02.png">    </p:cNvPr>
          <p:cNvPicPr>
            <a:picLocks noChangeAspect="1"/>
          </p:cNvPicPr>
          <p:nvPr/>
        </p:nvPicPr>
        <p:blipFill>
          <a:blip r:embed="rId1"/>
          <a:stretch>
            <a:fillRect/>
          </a:stretch>
        </p:blipFill>
        <p:spPr>
          <a:xfrm>
            <a:off x="502920" y="1824228"/>
            <a:ext cx="7114032" cy="2845613"/>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FBE6E4"/>
          </a:solidFill>
          <a:ln w="12700">
            <a:solidFill>
              <a:srgbClr val="FBE6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Term (Top level)</a:t>
            </a:r>
            <a:endParaRPr lang="en-US" sz="880" dirty="0"/>
          </a:p>
        </p:txBody>
      </p:sp>
      <p:sp>
        <p:nvSpPr>
          <p:cNvPr id="11" name="Shape 8"/>
          <p:cNvSpPr/>
          <p:nvPr/>
        </p:nvSpPr>
        <p:spPr>
          <a:xfrm>
            <a:off x="8019288" y="2087372"/>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Departments / Offices / RMs provisioned</a:t>
            </a:r>
            <a:endParaRPr lang="en-US" sz="880" dirty="0"/>
          </a:p>
        </p:txBody>
      </p:sp>
      <p:sp>
        <p:nvSpPr>
          <p:cNvPr id="14" name="Shape 11"/>
          <p:cNvSpPr/>
          <p:nvPr/>
        </p:nvSpPr>
        <p:spPr>
          <a:xfrm>
            <a:off x="8019288" y="2409952"/>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4099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3642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sites provisioned</a:t>
            </a:r>
            <a:endParaRPr lang="en-US" sz="880" dirty="0"/>
          </a:p>
        </p:txBody>
      </p:sp>
      <p:sp>
        <p:nvSpPr>
          <p:cNvPr id="17" name="Shape 14"/>
          <p:cNvSpPr/>
          <p:nvPr/>
        </p:nvSpPr>
        <p:spPr>
          <a:xfrm>
            <a:off x="8019288" y="2732532"/>
            <a:ext cx="731520" cy="169164"/>
          </a:xfrm>
          <a:prstGeom prst="roundRect">
            <a:avLst>
              <a:gd name="adj" fmla="val 48649"/>
            </a:avLst>
          </a:prstGeom>
          <a:solidFill>
            <a:srgbClr val="EAF4E4"/>
          </a:solidFill>
          <a:ln w="12700">
            <a:solidFill>
              <a:srgbClr val="EAF4E4"/>
            </a:solidFill>
            <a:prstDash val="solid"/>
          </a:ln>
        </p:spPr>
      </p:sp>
      <p:sp>
        <p:nvSpPr>
          <p:cNvPr id="18" name="Text 15"/>
          <p:cNvSpPr/>
          <p:nvPr/>
        </p:nvSpPr>
        <p:spPr>
          <a:xfrm>
            <a:off x="8019288" y="273253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9" name="Text 16"/>
          <p:cNvSpPr/>
          <p:nvPr/>
        </p:nvSpPr>
        <p:spPr>
          <a:xfrm>
            <a:off x="8842248" y="268681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libraries provisioned</a:t>
            </a:r>
            <a:endParaRPr lang="en-US" sz="880" dirty="0"/>
          </a:p>
        </p:txBody>
      </p:sp>
      <p:sp>
        <p:nvSpPr>
          <p:cNvPr id="20" name="Shape 17"/>
          <p:cNvSpPr/>
          <p:nvPr/>
        </p:nvSpPr>
        <p:spPr>
          <a:xfrm>
            <a:off x="8019288" y="3055112"/>
            <a:ext cx="731520" cy="169164"/>
          </a:xfrm>
          <a:prstGeom prst="roundRect">
            <a:avLst>
              <a:gd name="adj" fmla="val 48649"/>
            </a:avLst>
          </a:prstGeom>
          <a:solidFill>
            <a:srgbClr val="EAF4E4"/>
          </a:solidFill>
          <a:ln w="12700">
            <a:solidFill>
              <a:srgbClr val="EAF4E4"/>
            </a:solidFill>
            <a:prstDash val="solid"/>
          </a:ln>
        </p:spPr>
      </p:sp>
      <p:sp>
        <p:nvSpPr>
          <p:cNvPr id="21" name="Text 18"/>
          <p:cNvSpPr/>
          <p:nvPr/>
        </p:nvSpPr>
        <p:spPr>
          <a:xfrm>
            <a:off x="8019288" y="305511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2" name="Text 19"/>
          <p:cNvSpPr/>
          <p:nvPr/>
        </p:nvSpPr>
        <p:spPr>
          <a:xfrm>
            <a:off x="8842248" y="300939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records declared</a:t>
            </a:r>
            <a:endParaRPr lang="en-US" sz="880" dirty="0"/>
          </a:p>
        </p:txBody>
      </p:sp>
      <p:sp>
        <p:nvSpPr>
          <p:cNvPr id="23" name="Shape 20"/>
          <p:cNvSpPr/>
          <p:nvPr/>
        </p:nvSpPr>
        <p:spPr>
          <a:xfrm>
            <a:off x="8019288" y="3377692"/>
            <a:ext cx="731520" cy="169164"/>
          </a:xfrm>
          <a:prstGeom prst="roundRect">
            <a:avLst>
              <a:gd name="adj" fmla="val 48649"/>
            </a:avLst>
          </a:prstGeom>
          <a:solidFill>
            <a:srgbClr val="EAF4E4"/>
          </a:solidFill>
          <a:ln w="12700">
            <a:solidFill>
              <a:srgbClr val="EAF4E4"/>
            </a:solidFill>
            <a:prstDash val="solid"/>
          </a:ln>
        </p:spPr>
      </p:sp>
      <p:sp>
        <p:nvSpPr>
          <p:cNvPr id="24" name="Text 21"/>
          <p:cNvSpPr/>
          <p:nvPr/>
        </p:nvSpPr>
        <p:spPr>
          <a:xfrm>
            <a:off x="8019288" y="33776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5" name="Text 22"/>
          <p:cNvSpPr/>
          <p:nvPr/>
        </p:nvSpPr>
        <p:spPr>
          <a:xfrm>
            <a:off x="8842248" y="33319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physical counterparts</a:t>
            </a:r>
            <a:endParaRPr lang="en-US" sz="880" dirty="0"/>
          </a:p>
        </p:txBody>
      </p:sp>
      <p:sp>
        <p:nvSpPr>
          <p:cNvPr id="26" name="Shape 23"/>
          <p:cNvSpPr/>
          <p:nvPr/>
        </p:nvSpPr>
        <p:spPr>
          <a:xfrm>
            <a:off x="502920" y="5779008"/>
            <a:ext cx="118872" cy="118872"/>
          </a:xfrm>
          <a:prstGeom prst="ellipse">
            <a:avLst/>
          </a:prstGeom>
          <a:solidFill>
            <a:srgbClr val="0072BC"/>
          </a:solidFill>
          <a:ln w="12700">
            <a:solidFill>
              <a:srgbClr val="0072BC"/>
            </a:solidFill>
            <a:prstDash val="solid"/>
          </a:ln>
        </p:spPr>
      </p:sp>
      <p:sp>
        <p:nvSpPr>
          <p:cNvPr id="27" name="Text 24"/>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Everything that must be kept indefinitely, department by department.</a:t>
            </a:r>
            <a:endParaRPr lang="en-US" sz="1000" dirty="0"/>
          </a:p>
        </p:txBody>
      </p:sp>
      <p:sp>
        <p:nvSpPr>
          <p:cNvPr id="28" name="Shape 25"/>
          <p:cNvSpPr/>
          <p:nvPr/>
        </p:nvSpPr>
        <p:spPr>
          <a:xfrm>
            <a:off x="4270248" y="5779008"/>
            <a:ext cx="118872" cy="118872"/>
          </a:xfrm>
          <a:prstGeom prst="ellipse">
            <a:avLst/>
          </a:prstGeom>
          <a:solidFill>
            <a:srgbClr val="00A5A8"/>
          </a:solidFill>
          <a:ln w="12700">
            <a:solidFill>
              <a:srgbClr val="00A5A8"/>
            </a:solidFill>
            <a:prstDash val="solid"/>
          </a:ln>
        </p:spPr>
      </p:sp>
      <p:sp>
        <p:nvSpPr>
          <p:cNvPr id="29" name="Text 26"/>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All five columns the client asked for are here.</a:t>
            </a:r>
            <a:endParaRPr lang="en-US" sz="1000" dirty="0"/>
          </a:p>
        </p:txBody>
      </p:sp>
      <p:sp>
        <p:nvSpPr>
          <p:cNvPr id="30" name="Shape 27"/>
          <p:cNvSpPr/>
          <p:nvPr/>
        </p:nvSpPr>
        <p:spPr>
          <a:xfrm>
            <a:off x="8037576" y="5779008"/>
            <a:ext cx="118872" cy="118872"/>
          </a:xfrm>
          <a:prstGeom prst="ellipse">
            <a:avLst/>
          </a:prstGeom>
          <a:solidFill>
            <a:srgbClr val="5CA943"/>
          </a:solidFill>
          <a:ln w="12700">
            <a:solidFill>
              <a:srgbClr val="5CA943"/>
            </a:solidFill>
            <a:prstDash val="solid"/>
          </a:ln>
        </p:spPr>
      </p:sp>
      <p:sp>
        <p:nvSpPr>
          <p:cNvPr id="31" name="Text 28"/>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One column is missing: the file plan term.</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RETENTION AND DISPOSAL</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Temporary retention</a:t>
            </a:r>
            <a:endParaRPr lang="en-US" sz="2500" dirty="0"/>
          </a:p>
        </p:txBody>
      </p:sp>
      <p:sp>
        <p:nvSpPr>
          <p:cNvPr id="4" name="Shape 2"/>
          <p:cNvSpPr/>
          <p:nvPr/>
        </p:nvSpPr>
        <p:spPr>
          <a:xfrm>
            <a:off x="470916" y="1156716"/>
            <a:ext cx="7178040" cy="3712490"/>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rd-03.png">    </p:cNvPr>
          <p:cNvPicPr>
            <a:picLocks noChangeAspect="1"/>
          </p:cNvPicPr>
          <p:nvPr/>
        </p:nvPicPr>
        <p:blipFill>
          <a:blip r:embed="rId1"/>
          <a:stretch>
            <a:fillRect/>
          </a:stretch>
        </p:blipFill>
        <p:spPr>
          <a:xfrm>
            <a:off x="502920" y="1188720"/>
            <a:ext cx="7114032" cy="3648482"/>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FBE6E4"/>
          </a:solidFill>
          <a:ln w="12700">
            <a:solidFill>
              <a:srgbClr val="FBE6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Term (Top level)</a:t>
            </a:r>
            <a:endParaRPr lang="en-US" sz="880" dirty="0"/>
          </a:p>
        </p:txBody>
      </p:sp>
      <p:sp>
        <p:nvSpPr>
          <p:cNvPr id="11" name="Shape 8"/>
          <p:cNvSpPr/>
          <p:nvPr/>
        </p:nvSpPr>
        <p:spPr>
          <a:xfrm>
            <a:off x="8019288" y="2087372"/>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Departments / Offices / RMs provisioned</a:t>
            </a:r>
            <a:endParaRPr lang="en-US" sz="880" dirty="0"/>
          </a:p>
        </p:txBody>
      </p:sp>
      <p:sp>
        <p:nvSpPr>
          <p:cNvPr id="14" name="Shape 11"/>
          <p:cNvSpPr/>
          <p:nvPr/>
        </p:nvSpPr>
        <p:spPr>
          <a:xfrm>
            <a:off x="8019288" y="2409952"/>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4099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3642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sites provisioned</a:t>
            </a:r>
            <a:endParaRPr lang="en-US" sz="880" dirty="0"/>
          </a:p>
        </p:txBody>
      </p:sp>
      <p:sp>
        <p:nvSpPr>
          <p:cNvPr id="17" name="Shape 14"/>
          <p:cNvSpPr/>
          <p:nvPr/>
        </p:nvSpPr>
        <p:spPr>
          <a:xfrm>
            <a:off x="8019288" y="2732532"/>
            <a:ext cx="731520" cy="169164"/>
          </a:xfrm>
          <a:prstGeom prst="roundRect">
            <a:avLst>
              <a:gd name="adj" fmla="val 48649"/>
            </a:avLst>
          </a:prstGeom>
          <a:solidFill>
            <a:srgbClr val="EAF4E4"/>
          </a:solidFill>
          <a:ln w="12700">
            <a:solidFill>
              <a:srgbClr val="EAF4E4"/>
            </a:solidFill>
            <a:prstDash val="solid"/>
          </a:ln>
        </p:spPr>
      </p:sp>
      <p:sp>
        <p:nvSpPr>
          <p:cNvPr id="18" name="Text 15"/>
          <p:cNvSpPr/>
          <p:nvPr/>
        </p:nvSpPr>
        <p:spPr>
          <a:xfrm>
            <a:off x="8019288" y="273253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9" name="Text 16"/>
          <p:cNvSpPr/>
          <p:nvPr/>
        </p:nvSpPr>
        <p:spPr>
          <a:xfrm>
            <a:off x="8842248" y="268681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libraries provisioned</a:t>
            </a:r>
            <a:endParaRPr lang="en-US" sz="880" dirty="0"/>
          </a:p>
        </p:txBody>
      </p:sp>
      <p:sp>
        <p:nvSpPr>
          <p:cNvPr id="20" name="Shape 17"/>
          <p:cNvSpPr/>
          <p:nvPr/>
        </p:nvSpPr>
        <p:spPr>
          <a:xfrm>
            <a:off x="8019288" y="3055112"/>
            <a:ext cx="731520" cy="169164"/>
          </a:xfrm>
          <a:prstGeom prst="roundRect">
            <a:avLst>
              <a:gd name="adj" fmla="val 48649"/>
            </a:avLst>
          </a:prstGeom>
          <a:solidFill>
            <a:srgbClr val="EAF4E4"/>
          </a:solidFill>
          <a:ln w="12700">
            <a:solidFill>
              <a:srgbClr val="EAF4E4"/>
            </a:solidFill>
            <a:prstDash val="solid"/>
          </a:ln>
        </p:spPr>
      </p:sp>
      <p:sp>
        <p:nvSpPr>
          <p:cNvPr id="21" name="Text 18"/>
          <p:cNvSpPr/>
          <p:nvPr/>
        </p:nvSpPr>
        <p:spPr>
          <a:xfrm>
            <a:off x="8019288" y="305511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2" name="Text 19"/>
          <p:cNvSpPr/>
          <p:nvPr/>
        </p:nvSpPr>
        <p:spPr>
          <a:xfrm>
            <a:off x="8842248" y="300939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records declared</a:t>
            </a:r>
            <a:endParaRPr lang="en-US" sz="880" dirty="0"/>
          </a:p>
        </p:txBody>
      </p:sp>
      <p:sp>
        <p:nvSpPr>
          <p:cNvPr id="23" name="Shape 20"/>
          <p:cNvSpPr/>
          <p:nvPr/>
        </p:nvSpPr>
        <p:spPr>
          <a:xfrm>
            <a:off x="8019288" y="3377692"/>
            <a:ext cx="731520" cy="169164"/>
          </a:xfrm>
          <a:prstGeom prst="roundRect">
            <a:avLst>
              <a:gd name="adj" fmla="val 48649"/>
            </a:avLst>
          </a:prstGeom>
          <a:solidFill>
            <a:srgbClr val="EAF4E4"/>
          </a:solidFill>
          <a:ln w="12700">
            <a:solidFill>
              <a:srgbClr val="EAF4E4"/>
            </a:solidFill>
            <a:prstDash val="solid"/>
          </a:ln>
        </p:spPr>
      </p:sp>
      <p:sp>
        <p:nvSpPr>
          <p:cNvPr id="24" name="Text 21"/>
          <p:cNvSpPr/>
          <p:nvPr/>
        </p:nvSpPr>
        <p:spPr>
          <a:xfrm>
            <a:off x="8019288" y="33776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5" name="Text 22"/>
          <p:cNvSpPr/>
          <p:nvPr/>
        </p:nvSpPr>
        <p:spPr>
          <a:xfrm>
            <a:off x="8842248" y="33319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physical counterparts</a:t>
            </a:r>
            <a:endParaRPr lang="en-US" sz="880" dirty="0"/>
          </a:p>
        </p:txBody>
      </p:sp>
      <p:sp>
        <p:nvSpPr>
          <p:cNvPr id="26" name="Shape 23"/>
          <p:cNvSpPr/>
          <p:nvPr/>
        </p:nvSpPr>
        <p:spPr>
          <a:xfrm>
            <a:off x="8019288" y="3700272"/>
            <a:ext cx="731520" cy="169164"/>
          </a:xfrm>
          <a:prstGeom prst="roundRect">
            <a:avLst>
              <a:gd name="adj" fmla="val 48649"/>
            </a:avLst>
          </a:prstGeom>
          <a:solidFill>
            <a:srgbClr val="EAF4E4"/>
          </a:solidFill>
          <a:ln w="12700">
            <a:solidFill>
              <a:srgbClr val="EAF4E4"/>
            </a:solidFill>
            <a:prstDash val="solid"/>
          </a:ln>
        </p:spPr>
      </p:sp>
      <p:sp>
        <p:nvSpPr>
          <p:cNvPr id="27" name="Text 24"/>
          <p:cNvSpPr/>
          <p:nvPr/>
        </p:nvSpPr>
        <p:spPr>
          <a:xfrm>
            <a:off x="8019288" y="37002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8" name="Text 25"/>
          <p:cNvSpPr/>
          <p:nvPr/>
        </p:nvSpPr>
        <p:spPr>
          <a:xfrm>
            <a:off x="8842248" y="36545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Retention filter (All, 3, 5, 7, 10, others. years)</a:t>
            </a:r>
            <a:endParaRPr lang="en-US" sz="880" dirty="0"/>
          </a:p>
        </p:txBody>
      </p:sp>
      <p:sp>
        <p:nvSpPr>
          <p:cNvPr id="29" name="Shape 26"/>
          <p:cNvSpPr/>
          <p:nvPr/>
        </p:nvSpPr>
        <p:spPr>
          <a:xfrm>
            <a:off x="8019288" y="4022852"/>
            <a:ext cx="731520" cy="169164"/>
          </a:xfrm>
          <a:prstGeom prst="roundRect">
            <a:avLst>
              <a:gd name="adj" fmla="val 48649"/>
            </a:avLst>
          </a:prstGeom>
          <a:solidFill>
            <a:srgbClr val="FBE6E4"/>
          </a:solidFill>
          <a:ln w="12700">
            <a:solidFill>
              <a:srgbClr val="FBE6E4"/>
            </a:solidFill>
            <a:prstDash val="solid"/>
          </a:ln>
        </p:spPr>
      </p:sp>
      <p:sp>
        <p:nvSpPr>
          <p:cNvPr id="30" name="Text 27"/>
          <p:cNvSpPr/>
          <p:nvPr/>
        </p:nvSpPr>
        <p:spPr>
          <a:xfrm>
            <a:off x="8019288" y="402285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31" name="Text 28"/>
          <p:cNvSpPr/>
          <p:nvPr/>
        </p:nvSpPr>
        <p:spPr>
          <a:xfrm>
            <a:off x="8842248" y="397713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Number of records disposed</a:t>
            </a:r>
            <a:endParaRPr lang="en-US" sz="880" dirty="0"/>
          </a:p>
        </p:txBody>
      </p:sp>
      <p:sp>
        <p:nvSpPr>
          <p:cNvPr id="32" name="Shape 29"/>
          <p:cNvSpPr/>
          <p:nvPr/>
        </p:nvSpPr>
        <p:spPr>
          <a:xfrm>
            <a:off x="502920" y="5779008"/>
            <a:ext cx="118872" cy="118872"/>
          </a:xfrm>
          <a:prstGeom prst="ellipse">
            <a:avLst/>
          </a:prstGeom>
          <a:solidFill>
            <a:srgbClr val="0072BC"/>
          </a:solidFill>
          <a:ln w="12700">
            <a:solidFill>
              <a:srgbClr val="0072BC"/>
            </a:solidFill>
            <a:prstDash val="solid"/>
          </a:ln>
        </p:spPr>
      </p:sp>
      <p:sp>
        <p:nvSpPr>
          <p:cNvPr id="33" name="Text 30"/>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Same shape, for records with an end date.</a:t>
            </a:r>
            <a:endParaRPr lang="en-US" sz="1000" dirty="0"/>
          </a:p>
        </p:txBody>
      </p:sp>
      <p:sp>
        <p:nvSpPr>
          <p:cNvPr id="34" name="Shape 31"/>
          <p:cNvSpPr/>
          <p:nvPr/>
        </p:nvSpPr>
        <p:spPr>
          <a:xfrm>
            <a:off x="4270248" y="5779008"/>
            <a:ext cx="118872" cy="118872"/>
          </a:xfrm>
          <a:prstGeom prst="ellipse">
            <a:avLst/>
          </a:prstGeom>
          <a:solidFill>
            <a:srgbClr val="00A5A8"/>
          </a:solidFill>
          <a:ln w="12700">
            <a:solidFill>
              <a:srgbClr val="00A5A8"/>
            </a:solidFill>
            <a:prstDash val="solid"/>
          </a:ln>
        </p:spPr>
      </p:sp>
      <p:sp>
        <p:nvSpPr>
          <p:cNvPr id="35" name="Text 32"/>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retention filter lets you look at just the seven-year records, or just the ten-year.</a:t>
            </a:r>
            <a:endParaRPr lang="en-US" sz="1000" dirty="0"/>
          </a:p>
        </p:txBody>
      </p:sp>
      <p:sp>
        <p:nvSpPr>
          <p:cNvPr id="36" name="Shape 33"/>
          <p:cNvSpPr/>
          <p:nvPr/>
        </p:nvSpPr>
        <p:spPr>
          <a:xfrm>
            <a:off x="8037576" y="5779008"/>
            <a:ext cx="118872" cy="118872"/>
          </a:xfrm>
          <a:prstGeom prst="ellipse">
            <a:avLst/>
          </a:prstGeom>
          <a:solidFill>
            <a:srgbClr val="5CA943"/>
          </a:solidFill>
          <a:ln w="12700">
            <a:solidFill>
              <a:srgbClr val="5CA943"/>
            </a:solidFill>
            <a:prstDash val="solid"/>
          </a:ln>
        </p:spPr>
      </p:sp>
      <p:sp>
        <p:nvSpPr>
          <p:cNvPr id="37" name="Text 34"/>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What we cannot show is anything that has already been disposed of.</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RETENTION AND DISPOSAL</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Retention labels</a:t>
            </a:r>
            <a:endParaRPr lang="en-US" sz="2500" dirty="0"/>
          </a:p>
        </p:txBody>
      </p:sp>
      <p:sp>
        <p:nvSpPr>
          <p:cNvPr id="4" name="Shape 2"/>
          <p:cNvSpPr/>
          <p:nvPr/>
        </p:nvSpPr>
        <p:spPr>
          <a:xfrm>
            <a:off x="470916" y="1946785"/>
            <a:ext cx="7178040" cy="2538675"/>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rd-04.png">    </p:cNvPr>
          <p:cNvPicPr>
            <a:picLocks noChangeAspect="1"/>
          </p:cNvPicPr>
          <p:nvPr/>
        </p:nvPicPr>
        <p:blipFill>
          <a:blip r:embed="rId1"/>
          <a:stretch>
            <a:fillRect/>
          </a:stretch>
        </p:blipFill>
        <p:spPr>
          <a:xfrm>
            <a:off x="502920" y="1978789"/>
            <a:ext cx="7114032" cy="2474667"/>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Declared records by retention label</a:t>
            </a:r>
            <a:endParaRPr lang="en-US" sz="880" dirty="0"/>
          </a:p>
        </p:txBody>
      </p:sp>
      <p:sp>
        <p:nvSpPr>
          <p:cNvPr id="11" name="Shape 8"/>
          <p:cNvSpPr/>
          <p:nvPr/>
        </p:nvSpPr>
        <p:spPr>
          <a:xfrm>
            <a:off x="502920" y="5779008"/>
            <a:ext cx="118872" cy="118872"/>
          </a:xfrm>
          <a:prstGeom prst="ellipse">
            <a:avLst/>
          </a:prstGeom>
          <a:solidFill>
            <a:srgbClr val="0072BC"/>
          </a:solidFill>
          <a:ln w="12700">
            <a:solidFill>
              <a:srgbClr val="0072BC"/>
            </a:solidFill>
            <a:prstDash val="solid"/>
          </a:ln>
        </p:spPr>
      </p:sp>
      <p:sp>
        <p:nvSpPr>
          <p:cNvPr id="12" name="Text 9"/>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Every declared record grouped by the label actually applied to it.</a:t>
            </a:r>
            <a:endParaRPr lang="en-US" sz="1000" dirty="0"/>
          </a:p>
        </p:txBody>
      </p:sp>
      <p:sp>
        <p:nvSpPr>
          <p:cNvPr id="13" name="Shape 10"/>
          <p:cNvSpPr/>
          <p:nvPr/>
        </p:nvSpPr>
        <p:spPr>
          <a:xfrm>
            <a:off x="4270248" y="5779008"/>
            <a:ext cx="118872" cy="118872"/>
          </a:xfrm>
          <a:prstGeom prst="ellipse">
            <a:avLst/>
          </a:prstGeom>
          <a:solidFill>
            <a:srgbClr val="00A5A8"/>
          </a:solidFill>
          <a:ln w="12700">
            <a:solidFill>
              <a:srgbClr val="00A5A8"/>
            </a:solidFill>
            <a:prstDash val="solid"/>
          </a:ln>
        </p:spPr>
      </p:sp>
      <p:sp>
        <p:nvSpPr>
          <p:cNvPr id="14" name="Text 11"/>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This comes from real data — it is one of the most solid panels in the report.</a:t>
            </a:r>
            <a:endParaRPr lang="en-US" sz="1000" dirty="0"/>
          </a:p>
        </p:txBody>
      </p:sp>
      <p:sp>
        <p:nvSpPr>
          <p:cNvPr id="15" name="Shape 12"/>
          <p:cNvSpPr/>
          <p:nvPr/>
        </p:nvSpPr>
        <p:spPr>
          <a:xfrm>
            <a:off x="8037576" y="5779008"/>
            <a:ext cx="118872" cy="118872"/>
          </a:xfrm>
          <a:prstGeom prst="ellipse">
            <a:avLst/>
          </a:prstGeom>
          <a:solidFill>
            <a:srgbClr val="5CA943"/>
          </a:solidFill>
          <a:ln w="12700">
            <a:solidFill>
              <a:srgbClr val="5CA943"/>
            </a:solidFill>
            <a:prstDash val="solid"/>
          </a:ln>
        </p:spPr>
      </p:sp>
      <p:sp>
        <p:nvSpPr>
          <p:cNvPr id="16" name="Text 13"/>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It is also a good check: labels nobody expected will show up here.</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RETENTION AND DISPOSAL</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What we need from you</a:t>
            </a:r>
            <a:endParaRPr lang="en-US" sz="2500" dirty="0"/>
          </a:p>
        </p:txBody>
      </p:sp>
      <p:sp>
        <p:nvSpPr>
          <p:cNvPr id="4" name="Shape 2"/>
          <p:cNvSpPr/>
          <p:nvPr/>
        </p:nvSpPr>
        <p:spPr>
          <a:xfrm>
            <a:off x="502920" y="1280160"/>
            <a:ext cx="11155680" cy="1466088"/>
          </a:xfrm>
          <a:prstGeom prst="roundRect">
            <a:avLst>
              <a:gd name="adj" fmla="val 3742"/>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5" name="Shape 3"/>
          <p:cNvSpPr/>
          <p:nvPr/>
        </p:nvSpPr>
        <p:spPr>
          <a:xfrm>
            <a:off x="777240" y="1812036"/>
            <a:ext cx="402336" cy="402336"/>
          </a:xfrm>
          <a:prstGeom prst="ellipse">
            <a:avLst/>
          </a:prstGeom>
          <a:solidFill>
            <a:srgbClr val="FBE6E4"/>
          </a:solidFill>
          <a:ln w="12700">
            <a:solidFill>
              <a:srgbClr val="FBE6E4"/>
            </a:solidFill>
            <a:prstDash val="solid"/>
          </a:ln>
        </p:spPr>
      </p:sp>
      <p:sp>
        <p:nvSpPr>
          <p:cNvPr id="6" name="Text 4"/>
          <p:cNvSpPr/>
          <p:nvPr/>
        </p:nvSpPr>
        <p:spPr>
          <a:xfrm>
            <a:off x="777240" y="1812036"/>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1</a:t>
            </a:r>
            <a:endParaRPr lang="en-US" sz="1400" dirty="0"/>
          </a:p>
        </p:txBody>
      </p:sp>
      <p:sp>
        <p:nvSpPr>
          <p:cNvPr id="7" name="Text 5"/>
          <p:cNvSpPr/>
          <p:nvPr/>
        </p:nvSpPr>
        <p:spPr>
          <a:xfrm>
            <a:off x="1371600" y="1408176"/>
            <a:ext cx="4663440" cy="1210056"/>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Where is a completed disposal recorded?</a:t>
            </a:r>
            <a:endParaRPr lang="en-US" sz="1350" dirty="0"/>
          </a:p>
        </p:txBody>
      </p:sp>
      <p:sp>
        <p:nvSpPr>
          <p:cNvPr id="8" name="Text 6"/>
          <p:cNvSpPr/>
          <p:nvPr/>
        </p:nvSpPr>
        <p:spPr>
          <a:xfrm>
            <a:off x="6217920" y="1399032"/>
            <a:ext cx="2743200" cy="1228344"/>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We can show you everything that is due. The moment something is actually disposed of, the report goes blind — there is nowhere in the system to write that down.</a:t>
            </a:r>
            <a:endParaRPr lang="en-US" sz="860" dirty="0"/>
          </a:p>
        </p:txBody>
      </p:sp>
      <p:sp>
        <p:nvSpPr>
          <p:cNvPr id="9" name="Text 7"/>
          <p:cNvSpPr/>
          <p:nvPr/>
        </p:nvSpPr>
        <p:spPr>
          <a:xfrm>
            <a:off x="9098280" y="1399032"/>
            <a:ext cx="2423160" cy="1228344"/>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How does a disposal get signed off today, and is the outcome written anywhere we could read? This is the single biggest gap across the whole report.</a:t>
            </a:r>
            <a:endParaRPr lang="en-US" sz="860" dirty="0"/>
          </a:p>
        </p:txBody>
      </p:sp>
      <p:sp>
        <p:nvSpPr>
          <p:cNvPr id="10" name="Shape 8"/>
          <p:cNvSpPr/>
          <p:nvPr/>
        </p:nvSpPr>
        <p:spPr>
          <a:xfrm>
            <a:off x="502920" y="2855976"/>
            <a:ext cx="11155680" cy="1466088"/>
          </a:xfrm>
          <a:prstGeom prst="roundRect">
            <a:avLst>
              <a:gd name="adj" fmla="val 3742"/>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11" name="Shape 9"/>
          <p:cNvSpPr/>
          <p:nvPr/>
        </p:nvSpPr>
        <p:spPr>
          <a:xfrm>
            <a:off x="777240" y="3387852"/>
            <a:ext cx="402336" cy="402336"/>
          </a:xfrm>
          <a:prstGeom prst="ellipse">
            <a:avLst/>
          </a:prstGeom>
          <a:solidFill>
            <a:srgbClr val="FBE6E4"/>
          </a:solidFill>
          <a:ln w="12700">
            <a:solidFill>
              <a:srgbClr val="FBE6E4"/>
            </a:solidFill>
            <a:prstDash val="solid"/>
          </a:ln>
        </p:spPr>
      </p:sp>
      <p:sp>
        <p:nvSpPr>
          <p:cNvPr id="12" name="Text 10"/>
          <p:cNvSpPr/>
          <p:nvPr/>
        </p:nvSpPr>
        <p:spPr>
          <a:xfrm>
            <a:off x="777240" y="3387852"/>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2</a:t>
            </a:r>
            <a:endParaRPr lang="en-US" sz="1400" dirty="0"/>
          </a:p>
        </p:txBody>
      </p:sp>
      <p:sp>
        <p:nvSpPr>
          <p:cNvPr id="13" name="Text 11"/>
          <p:cNvSpPr/>
          <p:nvPr/>
        </p:nvSpPr>
        <p:spPr>
          <a:xfrm>
            <a:off x="1371600" y="2983992"/>
            <a:ext cx="4663440" cy="1210056"/>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Do you still want the slide 44 summary table?</a:t>
            </a:r>
            <a:endParaRPr lang="en-US" sz="1350" dirty="0"/>
          </a:p>
        </p:txBody>
      </p:sp>
      <p:sp>
        <p:nvSpPr>
          <p:cNvPr id="14" name="Text 12"/>
          <p:cNvSpPr/>
          <p:nvPr/>
        </p:nvSpPr>
        <p:spPr>
          <a:xfrm>
            <a:off x="6217920" y="2974848"/>
            <a:ext cx="2743200" cy="1228344"/>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Your slide 44 had a table across the top with six columns. It was taken out of the prototype because most of its columns repeat what the screens below already show.</a:t>
            </a:r>
            <a:endParaRPr lang="en-US" sz="860" dirty="0"/>
          </a:p>
        </p:txBody>
      </p:sp>
      <p:sp>
        <p:nvSpPr>
          <p:cNvPr id="15" name="Text 13"/>
          <p:cNvSpPr/>
          <p:nvPr/>
        </p:nvSpPr>
        <p:spPr>
          <a:xfrm>
            <a:off x="9098280" y="2974848"/>
            <a:ext cx="2423160" cy="1228344"/>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Do you want it back, or is the current layout clearer? Your call — we can put it back easily.</a:t>
            </a:r>
            <a:endParaRPr lang="en-US" sz="860" dirty="0"/>
          </a:p>
        </p:txBody>
      </p:sp>
      <p:sp>
        <p:nvSpPr>
          <p:cNvPr id="16" name="Shape 14"/>
          <p:cNvSpPr/>
          <p:nvPr/>
        </p:nvSpPr>
        <p:spPr>
          <a:xfrm>
            <a:off x="502920" y="4431792"/>
            <a:ext cx="11155680" cy="1466088"/>
          </a:xfrm>
          <a:prstGeom prst="roundRect">
            <a:avLst>
              <a:gd name="adj" fmla="val 3742"/>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17" name="Shape 15"/>
          <p:cNvSpPr/>
          <p:nvPr/>
        </p:nvSpPr>
        <p:spPr>
          <a:xfrm>
            <a:off x="777240" y="4963668"/>
            <a:ext cx="402336" cy="402336"/>
          </a:xfrm>
          <a:prstGeom prst="ellipse">
            <a:avLst/>
          </a:prstGeom>
          <a:solidFill>
            <a:srgbClr val="FBE6E4"/>
          </a:solidFill>
          <a:ln w="12700">
            <a:solidFill>
              <a:srgbClr val="FBE6E4"/>
            </a:solidFill>
            <a:prstDash val="solid"/>
          </a:ln>
        </p:spPr>
      </p:sp>
      <p:sp>
        <p:nvSpPr>
          <p:cNvPr id="18" name="Text 16"/>
          <p:cNvSpPr/>
          <p:nvPr/>
        </p:nvSpPr>
        <p:spPr>
          <a:xfrm>
            <a:off x="777240" y="4963668"/>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3</a:t>
            </a:r>
            <a:endParaRPr lang="en-US" sz="1400" dirty="0"/>
          </a:p>
        </p:txBody>
      </p:sp>
      <p:sp>
        <p:nvSpPr>
          <p:cNvPr id="19" name="Text 17"/>
          <p:cNvSpPr/>
          <p:nvPr/>
        </p:nvSpPr>
        <p:spPr>
          <a:xfrm>
            <a:off x="1371600" y="4559808"/>
            <a:ext cx="4663440" cy="1210056"/>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Should retention be shown per file plan term?</a:t>
            </a:r>
            <a:endParaRPr lang="en-US" sz="1350" dirty="0"/>
          </a:p>
        </p:txBody>
      </p:sp>
      <p:sp>
        <p:nvSpPr>
          <p:cNvPr id="20" name="Text 18"/>
          <p:cNvSpPr/>
          <p:nvPr/>
        </p:nvSpPr>
        <p:spPr>
          <a:xfrm>
            <a:off x="6217920" y="4550664"/>
            <a:ext cx="2743200" cy="1228344"/>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Slides 45 and 46 both start with a “Term (top level)” column. We cannot fill it for the same reason as the file plan dashboard — nothing links a record to a term.</a:t>
            </a:r>
            <a:endParaRPr lang="en-US" sz="860" dirty="0"/>
          </a:p>
        </p:txBody>
      </p:sp>
      <p:sp>
        <p:nvSpPr>
          <p:cNvPr id="21" name="Text 19"/>
          <p:cNvSpPr/>
          <p:nvPr/>
        </p:nvSpPr>
        <p:spPr>
          <a:xfrm>
            <a:off x="9098280" y="4550664"/>
            <a:ext cx="2423160" cy="1228344"/>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If the file plan question gets answered, this fills itself in. Same root cause.</a:t>
            </a:r>
            <a:endParaRPr lang="en-US" sz="860" dirty="0"/>
          </a:p>
        </p:txBody>
      </p:sp>
      <p:sp>
        <p:nvSpPr>
          <p:cNvPr id="22" name="Text 20"/>
          <p:cNvSpPr/>
          <p:nvPr/>
        </p:nvSpPr>
        <p:spPr>
          <a:xfrm>
            <a:off x="137160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THE QUESTION</a:t>
            </a:r>
            <a:endParaRPr lang="en-US" sz="750" dirty="0"/>
          </a:p>
        </p:txBody>
      </p:sp>
      <p:sp>
        <p:nvSpPr>
          <p:cNvPr id="23" name="Text 21"/>
          <p:cNvSpPr/>
          <p:nvPr/>
        </p:nvSpPr>
        <p:spPr>
          <a:xfrm>
            <a:off x="621792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WHY WE ARE STUCK</a:t>
            </a:r>
            <a:endParaRPr lang="en-US" sz="750" dirty="0"/>
          </a:p>
        </p:txBody>
      </p:sp>
      <p:sp>
        <p:nvSpPr>
          <p:cNvPr id="24" name="Text 22"/>
          <p:cNvSpPr/>
          <p:nvPr/>
        </p:nvSpPr>
        <p:spPr>
          <a:xfrm>
            <a:off x="909828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WHAT WOULD UNBLOCK IT</a:t>
            </a:r>
            <a:endParaRPr lang="en-US" sz="7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E1F35"/>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5A8"/>
          </a:solidFill>
          <a:ln w="12700">
            <a:solidFill>
              <a:srgbClr val="00A5A8"/>
            </a:solidFill>
            <a:prstDash val="solid"/>
          </a:ln>
        </p:spPr>
      </p:sp>
      <p:sp>
        <p:nvSpPr>
          <p:cNvPr id="3" name="Text 1"/>
          <p:cNvSpPr/>
          <p:nvPr/>
        </p:nvSpPr>
        <p:spPr>
          <a:xfrm>
            <a:off x="822960" y="2103120"/>
            <a:ext cx="5486400" cy="274320"/>
          </a:xfrm>
          <a:prstGeom prst="rect">
            <a:avLst/>
          </a:prstGeom>
          <a:noFill/>
          <a:ln/>
        </p:spPr>
        <p:txBody>
          <a:bodyPr wrap="square" lIns="0" tIns="0" rIns="0" bIns="0" rtlCol="0" anchor="ctr"/>
          <a:lstStyle/>
          <a:p>
            <a:pPr indent="0" marL="0">
              <a:buNone/>
            </a:pPr>
            <a:r>
              <a:rPr lang="en-US" sz="1150" b="1" spc="160" kern="0" dirty="0">
                <a:solidFill>
                  <a:srgbClr val="00A5A8"/>
                </a:solidFill>
                <a:latin typeface="Calibri" pitchFamily="34" charset="0"/>
                <a:ea typeface="Calibri" pitchFamily="34" charset="-122"/>
                <a:cs typeface="Calibri" pitchFamily="34" charset="-120"/>
              </a:rPr>
              <a:t>VIEW 6 OF 6</a:t>
            </a:r>
            <a:endParaRPr lang="en-US" sz="1150" dirty="0"/>
          </a:p>
        </p:txBody>
      </p:sp>
      <p:sp>
        <p:nvSpPr>
          <p:cNvPr id="4" name="Text 2"/>
          <p:cNvSpPr/>
          <p:nvPr/>
        </p:nvSpPr>
        <p:spPr>
          <a:xfrm>
            <a:off x="822960" y="2468880"/>
            <a:ext cx="7680960"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Records and Archive Holdings</a:t>
            </a:r>
            <a:endParaRPr lang="en-US" sz="4000" dirty="0"/>
          </a:p>
        </p:txBody>
      </p:sp>
      <p:sp>
        <p:nvSpPr>
          <p:cNvPr id="5" name="Text 3"/>
          <p:cNvSpPr/>
          <p:nvPr/>
        </p:nvSpPr>
        <p:spPr>
          <a:xfrm>
            <a:off x="822960" y="3520440"/>
            <a:ext cx="7498080" cy="914400"/>
          </a:xfrm>
          <a:prstGeom prst="rect">
            <a:avLst/>
          </a:prstGeom>
          <a:noFill/>
          <a:ln/>
        </p:spPr>
        <p:txBody>
          <a:bodyPr wrap="square" lIns="0" tIns="0" rIns="0" bIns="0" rtlCol="0" anchor="ctr"/>
          <a:lstStyle/>
          <a:p>
            <a:pPr indent="0" marL="0">
              <a:lnSpc>
                <a:spcPts val="2400"/>
              </a:lnSpc>
              <a:buNone/>
            </a:pPr>
            <a:r>
              <a:rPr lang="en-US" sz="1700" dirty="0">
                <a:solidFill>
                  <a:srgbClr val="AFC4D8"/>
                </a:solidFill>
                <a:latin typeface="Calibri" pitchFamily="34" charset="0"/>
                <a:ea typeface="Calibri" pitchFamily="34" charset="-122"/>
                <a:cs typeface="Calibri" pitchFamily="34" charset="-120"/>
              </a:rPr>
              <a:t>What is in the physical archive, and what is moving in and out?</a:t>
            </a:r>
            <a:endParaRPr lang="en-US" sz="1700" dirty="0"/>
          </a:p>
        </p:txBody>
      </p:sp>
      <p:sp>
        <p:nvSpPr>
          <p:cNvPr id="6" name="Shape 4"/>
          <p:cNvSpPr/>
          <p:nvPr/>
        </p:nvSpPr>
        <p:spPr>
          <a:xfrm>
            <a:off x="8961120" y="2286000"/>
            <a:ext cx="2606040" cy="2103120"/>
          </a:xfrm>
          <a:prstGeom prst="roundRect">
            <a:avLst>
              <a:gd name="adj" fmla="val 3478"/>
            </a:avLst>
          </a:prstGeom>
          <a:solidFill>
            <a:srgbClr val="16304F"/>
          </a:solidFill>
          <a:ln w="12700">
            <a:solidFill>
              <a:srgbClr val="27476C"/>
            </a:solidFill>
            <a:prstDash val="solid"/>
          </a:ln>
        </p:spPr>
      </p:sp>
      <p:sp>
        <p:nvSpPr>
          <p:cNvPr id="7" name="Text 5"/>
          <p:cNvSpPr/>
          <p:nvPr/>
        </p:nvSpPr>
        <p:spPr>
          <a:xfrm>
            <a:off x="8961120" y="2514600"/>
            <a:ext cx="2606040" cy="777240"/>
          </a:xfrm>
          <a:prstGeom prst="rect">
            <a:avLst/>
          </a:prstGeom>
          <a:noFill/>
          <a:ln/>
        </p:spPr>
        <p:txBody>
          <a:bodyPr wrap="square" lIns="0" tIns="0" rIns="0" bIns="0" rtlCol="0" anchor="ctr"/>
          <a:lstStyle/>
          <a:p>
            <a:pPr algn="ctr" indent="0" marL="0">
              <a:buNone/>
            </a:pPr>
            <a:r>
              <a:rPr lang="en-US" sz="4600" b="1" dirty="0">
                <a:solidFill>
                  <a:srgbClr val="5CA943"/>
                </a:solidFill>
                <a:latin typeface="Cambria" pitchFamily="34" charset="0"/>
                <a:ea typeface="Cambria" pitchFamily="34" charset="-122"/>
                <a:cs typeface="Cambria" pitchFamily="34" charset="-120"/>
              </a:rPr>
              <a:t>24</a:t>
            </a:r>
            <a:endParaRPr lang="en-US" sz="4600" dirty="0"/>
          </a:p>
        </p:txBody>
      </p:sp>
      <p:sp>
        <p:nvSpPr>
          <p:cNvPr id="8" name="Text 6"/>
          <p:cNvSpPr/>
          <p:nvPr/>
        </p:nvSpPr>
        <p:spPr>
          <a:xfrm>
            <a:off x="8961120" y="3291840"/>
            <a:ext cx="2606040" cy="274320"/>
          </a:xfrm>
          <a:prstGeom prst="rect">
            <a:avLst/>
          </a:prstGeom>
          <a:noFill/>
          <a:ln/>
        </p:spPr>
        <p:txBody>
          <a:bodyPr wrap="square" lIns="0" tIns="0" rIns="0" bIns="0" rtlCol="0" anchor="ctr"/>
          <a:lstStyle/>
          <a:p>
            <a:pPr algn="ctr" indent="0" marL="0">
              <a:buNone/>
            </a:pPr>
            <a:r>
              <a:rPr lang="en-US" sz="1250" dirty="0">
                <a:solidFill>
                  <a:srgbClr val="AFC4D8"/>
                </a:solidFill>
                <a:latin typeface="Calibri" pitchFamily="34" charset="0"/>
                <a:ea typeface="Calibri" pitchFamily="34" charset="-122"/>
                <a:cs typeface="Calibri" pitchFamily="34" charset="-120"/>
              </a:rPr>
              <a:t>of 26 built</a:t>
            </a:r>
            <a:endParaRPr lang="en-US" sz="1250" dirty="0"/>
          </a:p>
        </p:txBody>
      </p:sp>
      <p:sp>
        <p:nvSpPr>
          <p:cNvPr id="9" name="Text 7"/>
          <p:cNvSpPr/>
          <p:nvPr/>
        </p:nvSpPr>
        <p:spPr>
          <a:xfrm>
            <a:off x="9052560" y="3703320"/>
            <a:ext cx="2423160" cy="502920"/>
          </a:xfrm>
          <a:prstGeom prst="rect">
            <a:avLst/>
          </a:prstGeom>
          <a:noFill/>
          <a:ln/>
        </p:spPr>
        <p:txBody>
          <a:bodyPr wrap="square" lIns="0" tIns="0" rIns="0" bIns="0" rtlCol="0" anchor="ctr"/>
          <a:lstStyle/>
          <a:p>
            <a:pPr algn="ctr" indent="0" marL="0">
              <a:lnSpc>
                <a:spcPts val="1400"/>
              </a:lnSpc>
              <a:buNone/>
            </a:pPr>
            <a:r>
              <a:rPr lang="en-US" sz="1150" b="1" dirty="0">
                <a:solidFill>
                  <a:srgbClr val="E88A82"/>
                </a:solidFill>
                <a:latin typeface="Calibri" pitchFamily="34" charset="0"/>
                <a:ea typeface="Calibri" pitchFamily="34" charset="-122"/>
                <a:cs typeface="Calibri" pitchFamily="34" charset="-120"/>
              </a:rPr>
              <a:t>2 need your input</a:t>
            </a:r>
            <a:endParaRPr lang="en-US" sz="1150" dirty="0"/>
          </a:p>
        </p:txBody>
      </p:sp>
      <p:sp>
        <p:nvSpPr>
          <p:cNvPr id="10" name="Text 8"/>
          <p:cNvSpPr/>
          <p:nvPr/>
        </p:nvSpPr>
        <p:spPr>
          <a:xfrm>
            <a:off x="822960" y="4937760"/>
            <a:ext cx="7315200" cy="274320"/>
          </a:xfrm>
          <a:prstGeom prst="rect">
            <a:avLst/>
          </a:prstGeom>
          <a:noFill/>
          <a:ln/>
        </p:spPr>
        <p:txBody>
          <a:bodyPr wrap="square" lIns="0" tIns="0" rIns="0" bIns="0" rtlCol="0" anchor="ctr"/>
          <a:lstStyle/>
          <a:p>
            <a:pPr indent="0" marL="0">
              <a:buNone/>
            </a:pPr>
            <a:r>
              <a:rPr lang="en-US" sz="1200" dirty="0">
                <a:solidFill>
                  <a:srgbClr val="7E97B0"/>
                </a:solidFill>
                <a:latin typeface="Calibri" pitchFamily="34" charset="0"/>
                <a:ea typeface="Calibri" pitchFamily="34" charset="-122"/>
                <a:cs typeface="Calibri" pitchFamily="34" charset="-120"/>
              </a:rPr>
              <a:t>4 screens to walk through</a:t>
            </a:r>
            <a:endParaRPr lang="en-US" sz="1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RECORDS AND ARCHIVE HOLDINGS</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What we can and cannot see</a:t>
            </a:r>
            <a:endParaRPr lang="en-US" sz="2500" dirty="0"/>
          </a:p>
        </p:txBody>
      </p:sp>
      <p:sp>
        <p:nvSpPr>
          <p:cNvPr id="4" name="Shape 2"/>
          <p:cNvSpPr/>
          <p:nvPr/>
        </p:nvSpPr>
        <p:spPr>
          <a:xfrm>
            <a:off x="470916" y="1156716"/>
            <a:ext cx="7178040" cy="3285648"/>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ra-01.png">    </p:cNvPr>
          <p:cNvPicPr>
            <a:picLocks noChangeAspect="1"/>
          </p:cNvPicPr>
          <p:nvPr/>
        </p:nvPicPr>
        <p:blipFill>
          <a:blip r:embed="rId1"/>
          <a:stretch>
            <a:fillRect/>
          </a:stretch>
        </p:blipFill>
        <p:spPr>
          <a:xfrm>
            <a:off x="502920" y="1188720"/>
            <a:ext cx="7114032" cy="3221640"/>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FDF1DE"/>
          </a:solidFill>
          <a:ln w="12700">
            <a:solidFill>
              <a:srgbClr val="FDF1DE"/>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Records and Archive Holdings, as a key view</a:t>
            </a:r>
            <a:endParaRPr lang="en-US" sz="880" dirty="0"/>
          </a:p>
        </p:txBody>
      </p:sp>
      <p:sp>
        <p:nvSpPr>
          <p:cNvPr id="11" name="Shape 8"/>
          <p:cNvSpPr/>
          <p:nvPr/>
        </p:nvSpPr>
        <p:spPr>
          <a:xfrm>
            <a:off x="8019288" y="2087372"/>
            <a:ext cx="731520" cy="169164"/>
          </a:xfrm>
          <a:prstGeom prst="roundRect">
            <a:avLst>
              <a:gd name="adj" fmla="val 48649"/>
            </a:avLst>
          </a:prstGeom>
          <a:solidFill>
            <a:srgbClr val="FDF1DE"/>
          </a:solidFill>
          <a:ln w="12700">
            <a:solidFill>
              <a:srgbClr val="FDF1DE"/>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3" name="Text 10"/>
          <p:cNvSpPr/>
          <p:nvPr/>
        </p:nvSpPr>
        <p:spPr>
          <a:xfrm>
            <a:off x="8842248" y="2041652"/>
            <a:ext cx="2633472" cy="4622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The two tables drawn with the client's own column headings</a:t>
            </a:r>
            <a:endParaRPr lang="en-US" sz="880" dirty="0"/>
          </a:p>
        </p:txBody>
      </p:sp>
      <p:sp>
        <p:nvSpPr>
          <p:cNvPr id="14" name="Shape 11"/>
          <p:cNvSpPr/>
          <p:nvPr/>
        </p:nvSpPr>
        <p:spPr>
          <a:xfrm>
            <a:off x="502920" y="5779008"/>
            <a:ext cx="118872" cy="118872"/>
          </a:xfrm>
          <a:prstGeom prst="ellipse">
            <a:avLst/>
          </a:prstGeom>
          <a:solidFill>
            <a:srgbClr val="0072BC"/>
          </a:solidFill>
          <a:ln w="12700">
            <a:solidFill>
              <a:srgbClr val="0072BC"/>
            </a:solidFill>
            <a:prstDash val="solid"/>
          </a:ln>
        </p:spPr>
      </p:sp>
      <p:sp>
        <p:nvSpPr>
          <p:cNvPr id="15" name="Text 12"/>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One figure here is real: the count of records with a paper counterpart.</a:t>
            </a:r>
            <a:endParaRPr lang="en-US" sz="1000" dirty="0"/>
          </a:p>
        </p:txBody>
      </p:sp>
      <p:sp>
        <p:nvSpPr>
          <p:cNvPr id="16" name="Shape 13"/>
          <p:cNvSpPr/>
          <p:nvPr/>
        </p:nvSpPr>
        <p:spPr>
          <a:xfrm>
            <a:off x="4270248" y="5779008"/>
            <a:ext cx="118872" cy="118872"/>
          </a:xfrm>
          <a:prstGeom prst="ellipse">
            <a:avLst/>
          </a:prstGeom>
          <a:solidFill>
            <a:srgbClr val="00A5A8"/>
          </a:solidFill>
          <a:ln w="12700">
            <a:solidFill>
              <a:srgbClr val="00A5A8"/>
            </a:solidFill>
            <a:prstDash val="solid"/>
          </a:ln>
        </p:spPr>
      </p:sp>
      <p:sp>
        <p:nvSpPr>
          <p:cNvPr id="17" name="Text 14"/>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Everything else on this dashboard is a placeholder.</a:t>
            </a:r>
            <a:endParaRPr lang="en-US" sz="1000" dirty="0"/>
          </a:p>
        </p:txBody>
      </p:sp>
      <p:sp>
        <p:nvSpPr>
          <p:cNvPr id="18" name="Shape 15"/>
          <p:cNvSpPr/>
          <p:nvPr/>
        </p:nvSpPr>
        <p:spPr>
          <a:xfrm>
            <a:off x="8037576" y="5779008"/>
            <a:ext cx="118872" cy="118872"/>
          </a:xfrm>
          <a:prstGeom prst="ellipse">
            <a:avLst/>
          </a:prstGeom>
          <a:solidFill>
            <a:srgbClr val="5CA943"/>
          </a:solidFill>
          <a:ln w="12700">
            <a:solidFill>
              <a:srgbClr val="5CA943"/>
            </a:solidFill>
            <a:prstDash val="solid"/>
          </a:ln>
        </p:spPr>
      </p:sp>
      <p:sp>
        <p:nvSpPr>
          <p:cNvPr id="19" name="Text 16"/>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This is the dashboard with the least data behind it, and the most to discuss.</a:t>
            </a:r>
            <a:endParaRPr lang="en-US" sz="10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RECORDS AND ARCHIVE HOLDINGS</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Storage</a:t>
            </a:r>
            <a:endParaRPr lang="en-US" sz="2500" dirty="0"/>
          </a:p>
        </p:txBody>
      </p:sp>
      <p:sp>
        <p:nvSpPr>
          <p:cNvPr id="4" name="Shape 2"/>
          <p:cNvSpPr/>
          <p:nvPr/>
        </p:nvSpPr>
        <p:spPr>
          <a:xfrm>
            <a:off x="470916" y="1156716"/>
            <a:ext cx="7178040" cy="3433010"/>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ra-02.png">    </p:cNvPr>
          <p:cNvPicPr>
            <a:picLocks noChangeAspect="1"/>
          </p:cNvPicPr>
          <p:nvPr/>
        </p:nvPicPr>
        <p:blipFill>
          <a:blip r:embed="rId1"/>
          <a:stretch>
            <a:fillRect/>
          </a:stretch>
        </p:blipFill>
        <p:spPr>
          <a:xfrm>
            <a:off x="502920" y="1188720"/>
            <a:ext cx="7114032" cy="3369002"/>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FDF1DE"/>
          </a:solidFill>
          <a:ln w="12700">
            <a:solidFill>
              <a:srgbClr val="FDF1DE"/>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0" name="Text 7"/>
          <p:cNvSpPr/>
          <p:nvPr/>
        </p:nvSpPr>
        <p:spPr>
          <a:xfrm>
            <a:off x="8842248" y="1719072"/>
            <a:ext cx="2633472" cy="4468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Location, as Archives Room / Records Center / Offsite Storage</a:t>
            </a:r>
            <a:endParaRPr lang="en-US" sz="880" dirty="0"/>
          </a:p>
        </p:txBody>
      </p:sp>
      <p:sp>
        <p:nvSpPr>
          <p:cNvPr id="11" name="Shape 8"/>
          <p:cNvSpPr/>
          <p:nvPr/>
        </p:nvSpPr>
        <p:spPr>
          <a:xfrm>
            <a:off x="8019288" y="2211601"/>
            <a:ext cx="731520" cy="169164"/>
          </a:xfrm>
          <a:prstGeom prst="roundRect">
            <a:avLst>
              <a:gd name="adj" fmla="val 48649"/>
            </a:avLst>
          </a:prstGeom>
          <a:solidFill>
            <a:srgbClr val="FDF1DE"/>
          </a:solidFill>
          <a:ln w="12700">
            <a:solidFill>
              <a:srgbClr val="FDF1DE"/>
            </a:solidFill>
            <a:prstDash val="solid"/>
          </a:ln>
        </p:spPr>
      </p:sp>
      <p:sp>
        <p:nvSpPr>
          <p:cNvPr id="12" name="Text 9"/>
          <p:cNvSpPr/>
          <p:nvPr/>
        </p:nvSpPr>
        <p:spPr>
          <a:xfrm>
            <a:off x="8019288" y="2211601"/>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3" name="Text 10"/>
          <p:cNvSpPr/>
          <p:nvPr/>
        </p:nvSpPr>
        <p:spPr>
          <a:xfrm>
            <a:off x="8842248" y="2165881"/>
            <a:ext cx="2633472" cy="3071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No. of requests</a:t>
            </a:r>
            <a:endParaRPr lang="en-US" sz="880" dirty="0"/>
          </a:p>
        </p:txBody>
      </p:sp>
      <p:sp>
        <p:nvSpPr>
          <p:cNvPr id="14" name="Shape 11"/>
          <p:cNvSpPr/>
          <p:nvPr/>
        </p:nvSpPr>
        <p:spPr>
          <a:xfrm>
            <a:off x="8019288" y="2518710"/>
            <a:ext cx="731520" cy="169164"/>
          </a:xfrm>
          <a:prstGeom prst="roundRect">
            <a:avLst>
              <a:gd name="adj" fmla="val 48649"/>
            </a:avLst>
          </a:prstGeom>
          <a:solidFill>
            <a:srgbClr val="FDF1DE"/>
          </a:solidFill>
          <a:ln w="12700">
            <a:solidFill>
              <a:srgbClr val="FDF1DE"/>
            </a:solidFill>
            <a:prstDash val="solid"/>
          </a:ln>
        </p:spPr>
      </p:sp>
      <p:sp>
        <p:nvSpPr>
          <p:cNvPr id="15" name="Text 12"/>
          <p:cNvSpPr/>
          <p:nvPr/>
        </p:nvSpPr>
        <p:spPr>
          <a:xfrm>
            <a:off x="8019288" y="2518710"/>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6" name="Text 13"/>
          <p:cNvSpPr/>
          <p:nvPr/>
        </p:nvSpPr>
        <p:spPr>
          <a:xfrm>
            <a:off x="8842248" y="2472990"/>
            <a:ext cx="2633472" cy="3071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requestors (departments)</a:t>
            </a:r>
            <a:endParaRPr lang="en-US" sz="880" dirty="0"/>
          </a:p>
        </p:txBody>
      </p:sp>
      <p:sp>
        <p:nvSpPr>
          <p:cNvPr id="17" name="Shape 14"/>
          <p:cNvSpPr/>
          <p:nvPr/>
        </p:nvSpPr>
        <p:spPr>
          <a:xfrm>
            <a:off x="8019288" y="2825819"/>
            <a:ext cx="731520" cy="169164"/>
          </a:xfrm>
          <a:prstGeom prst="roundRect">
            <a:avLst>
              <a:gd name="adj" fmla="val 48649"/>
            </a:avLst>
          </a:prstGeom>
          <a:solidFill>
            <a:srgbClr val="FDF1DE"/>
          </a:solidFill>
          <a:ln w="12700">
            <a:solidFill>
              <a:srgbClr val="FDF1DE"/>
            </a:solidFill>
            <a:prstDash val="solid"/>
          </a:ln>
        </p:spPr>
      </p:sp>
      <p:sp>
        <p:nvSpPr>
          <p:cNvPr id="18" name="Text 15"/>
          <p:cNvSpPr/>
          <p:nvPr/>
        </p:nvSpPr>
        <p:spPr>
          <a:xfrm>
            <a:off x="8019288" y="2825819"/>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9" name="Text 16"/>
          <p:cNvSpPr/>
          <p:nvPr/>
        </p:nvSpPr>
        <p:spPr>
          <a:xfrm>
            <a:off x="8842248" y="2780099"/>
            <a:ext cx="2633472" cy="3071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requestors (RMs)</a:t>
            </a:r>
            <a:endParaRPr lang="en-US" sz="880" dirty="0"/>
          </a:p>
        </p:txBody>
      </p:sp>
      <p:sp>
        <p:nvSpPr>
          <p:cNvPr id="20" name="Shape 17"/>
          <p:cNvSpPr/>
          <p:nvPr/>
        </p:nvSpPr>
        <p:spPr>
          <a:xfrm>
            <a:off x="8019288" y="3132928"/>
            <a:ext cx="731520" cy="169164"/>
          </a:xfrm>
          <a:prstGeom prst="roundRect">
            <a:avLst>
              <a:gd name="adj" fmla="val 48649"/>
            </a:avLst>
          </a:prstGeom>
          <a:solidFill>
            <a:srgbClr val="FDF1DE"/>
          </a:solidFill>
          <a:ln w="12700">
            <a:solidFill>
              <a:srgbClr val="FDF1DE"/>
            </a:solidFill>
            <a:prstDash val="solid"/>
          </a:ln>
        </p:spPr>
      </p:sp>
      <p:sp>
        <p:nvSpPr>
          <p:cNvPr id="21" name="Text 18"/>
          <p:cNvSpPr/>
          <p:nvPr/>
        </p:nvSpPr>
        <p:spPr>
          <a:xfrm>
            <a:off x="8019288" y="3132928"/>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22" name="Text 19"/>
          <p:cNvSpPr/>
          <p:nvPr/>
        </p:nvSpPr>
        <p:spPr>
          <a:xfrm>
            <a:off x="8842248" y="3087208"/>
            <a:ext cx="2633472" cy="3071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boxes stored</a:t>
            </a:r>
            <a:endParaRPr lang="en-US" sz="880" dirty="0"/>
          </a:p>
        </p:txBody>
      </p:sp>
      <p:sp>
        <p:nvSpPr>
          <p:cNvPr id="23" name="Shape 20"/>
          <p:cNvSpPr/>
          <p:nvPr/>
        </p:nvSpPr>
        <p:spPr>
          <a:xfrm>
            <a:off x="8019288" y="3440037"/>
            <a:ext cx="731520" cy="169164"/>
          </a:xfrm>
          <a:prstGeom prst="roundRect">
            <a:avLst>
              <a:gd name="adj" fmla="val 48649"/>
            </a:avLst>
          </a:prstGeom>
          <a:solidFill>
            <a:srgbClr val="FDF1DE"/>
          </a:solidFill>
          <a:ln w="12700">
            <a:solidFill>
              <a:srgbClr val="FDF1DE"/>
            </a:solidFill>
            <a:prstDash val="solid"/>
          </a:ln>
        </p:spPr>
      </p:sp>
      <p:sp>
        <p:nvSpPr>
          <p:cNvPr id="24" name="Text 21"/>
          <p:cNvSpPr/>
          <p:nvPr/>
        </p:nvSpPr>
        <p:spPr>
          <a:xfrm>
            <a:off x="8019288" y="3440037"/>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25" name="Text 22"/>
          <p:cNvSpPr/>
          <p:nvPr/>
        </p:nvSpPr>
        <p:spPr>
          <a:xfrm>
            <a:off x="8842248" y="3394317"/>
            <a:ext cx="2633472" cy="3071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folders stored</a:t>
            </a:r>
            <a:endParaRPr lang="en-US" sz="880" dirty="0"/>
          </a:p>
        </p:txBody>
      </p:sp>
      <p:sp>
        <p:nvSpPr>
          <p:cNvPr id="26" name="Shape 23"/>
          <p:cNvSpPr/>
          <p:nvPr/>
        </p:nvSpPr>
        <p:spPr>
          <a:xfrm>
            <a:off x="8019288" y="3747147"/>
            <a:ext cx="731520" cy="169164"/>
          </a:xfrm>
          <a:prstGeom prst="roundRect">
            <a:avLst>
              <a:gd name="adj" fmla="val 48649"/>
            </a:avLst>
          </a:prstGeom>
          <a:solidFill>
            <a:srgbClr val="FDF1DE"/>
          </a:solidFill>
          <a:ln w="12700">
            <a:solidFill>
              <a:srgbClr val="FDF1DE"/>
            </a:solidFill>
            <a:prstDash val="solid"/>
          </a:ln>
        </p:spPr>
      </p:sp>
      <p:sp>
        <p:nvSpPr>
          <p:cNvPr id="27" name="Text 24"/>
          <p:cNvSpPr/>
          <p:nvPr/>
        </p:nvSpPr>
        <p:spPr>
          <a:xfrm>
            <a:off x="8019288" y="3747147"/>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28" name="Text 25"/>
          <p:cNvSpPr/>
          <p:nvPr/>
        </p:nvSpPr>
        <p:spPr>
          <a:xfrm>
            <a:off x="8842248" y="3701427"/>
            <a:ext cx="2633472" cy="3071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Remarks</a:t>
            </a:r>
            <a:endParaRPr lang="en-US" sz="880" dirty="0"/>
          </a:p>
        </p:txBody>
      </p:sp>
      <p:sp>
        <p:nvSpPr>
          <p:cNvPr id="29" name="Shape 26"/>
          <p:cNvSpPr/>
          <p:nvPr/>
        </p:nvSpPr>
        <p:spPr>
          <a:xfrm>
            <a:off x="8019288" y="4054256"/>
            <a:ext cx="731520" cy="169164"/>
          </a:xfrm>
          <a:prstGeom prst="roundRect">
            <a:avLst>
              <a:gd name="adj" fmla="val 48649"/>
            </a:avLst>
          </a:prstGeom>
          <a:solidFill>
            <a:srgbClr val="FDF1DE"/>
          </a:solidFill>
          <a:ln w="12700">
            <a:solidFill>
              <a:srgbClr val="FDF1DE"/>
            </a:solidFill>
            <a:prstDash val="solid"/>
          </a:ln>
        </p:spPr>
      </p:sp>
      <p:sp>
        <p:nvSpPr>
          <p:cNvPr id="30" name="Text 27"/>
          <p:cNvSpPr/>
          <p:nvPr/>
        </p:nvSpPr>
        <p:spPr>
          <a:xfrm>
            <a:off x="8019288" y="4054256"/>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31" name="Text 28"/>
          <p:cNvSpPr/>
          <p:nvPr/>
        </p:nvSpPr>
        <p:spPr>
          <a:xfrm>
            <a:off x="8842248" y="4008536"/>
            <a:ext cx="2633472" cy="4468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Indicator: new boxes and folders month on month per department</a:t>
            </a:r>
            <a:endParaRPr lang="en-US" sz="880" dirty="0"/>
          </a:p>
        </p:txBody>
      </p:sp>
      <p:sp>
        <p:nvSpPr>
          <p:cNvPr id="32" name="Shape 29"/>
          <p:cNvSpPr/>
          <p:nvPr/>
        </p:nvSpPr>
        <p:spPr>
          <a:xfrm>
            <a:off x="8019288" y="4501065"/>
            <a:ext cx="731520" cy="169164"/>
          </a:xfrm>
          <a:prstGeom prst="roundRect">
            <a:avLst>
              <a:gd name="adj" fmla="val 48649"/>
            </a:avLst>
          </a:prstGeom>
          <a:solidFill>
            <a:srgbClr val="FDF1DE"/>
          </a:solidFill>
          <a:ln w="12700">
            <a:solidFill>
              <a:srgbClr val="FDF1DE"/>
            </a:solidFill>
            <a:prstDash val="solid"/>
          </a:ln>
        </p:spPr>
      </p:sp>
      <p:sp>
        <p:nvSpPr>
          <p:cNvPr id="33" name="Text 30"/>
          <p:cNvSpPr/>
          <p:nvPr/>
        </p:nvSpPr>
        <p:spPr>
          <a:xfrm>
            <a:off x="8019288" y="4501065"/>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34" name="Text 31"/>
          <p:cNvSpPr/>
          <p:nvPr/>
        </p:nvSpPr>
        <p:spPr>
          <a:xfrm>
            <a:off x="8842248" y="4455345"/>
            <a:ext cx="2633472" cy="3071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No. and list of outstanding / pending requests</a:t>
            </a:r>
            <a:endParaRPr lang="en-US" sz="880" dirty="0"/>
          </a:p>
        </p:txBody>
      </p:sp>
      <p:sp>
        <p:nvSpPr>
          <p:cNvPr id="35" name="Shape 32"/>
          <p:cNvSpPr/>
          <p:nvPr/>
        </p:nvSpPr>
        <p:spPr>
          <a:xfrm>
            <a:off x="8019288" y="4808174"/>
            <a:ext cx="731520" cy="169164"/>
          </a:xfrm>
          <a:prstGeom prst="roundRect">
            <a:avLst>
              <a:gd name="adj" fmla="val 48649"/>
            </a:avLst>
          </a:prstGeom>
          <a:solidFill>
            <a:srgbClr val="FDF1DE"/>
          </a:solidFill>
          <a:ln w="12700">
            <a:solidFill>
              <a:srgbClr val="FDF1DE"/>
            </a:solidFill>
            <a:prstDash val="solid"/>
          </a:ln>
        </p:spPr>
      </p:sp>
      <p:sp>
        <p:nvSpPr>
          <p:cNvPr id="36" name="Text 33"/>
          <p:cNvSpPr/>
          <p:nvPr/>
        </p:nvSpPr>
        <p:spPr>
          <a:xfrm>
            <a:off x="8019288" y="4808174"/>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37" name="Text 34"/>
          <p:cNvSpPr/>
          <p:nvPr/>
        </p:nvSpPr>
        <p:spPr>
          <a:xfrm>
            <a:off x="8842248" y="4762454"/>
            <a:ext cx="2633472" cy="3071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Physical counterparts identified but not transferred</a:t>
            </a:r>
            <a:endParaRPr lang="en-US" sz="880" dirty="0"/>
          </a:p>
        </p:txBody>
      </p:sp>
      <p:sp>
        <p:nvSpPr>
          <p:cNvPr id="38" name="Shape 35"/>
          <p:cNvSpPr/>
          <p:nvPr/>
        </p:nvSpPr>
        <p:spPr>
          <a:xfrm>
            <a:off x="8019288" y="5115283"/>
            <a:ext cx="731520" cy="169164"/>
          </a:xfrm>
          <a:prstGeom prst="roundRect">
            <a:avLst>
              <a:gd name="adj" fmla="val 48649"/>
            </a:avLst>
          </a:prstGeom>
          <a:solidFill>
            <a:srgbClr val="FDF1DE"/>
          </a:solidFill>
          <a:ln w="12700">
            <a:solidFill>
              <a:srgbClr val="FDF1DE"/>
            </a:solidFill>
            <a:prstDash val="solid"/>
          </a:ln>
        </p:spPr>
      </p:sp>
      <p:sp>
        <p:nvSpPr>
          <p:cNvPr id="39" name="Text 36"/>
          <p:cNvSpPr/>
          <p:nvPr/>
        </p:nvSpPr>
        <p:spPr>
          <a:xfrm>
            <a:off x="8019288" y="5115283"/>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40" name="Text 37"/>
          <p:cNvSpPr/>
          <p:nvPr/>
        </p:nvSpPr>
        <p:spPr>
          <a:xfrm>
            <a:off x="8842248" y="5069563"/>
            <a:ext cx="2633472" cy="3071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Room capacity and % available storage capacity</a:t>
            </a:r>
            <a:endParaRPr lang="en-US" sz="880" dirty="0"/>
          </a:p>
        </p:txBody>
      </p:sp>
      <p:sp>
        <p:nvSpPr>
          <p:cNvPr id="41" name="Shape 38"/>
          <p:cNvSpPr/>
          <p:nvPr/>
        </p:nvSpPr>
        <p:spPr>
          <a:xfrm>
            <a:off x="502920" y="5779008"/>
            <a:ext cx="118872" cy="118872"/>
          </a:xfrm>
          <a:prstGeom prst="ellipse">
            <a:avLst/>
          </a:prstGeom>
          <a:solidFill>
            <a:srgbClr val="0072BC"/>
          </a:solidFill>
          <a:ln w="12700">
            <a:solidFill>
              <a:srgbClr val="0072BC"/>
            </a:solidFill>
            <a:prstDash val="solid"/>
          </a:ln>
        </p:spPr>
      </p:sp>
      <p:sp>
        <p:nvSpPr>
          <p:cNvPr id="42" name="Text 39"/>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All seven columns from your slide 68, with your own wording.</a:t>
            </a:r>
            <a:endParaRPr lang="en-US" sz="1000" dirty="0"/>
          </a:p>
        </p:txBody>
      </p:sp>
      <p:sp>
        <p:nvSpPr>
          <p:cNvPr id="43" name="Shape 40"/>
          <p:cNvSpPr/>
          <p:nvPr/>
        </p:nvSpPr>
        <p:spPr>
          <a:xfrm>
            <a:off x="4270248" y="5779008"/>
            <a:ext cx="118872" cy="118872"/>
          </a:xfrm>
          <a:prstGeom prst="ellipse">
            <a:avLst/>
          </a:prstGeom>
          <a:solidFill>
            <a:srgbClr val="00A5A8"/>
          </a:solidFill>
          <a:ln w="12700">
            <a:solidFill>
              <a:srgbClr val="00A5A8"/>
            </a:solidFill>
            <a:prstDash val="solid"/>
          </a:ln>
        </p:spPr>
      </p:sp>
      <p:sp>
        <p:nvSpPr>
          <p:cNvPr id="44" name="Text 41"/>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Three locations: Archives Room, Records Center, Offsite Storage.</a:t>
            </a:r>
            <a:endParaRPr lang="en-US" sz="1000" dirty="0"/>
          </a:p>
        </p:txBody>
      </p:sp>
      <p:sp>
        <p:nvSpPr>
          <p:cNvPr id="45" name="Shape 42"/>
          <p:cNvSpPr/>
          <p:nvPr/>
        </p:nvSpPr>
        <p:spPr>
          <a:xfrm>
            <a:off x="8037576" y="5779008"/>
            <a:ext cx="118872" cy="118872"/>
          </a:xfrm>
          <a:prstGeom prst="ellipse">
            <a:avLst/>
          </a:prstGeom>
          <a:solidFill>
            <a:srgbClr val="5CA943"/>
          </a:solidFill>
          <a:ln w="12700">
            <a:solidFill>
              <a:srgbClr val="5CA943"/>
            </a:solidFill>
            <a:prstDash val="solid"/>
          </a:ln>
        </p:spPr>
      </p:sp>
      <p:sp>
        <p:nvSpPr>
          <p:cNvPr id="46" name="Text 43"/>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Below it, storage activity by department and how full each room is.</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RECORDS AND ARCHIVE HOLDINGS</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Retrieval</a:t>
            </a:r>
            <a:endParaRPr lang="en-US" sz="2500" dirty="0"/>
          </a:p>
        </p:txBody>
      </p:sp>
      <p:sp>
        <p:nvSpPr>
          <p:cNvPr id="4" name="Shape 2"/>
          <p:cNvSpPr/>
          <p:nvPr/>
        </p:nvSpPr>
        <p:spPr>
          <a:xfrm>
            <a:off x="470916" y="1156716"/>
            <a:ext cx="7178040" cy="4103762"/>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ra-03.png">    </p:cNvPr>
          <p:cNvPicPr>
            <a:picLocks noChangeAspect="1"/>
          </p:cNvPicPr>
          <p:nvPr/>
        </p:nvPicPr>
        <p:blipFill>
          <a:blip r:embed="rId1"/>
          <a:stretch>
            <a:fillRect/>
          </a:stretch>
        </p:blipFill>
        <p:spPr>
          <a:xfrm>
            <a:off x="502920" y="1188720"/>
            <a:ext cx="7114032" cy="4039754"/>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FDF1DE"/>
          </a:solidFill>
          <a:ln w="12700">
            <a:solidFill>
              <a:srgbClr val="FDF1DE"/>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Location</a:t>
            </a:r>
            <a:endParaRPr lang="en-US" sz="880" dirty="0"/>
          </a:p>
        </p:txBody>
      </p:sp>
      <p:sp>
        <p:nvSpPr>
          <p:cNvPr id="11" name="Shape 8"/>
          <p:cNvSpPr/>
          <p:nvPr/>
        </p:nvSpPr>
        <p:spPr>
          <a:xfrm>
            <a:off x="8019288" y="2087372"/>
            <a:ext cx="731520" cy="169164"/>
          </a:xfrm>
          <a:prstGeom prst="roundRect">
            <a:avLst>
              <a:gd name="adj" fmla="val 48649"/>
            </a:avLst>
          </a:prstGeom>
          <a:solidFill>
            <a:srgbClr val="FDF1DE"/>
          </a:solidFill>
          <a:ln w="12700">
            <a:solidFill>
              <a:srgbClr val="FDF1DE"/>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No. of requests</a:t>
            </a:r>
            <a:endParaRPr lang="en-US" sz="880" dirty="0"/>
          </a:p>
        </p:txBody>
      </p:sp>
      <p:sp>
        <p:nvSpPr>
          <p:cNvPr id="14" name="Shape 11"/>
          <p:cNvSpPr/>
          <p:nvPr/>
        </p:nvSpPr>
        <p:spPr>
          <a:xfrm>
            <a:off x="8019288" y="2409952"/>
            <a:ext cx="731520" cy="169164"/>
          </a:xfrm>
          <a:prstGeom prst="roundRect">
            <a:avLst>
              <a:gd name="adj" fmla="val 48649"/>
            </a:avLst>
          </a:prstGeom>
          <a:solidFill>
            <a:srgbClr val="FDF1DE"/>
          </a:solidFill>
          <a:ln w="12700">
            <a:solidFill>
              <a:srgbClr val="FDF1DE"/>
            </a:solidFill>
            <a:prstDash val="solid"/>
          </a:ln>
        </p:spPr>
      </p:sp>
      <p:sp>
        <p:nvSpPr>
          <p:cNvPr id="15" name="Text 12"/>
          <p:cNvSpPr/>
          <p:nvPr/>
        </p:nvSpPr>
        <p:spPr>
          <a:xfrm>
            <a:off x="8019288" y="240995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6" name="Text 13"/>
          <p:cNvSpPr/>
          <p:nvPr/>
        </p:nvSpPr>
        <p:spPr>
          <a:xfrm>
            <a:off x="8842248" y="23642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requestors (departments / RMs)</a:t>
            </a:r>
            <a:endParaRPr lang="en-US" sz="880" dirty="0"/>
          </a:p>
        </p:txBody>
      </p:sp>
      <p:sp>
        <p:nvSpPr>
          <p:cNvPr id="17" name="Shape 14"/>
          <p:cNvSpPr/>
          <p:nvPr/>
        </p:nvSpPr>
        <p:spPr>
          <a:xfrm>
            <a:off x="8019288" y="2732532"/>
            <a:ext cx="731520" cy="169164"/>
          </a:xfrm>
          <a:prstGeom prst="roundRect">
            <a:avLst>
              <a:gd name="adj" fmla="val 48649"/>
            </a:avLst>
          </a:prstGeom>
          <a:solidFill>
            <a:srgbClr val="FDF1DE"/>
          </a:solidFill>
          <a:ln w="12700">
            <a:solidFill>
              <a:srgbClr val="FDF1DE"/>
            </a:solidFill>
            <a:prstDash val="solid"/>
          </a:ln>
        </p:spPr>
      </p:sp>
      <p:sp>
        <p:nvSpPr>
          <p:cNvPr id="18" name="Text 15"/>
          <p:cNvSpPr/>
          <p:nvPr/>
        </p:nvSpPr>
        <p:spPr>
          <a:xfrm>
            <a:off x="8019288" y="273253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9" name="Text 16"/>
          <p:cNvSpPr/>
          <p:nvPr/>
        </p:nvSpPr>
        <p:spPr>
          <a:xfrm>
            <a:off x="8842248" y="268681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boxes retrieved</a:t>
            </a:r>
            <a:endParaRPr lang="en-US" sz="880" dirty="0"/>
          </a:p>
        </p:txBody>
      </p:sp>
      <p:sp>
        <p:nvSpPr>
          <p:cNvPr id="20" name="Shape 17"/>
          <p:cNvSpPr/>
          <p:nvPr/>
        </p:nvSpPr>
        <p:spPr>
          <a:xfrm>
            <a:off x="8019288" y="3055112"/>
            <a:ext cx="731520" cy="169164"/>
          </a:xfrm>
          <a:prstGeom prst="roundRect">
            <a:avLst>
              <a:gd name="adj" fmla="val 48649"/>
            </a:avLst>
          </a:prstGeom>
          <a:solidFill>
            <a:srgbClr val="FDF1DE"/>
          </a:solidFill>
          <a:ln w="12700">
            <a:solidFill>
              <a:srgbClr val="FDF1DE"/>
            </a:solidFill>
            <a:prstDash val="solid"/>
          </a:ln>
        </p:spPr>
      </p:sp>
      <p:sp>
        <p:nvSpPr>
          <p:cNvPr id="21" name="Text 18"/>
          <p:cNvSpPr/>
          <p:nvPr/>
        </p:nvSpPr>
        <p:spPr>
          <a:xfrm>
            <a:off x="8019288" y="305511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22" name="Text 19"/>
          <p:cNvSpPr/>
          <p:nvPr/>
        </p:nvSpPr>
        <p:spPr>
          <a:xfrm>
            <a:off x="8842248" y="300939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folders retrieved</a:t>
            </a:r>
            <a:endParaRPr lang="en-US" sz="880" dirty="0"/>
          </a:p>
        </p:txBody>
      </p:sp>
      <p:sp>
        <p:nvSpPr>
          <p:cNvPr id="23" name="Shape 20"/>
          <p:cNvSpPr/>
          <p:nvPr/>
        </p:nvSpPr>
        <p:spPr>
          <a:xfrm>
            <a:off x="8019288" y="3377692"/>
            <a:ext cx="731520" cy="169164"/>
          </a:xfrm>
          <a:prstGeom prst="roundRect">
            <a:avLst>
              <a:gd name="adj" fmla="val 48649"/>
            </a:avLst>
          </a:prstGeom>
          <a:solidFill>
            <a:srgbClr val="FDF1DE"/>
          </a:solidFill>
          <a:ln w="12700">
            <a:solidFill>
              <a:srgbClr val="FDF1DE"/>
            </a:solidFill>
            <a:prstDash val="solid"/>
          </a:ln>
        </p:spPr>
      </p:sp>
      <p:sp>
        <p:nvSpPr>
          <p:cNvPr id="24" name="Text 21"/>
          <p:cNvSpPr/>
          <p:nvPr/>
        </p:nvSpPr>
        <p:spPr>
          <a:xfrm>
            <a:off x="8019288" y="337769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25" name="Text 22"/>
          <p:cNvSpPr/>
          <p:nvPr/>
        </p:nvSpPr>
        <p:spPr>
          <a:xfrm>
            <a:off x="8842248" y="33319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Status: Loan, Return to owner, For Disposal</a:t>
            </a:r>
            <a:endParaRPr lang="en-US" sz="880" dirty="0"/>
          </a:p>
        </p:txBody>
      </p:sp>
      <p:sp>
        <p:nvSpPr>
          <p:cNvPr id="26" name="Shape 23"/>
          <p:cNvSpPr/>
          <p:nvPr/>
        </p:nvSpPr>
        <p:spPr>
          <a:xfrm>
            <a:off x="8019288" y="3700272"/>
            <a:ext cx="731520" cy="169164"/>
          </a:xfrm>
          <a:prstGeom prst="roundRect">
            <a:avLst>
              <a:gd name="adj" fmla="val 48649"/>
            </a:avLst>
          </a:prstGeom>
          <a:solidFill>
            <a:srgbClr val="FDF1DE"/>
          </a:solidFill>
          <a:ln w="12700">
            <a:solidFill>
              <a:srgbClr val="FDF1DE"/>
            </a:solidFill>
            <a:prstDash val="solid"/>
          </a:ln>
        </p:spPr>
      </p:sp>
      <p:sp>
        <p:nvSpPr>
          <p:cNvPr id="27" name="Text 24"/>
          <p:cNvSpPr/>
          <p:nvPr/>
        </p:nvSpPr>
        <p:spPr>
          <a:xfrm>
            <a:off x="8019288" y="370027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28" name="Text 25"/>
          <p:cNvSpPr/>
          <p:nvPr/>
        </p:nvSpPr>
        <p:spPr>
          <a:xfrm>
            <a:off x="8842248" y="36545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Remarks</a:t>
            </a:r>
            <a:endParaRPr lang="en-US" sz="880" dirty="0"/>
          </a:p>
        </p:txBody>
      </p:sp>
      <p:sp>
        <p:nvSpPr>
          <p:cNvPr id="29" name="Shape 26"/>
          <p:cNvSpPr/>
          <p:nvPr/>
        </p:nvSpPr>
        <p:spPr>
          <a:xfrm>
            <a:off x="502920" y="5779008"/>
            <a:ext cx="118872" cy="118872"/>
          </a:xfrm>
          <a:prstGeom prst="ellipse">
            <a:avLst/>
          </a:prstGeom>
          <a:solidFill>
            <a:srgbClr val="0072BC"/>
          </a:solidFill>
          <a:ln w="12700">
            <a:solidFill>
              <a:srgbClr val="0072BC"/>
            </a:solidFill>
            <a:prstDash val="solid"/>
          </a:ln>
        </p:spPr>
      </p:sp>
      <p:sp>
        <p:nvSpPr>
          <p:cNvPr id="30" name="Text 27"/>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All seven columns from your slide 69.</a:t>
            </a:r>
            <a:endParaRPr lang="en-US" sz="1000" dirty="0"/>
          </a:p>
        </p:txBody>
      </p:sp>
      <p:sp>
        <p:nvSpPr>
          <p:cNvPr id="31" name="Shape 28"/>
          <p:cNvSpPr/>
          <p:nvPr/>
        </p:nvSpPr>
        <p:spPr>
          <a:xfrm>
            <a:off x="4270248" y="5779008"/>
            <a:ext cx="118872" cy="118872"/>
          </a:xfrm>
          <a:prstGeom prst="ellipse">
            <a:avLst/>
          </a:prstGeom>
          <a:solidFill>
            <a:srgbClr val="00A5A8"/>
          </a:solidFill>
          <a:ln w="12700">
            <a:solidFill>
              <a:srgbClr val="00A5A8"/>
            </a:solidFill>
            <a:prstDash val="solid"/>
          </a:ln>
        </p:spPr>
      </p:sp>
      <p:sp>
        <p:nvSpPr>
          <p:cNvPr id="32" name="Text 29"/>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Status uses your own three words: Loan, Return to owner, For Disposal.</a:t>
            </a:r>
            <a:endParaRPr lang="en-US" sz="1000" dirty="0"/>
          </a:p>
        </p:txBody>
      </p:sp>
      <p:sp>
        <p:nvSpPr>
          <p:cNvPr id="33" name="Shape 30"/>
          <p:cNvSpPr/>
          <p:nvPr/>
        </p:nvSpPr>
        <p:spPr>
          <a:xfrm>
            <a:off x="8037576" y="5779008"/>
            <a:ext cx="118872" cy="118872"/>
          </a:xfrm>
          <a:prstGeom prst="ellipse">
            <a:avLst/>
          </a:prstGeom>
          <a:solidFill>
            <a:srgbClr val="5CA943"/>
          </a:solidFill>
          <a:ln w="12700">
            <a:solidFill>
              <a:srgbClr val="5CA943"/>
            </a:solidFill>
            <a:prstDash val="solid"/>
          </a:ln>
        </p:spPr>
      </p:sp>
      <p:sp>
        <p:nvSpPr>
          <p:cNvPr id="34" name="Text 31"/>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Everything on this table is invented, because we cannot reach the request system.</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RECORDS AND ARCHIVE HOLDINGS</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Activity, disposal and capacity</a:t>
            </a:r>
            <a:endParaRPr lang="en-US" sz="2500" dirty="0"/>
          </a:p>
        </p:txBody>
      </p:sp>
      <p:sp>
        <p:nvSpPr>
          <p:cNvPr id="4" name="Shape 2"/>
          <p:cNvSpPr/>
          <p:nvPr/>
        </p:nvSpPr>
        <p:spPr>
          <a:xfrm>
            <a:off x="470916" y="1156716"/>
            <a:ext cx="7178040" cy="3290730"/>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ra-04.png">    </p:cNvPr>
          <p:cNvPicPr>
            <a:picLocks noChangeAspect="1"/>
          </p:cNvPicPr>
          <p:nvPr/>
        </p:nvPicPr>
        <p:blipFill>
          <a:blip r:embed="rId1"/>
          <a:stretch>
            <a:fillRect/>
          </a:stretch>
        </p:blipFill>
        <p:spPr>
          <a:xfrm>
            <a:off x="502920" y="1188720"/>
            <a:ext cx="7114032" cy="3226722"/>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FDF1DE"/>
          </a:solidFill>
          <a:ln w="12700">
            <a:solidFill>
              <a:srgbClr val="FDF1DE"/>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0" name="Text 7"/>
          <p:cNvSpPr/>
          <p:nvPr/>
        </p:nvSpPr>
        <p:spPr>
          <a:xfrm>
            <a:off x="8842248" y="1719072"/>
            <a:ext cx="2633472" cy="4622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Indicator: retrieval requests and boxes / folders retrieved month on month per department</a:t>
            </a:r>
            <a:endParaRPr lang="en-US" sz="880" dirty="0"/>
          </a:p>
        </p:txBody>
      </p:sp>
      <p:sp>
        <p:nvSpPr>
          <p:cNvPr id="11" name="Shape 8"/>
          <p:cNvSpPr/>
          <p:nvPr/>
        </p:nvSpPr>
        <p:spPr>
          <a:xfrm>
            <a:off x="8019288" y="2227072"/>
            <a:ext cx="731520" cy="169164"/>
          </a:xfrm>
          <a:prstGeom prst="roundRect">
            <a:avLst>
              <a:gd name="adj" fmla="val 48649"/>
            </a:avLst>
          </a:prstGeom>
          <a:solidFill>
            <a:srgbClr val="FDF1DE"/>
          </a:solidFill>
          <a:ln w="12700">
            <a:solidFill>
              <a:srgbClr val="FDF1DE"/>
            </a:solidFill>
            <a:prstDash val="solid"/>
          </a:ln>
        </p:spPr>
      </p:sp>
      <p:sp>
        <p:nvSpPr>
          <p:cNvPr id="12" name="Text 9"/>
          <p:cNvSpPr/>
          <p:nvPr/>
        </p:nvSpPr>
        <p:spPr>
          <a:xfrm>
            <a:off x="8019288" y="222707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3" name="Text 10"/>
          <p:cNvSpPr/>
          <p:nvPr/>
        </p:nvSpPr>
        <p:spPr>
          <a:xfrm>
            <a:off x="8842248" y="21813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No. and list of outstanding / pending requests</a:t>
            </a:r>
            <a:endParaRPr lang="en-US" sz="880" dirty="0"/>
          </a:p>
        </p:txBody>
      </p:sp>
      <p:sp>
        <p:nvSpPr>
          <p:cNvPr id="14" name="Shape 11"/>
          <p:cNvSpPr/>
          <p:nvPr/>
        </p:nvSpPr>
        <p:spPr>
          <a:xfrm>
            <a:off x="8019288" y="2549652"/>
            <a:ext cx="731520" cy="169164"/>
          </a:xfrm>
          <a:prstGeom prst="roundRect">
            <a:avLst>
              <a:gd name="adj" fmla="val 48649"/>
            </a:avLst>
          </a:prstGeom>
          <a:solidFill>
            <a:srgbClr val="FDF1DE"/>
          </a:solidFill>
          <a:ln w="12700">
            <a:solidFill>
              <a:srgbClr val="FDF1DE"/>
            </a:solidFill>
            <a:prstDash val="solid"/>
          </a:ln>
        </p:spPr>
      </p:sp>
      <p:sp>
        <p:nvSpPr>
          <p:cNvPr id="15" name="Text 12"/>
          <p:cNvSpPr/>
          <p:nvPr/>
        </p:nvSpPr>
        <p:spPr>
          <a:xfrm>
            <a:off x="8019288" y="254965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6" name="Text 13"/>
          <p:cNvSpPr/>
          <p:nvPr/>
        </p:nvSpPr>
        <p:spPr>
          <a:xfrm>
            <a:off x="8842248" y="25039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No. of boxes / folders disposed</a:t>
            </a:r>
            <a:endParaRPr lang="en-US" sz="880" dirty="0"/>
          </a:p>
        </p:txBody>
      </p:sp>
      <p:sp>
        <p:nvSpPr>
          <p:cNvPr id="17" name="Shape 14"/>
          <p:cNvSpPr/>
          <p:nvPr/>
        </p:nvSpPr>
        <p:spPr>
          <a:xfrm>
            <a:off x="8019288" y="2872232"/>
            <a:ext cx="731520" cy="169164"/>
          </a:xfrm>
          <a:prstGeom prst="roundRect">
            <a:avLst>
              <a:gd name="adj" fmla="val 48649"/>
            </a:avLst>
          </a:prstGeom>
          <a:solidFill>
            <a:srgbClr val="FDF1DE"/>
          </a:solidFill>
          <a:ln w="12700">
            <a:solidFill>
              <a:srgbClr val="FDF1DE"/>
            </a:solidFill>
            <a:prstDash val="solid"/>
          </a:ln>
        </p:spPr>
      </p:sp>
      <p:sp>
        <p:nvSpPr>
          <p:cNvPr id="18" name="Text 15"/>
          <p:cNvSpPr/>
          <p:nvPr/>
        </p:nvSpPr>
        <p:spPr>
          <a:xfrm>
            <a:off x="8019288" y="287223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9" name="Text 16"/>
          <p:cNvSpPr/>
          <p:nvPr/>
        </p:nvSpPr>
        <p:spPr>
          <a:xfrm>
            <a:off x="8842248" y="2826512"/>
            <a:ext cx="2633472" cy="4622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Can room activities update capacity and freed up storage?</a:t>
            </a:r>
            <a:endParaRPr lang="en-US" sz="880" dirty="0"/>
          </a:p>
        </p:txBody>
      </p:sp>
      <p:sp>
        <p:nvSpPr>
          <p:cNvPr id="20" name="Shape 17"/>
          <p:cNvSpPr/>
          <p:nvPr/>
        </p:nvSpPr>
        <p:spPr>
          <a:xfrm>
            <a:off x="8019288" y="3334512"/>
            <a:ext cx="731520" cy="169164"/>
          </a:xfrm>
          <a:prstGeom prst="roundRect">
            <a:avLst>
              <a:gd name="adj" fmla="val 48649"/>
            </a:avLst>
          </a:prstGeom>
          <a:solidFill>
            <a:srgbClr val="FBE6E4"/>
          </a:solidFill>
          <a:ln w="12700">
            <a:solidFill>
              <a:srgbClr val="FBE6E4"/>
            </a:solidFill>
            <a:prstDash val="solid"/>
          </a:ln>
        </p:spPr>
      </p:sp>
      <p:sp>
        <p:nvSpPr>
          <p:cNvPr id="21" name="Text 18"/>
          <p:cNvSpPr/>
          <p:nvPr/>
        </p:nvSpPr>
        <p:spPr>
          <a:xfrm>
            <a:off x="8019288" y="333451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22" name="Text 19"/>
          <p:cNvSpPr/>
          <p:nvPr/>
        </p:nvSpPr>
        <p:spPr>
          <a:xfrm>
            <a:off x="8842248" y="328879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Retrieval as processed from eServe</a:t>
            </a:r>
            <a:endParaRPr lang="en-US" sz="880" dirty="0"/>
          </a:p>
        </p:txBody>
      </p:sp>
      <p:sp>
        <p:nvSpPr>
          <p:cNvPr id="23" name="Shape 20"/>
          <p:cNvSpPr/>
          <p:nvPr/>
        </p:nvSpPr>
        <p:spPr>
          <a:xfrm>
            <a:off x="8019288" y="3657092"/>
            <a:ext cx="731520" cy="169164"/>
          </a:xfrm>
          <a:prstGeom prst="roundRect">
            <a:avLst>
              <a:gd name="adj" fmla="val 48649"/>
            </a:avLst>
          </a:prstGeom>
          <a:solidFill>
            <a:srgbClr val="FBE6E4"/>
          </a:solidFill>
          <a:ln w="12700">
            <a:solidFill>
              <a:srgbClr val="FBE6E4"/>
            </a:solidFill>
            <a:prstDash val="solid"/>
          </a:ln>
        </p:spPr>
      </p:sp>
      <p:sp>
        <p:nvSpPr>
          <p:cNvPr id="24" name="Text 21"/>
          <p:cNvSpPr/>
          <p:nvPr/>
        </p:nvSpPr>
        <p:spPr>
          <a:xfrm>
            <a:off x="8019288" y="365709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25" name="Text 22"/>
          <p:cNvSpPr/>
          <p:nvPr/>
        </p:nvSpPr>
        <p:spPr>
          <a:xfrm>
            <a:off x="8842248" y="361137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What is available in Opus and how we can apply it</a:t>
            </a:r>
            <a:endParaRPr lang="en-US" sz="880" dirty="0"/>
          </a:p>
        </p:txBody>
      </p:sp>
      <p:sp>
        <p:nvSpPr>
          <p:cNvPr id="26" name="Shape 23"/>
          <p:cNvSpPr/>
          <p:nvPr/>
        </p:nvSpPr>
        <p:spPr>
          <a:xfrm>
            <a:off x="502920" y="5779008"/>
            <a:ext cx="118872" cy="118872"/>
          </a:xfrm>
          <a:prstGeom prst="ellipse">
            <a:avLst/>
          </a:prstGeom>
          <a:solidFill>
            <a:srgbClr val="0072BC"/>
          </a:solidFill>
          <a:ln w="12700">
            <a:solidFill>
              <a:srgbClr val="0072BC"/>
            </a:solidFill>
            <a:prstDash val="solid"/>
          </a:ln>
        </p:spPr>
      </p:sp>
      <p:sp>
        <p:nvSpPr>
          <p:cNvPr id="27" name="Text 24"/>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Retrieval by department, what was disposed, and how much space that freed.</a:t>
            </a:r>
            <a:endParaRPr lang="en-US" sz="1000" dirty="0"/>
          </a:p>
        </p:txBody>
      </p:sp>
      <p:sp>
        <p:nvSpPr>
          <p:cNvPr id="28" name="Shape 25"/>
          <p:cNvSpPr/>
          <p:nvPr/>
        </p:nvSpPr>
        <p:spPr>
          <a:xfrm>
            <a:off x="4270248" y="5779008"/>
            <a:ext cx="118872" cy="118872"/>
          </a:xfrm>
          <a:prstGeom prst="ellipse">
            <a:avLst/>
          </a:prstGeom>
          <a:solidFill>
            <a:srgbClr val="00A5A8"/>
          </a:solidFill>
          <a:ln w="12700">
            <a:solidFill>
              <a:srgbClr val="00A5A8"/>
            </a:solidFill>
            <a:prstDash val="solid"/>
          </a:ln>
        </p:spPr>
      </p:sp>
      <p:sp>
        <p:nvSpPr>
          <p:cNvPr id="29" name="Text 26"/>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layout answers every indicator you asked for.</a:t>
            </a:r>
            <a:endParaRPr lang="en-US" sz="1000" dirty="0"/>
          </a:p>
        </p:txBody>
      </p:sp>
      <p:sp>
        <p:nvSpPr>
          <p:cNvPr id="30" name="Shape 27"/>
          <p:cNvSpPr/>
          <p:nvPr/>
        </p:nvSpPr>
        <p:spPr>
          <a:xfrm>
            <a:off x="8037576" y="5779008"/>
            <a:ext cx="118872" cy="118872"/>
          </a:xfrm>
          <a:prstGeom prst="ellipse">
            <a:avLst/>
          </a:prstGeom>
          <a:solidFill>
            <a:srgbClr val="5CA943"/>
          </a:solidFill>
          <a:ln w="12700">
            <a:solidFill>
              <a:srgbClr val="5CA943"/>
            </a:solidFill>
            <a:prstDash val="solid"/>
          </a:ln>
        </p:spPr>
      </p:sp>
      <p:sp>
        <p:nvSpPr>
          <p:cNvPr id="31" name="Text 28"/>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None of it is measured yet. That is what the questions slide is for.</a:t>
            </a:r>
            <a:endParaRPr lang="en-US" sz="10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RECORDS AND ARCHIVE HOLDINGS</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What we need from you</a:t>
            </a:r>
            <a:endParaRPr lang="en-US" sz="2500" dirty="0"/>
          </a:p>
        </p:txBody>
      </p:sp>
      <p:sp>
        <p:nvSpPr>
          <p:cNvPr id="4" name="Shape 2"/>
          <p:cNvSpPr/>
          <p:nvPr/>
        </p:nvSpPr>
        <p:spPr>
          <a:xfrm>
            <a:off x="502920" y="1280160"/>
            <a:ext cx="11155680" cy="1466088"/>
          </a:xfrm>
          <a:prstGeom prst="roundRect">
            <a:avLst>
              <a:gd name="adj" fmla="val 3742"/>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5" name="Shape 3"/>
          <p:cNvSpPr/>
          <p:nvPr/>
        </p:nvSpPr>
        <p:spPr>
          <a:xfrm>
            <a:off x="777240" y="1812036"/>
            <a:ext cx="402336" cy="402336"/>
          </a:xfrm>
          <a:prstGeom prst="ellipse">
            <a:avLst/>
          </a:prstGeom>
          <a:solidFill>
            <a:srgbClr val="FBE6E4"/>
          </a:solidFill>
          <a:ln w="12700">
            <a:solidFill>
              <a:srgbClr val="FBE6E4"/>
            </a:solidFill>
            <a:prstDash val="solid"/>
          </a:ln>
        </p:spPr>
      </p:sp>
      <p:sp>
        <p:nvSpPr>
          <p:cNvPr id="6" name="Text 4"/>
          <p:cNvSpPr/>
          <p:nvPr/>
        </p:nvSpPr>
        <p:spPr>
          <a:xfrm>
            <a:off x="777240" y="1812036"/>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1</a:t>
            </a:r>
            <a:endParaRPr lang="en-US" sz="1400" dirty="0"/>
          </a:p>
        </p:txBody>
      </p:sp>
      <p:sp>
        <p:nvSpPr>
          <p:cNvPr id="7" name="Text 5"/>
          <p:cNvSpPr/>
          <p:nvPr/>
        </p:nvSpPr>
        <p:spPr>
          <a:xfrm>
            <a:off x="1371600" y="1408176"/>
            <a:ext cx="4663440" cy="1210056"/>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When someone asks RAC for a box, where does that go?</a:t>
            </a:r>
            <a:endParaRPr lang="en-US" sz="1350" dirty="0"/>
          </a:p>
        </p:txBody>
      </p:sp>
      <p:sp>
        <p:nvSpPr>
          <p:cNvPr id="8" name="Text 6"/>
          <p:cNvSpPr/>
          <p:nvPr/>
        </p:nvSpPr>
        <p:spPr>
          <a:xfrm>
            <a:off x="6217920" y="1399032"/>
            <a:ext cx="2743200" cy="1228344"/>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Your slide 67 mentions eServe. Nothing in this work has ever reached it, so every retrieval figure on this dashboard is invented.</a:t>
            </a:r>
            <a:endParaRPr lang="en-US" sz="860" dirty="0"/>
          </a:p>
        </p:txBody>
      </p:sp>
      <p:sp>
        <p:nvSpPr>
          <p:cNvPr id="9" name="Text 7"/>
          <p:cNvSpPr/>
          <p:nvPr/>
        </p:nvSpPr>
        <p:spPr>
          <a:xfrm>
            <a:off x="9098280" y="1399032"/>
            <a:ext cx="2423160" cy="1228344"/>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Can we see what eServe holds, and who would we ask for access?</a:t>
            </a:r>
            <a:endParaRPr lang="en-US" sz="860" dirty="0"/>
          </a:p>
        </p:txBody>
      </p:sp>
      <p:sp>
        <p:nvSpPr>
          <p:cNvPr id="10" name="Shape 8"/>
          <p:cNvSpPr/>
          <p:nvPr/>
        </p:nvSpPr>
        <p:spPr>
          <a:xfrm>
            <a:off x="502920" y="2855976"/>
            <a:ext cx="11155680" cy="1466088"/>
          </a:xfrm>
          <a:prstGeom prst="roundRect">
            <a:avLst>
              <a:gd name="adj" fmla="val 3742"/>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11" name="Shape 9"/>
          <p:cNvSpPr/>
          <p:nvPr/>
        </p:nvSpPr>
        <p:spPr>
          <a:xfrm>
            <a:off x="777240" y="3387852"/>
            <a:ext cx="402336" cy="402336"/>
          </a:xfrm>
          <a:prstGeom prst="ellipse">
            <a:avLst/>
          </a:prstGeom>
          <a:solidFill>
            <a:srgbClr val="FBE6E4"/>
          </a:solidFill>
          <a:ln w="12700">
            <a:solidFill>
              <a:srgbClr val="FBE6E4"/>
            </a:solidFill>
            <a:prstDash val="solid"/>
          </a:ln>
        </p:spPr>
      </p:sp>
      <p:sp>
        <p:nvSpPr>
          <p:cNvPr id="12" name="Text 10"/>
          <p:cNvSpPr/>
          <p:nvPr/>
        </p:nvSpPr>
        <p:spPr>
          <a:xfrm>
            <a:off x="777240" y="3387852"/>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2</a:t>
            </a:r>
            <a:endParaRPr lang="en-US" sz="1400" dirty="0"/>
          </a:p>
        </p:txBody>
      </p:sp>
      <p:sp>
        <p:nvSpPr>
          <p:cNvPr id="13" name="Text 11"/>
          <p:cNvSpPr/>
          <p:nvPr/>
        </p:nvSpPr>
        <p:spPr>
          <a:xfrm>
            <a:off x="1371600" y="2983992"/>
            <a:ext cx="4663440" cy="1210056"/>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What does RAC actually keep, and where?</a:t>
            </a:r>
            <a:endParaRPr lang="en-US" sz="1350" dirty="0"/>
          </a:p>
        </p:txBody>
      </p:sp>
      <p:sp>
        <p:nvSpPr>
          <p:cNvPr id="14" name="Text 12"/>
          <p:cNvSpPr/>
          <p:nvPr/>
        </p:nvSpPr>
        <p:spPr>
          <a:xfrm>
            <a:off x="6217920" y="2974848"/>
            <a:ext cx="2743200" cy="1228344"/>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Boxes, folders, which room they are in, how full each room is — none of this exists in any system we can read. It may live in a spreadsheet, or on paper.</a:t>
            </a:r>
            <a:endParaRPr lang="en-US" sz="860" dirty="0"/>
          </a:p>
        </p:txBody>
      </p:sp>
      <p:sp>
        <p:nvSpPr>
          <p:cNvPr id="15" name="Text 13"/>
          <p:cNvSpPr/>
          <p:nvPr/>
        </p:nvSpPr>
        <p:spPr>
          <a:xfrm>
            <a:off x="9098280" y="2974848"/>
            <a:ext cx="2423160" cy="1228344"/>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How does RAC track its holdings today? Whatever the answer, it is a starting point.</a:t>
            </a:r>
            <a:endParaRPr lang="en-US" sz="860" dirty="0"/>
          </a:p>
        </p:txBody>
      </p:sp>
      <p:sp>
        <p:nvSpPr>
          <p:cNvPr id="16" name="Shape 14"/>
          <p:cNvSpPr/>
          <p:nvPr/>
        </p:nvSpPr>
        <p:spPr>
          <a:xfrm>
            <a:off x="502920" y="4431792"/>
            <a:ext cx="11155680" cy="1466088"/>
          </a:xfrm>
          <a:prstGeom prst="roundRect">
            <a:avLst>
              <a:gd name="adj" fmla="val 3742"/>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17" name="Shape 15"/>
          <p:cNvSpPr/>
          <p:nvPr/>
        </p:nvSpPr>
        <p:spPr>
          <a:xfrm>
            <a:off x="777240" y="4963668"/>
            <a:ext cx="402336" cy="402336"/>
          </a:xfrm>
          <a:prstGeom prst="ellipse">
            <a:avLst/>
          </a:prstGeom>
          <a:solidFill>
            <a:srgbClr val="FBE6E4"/>
          </a:solidFill>
          <a:ln w="12700">
            <a:solidFill>
              <a:srgbClr val="FBE6E4"/>
            </a:solidFill>
            <a:prstDash val="solid"/>
          </a:ln>
        </p:spPr>
      </p:sp>
      <p:sp>
        <p:nvSpPr>
          <p:cNvPr id="18" name="Text 16"/>
          <p:cNvSpPr/>
          <p:nvPr/>
        </p:nvSpPr>
        <p:spPr>
          <a:xfrm>
            <a:off x="777240" y="4963668"/>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3</a:t>
            </a:r>
            <a:endParaRPr lang="en-US" sz="1400" dirty="0"/>
          </a:p>
        </p:txBody>
      </p:sp>
      <p:sp>
        <p:nvSpPr>
          <p:cNvPr id="19" name="Text 17"/>
          <p:cNvSpPr/>
          <p:nvPr/>
        </p:nvSpPr>
        <p:spPr>
          <a:xfrm>
            <a:off x="1371600" y="4559808"/>
            <a:ext cx="4663440" cy="1210056"/>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What is in Opus, and can we use it?</a:t>
            </a:r>
            <a:endParaRPr lang="en-US" sz="1350" dirty="0"/>
          </a:p>
        </p:txBody>
      </p:sp>
      <p:sp>
        <p:nvSpPr>
          <p:cNvPr id="20" name="Text 18"/>
          <p:cNvSpPr/>
          <p:nvPr/>
        </p:nvSpPr>
        <p:spPr>
          <a:xfrm>
            <a:off x="6217920" y="4550664"/>
            <a:ext cx="2743200" cy="1228344"/>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Your slide 67 asks what is available in Opus and how it could be applied. We have never been told what Opus holds.</a:t>
            </a:r>
            <a:endParaRPr lang="en-US" sz="860" dirty="0"/>
          </a:p>
        </p:txBody>
      </p:sp>
      <p:sp>
        <p:nvSpPr>
          <p:cNvPr id="21" name="Text 19"/>
          <p:cNvSpPr/>
          <p:nvPr/>
        </p:nvSpPr>
        <p:spPr>
          <a:xfrm>
            <a:off x="9098280" y="4550664"/>
            <a:ext cx="2423160" cy="1228344"/>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Can someone walk us through it, so we can say honestly whether it helps here?</a:t>
            </a:r>
            <a:endParaRPr lang="en-US" sz="860" dirty="0"/>
          </a:p>
        </p:txBody>
      </p:sp>
      <p:sp>
        <p:nvSpPr>
          <p:cNvPr id="22" name="Text 20"/>
          <p:cNvSpPr/>
          <p:nvPr/>
        </p:nvSpPr>
        <p:spPr>
          <a:xfrm>
            <a:off x="137160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THE QUESTION</a:t>
            </a:r>
            <a:endParaRPr lang="en-US" sz="750" dirty="0"/>
          </a:p>
        </p:txBody>
      </p:sp>
      <p:sp>
        <p:nvSpPr>
          <p:cNvPr id="23" name="Text 21"/>
          <p:cNvSpPr/>
          <p:nvPr/>
        </p:nvSpPr>
        <p:spPr>
          <a:xfrm>
            <a:off x="621792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WHY WE ARE STUCK</a:t>
            </a:r>
            <a:endParaRPr lang="en-US" sz="750" dirty="0"/>
          </a:p>
        </p:txBody>
      </p:sp>
      <p:sp>
        <p:nvSpPr>
          <p:cNvPr id="24" name="Text 22"/>
          <p:cNvSpPr/>
          <p:nvPr/>
        </p:nvSpPr>
        <p:spPr>
          <a:xfrm>
            <a:off x="909828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WHAT WOULD UNBLOCK IT</a:t>
            </a:r>
            <a:endParaRPr lang="en-US" sz="7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PULLING IT TOGETHER</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The three answers that unlock almost everything</a:t>
            </a:r>
            <a:endParaRPr lang="en-US" sz="2500" dirty="0"/>
          </a:p>
        </p:txBody>
      </p:sp>
      <p:sp>
        <p:nvSpPr>
          <p:cNvPr id="4" name="Shape 2"/>
          <p:cNvSpPr/>
          <p:nvPr/>
        </p:nvSpPr>
        <p:spPr>
          <a:xfrm>
            <a:off x="502920" y="1298448"/>
            <a:ext cx="11155680" cy="1481328"/>
          </a:xfrm>
          <a:prstGeom prst="roundRect">
            <a:avLst>
              <a:gd name="adj" fmla="val 4321"/>
            </a:avLst>
          </a:prstGeom>
          <a:solidFill>
            <a:srgbClr val="F4F7FA"/>
          </a:solidFill>
          <a:ln w="12700">
            <a:solidFill>
              <a:srgbClr val="DCE4EC"/>
            </a:solidFill>
            <a:prstDash val="solid"/>
          </a:ln>
        </p:spPr>
      </p:sp>
      <p:sp>
        <p:nvSpPr>
          <p:cNvPr id="5" name="Shape 3"/>
          <p:cNvSpPr/>
          <p:nvPr/>
        </p:nvSpPr>
        <p:spPr>
          <a:xfrm>
            <a:off x="822960" y="1801368"/>
            <a:ext cx="457200" cy="457200"/>
          </a:xfrm>
          <a:prstGeom prst="ellipse">
            <a:avLst/>
          </a:prstGeom>
          <a:solidFill>
            <a:srgbClr val="0072BC"/>
          </a:solidFill>
          <a:ln w="12700">
            <a:solidFill>
              <a:srgbClr val="0072BC"/>
            </a:solidFill>
            <a:prstDash val="solid"/>
          </a:ln>
        </p:spPr>
      </p:sp>
      <p:sp>
        <p:nvSpPr>
          <p:cNvPr id="6" name="Text 4"/>
          <p:cNvSpPr/>
          <p:nvPr/>
        </p:nvSpPr>
        <p:spPr>
          <a:xfrm>
            <a:off x="822960" y="180136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18</a:t>
            </a:r>
            <a:endParaRPr lang="en-US" sz="1400" dirty="0"/>
          </a:p>
        </p:txBody>
      </p:sp>
      <p:sp>
        <p:nvSpPr>
          <p:cNvPr id="7" name="Text 5"/>
          <p:cNvSpPr/>
          <p:nvPr/>
        </p:nvSpPr>
        <p:spPr>
          <a:xfrm>
            <a:off x="1463040" y="1481328"/>
            <a:ext cx="3657600" cy="384048"/>
          </a:xfrm>
          <a:prstGeom prst="rect">
            <a:avLst/>
          </a:prstGeom>
          <a:noFill/>
          <a:ln/>
        </p:spPr>
        <p:txBody>
          <a:bodyPr wrap="square" lIns="0" tIns="0" rIns="0" bIns="0" rtlCol="0" anchor="ctr"/>
          <a:lstStyle/>
          <a:p>
            <a:pPr indent="0" marL="0">
              <a:buNone/>
            </a:pPr>
            <a:r>
              <a:rPr lang="en-US" sz="1700" b="1" dirty="0">
                <a:solidFill>
                  <a:srgbClr val="10243E"/>
                </a:solidFill>
                <a:latin typeface="Cambria" pitchFamily="34" charset="0"/>
                <a:ea typeface="Cambria" pitchFamily="34" charset="-122"/>
                <a:cs typeface="Cambria" pitchFamily="34" charset="-120"/>
              </a:rPr>
              <a:t>Who is who</a:t>
            </a:r>
            <a:endParaRPr lang="en-US" sz="1700" dirty="0"/>
          </a:p>
        </p:txBody>
      </p:sp>
      <p:sp>
        <p:nvSpPr>
          <p:cNvPr id="8" name="Text 6"/>
          <p:cNvSpPr/>
          <p:nvPr/>
        </p:nvSpPr>
        <p:spPr>
          <a:xfrm>
            <a:off x="1463040" y="1901952"/>
            <a:ext cx="4206240" cy="731520"/>
          </a:xfrm>
          <a:prstGeom prst="rect">
            <a:avLst/>
          </a:prstGeom>
          <a:noFill/>
          <a:ln/>
        </p:spPr>
        <p:txBody>
          <a:bodyPr wrap="square" lIns="0" tIns="0" rIns="0" bIns="0" rtlCol="0" anchor="ctr"/>
          <a:lstStyle/>
          <a:p>
            <a:pPr indent="0" marL="0">
              <a:lnSpc>
                <a:spcPts val="1350"/>
              </a:lnSpc>
              <a:buNone/>
            </a:pPr>
            <a:r>
              <a:rPr lang="en-US" sz="1050" dirty="0">
                <a:solidFill>
                  <a:srgbClr val="33475F"/>
                </a:solidFill>
                <a:latin typeface="Calibri" pitchFamily="34" charset="0"/>
                <a:ea typeface="Calibri" pitchFamily="34" charset="-122"/>
                <a:cs typeface="Calibri" pitchFamily="34" charset="-120"/>
              </a:rPr>
              <a:t>A list that says, for each person, whether they are staff, a consultant or a contractor — and which department they sit in.</a:t>
            </a:r>
            <a:endParaRPr lang="en-US" sz="1050" dirty="0"/>
          </a:p>
        </p:txBody>
      </p:sp>
      <p:sp>
        <p:nvSpPr>
          <p:cNvPr id="9" name="Text 7"/>
          <p:cNvSpPr/>
          <p:nvPr/>
        </p:nvSpPr>
        <p:spPr>
          <a:xfrm>
            <a:off x="6080760" y="1517904"/>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WHAT IT UNBLOCKS</a:t>
            </a:r>
            <a:endParaRPr lang="en-US" sz="750" dirty="0"/>
          </a:p>
        </p:txBody>
      </p:sp>
      <p:sp>
        <p:nvSpPr>
          <p:cNvPr id="10" name="Text 8"/>
          <p:cNvSpPr/>
          <p:nvPr/>
        </p:nvSpPr>
        <p:spPr>
          <a:xfrm>
            <a:off x="6080760" y="1755648"/>
            <a:ext cx="5349240" cy="841248"/>
          </a:xfrm>
          <a:prstGeom prst="rect">
            <a:avLst/>
          </a:prstGeom>
          <a:noFill/>
          <a:ln/>
        </p:spPr>
        <p:txBody>
          <a:bodyPr wrap="square" lIns="0" tIns="0" rIns="0" bIns="0" rtlCol="0" anchor="ctr"/>
          <a:lstStyle/>
          <a:p>
            <a:pPr indent="0" marL="0">
              <a:lnSpc>
                <a:spcPts val="1400"/>
              </a:lnSpc>
              <a:buNone/>
            </a:pPr>
            <a:r>
              <a:rPr lang="en-US" sz="1100" dirty="0">
                <a:solidFill>
                  <a:srgbClr val="33475F"/>
                </a:solidFill>
                <a:latin typeface="Calibri" pitchFamily="34" charset="0"/>
                <a:ea typeface="Calibri" pitchFamily="34" charset="-122"/>
                <a:cs typeface="Calibri" pitchFamily="34" charset="-120"/>
              </a:rPr>
              <a:t>Unlocks every user split on Bank-wide and Department Insights, plus the internal / external visitor question.</a:t>
            </a:r>
            <a:endParaRPr lang="en-US" sz="1100" dirty="0"/>
          </a:p>
        </p:txBody>
      </p:sp>
      <p:sp>
        <p:nvSpPr>
          <p:cNvPr id="11" name="Shape 9"/>
          <p:cNvSpPr/>
          <p:nvPr/>
        </p:nvSpPr>
        <p:spPr>
          <a:xfrm>
            <a:off x="502920" y="2898648"/>
            <a:ext cx="11155680" cy="1481328"/>
          </a:xfrm>
          <a:prstGeom prst="roundRect">
            <a:avLst>
              <a:gd name="adj" fmla="val 4321"/>
            </a:avLst>
          </a:prstGeom>
          <a:solidFill>
            <a:srgbClr val="F4F7FA"/>
          </a:solidFill>
          <a:ln w="12700">
            <a:solidFill>
              <a:srgbClr val="DCE4EC"/>
            </a:solidFill>
            <a:prstDash val="solid"/>
          </a:ln>
        </p:spPr>
      </p:sp>
      <p:sp>
        <p:nvSpPr>
          <p:cNvPr id="12" name="Shape 10"/>
          <p:cNvSpPr/>
          <p:nvPr/>
        </p:nvSpPr>
        <p:spPr>
          <a:xfrm>
            <a:off x="822960" y="3401568"/>
            <a:ext cx="457200" cy="457200"/>
          </a:xfrm>
          <a:prstGeom prst="ellipse">
            <a:avLst/>
          </a:prstGeom>
          <a:solidFill>
            <a:srgbClr val="00A5A8"/>
          </a:solidFill>
          <a:ln w="12700">
            <a:solidFill>
              <a:srgbClr val="00A5A8"/>
            </a:solidFill>
            <a:prstDash val="solid"/>
          </a:ln>
        </p:spPr>
      </p:sp>
      <p:sp>
        <p:nvSpPr>
          <p:cNvPr id="13" name="Text 11"/>
          <p:cNvSpPr/>
          <p:nvPr/>
        </p:nvSpPr>
        <p:spPr>
          <a:xfrm>
            <a:off x="822960" y="340156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21</a:t>
            </a:r>
            <a:endParaRPr lang="en-US" sz="1400" dirty="0"/>
          </a:p>
        </p:txBody>
      </p:sp>
      <p:sp>
        <p:nvSpPr>
          <p:cNvPr id="14" name="Text 12"/>
          <p:cNvSpPr/>
          <p:nvPr/>
        </p:nvSpPr>
        <p:spPr>
          <a:xfrm>
            <a:off x="1463040" y="3081528"/>
            <a:ext cx="3657600" cy="384048"/>
          </a:xfrm>
          <a:prstGeom prst="rect">
            <a:avLst/>
          </a:prstGeom>
          <a:noFill/>
          <a:ln/>
        </p:spPr>
        <p:txBody>
          <a:bodyPr wrap="square" lIns="0" tIns="0" rIns="0" bIns="0" rtlCol="0" anchor="ctr"/>
          <a:lstStyle/>
          <a:p>
            <a:pPr indent="0" marL="0">
              <a:buNone/>
            </a:pPr>
            <a:r>
              <a:rPr lang="en-US" sz="1700" b="1" dirty="0">
                <a:solidFill>
                  <a:srgbClr val="10243E"/>
                </a:solidFill>
                <a:latin typeface="Cambria" pitchFamily="34" charset="0"/>
                <a:ea typeface="Cambria" pitchFamily="34" charset="-122"/>
                <a:cs typeface="Cambria" pitchFamily="34" charset="-120"/>
              </a:rPr>
              <a:t>Which site belongs to which project</a:t>
            </a:r>
            <a:endParaRPr lang="en-US" sz="1700" dirty="0"/>
          </a:p>
        </p:txBody>
      </p:sp>
      <p:sp>
        <p:nvSpPr>
          <p:cNvPr id="15" name="Text 13"/>
          <p:cNvSpPr/>
          <p:nvPr/>
        </p:nvSpPr>
        <p:spPr>
          <a:xfrm>
            <a:off x="1463040" y="3502152"/>
            <a:ext cx="4206240" cy="731520"/>
          </a:xfrm>
          <a:prstGeom prst="rect">
            <a:avLst/>
          </a:prstGeom>
          <a:noFill/>
          <a:ln/>
        </p:spPr>
        <p:txBody>
          <a:bodyPr wrap="square" lIns="0" tIns="0" rIns="0" bIns="0" rtlCol="0" anchor="ctr"/>
          <a:lstStyle/>
          <a:p>
            <a:pPr indent="0" marL="0">
              <a:lnSpc>
                <a:spcPts val="1350"/>
              </a:lnSpc>
              <a:buNone/>
            </a:pPr>
            <a:r>
              <a:rPr lang="en-US" sz="1050" dirty="0">
                <a:solidFill>
                  <a:srgbClr val="33475F"/>
                </a:solidFill>
                <a:latin typeface="Calibri" pitchFamily="34" charset="0"/>
                <a:ea typeface="Calibri" pitchFamily="34" charset="-122"/>
                <a:cs typeface="Calibri" pitchFamily="34" charset="-120"/>
              </a:rPr>
              <a:t>Anything that connects a SharePoint site to a project number. A spreadsheet is fine.</a:t>
            </a:r>
            <a:endParaRPr lang="en-US" sz="1050" dirty="0"/>
          </a:p>
        </p:txBody>
      </p:sp>
      <p:sp>
        <p:nvSpPr>
          <p:cNvPr id="16" name="Text 14"/>
          <p:cNvSpPr/>
          <p:nvPr/>
        </p:nvSpPr>
        <p:spPr>
          <a:xfrm>
            <a:off x="6080760" y="3118104"/>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WHAT IT UNBLOCKS</a:t>
            </a:r>
            <a:endParaRPr lang="en-US" sz="750" dirty="0"/>
          </a:p>
        </p:txBody>
      </p:sp>
      <p:sp>
        <p:nvSpPr>
          <p:cNvPr id="17" name="Text 15"/>
          <p:cNvSpPr/>
          <p:nvPr/>
        </p:nvSpPr>
        <p:spPr>
          <a:xfrm>
            <a:off x="6080760" y="3355848"/>
            <a:ext cx="5349240" cy="841248"/>
          </a:xfrm>
          <a:prstGeom prst="rect">
            <a:avLst/>
          </a:prstGeom>
          <a:noFill/>
          <a:ln/>
        </p:spPr>
        <p:txBody>
          <a:bodyPr wrap="square" lIns="0" tIns="0" rIns="0" bIns="0" rtlCol="0" anchor="ctr"/>
          <a:lstStyle/>
          <a:p>
            <a:pPr indent="0" marL="0">
              <a:lnSpc>
                <a:spcPts val="1400"/>
              </a:lnSpc>
              <a:buNone/>
            </a:pPr>
            <a:r>
              <a:rPr lang="en-US" sz="1100" dirty="0">
                <a:solidFill>
                  <a:srgbClr val="33475F"/>
                </a:solidFill>
                <a:latin typeface="Calibri" pitchFamily="34" charset="0"/>
                <a:ea typeface="Calibri" pitchFamily="34" charset="-122"/>
                <a:cs typeface="Calibri" pitchFamily="34" charset="-120"/>
              </a:rPr>
              <a:t>Turns the whole of Project Insights from a layout into a working dashboard.</a:t>
            </a:r>
            <a:endParaRPr lang="en-US" sz="1100" dirty="0"/>
          </a:p>
        </p:txBody>
      </p:sp>
      <p:sp>
        <p:nvSpPr>
          <p:cNvPr id="18" name="Shape 16"/>
          <p:cNvSpPr/>
          <p:nvPr/>
        </p:nvSpPr>
        <p:spPr>
          <a:xfrm>
            <a:off x="502920" y="4498848"/>
            <a:ext cx="11155680" cy="1481328"/>
          </a:xfrm>
          <a:prstGeom prst="roundRect">
            <a:avLst>
              <a:gd name="adj" fmla="val 4321"/>
            </a:avLst>
          </a:prstGeom>
          <a:solidFill>
            <a:srgbClr val="F4F7FA"/>
          </a:solidFill>
          <a:ln w="12700">
            <a:solidFill>
              <a:srgbClr val="DCE4EC"/>
            </a:solidFill>
            <a:prstDash val="solid"/>
          </a:ln>
        </p:spPr>
      </p:sp>
      <p:sp>
        <p:nvSpPr>
          <p:cNvPr id="19" name="Shape 17"/>
          <p:cNvSpPr/>
          <p:nvPr/>
        </p:nvSpPr>
        <p:spPr>
          <a:xfrm>
            <a:off x="822960" y="5001768"/>
            <a:ext cx="457200" cy="457200"/>
          </a:xfrm>
          <a:prstGeom prst="ellipse">
            <a:avLst/>
          </a:prstGeom>
          <a:solidFill>
            <a:srgbClr val="5CA943"/>
          </a:solidFill>
          <a:ln w="12700">
            <a:solidFill>
              <a:srgbClr val="5CA943"/>
            </a:solidFill>
            <a:prstDash val="solid"/>
          </a:ln>
        </p:spPr>
      </p:sp>
      <p:sp>
        <p:nvSpPr>
          <p:cNvPr id="20" name="Text 18"/>
          <p:cNvSpPr/>
          <p:nvPr/>
        </p:nvSpPr>
        <p:spPr>
          <a:xfrm>
            <a:off x="822960" y="500176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15</a:t>
            </a:r>
            <a:endParaRPr lang="en-US" sz="1400" dirty="0"/>
          </a:p>
        </p:txBody>
      </p:sp>
      <p:sp>
        <p:nvSpPr>
          <p:cNvPr id="21" name="Text 19"/>
          <p:cNvSpPr/>
          <p:nvPr/>
        </p:nvSpPr>
        <p:spPr>
          <a:xfrm>
            <a:off x="1463040" y="4681728"/>
            <a:ext cx="3657600" cy="384048"/>
          </a:xfrm>
          <a:prstGeom prst="rect">
            <a:avLst/>
          </a:prstGeom>
          <a:noFill/>
          <a:ln/>
        </p:spPr>
        <p:txBody>
          <a:bodyPr wrap="square" lIns="0" tIns="0" rIns="0" bIns="0" rtlCol="0" anchor="ctr"/>
          <a:lstStyle/>
          <a:p>
            <a:pPr indent="0" marL="0">
              <a:buNone/>
            </a:pPr>
            <a:r>
              <a:rPr lang="en-US" sz="1700" b="1" dirty="0">
                <a:solidFill>
                  <a:srgbClr val="10243E"/>
                </a:solidFill>
                <a:latin typeface="Cambria" pitchFamily="34" charset="0"/>
                <a:ea typeface="Cambria" pitchFamily="34" charset="-122"/>
                <a:cs typeface="Cambria" pitchFamily="34" charset="-120"/>
              </a:rPr>
              <a:t>Where a disposal is recorded</a:t>
            </a:r>
            <a:endParaRPr lang="en-US" sz="1700" dirty="0"/>
          </a:p>
        </p:txBody>
      </p:sp>
      <p:sp>
        <p:nvSpPr>
          <p:cNvPr id="22" name="Text 20"/>
          <p:cNvSpPr/>
          <p:nvPr/>
        </p:nvSpPr>
        <p:spPr>
          <a:xfrm>
            <a:off x="1463040" y="5102352"/>
            <a:ext cx="4206240" cy="731520"/>
          </a:xfrm>
          <a:prstGeom prst="rect">
            <a:avLst/>
          </a:prstGeom>
          <a:noFill/>
          <a:ln/>
        </p:spPr>
        <p:txBody>
          <a:bodyPr wrap="square" lIns="0" tIns="0" rIns="0" bIns="0" rtlCol="0" anchor="ctr"/>
          <a:lstStyle/>
          <a:p>
            <a:pPr indent="0" marL="0">
              <a:lnSpc>
                <a:spcPts val="1350"/>
              </a:lnSpc>
              <a:buNone/>
            </a:pPr>
            <a:r>
              <a:rPr lang="en-US" sz="1050" dirty="0">
                <a:solidFill>
                  <a:srgbClr val="33475F"/>
                </a:solidFill>
                <a:latin typeface="Calibri" pitchFamily="34" charset="0"/>
                <a:ea typeface="Calibri" pitchFamily="34" charset="-122"/>
                <a:cs typeface="Calibri" pitchFamily="34" charset="-120"/>
              </a:rPr>
              <a:t>Somewhere that says a record was actually disposed of, and who approved it.</a:t>
            </a:r>
            <a:endParaRPr lang="en-US" sz="1050" dirty="0"/>
          </a:p>
        </p:txBody>
      </p:sp>
      <p:sp>
        <p:nvSpPr>
          <p:cNvPr id="23" name="Text 21"/>
          <p:cNvSpPr/>
          <p:nvPr/>
        </p:nvSpPr>
        <p:spPr>
          <a:xfrm>
            <a:off x="6080760" y="4718304"/>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WHAT IT UNBLOCKS</a:t>
            </a:r>
            <a:endParaRPr lang="en-US" sz="750" dirty="0"/>
          </a:p>
        </p:txBody>
      </p:sp>
      <p:sp>
        <p:nvSpPr>
          <p:cNvPr id="24" name="Text 22"/>
          <p:cNvSpPr/>
          <p:nvPr/>
        </p:nvSpPr>
        <p:spPr>
          <a:xfrm>
            <a:off x="6080760" y="4956048"/>
            <a:ext cx="5349240" cy="841248"/>
          </a:xfrm>
          <a:prstGeom prst="rect">
            <a:avLst/>
          </a:prstGeom>
          <a:noFill/>
          <a:ln/>
        </p:spPr>
        <p:txBody>
          <a:bodyPr wrap="square" lIns="0" tIns="0" rIns="0" bIns="0" rtlCol="0" anchor="ctr"/>
          <a:lstStyle/>
          <a:p>
            <a:pPr indent="0" marL="0">
              <a:lnSpc>
                <a:spcPts val="1400"/>
              </a:lnSpc>
              <a:buNone/>
            </a:pPr>
            <a:r>
              <a:rPr lang="en-US" sz="1100" dirty="0">
                <a:solidFill>
                  <a:srgbClr val="33475F"/>
                </a:solidFill>
                <a:latin typeface="Calibri" pitchFamily="34" charset="0"/>
                <a:ea typeface="Calibri" pitchFamily="34" charset="-122"/>
                <a:cs typeface="Calibri" pitchFamily="34" charset="-120"/>
              </a:rPr>
              <a:t>Closes the largest single gap across Bank-wide, Department Insights and Retention &amp; Disposal.</a:t>
            </a:r>
            <a:endParaRPr lang="en-US" sz="1100" dirty="0"/>
          </a:p>
        </p:txBody>
      </p:sp>
      <p:sp>
        <p:nvSpPr>
          <p:cNvPr id="25" name="Text 23"/>
          <p:cNvSpPr/>
          <p:nvPr/>
        </p:nvSpPr>
        <p:spPr>
          <a:xfrm>
            <a:off x="502920" y="6172200"/>
            <a:ext cx="11155680" cy="320040"/>
          </a:xfrm>
          <a:prstGeom prst="rect">
            <a:avLst/>
          </a:prstGeom>
          <a:noFill/>
          <a:ln/>
        </p:spPr>
        <p:txBody>
          <a:bodyPr wrap="square" lIns="0" tIns="0" rIns="0" bIns="0" rtlCol="0" anchor="ctr"/>
          <a:lstStyle/>
          <a:p>
            <a:pPr indent="0" marL="0">
              <a:buNone/>
            </a:pPr>
            <a:r>
              <a:rPr lang="en-US" sz="1300" i="1" dirty="0">
                <a:solidFill>
                  <a:srgbClr val="005A96"/>
                </a:solidFill>
                <a:latin typeface="Cambria" pitchFamily="34" charset="0"/>
                <a:ea typeface="Cambria" pitchFamily="34" charset="-122"/>
                <a:cs typeface="Cambria" pitchFamily="34" charset="-120"/>
              </a:rPr>
              <a:t>The other 24 questions matter, but these three account for 54 of the 61 outstanding items between them.</a:t>
            </a:r>
            <a:endParaRPr lang="en-US" sz="13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AFTER TODAY</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What happens next</a:t>
            </a:r>
            <a:endParaRPr lang="en-US" sz="2500" dirty="0"/>
          </a:p>
        </p:txBody>
      </p:sp>
      <p:sp>
        <p:nvSpPr>
          <p:cNvPr id="4" name="Shape 2"/>
          <p:cNvSpPr/>
          <p:nvPr/>
        </p:nvSpPr>
        <p:spPr>
          <a:xfrm>
            <a:off x="502920" y="1371600"/>
            <a:ext cx="2670048" cy="3931920"/>
          </a:xfrm>
          <a:prstGeom prst="roundRect">
            <a:avLst>
              <a:gd name="adj" fmla="val 2397"/>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5" name="Shape 3"/>
          <p:cNvSpPr/>
          <p:nvPr/>
        </p:nvSpPr>
        <p:spPr>
          <a:xfrm>
            <a:off x="777240" y="1664208"/>
            <a:ext cx="475488" cy="475488"/>
          </a:xfrm>
          <a:prstGeom prst="ellipse">
            <a:avLst/>
          </a:prstGeom>
          <a:solidFill>
            <a:srgbClr val="0E1F35"/>
          </a:solidFill>
          <a:ln w="12700">
            <a:solidFill>
              <a:srgbClr val="0E1F35"/>
            </a:solidFill>
            <a:prstDash val="solid"/>
          </a:ln>
        </p:spPr>
      </p:sp>
      <p:sp>
        <p:nvSpPr>
          <p:cNvPr id="6" name="Text 4"/>
          <p:cNvSpPr/>
          <p:nvPr/>
        </p:nvSpPr>
        <p:spPr>
          <a:xfrm>
            <a:off x="777240" y="166420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1</a:t>
            </a:r>
            <a:endParaRPr lang="en-US" sz="1700" dirty="0"/>
          </a:p>
        </p:txBody>
      </p:sp>
      <p:sp>
        <p:nvSpPr>
          <p:cNvPr id="7" name="Text 5"/>
          <p:cNvSpPr/>
          <p:nvPr/>
        </p:nvSpPr>
        <p:spPr>
          <a:xfrm>
            <a:off x="777240" y="2331720"/>
            <a:ext cx="2148840" cy="777240"/>
          </a:xfrm>
          <a:prstGeom prst="rect">
            <a:avLst/>
          </a:prstGeom>
          <a:noFill/>
          <a:ln/>
        </p:spPr>
        <p:txBody>
          <a:bodyPr wrap="square" lIns="0" tIns="0" rIns="0" bIns="0" rtlCol="0" anchor="ctr"/>
          <a:lstStyle/>
          <a:p>
            <a:pPr indent="0" marL="0">
              <a:lnSpc>
                <a:spcPts val="1900"/>
              </a:lnSpc>
              <a:buNone/>
            </a:pPr>
            <a:r>
              <a:rPr lang="en-US" sz="1500" b="1" dirty="0">
                <a:solidFill>
                  <a:srgbClr val="10243E"/>
                </a:solidFill>
                <a:latin typeface="Cambria" pitchFamily="34" charset="0"/>
                <a:ea typeface="Cambria" pitchFamily="34" charset="-122"/>
                <a:cs typeface="Cambria" pitchFamily="34" charset="-120"/>
              </a:rPr>
              <a:t>You point us at the sources</a:t>
            </a:r>
            <a:endParaRPr lang="en-US" sz="1500" dirty="0"/>
          </a:p>
        </p:txBody>
      </p:sp>
      <p:sp>
        <p:nvSpPr>
          <p:cNvPr id="8" name="Text 6"/>
          <p:cNvSpPr/>
          <p:nvPr/>
        </p:nvSpPr>
        <p:spPr>
          <a:xfrm>
            <a:off x="777240" y="3154680"/>
            <a:ext cx="2148840" cy="1463040"/>
          </a:xfrm>
          <a:prstGeom prst="rect">
            <a:avLst/>
          </a:prstGeom>
          <a:noFill/>
          <a:ln/>
        </p:spPr>
        <p:txBody>
          <a:bodyPr wrap="square" lIns="0" tIns="0" rIns="0" bIns="0" rtlCol="0" anchor="ctr"/>
          <a:lstStyle/>
          <a:p>
            <a:pPr indent="0" marL="0">
              <a:lnSpc>
                <a:spcPts val="1400"/>
              </a:lnSpc>
              <a:buNone/>
            </a:pPr>
            <a:r>
              <a:rPr lang="en-US" sz="1050" dirty="0">
                <a:solidFill>
                  <a:srgbClr val="33475F"/>
                </a:solidFill>
                <a:latin typeface="Calibri" pitchFamily="34" charset="0"/>
                <a:ea typeface="Calibri" pitchFamily="34" charset="-122"/>
                <a:cs typeface="Calibri" pitchFamily="34" charset="-120"/>
              </a:rPr>
              <a:t>Even a name — a system, a team, a person who keeps the spreadsheet. We do the chasing from there.</a:t>
            </a:r>
            <a:endParaRPr lang="en-US" sz="1050" dirty="0"/>
          </a:p>
        </p:txBody>
      </p:sp>
      <p:sp>
        <p:nvSpPr>
          <p:cNvPr id="9" name="Text 7"/>
          <p:cNvSpPr/>
          <p:nvPr/>
        </p:nvSpPr>
        <p:spPr>
          <a:xfrm>
            <a:off x="777240" y="4800600"/>
            <a:ext cx="2148840" cy="237744"/>
          </a:xfrm>
          <a:prstGeom prst="rect">
            <a:avLst/>
          </a:prstGeom>
          <a:noFill/>
          <a:ln/>
        </p:spPr>
        <p:txBody>
          <a:bodyPr wrap="square" lIns="0" tIns="0" rIns="0" bIns="0" rtlCol="0" anchor="ctr"/>
          <a:lstStyle/>
          <a:p>
            <a:pPr indent="0" marL="0">
              <a:buNone/>
            </a:pPr>
            <a:r>
              <a:rPr lang="en-US" sz="850" b="1" spc="80" kern="0" dirty="0">
                <a:solidFill>
                  <a:srgbClr val="0072BC"/>
                </a:solidFill>
                <a:latin typeface="Calibri" pitchFamily="34" charset="0"/>
                <a:ea typeface="Calibri" pitchFamily="34" charset="-122"/>
                <a:cs typeface="Calibri" pitchFamily="34" charset="-120"/>
              </a:rPr>
              <a:t>THIS WEEK</a:t>
            </a:r>
            <a:endParaRPr lang="en-US" sz="850" dirty="0"/>
          </a:p>
        </p:txBody>
      </p:sp>
      <p:sp>
        <p:nvSpPr>
          <p:cNvPr id="10" name="Shape 8"/>
          <p:cNvSpPr/>
          <p:nvPr/>
        </p:nvSpPr>
        <p:spPr>
          <a:xfrm>
            <a:off x="3374136" y="1371600"/>
            <a:ext cx="2670048" cy="3931920"/>
          </a:xfrm>
          <a:prstGeom prst="roundRect">
            <a:avLst>
              <a:gd name="adj" fmla="val 2397"/>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11" name="Shape 9"/>
          <p:cNvSpPr/>
          <p:nvPr/>
        </p:nvSpPr>
        <p:spPr>
          <a:xfrm>
            <a:off x="3648456" y="1664208"/>
            <a:ext cx="475488" cy="475488"/>
          </a:xfrm>
          <a:prstGeom prst="ellipse">
            <a:avLst/>
          </a:prstGeom>
          <a:solidFill>
            <a:srgbClr val="0E1F35"/>
          </a:solidFill>
          <a:ln w="12700">
            <a:solidFill>
              <a:srgbClr val="0E1F35"/>
            </a:solidFill>
            <a:prstDash val="solid"/>
          </a:ln>
        </p:spPr>
      </p:sp>
      <p:sp>
        <p:nvSpPr>
          <p:cNvPr id="12" name="Text 10"/>
          <p:cNvSpPr/>
          <p:nvPr/>
        </p:nvSpPr>
        <p:spPr>
          <a:xfrm>
            <a:off x="3648456" y="166420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2</a:t>
            </a:r>
            <a:endParaRPr lang="en-US" sz="1700" dirty="0"/>
          </a:p>
        </p:txBody>
      </p:sp>
      <p:sp>
        <p:nvSpPr>
          <p:cNvPr id="13" name="Text 11"/>
          <p:cNvSpPr/>
          <p:nvPr/>
        </p:nvSpPr>
        <p:spPr>
          <a:xfrm>
            <a:off x="3648456" y="2331720"/>
            <a:ext cx="2148840" cy="777240"/>
          </a:xfrm>
          <a:prstGeom prst="rect">
            <a:avLst/>
          </a:prstGeom>
          <a:noFill/>
          <a:ln/>
        </p:spPr>
        <p:txBody>
          <a:bodyPr wrap="square" lIns="0" tIns="0" rIns="0" bIns="0" rtlCol="0" anchor="ctr"/>
          <a:lstStyle/>
          <a:p>
            <a:pPr indent="0" marL="0">
              <a:lnSpc>
                <a:spcPts val="1900"/>
              </a:lnSpc>
              <a:buNone/>
            </a:pPr>
            <a:r>
              <a:rPr lang="en-US" sz="1500" b="1" dirty="0">
                <a:solidFill>
                  <a:srgbClr val="10243E"/>
                </a:solidFill>
                <a:latin typeface="Cambria" pitchFamily="34" charset="0"/>
                <a:ea typeface="Cambria" pitchFamily="34" charset="-122"/>
                <a:cs typeface="Cambria" pitchFamily="34" charset="-120"/>
              </a:rPr>
              <a:t>We confirm what is really there</a:t>
            </a:r>
            <a:endParaRPr lang="en-US" sz="1500" dirty="0"/>
          </a:p>
        </p:txBody>
      </p:sp>
      <p:sp>
        <p:nvSpPr>
          <p:cNvPr id="14" name="Text 12"/>
          <p:cNvSpPr/>
          <p:nvPr/>
        </p:nvSpPr>
        <p:spPr>
          <a:xfrm>
            <a:off x="3648456" y="3154680"/>
            <a:ext cx="2148840" cy="1463040"/>
          </a:xfrm>
          <a:prstGeom prst="rect">
            <a:avLst/>
          </a:prstGeom>
          <a:noFill/>
          <a:ln/>
        </p:spPr>
        <p:txBody>
          <a:bodyPr wrap="square" lIns="0" tIns="0" rIns="0" bIns="0" rtlCol="0" anchor="ctr"/>
          <a:lstStyle/>
          <a:p>
            <a:pPr indent="0" marL="0">
              <a:lnSpc>
                <a:spcPts val="1400"/>
              </a:lnSpc>
              <a:buNone/>
            </a:pPr>
            <a:r>
              <a:rPr lang="en-US" sz="1050" dirty="0">
                <a:solidFill>
                  <a:srgbClr val="33475F"/>
                </a:solidFill>
                <a:latin typeface="Calibri" pitchFamily="34" charset="0"/>
                <a:ea typeface="Calibri" pitchFamily="34" charset="-122"/>
                <a:cs typeface="Calibri" pitchFamily="34" charset="-120"/>
              </a:rPr>
              <a:t>We check each source ourselves rather than assuming. Every claim in the checklist has been tested this way.</a:t>
            </a:r>
            <a:endParaRPr lang="en-US" sz="1050" dirty="0"/>
          </a:p>
        </p:txBody>
      </p:sp>
      <p:sp>
        <p:nvSpPr>
          <p:cNvPr id="15" name="Text 13"/>
          <p:cNvSpPr/>
          <p:nvPr/>
        </p:nvSpPr>
        <p:spPr>
          <a:xfrm>
            <a:off x="3648456" y="4800600"/>
            <a:ext cx="2148840" cy="237744"/>
          </a:xfrm>
          <a:prstGeom prst="rect">
            <a:avLst/>
          </a:prstGeom>
          <a:noFill/>
          <a:ln/>
        </p:spPr>
        <p:txBody>
          <a:bodyPr wrap="square" lIns="0" tIns="0" rIns="0" bIns="0" rtlCol="0" anchor="ctr"/>
          <a:lstStyle/>
          <a:p>
            <a:pPr indent="0" marL="0">
              <a:buNone/>
            </a:pPr>
            <a:r>
              <a:rPr lang="en-US" sz="850" b="1" spc="80" kern="0" dirty="0">
                <a:solidFill>
                  <a:srgbClr val="0072BC"/>
                </a:solidFill>
                <a:latin typeface="Calibri" pitchFamily="34" charset="0"/>
                <a:ea typeface="Calibri" pitchFamily="34" charset="-122"/>
                <a:cs typeface="Calibri" pitchFamily="34" charset="-120"/>
              </a:rPr>
              <a:t>1–2 WEEKS</a:t>
            </a:r>
            <a:endParaRPr lang="en-US" sz="850" dirty="0"/>
          </a:p>
        </p:txBody>
      </p:sp>
      <p:sp>
        <p:nvSpPr>
          <p:cNvPr id="16" name="Shape 14"/>
          <p:cNvSpPr/>
          <p:nvPr/>
        </p:nvSpPr>
        <p:spPr>
          <a:xfrm>
            <a:off x="6245352" y="1371600"/>
            <a:ext cx="2670048" cy="3931920"/>
          </a:xfrm>
          <a:prstGeom prst="roundRect">
            <a:avLst>
              <a:gd name="adj" fmla="val 2397"/>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17" name="Shape 15"/>
          <p:cNvSpPr/>
          <p:nvPr/>
        </p:nvSpPr>
        <p:spPr>
          <a:xfrm>
            <a:off x="6519672" y="1664208"/>
            <a:ext cx="475488" cy="475488"/>
          </a:xfrm>
          <a:prstGeom prst="ellipse">
            <a:avLst/>
          </a:prstGeom>
          <a:solidFill>
            <a:srgbClr val="0E1F35"/>
          </a:solidFill>
          <a:ln w="12700">
            <a:solidFill>
              <a:srgbClr val="0E1F35"/>
            </a:solidFill>
            <a:prstDash val="solid"/>
          </a:ln>
        </p:spPr>
      </p:sp>
      <p:sp>
        <p:nvSpPr>
          <p:cNvPr id="18" name="Text 16"/>
          <p:cNvSpPr/>
          <p:nvPr/>
        </p:nvSpPr>
        <p:spPr>
          <a:xfrm>
            <a:off x="6519672" y="166420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3</a:t>
            </a:r>
            <a:endParaRPr lang="en-US" sz="1700" dirty="0"/>
          </a:p>
        </p:txBody>
      </p:sp>
      <p:sp>
        <p:nvSpPr>
          <p:cNvPr id="19" name="Text 17"/>
          <p:cNvSpPr/>
          <p:nvPr/>
        </p:nvSpPr>
        <p:spPr>
          <a:xfrm>
            <a:off x="6519672" y="2331720"/>
            <a:ext cx="2148840" cy="777240"/>
          </a:xfrm>
          <a:prstGeom prst="rect">
            <a:avLst/>
          </a:prstGeom>
          <a:noFill/>
          <a:ln/>
        </p:spPr>
        <p:txBody>
          <a:bodyPr wrap="square" lIns="0" tIns="0" rIns="0" bIns="0" rtlCol="0" anchor="ctr"/>
          <a:lstStyle/>
          <a:p>
            <a:pPr indent="0" marL="0">
              <a:lnSpc>
                <a:spcPts val="1900"/>
              </a:lnSpc>
              <a:buNone/>
            </a:pPr>
            <a:r>
              <a:rPr lang="en-US" sz="1500" b="1" dirty="0">
                <a:solidFill>
                  <a:srgbClr val="10243E"/>
                </a:solidFill>
                <a:latin typeface="Cambria" pitchFamily="34" charset="0"/>
                <a:ea typeface="Cambria" pitchFamily="34" charset="-122"/>
                <a:cs typeface="Cambria" pitchFamily="34" charset="-120"/>
              </a:rPr>
              <a:t>We swap placeholders for real data</a:t>
            </a:r>
            <a:endParaRPr lang="en-US" sz="1500" dirty="0"/>
          </a:p>
        </p:txBody>
      </p:sp>
      <p:sp>
        <p:nvSpPr>
          <p:cNvPr id="20" name="Text 18"/>
          <p:cNvSpPr/>
          <p:nvPr/>
        </p:nvSpPr>
        <p:spPr>
          <a:xfrm>
            <a:off x="6519672" y="3154680"/>
            <a:ext cx="2148840" cy="1463040"/>
          </a:xfrm>
          <a:prstGeom prst="rect">
            <a:avLst/>
          </a:prstGeom>
          <a:noFill/>
          <a:ln/>
        </p:spPr>
        <p:txBody>
          <a:bodyPr wrap="square" lIns="0" tIns="0" rIns="0" bIns="0" rtlCol="0" anchor="ctr"/>
          <a:lstStyle/>
          <a:p>
            <a:pPr indent="0" marL="0">
              <a:lnSpc>
                <a:spcPts val="1400"/>
              </a:lnSpc>
              <a:buNone/>
            </a:pPr>
            <a:r>
              <a:rPr lang="en-US" sz="1050" dirty="0">
                <a:solidFill>
                  <a:srgbClr val="33475F"/>
                </a:solidFill>
                <a:latin typeface="Calibri" pitchFamily="34" charset="0"/>
                <a:ea typeface="Calibri" pitchFamily="34" charset="-122"/>
                <a:cs typeface="Calibri" pitchFamily="34" charset="-120"/>
              </a:rPr>
              <a:t>The screens do not change. The invented numbers become measured ones, and the amber items turn green.</a:t>
            </a:r>
            <a:endParaRPr lang="en-US" sz="1050" dirty="0"/>
          </a:p>
        </p:txBody>
      </p:sp>
      <p:sp>
        <p:nvSpPr>
          <p:cNvPr id="21" name="Text 19"/>
          <p:cNvSpPr/>
          <p:nvPr/>
        </p:nvSpPr>
        <p:spPr>
          <a:xfrm>
            <a:off x="6519672" y="4800600"/>
            <a:ext cx="2148840" cy="237744"/>
          </a:xfrm>
          <a:prstGeom prst="rect">
            <a:avLst/>
          </a:prstGeom>
          <a:noFill/>
          <a:ln/>
        </p:spPr>
        <p:txBody>
          <a:bodyPr wrap="square" lIns="0" tIns="0" rIns="0" bIns="0" rtlCol="0" anchor="ctr"/>
          <a:lstStyle/>
          <a:p>
            <a:pPr indent="0" marL="0">
              <a:buNone/>
            </a:pPr>
            <a:r>
              <a:rPr lang="en-US" sz="850" b="1" spc="80" kern="0" dirty="0">
                <a:solidFill>
                  <a:srgbClr val="0072BC"/>
                </a:solidFill>
                <a:latin typeface="Calibri" pitchFamily="34" charset="0"/>
                <a:ea typeface="Calibri" pitchFamily="34" charset="-122"/>
                <a:cs typeface="Calibri" pitchFamily="34" charset="-120"/>
              </a:rPr>
              <a:t>ONGOING</a:t>
            </a:r>
            <a:endParaRPr lang="en-US" sz="850" dirty="0"/>
          </a:p>
        </p:txBody>
      </p:sp>
      <p:sp>
        <p:nvSpPr>
          <p:cNvPr id="22" name="Shape 20"/>
          <p:cNvSpPr/>
          <p:nvPr/>
        </p:nvSpPr>
        <p:spPr>
          <a:xfrm>
            <a:off x="9116568" y="1371600"/>
            <a:ext cx="2670048" cy="3931920"/>
          </a:xfrm>
          <a:prstGeom prst="roundRect">
            <a:avLst>
              <a:gd name="adj" fmla="val 2397"/>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23" name="Shape 21"/>
          <p:cNvSpPr/>
          <p:nvPr/>
        </p:nvSpPr>
        <p:spPr>
          <a:xfrm>
            <a:off x="9390888" y="1664208"/>
            <a:ext cx="475488" cy="475488"/>
          </a:xfrm>
          <a:prstGeom prst="ellipse">
            <a:avLst/>
          </a:prstGeom>
          <a:solidFill>
            <a:srgbClr val="0E1F35"/>
          </a:solidFill>
          <a:ln w="12700">
            <a:solidFill>
              <a:srgbClr val="0E1F35"/>
            </a:solidFill>
            <a:prstDash val="solid"/>
          </a:ln>
        </p:spPr>
      </p:sp>
      <p:sp>
        <p:nvSpPr>
          <p:cNvPr id="24" name="Text 22"/>
          <p:cNvSpPr/>
          <p:nvPr/>
        </p:nvSpPr>
        <p:spPr>
          <a:xfrm>
            <a:off x="9390888" y="166420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4</a:t>
            </a:r>
            <a:endParaRPr lang="en-US" sz="1700" dirty="0"/>
          </a:p>
        </p:txBody>
      </p:sp>
      <p:sp>
        <p:nvSpPr>
          <p:cNvPr id="25" name="Text 23"/>
          <p:cNvSpPr/>
          <p:nvPr/>
        </p:nvSpPr>
        <p:spPr>
          <a:xfrm>
            <a:off x="9390888" y="2331720"/>
            <a:ext cx="2148840" cy="777240"/>
          </a:xfrm>
          <a:prstGeom prst="rect">
            <a:avLst/>
          </a:prstGeom>
          <a:noFill/>
          <a:ln/>
        </p:spPr>
        <p:txBody>
          <a:bodyPr wrap="square" lIns="0" tIns="0" rIns="0" bIns="0" rtlCol="0" anchor="ctr"/>
          <a:lstStyle/>
          <a:p>
            <a:pPr indent="0" marL="0">
              <a:lnSpc>
                <a:spcPts val="1900"/>
              </a:lnSpc>
              <a:buNone/>
            </a:pPr>
            <a:r>
              <a:rPr lang="en-US" sz="1500" b="1" dirty="0">
                <a:solidFill>
                  <a:srgbClr val="10243E"/>
                </a:solidFill>
                <a:latin typeface="Cambria" pitchFamily="34" charset="0"/>
                <a:ea typeface="Cambria" pitchFamily="34" charset="-122"/>
                <a:cs typeface="Cambria" pitchFamily="34" charset="-120"/>
              </a:rPr>
              <a:t>We agree what gets dropped</a:t>
            </a:r>
            <a:endParaRPr lang="en-US" sz="1500" dirty="0"/>
          </a:p>
        </p:txBody>
      </p:sp>
      <p:sp>
        <p:nvSpPr>
          <p:cNvPr id="26" name="Text 24"/>
          <p:cNvSpPr/>
          <p:nvPr/>
        </p:nvSpPr>
        <p:spPr>
          <a:xfrm>
            <a:off x="9390888" y="3154680"/>
            <a:ext cx="2148840" cy="1463040"/>
          </a:xfrm>
          <a:prstGeom prst="rect">
            <a:avLst/>
          </a:prstGeom>
          <a:noFill/>
          <a:ln/>
        </p:spPr>
        <p:txBody>
          <a:bodyPr wrap="square" lIns="0" tIns="0" rIns="0" bIns="0" rtlCol="0" anchor="ctr"/>
          <a:lstStyle/>
          <a:p>
            <a:pPr indent="0" marL="0">
              <a:lnSpc>
                <a:spcPts val="1400"/>
              </a:lnSpc>
              <a:buNone/>
            </a:pPr>
            <a:r>
              <a:rPr lang="en-US" sz="1050" dirty="0">
                <a:solidFill>
                  <a:srgbClr val="33475F"/>
                </a:solidFill>
                <a:latin typeface="Calibri" pitchFamily="34" charset="0"/>
                <a:ea typeface="Calibri" pitchFamily="34" charset="-122"/>
                <a:cs typeface="Calibri" pitchFamily="34" charset="-120"/>
              </a:rPr>
              <a:t>Some things will have no source at all. Better to decide that together than to leave them looking possible.</a:t>
            </a:r>
            <a:endParaRPr lang="en-US" sz="1050" dirty="0"/>
          </a:p>
        </p:txBody>
      </p:sp>
      <p:sp>
        <p:nvSpPr>
          <p:cNvPr id="27" name="Text 25"/>
          <p:cNvSpPr/>
          <p:nvPr/>
        </p:nvSpPr>
        <p:spPr>
          <a:xfrm>
            <a:off x="9390888" y="4800600"/>
            <a:ext cx="2148840" cy="237744"/>
          </a:xfrm>
          <a:prstGeom prst="rect">
            <a:avLst/>
          </a:prstGeom>
          <a:noFill/>
          <a:ln/>
        </p:spPr>
        <p:txBody>
          <a:bodyPr wrap="square" lIns="0" tIns="0" rIns="0" bIns="0" rtlCol="0" anchor="ctr"/>
          <a:lstStyle/>
          <a:p>
            <a:pPr indent="0" marL="0">
              <a:buNone/>
            </a:pPr>
            <a:r>
              <a:rPr lang="en-US" sz="850" b="1" spc="80" kern="0" dirty="0">
                <a:solidFill>
                  <a:srgbClr val="0072BC"/>
                </a:solidFill>
                <a:latin typeface="Calibri" pitchFamily="34" charset="0"/>
                <a:ea typeface="Calibri" pitchFamily="34" charset="-122"/>
                <a:cs typeface="Calibri" pitchFamily="34" charset="-120"/>
              </a:rPr>
              <a:t>NEXT WORKSHOP</a:t>
            </a:r>
            <a:endParaRPr lang="en-US" sz="850" dirty="0"/>
          </a:p>
        </p:txBody>
      </p:sp>
      <p:sp>
        <p:nvSpPr>
          <p:cNvPr id="28" name="Text 26"/>
          <p:cNvSpPr/>
          <p:nvPr/>
        </p:nvSpPr>
        <p:spPr>
          <a:xfrm>
            <a:off x="502920" y="5669280"/>
            <a:ext cx="11155680" cy="320040"/>
          </a:xfrm>
          <a:prstGeom prst="rect">
            <a:avLst/>
          </a:prstGeom>
          <a:noFill/>
          <a:ln/>
        </p:spPr>
        <p:txBody>
          <a:bodyPr wrap="square" lIns="0" tIns="0" rIns="0" bIns="0" rtlCol="0" anchor="ctr"/>
          <a:lstStyle/>
          <a:p>
            <a:pPr indent="0" marL="0">
              <a:buNone/>
            </a:pPr>
            <a:r>
              <a:rPr lang="en-US" sz="1200" dirty="0">
                <a:solidFill>
                  <a:srgbClr val="33475F"/>
                </a:solidFill>
                <a:latin typeface="Calibri" pitchFamily="34" charset="0"/>
                <a:ea typeface="Calibri" pitchFamily="34" charset="-122"/>
                <a:cs typeface="Calibri" pitchFamily="34" charset="-120"/>
              </a:rPr>
              <a:t>The prototype is live and will stay live. Open it any time, click anything, and tell us what is wrong with it.</a:t>
            </a:r>
            <a:endParaRPr lang="en-US" sz="1200" dirty="0"/>
          </a:p>
        </p:txBody>
      </p:sp>
      <p:sp>
        <p:nvSpPr>
          <p:cNvPr id="29" name="Text 27"/>
          <p:cNvSpPr/>
          <p:nvPr/>
        </p:nvSpPr>
        <p:spPr>
          <a:xfrm>
            <a:off x="502920" y="5989320"/>
            <a:ext cx="11155680" cy="320040"/>
          </a:xfrm>
          <a:prstGeom prst="rect">
            <a:avLst/>
          </a:prstGeom>
          <a:noFill/>
          <a:ln/>
        </p:spPr>
        <p:txBody>
          <a:bodyPr wrap="square" lIns="0" tIns="0" rIns="0" bIns="0" rtlCol="0" anchor="ctr"/>
          <a:lstStyle/>
          <a:p>
            <a:pPr indent="0" marL="0">
              <a:buNone/>
            </a:pPr>
            <a:r>
              <a:rPr lang="en-US" sz="1300" b="1" dirty="0">
                <a:solidFill>
                  <a:srgbClr val="0072BC"/>
                </a:solidFill>
                <a:latin typeface="Calibri" pitchFamily="34" charset="0"/>
                <a:ea typeface="Calibri" pitchFamily="34" charset="-122"/>
                <a:cs typeface="Calibri" pitchFamily="34" charset="-120"/>
              </a:rPr>
              <a:t>perezfiles01-droid.github.io/Jim</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0E1F35"/>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5CA943"/>
          </a:solidFill>
          <a:ln w="12700">
            <a:solidFill>
              <a:srgbClr val="5CA943"/>
            </a:solidFill>
            <a:prstDash val="solid"/>
          </a:ln>
        </p:spPr>
      </p:sp>
      <p:sp>
        <p:nvSpPr>
          <p:cNvPr id="3" name="Text 1"/>
          <p:cNvSpPr/>
          <p:nvPr/>
        </p:nvSpPr>
        <p:spPr>
          <a:xfrm>
            <a:off x="822960" y="2377440"/>
            <a:ext cx="822960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Over to you</a:t>
            </a:r>
            <a:endParaRPr lang="en-US" sz="4400" dirty="0"/>
          </a:p>
        </p:txBody>
      </p:sp>
      <p:sp>
        <p:nvSpPr>
          <p:cNvPr id="4" name="Text 2"/>
          <p:cNvSpPr/>
          <p:nvPr/>
        </p:nvSpPr>
        <p:spPr>
          <a:xfrm>
            <a:off x="822960" y="3429000"/>
            <a:ext cx="8961120" cy="1005840"/>
          </a:xfrm>
          <a:prstGeom prst="rect">
            <a:avLst/>
          </a:prstGeom>
          <a:noFill/>
          <a:ln/>
        </p:spPr>
        <p:txBody>
          <a:bodyPr wrap="square" lIns="0" tIns="0" rIns="0" bIns="0" rtlCol="0" anchor="ctr"/>
          <a:lstStyle/>
          <a:p>
            <a:pPr indent="0" marL="0">
              <a:lnSpc>
                <a:spcPts val="2400"/>
              </a:lnSpc>
              <a:buNone/>
            </a:pPr>
            <a:r>
              <a:rPr lang="en-US" sz="1700" dirty="0">
                <a:solidFill>
                  <a:srgbClr val="AFC4D8"/>
                </a:solidFill>
                <a:latin typeface="Calibri" pitchFamily="34" charset="0"/>
                <a:ea typeface="Calibri" pitchFamily="34" charset="-122"/>
                <a:cs typeface="Calibri" pitchFamily="34" charset="-120"/>
              </a:rPr>
              <a:t>Which of the red items matters most to you — and which could we drop without anyone missing it?</a:t>
            </a:r>
            <a:endParaRPr lang="en-US" sz="1700" dirty="0"/>
          </a:p>
        </p:txBody>
      </p:sp>
      <p:sp>
        <p:nvSpPr>
          <p:cNvPr id="5" name="Text 3"/>
          <p:cNvSpPr/>
          <p:nvPr/>
        </p:nvSpPr>
        <p:spPr>
          <a:xfrm>
            <a:off x="822960" y="4434840"/>
            <a:ext cx="8961120" cy="365760"/>
          </a:xfrm>
          <a:prstGeom prst="rect">
            <a:avLst/>
          </a:prstGeom>
          <a:noFill/>
          <a:ln/>
        </p:spPr>
        <p:txBody>
          <a:bodyPr wrap="square" lIns="0" tIns="0" rIns="0" bIns="0" rtlCol="0" anchor="ctr"/>
          <a:lstStyle/>
          <a:p>
            <a:pPr indent="0" marL="0">
              <a:buNone/>
            </a:pPr>
            <a:r>
              <a:rPr lang="en-US" sz="1400" i="1" dirty="0">
                <a:solidFill>
                  <a:srgbClr val="00A5A8"/>
                </a:solidFill>
                <a:latin typeface="Cambria" pitchFamily="34" charset="0"/>
                <a:ea typeface="Cambria" pitchFamily="34" charset="-122"/>
                <a:cs typeface="Cambria" pitchFamily="34" charset="-120"/>
              </a:rPr>
              <a:t>Both answers are useful. The second one is often more useful.</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EDRMS Utilization Report — Workshop</dc:title>
  <dc:subject>PptxGenJS Presentation</dc:subject>
  <dc:creator>ADB EDRMS Utilization Report</dc:creator>
  <cp:lastModifiedBy>ADB EDRMS Utilization Report</cp:lastModifiedBy>
  <cp:revision>1</cp:revision>
  <dcterms:created xsi:type="dcterms:W3CDTF">2026-08-22T05:52:29Z</dcterms:created>
  <dcterms:modified xsi:type="dcterms:W3CDTF">2026-08-22T05:52:29Z</dcterms:modified>
</cp:coreProperties>
</file>